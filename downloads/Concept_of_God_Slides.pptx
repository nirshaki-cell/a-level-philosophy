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deck works through each divine attribute in turn, then the problem each raises for the coherence of the concept of God.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just the greatest thing that does exist, but a being than which nothing greater could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pious philosophers have said logic is no limit on God’s power. The handout’s point: there is no way to say this meaningfully.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argument is conditional. It does not claim we are not free; it claims that IF God knows beforehand, we are not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700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1F24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76450"/>
            <a:ext cx="10566400" cy="396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700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1F24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76450"/>
            <a:ext cx="10566400" cy="396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centric rings of light radiating from a central poi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85000" y="1016000"/>
            <a:ext cx="4826000" cy="482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768475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50" kern="0" dirty="0">
                <a:solidFill>
                  <a:srgbClr val="8C5A1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A-LEVEL PHILOSOPHY · METAPHYSICS OF GOD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270125"/>
            <a:ext cx="65405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The Concept of God</a:t>
            </a:r>
            <a:endParaRPr lang="en-US" sz="7500" dirty="0"/>
          </a:p>
        </p:txBody>
      </p:sp>
      <p:sp>
        <p:nvSpPr>
          <p:cNvPr id="5" name="Text 2"/>
          <p:cNvSpPr/>
          <p:nvPr/>
        </p:nvSpPr>
        <p:spPr>
          <a:xfrm>
            <a:off x="812800" y="4429125"/>
            <a:ext cx="5886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Omnipotence · Omnibenevolence · Eternity · Omniscience — and whether they fit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ROUTE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462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Four attributes, four problems</a:t>
            </a:r>
            <a:endParaRPr lang="en-US" sz="3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65350"/>
          <a:ext cx="10553700" cy="2196207"/>
        </p:xfrm>
        <a:graphic>
          <a:graphicData uri="http://schemas.openxmlformats.org/drawingml/2006/table">
            <a:tbl>
              <a:tblPr/>
              <a:tblGrid>
                <a:gridCol w="3166110"/>
                <a:gridCol w="7387590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Attribute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problem it raises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Omnipotence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paradox of the stone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Omnibenevolence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Euthyphro dilemma; metaphysical vs moral goodness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Eternity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What could it mean to exist “outside time”?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Omniscience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Can God know what we will freely do?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66357"/>
            <a:ext cx="1088339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question running through every section: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 the concept of God coherent?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Concept of God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STARTING POINT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54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God as the most perfect possible being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31850" y="2051050"/>
            <a:ext cx="0" cy="825500"/>
          </a:xfrm>
          <a:prstGeom prst="line">
            <a:avLst/>
          </a:prstGeom>
          <a:noFill/>
          <a:ln w="38100">
            <a:solidFill>
              <a:srgbClr val="B585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900" y="2101850"/>
            <a:ext cx="10582529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i="1" dirty="0">
                <a:solidFill>
                  <a:srgbClr val="8C2F2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To think of God is to “attempt to conceive something than which nothing more excellent or sublime exists.” — Augustine, </a:t>
            </a:r>
            <a:r>
              <a:rPr lang="en-US" sz="2200" i="1" dirty="0">
                <a:solidFill>
                  <a:srgbClr val="8C2F2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On Christian Doctrine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5975" y="3133725"/>
            <a:ext cx="5175250" cy="1492250"/>
          </a:xfrm>
          <a:prstGeom prst="roundRect">
            <a:avLst>
              <a:gd name="adj" fmla="val 4894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3150" y="3390900"/>
            <a:ext cx="480072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Perfection = more real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3150" y="3822700"/>
            <a:ext cx="480072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 imperfection is something failing to exist in a better way.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3133725"/>
            <a:ext cx="5175250" cy="1492250"/>
          </a:xfrm>
          <a:prstGeom prst="roundRect">
            <a:avLst>
              <a:gd name="adj" fmla="val 4894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950" y="3390900"/>
            <a:ext cx="480072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Perfection = self-sufficient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57950" y="3822700"/>
            <a:ext cx="480072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Depending on nothing, lacking nothing — so God is the ultimate reality, the ground of all that exists.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Introduction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209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50" kern="0" dirty="0">
                <a:solidFill>
                  <a:srgbClr val="8C5A1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71800"/>
            <a:ext cx="10883392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Omnipotence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812800" y="4000500"/>
            <a:ext cx="7194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and the paradox of the stone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OMNIPOTENCE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54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Two definitions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2054225"/>
            <a:ext cx="5162550" cy="1835150"/>
          </a:xfrm>
          <a:prstGeom prst="roundRect">
            <a:avLst>
              <a:gd name="adj" fmla="val 3979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311400"/>
            <a:ext cx="478764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OBVIOUS 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622550"/>
            <a:ext cx="478764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“The power to do anything”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73150" y="3086100"/>
            <a:ext cx="478764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Latin </a:t>
            </a:r>
            <a:r>
              <a:rPr lang="en-US" sz="15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omni-</a:t>
            </a: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(all) + </a:t>
            </a:r>
            <a:r>
              <a:rPr lang="en-US" sz="15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potent</a:t>
            </a: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(powerful). Includes the logically impossible?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4425" y="2060575"/>
            <a:ext cx="5175250" cy="1822450"/>
          </a:xfrm>
          <a:prstGeom prst="roundRect">
            <a:avLst>
              <a:gd name="adj" fmla="val 3659"/>
            </a:avLst>
          </a:prstGeom>
          <a:solidFill>
            <a:srgbClr val="FFFCF5"/>
          </a:solidFill>
          <a:ln w="19050">
            <a:solidFill>
              <a:srgbClr val="B585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2324100"/>
            <a:ext cx="478764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AQUINAS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7950" y="2635250"/>
            <a:ext cx="478764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“God can do anything possible”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57950" y="3098800"/>
            <a:ext cx="4787646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most power possible — and no more.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146550"/>
            <a:ext cx="1088339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Power is the ability to do things. As perfect, God has perfect power.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1 · Omnipotence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393825"/>
            <a:ext cx="68021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AQUINAS ON THE IMPOSSIBLE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51025"/>
            <a:ext cx="680212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Could God make 2 + 2 = 5?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581275"/>
            <a:ext cx="680212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is impossible is a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contradiction in terms</a:t>
            </a: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the words used to describe it contradict each other.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432175"/>
            <a:ext cx="680212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a “married bachelor” is not a meaningful description.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is logically impossible is not anything at all.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800" y="4283075"/>
            <a:ext cx="6604000" cy="977900"/>
          </a:xfrm>
          <a:prstGeom prst="roundRect">
            <a:avLst>
              <a:gd name="adj" fmla="val 7792"/>
            </a:avLst>
          </a:prstGeom>
          <a:solidFill>
            <a:srgbClr val="EDE3CC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460875"/>
            <a:ext cx="643585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limits of the logically possible are not limits on God’s power. There is still nothing God can’t do.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98408" y="1590675"/>
            <a:ext cx="3405485" cy="1390650"/>
          </a:xfrm>
          <a:prstGeom prst="roundRect">
            <a:avLst>
              <a:gd name="adj" fmla="val 6621"/>
            </a:avLst>
          </a:prstGeom>
          <a:solidFill>
            <a:srgbClr val="FFFCF5"/>
          </a:solidFill>
          <a:ln w="19050">
            <a:solidFill>
              <a:srgbClr val="DDD3B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00"/>
              </a:lnSpc>
              <a:buNone/>
            </a:pPr>
            <a:r>
              <a:rPr lang="en-US" sz="6000" b="1" strike="sngStrike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2 + 2 = 5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089900" y="3257550"/>
            <a:ext cx="3022600" cy="1803400"/>
          </a:xfrm>
          <a:prstGeom prst="roundRect">
            <a:avLst>
              <a:gd name="adj" fmla="val 4930"/>
            </a:avLst>
          </a:prstGeom>
          <a:noFill/>
          <a:ln w="25400">
            <a:solidFill>
              <a:srgbClr val="B5852B"/>
            </a:solidFill>
            <a:prstDash val="dash"/>
          </a:ln>
        </p:spPr>
        <p:txBody>
          <a:bodyPr wrap="square" lIns="334134" tIns="342262" rIns="334134" bIns="316862" rtlCol="0" anchor="t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i="1" dirty="0">
                <a:solidFill>
                  <a:srgbClr val="8C5A12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= nothing at all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1 · Omnipotence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38350"/>
            <a:ext cx="62788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PARADOX OF THE STONE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95550"/>
            <a:ext cx="627888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Can God create a stone that he can’t lift?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994150"/>
            <a:ext cx="627888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the concept of omnipotence is incoherent, so is the concept of an omnipotent being — God.</a:t>
            </a:r>
            <a:endParaRPr lang="en-US" sz="1700" dirty="0"/>
          </a:p>
        </p:txBody>
      </p:sp>
      <p:pic>
        <p:nvPicPr>
          <p:cNvPr id="5" name="Image 0" descr="A vast boulder resting on the ground with a tiny human figure beside i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358900"/>
            <a:ext cx="4064000" cy="393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1 · Omnipotence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PARADOX OF THE STONE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54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Either answer seems to limit God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2054225"/>
            <a:ext cx="5175250" cy="1270000"/>
          </a:xfrm>
          <a:prstGeom prst="roundRect">
            <a:avLst>
              <a:gd name="adj" fmla="val 5750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311400"/>
            <a:ext cx="4800727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Answer “No”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3150" y="2774950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Then there is something God cannot </a:t>
            </a: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0775" y="2054225"/>
            <a:ext cx="5175250" cy="1270000"/>
          </a:xfrm>
          <a:prstGeom prst="roundRect">
            <a:avLst>
              <a:gd name="adj" fmla="val 5750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311400"/>
            <a:ext cx="4800727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Answer “Yes”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57950" y="2774950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Then there is something God cannot </a:t>
            </a: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lift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581400"/>
            <a:ext cx="10566400" cy="977900"/>
          </a:xfrm>
          <a:prstGeom prst="roundRect">
            <a:avLst>
              <a:gd name="adj" fmla="val 7792"/>
            </a:avLst>
          </a:prstGeom>
          <a:solidFill>
            <a:srgbClr val="EDE3CC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759200"/>
            <a:ext cx="1051712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Conclusion:</a:t>
            </a:r>
            <a:r>
              <a:rPr lang="en-US" sz="17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no being could have both powers — to create a stone it can’t lift and to lift that stone. So no being can be omnipotent; the concept is incoherent.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1 · Omnipotence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REPLY 1 — AND WHY IT FAILS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“That stone is logically impossible”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00025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“x makes a stone too heavy for x to lift” is not normally contradictory. But when x is </a:t>
            </a: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omnipotent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it is. A stone an omnipotent being can’t lift describes nothing — so lacking the power to make it is lacking no possible power.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325" y="2822575"/>
            <a:ext cx="10547350" cy="1504950"/>
          </a:xfrm>
          <a:prstGeom prst="roundRect">
            <a:avLst>
              <a:gd name="adj" fmla="val 4430"/>
            </a:avLst>
          </a:prstGeom>
          <a:solidFill>
            <a:srgbClr val="FFFCF5"/>
          </a:solidFill>
          <a:ln w="19050">
            <a:solidFill>
              <a:srgbClr val="8C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5850" y="3086100"/>
            <a:ext cx="1032090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C2F2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Objection: it begs the question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85850" y="3517900"/>
            <a:ext cx="103209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reply uses the phrase “omnipotent being” as if it were coherent — the very thing in dispute. It assumes the truth of its conclusion in order to prove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1 · Omnipotence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REPLY 2 — THE BETTER RESPONSE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No limit on lifting means no limit on creating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98314" y="2000250"/>
            <a:ext cx="10890258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8486" indent="-268486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“God cannot create a stone God cannot lift” only means: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God can create a stone, God can lift it.</a:t>
            </a:r>
            <a:endParaRPr lang="en-US" sz="1700" dirty="0"/>
          </a:p>
          <a:p>
            <a:pPr algn="l" marL="268486" indent="-268486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God can create a stone of any size — and then lift it.</a:t>
            </a:r>
            <a:endParaRPr lang="en-US" sz="1700" dirty="0"/>
          </a:p>
          <a:p>
            <a:pPr algn="l" marL="268486" indent="-268486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is there any stone God can’t create?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No.</a:t>
            </a:r>
            <a:endParaRPr lang="en-US" sz="1700" dirty="0"/>
          </a:p>
          <a:p>
            <a:pPr algn="l" marL="268486" indent="-268486">
              <a:lnSpc>
                <a:spcPts val="2550"/>
              </a:lnSpc>
              <a:buSzPct val="100000"/>
              <a:buFontTx/>
              <a:buAutoNum type="arabicPeriod" startAt="1"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Therefore God lacks no power related to creating or lifting stones.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524250"/>
            <a:ext cx="10566400" cy="666750"/>
          </a:xfrm>
          <a:prstGeom prst="roundRect">
            <a:avLst>
              <a:gd name="adj" fmla="val 11429"/>
            </a:avLst>
          </a:prstGeom>
          <a:solidFill>
            <a:srgbClr val="EDE3CC"/>
          </a:solidFill>
          <a:ln/>
        </p:spPr>
        <p:txBody>
          <a:bodyPr wrap="square" lIns="155482" tIns="155482" rIns="0" bIns="130082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Unlike Reply 1, this does not assume the concept of an omnipotent being is coherent.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1 · Omnipotence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C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209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50" kern="0" dirty="0">
                <a:solidFill>
                  <a:srgbClr val="8C5A1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71800"/>
            <a:ext cx="10883392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Omnibenevolence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812800" y="4000500"/>
            <a:ext cx="7194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Supreme goodness — metaphysical and moral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SENSES OF “GOOD”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54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Metaphysical vs moral goodness</a:t>
            </a:r>
            <a:endParaRPr lang="en-US" sz="3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63750"/>
          <a:ext cx="10553700" cy="2031305"/>
        </p:xfrm>
        <a:graphic>
          <a:graphicData uri="http://schemas.openxmlformats.org/drawingml/2006/table">
            <a:tbl>
              <a:tblPr/>
              <a:tblGrid>
                <a:gridCol w="2532888"/>
                <a:gridCol w="4010406"/>
                <a:gridCol w="4010406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Metaphysical goodness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Moral goodness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Meaning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Goodness = perfection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Goodness = acting rightly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58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“God is perfectly good”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God is perfect in every way — power, knowledge and more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God’s will is always in accordance with moral values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Usual sense?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Less usual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more usual sense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349055"/>
            <a:ext cx="1088339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 the metaphysical reading, “God is perfectly good” says God is </a:t>
            </a:r>
            <a:r>
              <a:rPr lang="en-US" sz="17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perfectly perfect</a:t>
            </a: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2 · Omnibenevolence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49400"/>
            <a:ext cx="68021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PLATO AND AUGUSTINE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06600"/>
            <a:ext cx="680212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Connecting the two senses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736850"/>
            <a:ext cx="680212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Evil is a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lack</a:t>
            </a: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a “falling short”, an absence of goodness. It is not a genuine force standing against goodness.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587750"/>
            <a:ext cx="680212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 is morally good is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more real</a:t>
            </a: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than what is not.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800" y="4127500"/>
            <a:ext cx="6604000" cy="977900"/>
          </a:xfrm>
          <a:prstGeom prst="roundRect">
            <a:avLst>
              <a:gd name="adj" fmla="val 7792"/>
            </a:avLst>
          </a:prstGeom>
          <a:solidFill>
            <a:srgbClr val="EDE3CC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305300"/>
            <a:ext cx="643585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Result: the morally perfect and the metaphysically perfect are the same thing.</a:t>
            </a:r>
            <a:endParaRPr lang="en-US" sz="1700" dirty="0"/>
          </a:p>
        </p:txBody>
      </p:sp>
      <p:pic>
        <p:nvPicPr>
          <p:cNvPr id="8" name="Image 0" descr="A full golden circle beside a circle with a missing segment, showing evil as an absenc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23200" y="1549400"/>
            <a:ext cx="3556000" cy="355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93100" y="3403600"/>
            <a:ext cx="26162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Goodness, whole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93100" y="5080000"/>
            <a:ext cx="26162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Evil: goodness missing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42050"/>
            <a:ext cx="65405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2 · Omnibenevolence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C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209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50" kern="0" dirty="0">
                <a:solidFill>
                  <a:srgbClr val="8C5A1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71800"/>
            <a:ext cx="10883392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The Euthyphro dilemma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812800" y="4000500"/>
            <a:ext cx="7848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 God be both omnipotent and good?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ORIGINS: PLATO’S </a:t>
            </a:r>
            <a:r>
              <a:rPr lang="en-US" sz="1300" b="1" i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EUTHYPHRO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5400"/>
            <a:ext cx="10883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Is the pious loved because it is pious — or pious because it is loved?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552700"/>
            <a:ext cx="1088339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Euthyphro defines piety as “what the gods love”. Socrates asks which way round this runs.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130550"/>
          <a:ext cx="10553700" cy="1651000"/>
        </p:xfrm>
        <a:graphic>
          <a:graphicData uri="http://schemas.openxmlformats.org/drawingml/2006/table">
            <a:tbl>
              <a:tblPr/>
              <a:tblGrid>
                <a:gridCol w="3166110"/>
                <a:gridCol w="3693795"/>
                <a:gridCol w="3693795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Plato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Our version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Topic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Piety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Morality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Who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gods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monotheistic God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Focus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Defining piety without circularity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Is the concept of God coherent?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3 · The Euthyphro dilemma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DILEMMA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54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Two options — each costs God an attribute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2051050"/>
            <a:ext cx="5181600" cy="2400300"/>
          </a:xfrm>
          <a:prstGeom prst="roundRect">
            <a:avLst>
              <a:gd name="adj" fmla="val 3175"/>
            </a:avLst>
          </a:prstGeom>
          <a:solidFill>
            <a:srgbClr val="FFFCF5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051050"/>
            <a:ext cx="5181600" cy="2400300"/>
          </a:xfrm>
          <a:custGeom>
            <a:avLst/>
            <a:gdLst/>
            <a:ahLst/>
            <a:cxnLst/>
            <a:rect l="l" t="t" r="r" b="b"/>
            <a:pathLst>
              <a:path w="5181600" h="24003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05400" y="0"/>
                </a:lnTo>
                <a:arcTo hR="76200" wR="76200" stAng="16200000" swAng="5400000"/>
                <a:lnTo>
                  <a:pt x="5181600" y="76200"/>
                </a:lnTo>
                <a:arcTo hR="12700" wR="76200" stAng="0" swAng="-5400000"/>
                <a:lnTo>
                  <a:pt x="76200" y="63500"/>
                </a:lnTo>
                <a:arcTo hR="12700" wR="76200" stAng="16200000" swAng="-5400000"/>
                <a:close/>
              </a:path>
            </a:pathLst>
          </a:cu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393950"/>
            <a:ext cx="47614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1F4E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2200" y="2749550"/>
            <a:ext cx="4761484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Morality is independent of God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92200" y="3225800"/>
            <a:ext cx="476148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God wills what is right </a:t>
            </a:r>
            <a:r>
              <a:rPr lang="en-US" sz="15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because</a:t>
            </a: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it is right.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2200" y="3625850"/>
            <a:ext cx="47614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Cost: omnipotence — God cannot turn wrong into right.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7600" y="2051050"/>
            <a:ext cx="5181600" cy="2400300"/>
          </a:xfrm>
          <a:prstGeom prst="roundRect">
            <a:avLst>
              <a:gd name="adj" fmla="val 3175"/>
            </a:avLst>
          </a:prstGeom>
          <a:solidFill>
            <a:srgbClr val="FFFCF5"/>
          </a:solidFill>
          <a:ln/>
        </p:spPr>
      </p:sp>
      <p:sp>
        <p:nvSpPr>
          <p:cNvPr id="11" name="Shape 9"/>
          <p:cNvSpPr/>
          <p:nvPr/>
        </p:nvSpPr>
        <p:spPr>
          <a:xfrm>
            <a:off x="6197600" y="2051050"/>
            <a:ext cx="5181600" cy="2400300"/>
          </a:xfrm>
          <a:custGeom>
            <a:avLst/>
            <a:gdLst/>
            <a:ahLst/>
            <a:cxnLst/>
            <a:rect l="l" t="t" r="r" b="b"/>
            <a:pathLst>
              <a:path w="5181600" h="24003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05400" y="0"/>
                </a:lnTo>
                <a:arcTo hR="76200" wR="76200" stAng="16200000" swAng="5400000"/>
                <a:lnTo>
                  <a:pt x="5181600" y="76200"/>
                </a:lnTo>
                <a:arcTo hR="12700" wR="76200" stAng="0" swAng="-5400000"/>
                <a:lnTo>
                  <a:pt x="76200" y="63500"/>
                </a:lnTo>
                <a:arcTo hR="12700" wR="76200" stAng="16200000" swAng="-5400000"/>
                <a:close/>
              </a:path>
            </a:pathLst>
          </a:custGeom>
          <a:solidFill>
            <a:srgbClr val="8C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0" y="2393950"/>
            <a:ext cx="47614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7000" y="2749550"/>
            <a:ext cx="4761484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Morality is whatever God wills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77000" y="3225800"/>
            <a:ext cx="476148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is right is right </a:t>
            </a:r>
            <a:r>
              <a:rPr lang="en-US" sz="15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because</a:t>
            </a: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God wills it.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7000" y="3625850"/>
            <a:ext cx="47614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Cost: goodness — anything God willed would be right.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3 · The Euthyphro dilemma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1F4E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 1 UNDER PRESSURE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Can independent morality be saved?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000250"/>
            <a:ext cx="1088339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Defence: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it is logically impossible for right to be wrong — so God’s inability is no limit on omnipotence.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52095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Problem: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“murdering babies is right” is not obviously a contradiction in terms. If what makes wrong wrong is something about the way the world is, an omnipotent being should be able to change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33375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Further problem: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nothing that exists is independent of God. A wholly independent morality sits badly with the concept of God.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146550"/>
            <a:ext cx="10566400" cy="666750"/>
          </a:xfrm>
          <a:prstGeom prst="roundRect">
            <a:avLst>
              <a:gd name="adj" fmla="val 11429"/>
            </a:avLst>
          </a:prstGeom>
          <a:solidFill>
            <a:srgbClr val="EDE3CC"/>
          </a:solidFill>
          <a:ln/>
        </p:spPr>
        <p:txBody>
          <a:bodyPr wrap="square" lIns="155482" tIns="155482" rIns="0" bIns="130082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God’s omnipotence, then, requires that we reject Option 1.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3 · The Euthyphro dilemma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OPTION 2 UNDER PRESSURE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54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Three separate objections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2054225"/>
            <a:ext cx="3397250" cy="2190750"/>
          </a:xfrm>
          <a:prstGeom prst="roundRect">
            <a:avLst>
              <a:gd name="adj" fmla="val 3333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86000"/>
            <a:ext cx="302171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B5852B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7750" y="2844800"/>
            <a:ext cx="302171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The moral cost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7750" y="3251200"/>
            <a:ext cx="302171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God willed the death of children, it would be right. We would no longer call God good.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7375" y="2054225"/>
            <a:ext cx="3397250" cy="2190750"/>
          </a:xfrm>
          <a:prstGeom prst="roundRect">
            <a:avLst>
              <a:gd name="adj" fmla="val 3333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9150" y="2286000"/>
            <a:ext cx="302171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B5852B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29150" y="2844800"/>
            <a:ext cx="302171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The empty claim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29150" y="3251200"/>
            <a:ext cx="302171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“God is good” reduces to “God wills whatever God wills” — a tautology.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78775" y="2054225"/>
            <a:ext cx="3397250" cy="2190750"/>
          </a:xfrm>
          <a:prstGeom prst="roundRect">
            <a:avLst>
              <a:gd name="adj" fmla="val 3333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0550" y="2286000"/>
            <a:ext cx="302171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B5852B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10550" y="2844800"/>
            <a:ext cx="302171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Arbitrariness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10550" y="3251200"/>
            <a:ext cx="302171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God invents morality, so no fact can be a reason for God’s will. Morality has no rational structure.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50215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These push us back to Option 1 — but Option 1 conflicts with omnipotence. It seems we cannot meaningfully say both.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3 · The Euthyphro dilemma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RESPONSE 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54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Goodness depends on God’s nature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051050"/>
            <a:ext cx="113792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God exists and is supremely good, everything morally good relates back to God as the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ultimate reality</a:t>
            </a: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5975" y="2619375"/>
            <a:ext cx="3388816" cy="1060450"/>
          </a:xfrm>
          <a:prstGeom prst="roundRect">
            <a:avLst>
              <a:gd name="adj" fmla="val 6886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851150"/>
            <a:ext cx="301302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Not because logic forbids it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88941" y="2619375"/>
            <a:ext cx="3388816" cy="1060450"/>
          </a:xfrm>
          <a:prstGeom prst="roundRect">
            <a:avLst>
              <a:gd name="adj" fmla="val 6886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0716" y="2851150"/>
            <a:ext cx="30130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Not because an outside standard forbids it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968258" y="2625725"/>
            <a:ext cx="3401516" cy="1047750"/>
          </a:xfrm>
          <a:prstGeom prst="roundRect">
            <a:avLst>
              <a:gd name="adj" fmla="val 6364"/>
            </a:avLst>
          </a:prstGeom>
          <a:solidFill>
            <a:srgbClr val="FFFCF5"/>
          </a:solidFill>
          <a:ln w="19050">
            <a:solidFill>
              <a:srgbClr val="B585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06383" y="2863850"/>
            <a:ext cx="30130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But because it is impossible for God not to be God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12800" y="3937000"/>
            <a:ext cx="1088339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Good cannot be made evil — the impossibility comes from God’s own nature.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3 · The Euthyphro dilemma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RESPONSE 2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God’s will is structured by love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000250"/>
            <a:ext cx="1088339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God’s will does not respond to anything independent of it — but that does not make it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arbitrary</a:t>
            </a: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God wills what he does because he loves, and this creates morality.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325" y="2860675"/>
            <a:ext cx="5162550" cy="1765300"/>
          </a:xfrm>
          <a:prstGeom prst="roundRect">
            <a:avLst>
              <a:gd name="adj" fmla="val 3777"/>
            </a:avLst>
          </a:prstGeom>
          <a:solidFill>
            <a:srgbClr val="FFFCF5"/>
          </a:solidFill>
          <a:ln w="19050">
            <a:solidFill>
              <a:srgbClr val="8C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5850" y="3124200"/>
            <a:ext cx="47745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8C2F2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Objection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85850" y="3543300"/>
            <a:ext cx="47745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Why does God love what he does? If God loved otherwise, morality would be different.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7125" y="2860675"/>
            <a:ext cx="5162550" cy="1765300"/>
          </a:xfrm>
          <a:prstGeom prst="roundRect">
            <a:avLst>
              <a:gd name="adj" fmla="val 3777"/>
            </a:avLst>
          </a:prstGeom>
          <a:solidFill>
            <a:srgbClr val="FFFCF5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0650" y="3124200"/>
            <a:ext cx="47745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F4E79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Reply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70650" y="3543300"/>
            <a:ext cx="4774565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Could God love differently and still be God? If we can form no clear conception of that, the objection fades.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3 · The Euthyphro dilemma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RESPONSE 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Same property, different concepts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2000250"/>
            <a:ext cx="4711700" cy="2571750"/>
          </a:xfrm>
          <a:prstGeom prst="roundRect">
            <a:avLst>
              <a:gd name="adj" fmla="val 2963"/>
            </a:avLst>
          </a:prstGeom>
          <a:solidFill>
            <a:srgbClr val="E3ECF3"/>
          </a:solidFill>
          <a:ln/>
        </p:spPr>
      </p:sp>
      <p:pic>
        <p:nvPicPr>
          <p:cNvPr id="5" name="Image 0" descr="A water dropl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87650" y="2254250"/>
            <a:ext cx="762000" cy="101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73523" y="3397250"/>
            <a:ext cx="21901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“Water” and “H₂O”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3745" y="3822700"/>
            <a:ext cx="432981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concepts. People knew water before H₂O. Yet one thing in the world.</a:t>
            </a:r>
            <a:endParaRPr lang="en-US" sz="14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78500" y="3108325"/>
            <a:ext cx="635000" cy="355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67500" y="2124075"/>
            <a:ext cx="4711700" cy="2324100"/>
          </a:xfrm>
          <a:prstGeom prst="roundRect">
            <a:avLst>
              <a:gd name="adj" fmla="val 3279"/>
            </a:avLst>
          </a:prstGeom>
          <a:solidFill>
            <a:srgbClr val="F3E8CF"/>
          </a:solidFill>
          <a:ln/>
        </p:spPr>
      </p:sp>
      <p:pic>
        <p:nvPicPr>
          <p:cNvPr id="10" name="Image 2" descr="A radiant su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15350" y="2378075"/>
            <a:ext cx="1016000" cy="101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25043" y="3521075"/>
            <a:ext cx="339661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“Good” and “what God wills”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184668" y="3946525"/>
            <a:ext cx="367736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Two concepts. Yet the same property.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12800" y="480060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“God is good” is </a:t>
            </a: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 analytic truth — no tautology. Morality depends on God </a:t>
            </a: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metaphysically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not conceptually.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3 · The Euthyphro dilemma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C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209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50" kern="0" dirty="0">
                <a:solidFill>
                  <a:srgbClr val="8C5A1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4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71800"/>
            <a:ext cx="10883392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God and time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812800" y="4000500"/>
            <a:ext cx="7194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Everlasting or eternal?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SELF-SUFFICIENCY AND TIME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No beginning, no end — but in what way?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00025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anything could bring God into existence or end it, God would depend on that thing. A perfect being depends on nothing — so God’s existence has no beginning or end.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816225"/>
            <a:ext cx="5162550" cy="2019300"/>
          </a:xfrm>
          <a:prstGeom prst="roundRect">
            <a:avLst>
              <a:gd name="adj" fmla="val 3616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pic>
        <p:nvPicPr>
          <p:cNvPr id="6" name="Image 0" descr="An arrow running infinitely in both direction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3073400"/>
            <a:ext cx="38100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3150" y="3556000"/>
            <a:ext cx="478764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Everlasting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73150" y="4006850"/>
            <a:ext cx="49022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God is </a:t>
            </a:r>
            <a:r>
              <a:rPr lang="en-US" sz="15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temporal</a:t>
            </a: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exists in time, throughout all time.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94425" y="2822575"/>
            <a:ext cx="5175250" cy="2006600"/>
          </a:xfrm>
          <a:prstGeom prst="roundRect">
            <a:avLst>
              <a:gd name="adj" fmla="val 3323"/>
            </a:avLst>
          </a:prstGeom>
          <a:solidFill>
            <a:srgbClr val="FFFCF5"/>
          </a:solidFill>
          <a:ln w="19050">
            <a:solidFill>
              <a:srgbClr val="B5852B"/>
            </a:solidFill>
            <a:prstDash val="solid"/>
          </a:ln>
        </p:spPr>
      </p:sp>
      <p:pic>
        <p:nvPicPr>
          <p:cNvPr id="10" name="Image 1" descr="A single point standing apart from a 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7950" y="3086100"/>
            <a:ext cx="381000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7950" y="3568700"/>
            <a:ext cx="478764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Eternal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6457950" y="4019550"/>
            <a:ext cx="478764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God is </a:t>
            </a:r>
            <a:r>
              <a:rPr lang="en-US" sz="15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atemporal</a:t>
            </a: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outside time. Beginning and end only make sense in time.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4 · God and time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BOETHIUS, VIA STUMP AND KRETZMANN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31850" y="1270000"/>
            <a:ext cx="0" cy="514350"/>
          </a:xfrm>
          <a:prstGeom prst="line">
            <a:avLst/>
          </a:prstGeom>
          <a:noFill/>
          <a:ln w="38100">
            <a:solidFill>
              <a:srgbClr val="B585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4900" y="1320800"/>
            <a:ext cx="1058252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i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Eternity is “the complete possession all at once of illimitable life.”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25650"/>
          <a:ext cx="10553700" cy="2063750"/>
        </p:xfrm>
        <a:graphic>
          <a:graphicData uri="http://schemas.openxmlformats.org/drawingml/2006/table">
            <a:tbl>
              <a:tblPr/>
              <a:tblGrid>
                <a:gridCol w="3166110"/>
                <a:gridCol w="738759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An eternal being…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What this means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1. has life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 psychological life — not physical or biological, which is temporal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2. is illimitable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 beginning or end; cannot be limited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 is atemporal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Its whole life is “now” — a present not flanked by past or future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4. has duration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 special, atemporal kind: no part of its life is ever absent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318000"/>
            <a:ext cx="1088339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Features 1 and 2 fit an everlasting God too. </a:t>
            </a:r>
            <a:r>
              <a:rPr lang="en-US" sz="15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 3 is what rules everlastingness out.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4 · God and time · Boethius, </a:t>
            </a:r>
            <a:r>
              <a:rPr lang="en-US" sz="1200" i="1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Consolation of Philosophy</a:t>
            </a: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(wording as quoted by Stump and Kretzmann, “Eternity”)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C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93875"/>
            <a:ext cx="58864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5A1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BOETHIUS’ PICTURE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51075"/>
            <a:ext cx="58864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Time as the circle, God as the centre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3482975"/>
            <a:ext cx="588645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From the centre, a line can be drawn to every point on the circumference. Every moment in time maps onto the </a:t>
            </a:r>
            <a:r>
              <a:rPr lang="en-US" sz="1600" b="1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moment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of God’s existence.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5500" y="4587875"/>
            <a:ext cx="0" cy="273050"/>
          </a:xfrm>
          <a:prstGeom prst="line">
            <a:avLst/>
          </a:prstGeom>
          <a:noFill/>
          <a:ln w="25400">
            <a:solidFill>
              <a:srgbClr val="D4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4587875"/>
            <a:ext cx="5677154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Only a picture: Boethius is not saying time goes in a circle.</a:t>
            </a:r>
            <a:endParaRPr lang="en-US" sz="1500" dirty="0"/>
          </a:p>
        </p:txBody>
      </p:sp>
      <p:pic>
        <p:nvPicPr>
          <p:cNvPr id="7" name="Image 0" descr="A circle representing time with a central point representing God and spokes reaching every point on the ri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34200" y="1104900"/>
            <a:ext cx="4445000" cy="4445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32800" y="321310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982200" y="1117600"/>
            <a:ext cx="1447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moments in time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6242050"/>
            <a:ext cx="65405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4 · God and time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STUMP AND KRETZMANN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Three kinds of simultaneity</a:t>
            </a:r>
            <a:endParaRPr lang="en-US" sz="3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12950"/>
          <a:ext cx="10553700" cy="2184400"/>
        </p:xfrm>
        <a:graphic>
          <a:graphicData uri="http://schemas.openxmlformats.org/drawingml/2006/table">
            <a:tbl>
              <a:tblPr/>
              <a:tblGrid>
                <a:gridCol w="2321814"/>
                <a:gridCol w="4643628"/>
                <a:gridCol w="3588258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Kind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Two things are simultaneous if…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Example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T-simultaneity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they exist at one and the same time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Descartes, Locke and Leibniz, 1646–1650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E-simultaneity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they exist in one and the same eternal present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Any two events in God’s life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ET-simultaneity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one is temporal, one eternal; from either standpoint both are present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You reading this, and God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425950"/>
            <a:ext cx="10566400" cy="939800"/>
          </a:xfrm>
          <a:prstGeom prst="roundRect">
            <a:avLst>
              <a:gd name="adj" fmla="val 8108"/>
            </a:avLst>
          </a:prstGeom>
          <a:solidFill>
            <a:srgbClr val="EDE3CC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4603750"/>
            <a:ext cx="105171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T-simultaneity is </a:t>
            </a:r>
            <a:r>
              <a:rPr lang="en-US" sz="1600" b="1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transitive</a:t>
            </a:r>
            <a:r>
              <a:rPr lang="en-US" sz="16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ET-simultaneity is </a:t>
            </a:r>
            <a:r>
              <a:rPr lang="en-US" sz="1600" b="1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</a:t>
            </a:r>
            <a:r>
              <a:rPr lang="en-US" sz="16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your 10th birthday and today are each ET-simultaneous with God, but not with each other.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4 · God and time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ATEMPORAL DURATION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To exist in time is barely to exist at all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2003425"/>
            <a:ext cx="5162550" cy="2349500"/>
          </a:xfrm>
          <a:prstGeom prst="roundRect">
            <a:avLst>
              <a:gd name="adj" fmla="val 3108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pic>
        <p:nvPicPr>
          <p:cNvPr id="5" name="Image 0" descr="A timeline where only a thin present moment is solid and past and future are fad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260600"/>
            <a:ext cx="4318000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2832100"/>
            <a:ext cx="47876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 temporal being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73150" y="3276600"/>
            <a:ext cx="4787646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Its past no longer exists; its future does not yet. Only a fleeting present is real — true even of an everlasting God.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94425" y="2009775"/>
            <a:ext cx="5175250" cy="2336800"/>
          </a:xfrm>
          <a:prstGeom prst="roundRect">
            <a:avLst>
              <a:gd name="adj" fmla="val 2853"/>
            </a:avLst>
          </a:prstGeom>
          <a:solidFill>
            <a:srgbClr val="FFFCF5"/>
          </a:solidFill>
          <a:ln w="19050">
            <a:solidFill>
              <a:srgbClr val="B5852B"/>
            </a:solidFill>
            <a:prstDash val="solid"/>
          </a:ln>
        </p:spPr>
      </p:sp>
      <p:pic>
        <p:nvPicPr>
          <p:cNvPr id="9" name="Image 1" descr="A single solid golden band with nothing fad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7950" y="2273300"/>
            <a:ext cx="4318000" cy="444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7950" y="2844800"/>
            <a:ext cx="47876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An eternal being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457950" y="3289300"/>
            <a:ext cx="478764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None of its existence has gone, none is yet to come. Everything God ever “was” or “will be” always “is”.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4 · God and time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C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2095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50" kern="0" dirty="0">
                <a:solidFill>
                  <a:srgbClr val="8C5A1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5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71800"/>
            <a:ext cx="10883392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Omniscience and freedom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812800" y="4000500"/>
            <a:ext cx="7194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 God know what we will freely do?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OMNISCIENCE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Knowing everything it is possible to know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00025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Latin </a:t>
            </a:r>
            <a:r>
              <a:rPr lang="en-US" sz="16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omni-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(all) + </a:t>
            </a:r>
            <a:r>
              <a:rPr lang="en-US" sz="16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scient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(knowing). But if humans have free will, perhaps the future cannot be known — so the safer definition is </a:t>
            </a: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it is possible to know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325" y="2822575"/>
            <a:ext cx="5175250" cy="1765300"/>
          </a:xfrm>
          <a:prstGeom prst="roundRect">
            <a:avLst>
              <a:gd name="adj" fmla="val 3777"/>
            </a:avLst>
          </a:prstGeom>
          <a:solidFill>
            <a:srgbClr val="FFFCF5"/>
          </a:solidFill>
          <a:ln w="19050">
            <a:solidFill>
              <a:srgbClr val="B585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5850" y="3086100"/>
            <a:ext cx="47876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Aquinas: how God knows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85850" y="3505200"/>
            <a:ext cx="4787646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Directly — not by inference or through concepts. God knows each particular as the thing it is, like knowing what you are doing as you do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3475" y="2816225"/>
            <a:ext cx="5162550" cy="1778000"/>
          </a:xfrm>
          <a:prstGeom prst="roundRect">
            <a:avLst>
              <a:gd name="adj" fmla="val 4107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0650" y="3073400"/>
            <a:ext cx="47876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Other philosophers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70650" y="3492500"/>
            <a:ext cx="4787646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God did not know all true propositions, there would be something God did not know. So God also has propositional knowledge.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5 · Omniscience and freedom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4600"/>
            <a:ext cx="1088339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If God knows in advance, am I free?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36750"/>
          <a:ext cx="10553700" cy="2607965"/>
        </p:xfrm>
        <a:graphic>
          <a:graphicData uri="http://schemas.openxmlformats.org/drawingml/2006/table">
            <a:tbl>
              <a:tblPr/>
              <a:tblGrid>
                <a:gridCol w="949833"/>
                <a:gridCol w="9603867"/>
              </a:tblGrid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Step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6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P1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 act freely, I must be able to do the action or refrain from it.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P2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If God knows what I will do before I do it, it must be true that I will do it.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C1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So God cannot know what I will do and it be true that I don’t do it.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P3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If it is true that I will do it, nothing I can do can prevent it coming true.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C2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So if God knows what I will do, I cannot refrain from doing it.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C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C3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4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So if God knows what I will do before I do it, that action is not free.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C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5 · Omniscience and freedom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E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WHY THIS THREATENS THE CONCEPT OF GOD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54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Omniscient or good — but not both?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05105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Free will is a great good: it lets us choose good or evil, enter a relationship with God, and live morally significant lives. A supremely good God would want us to have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889250"/>
            <a:ext cx="5181600" cy="1295400"/>
          </a:xfrm>
          <a:prstGeom prst="roundRect">
            <a:avLst>
              <a:gd name="adj" fmla="val 5882"/>
            </a:avLst>
          </a:prstGeom>
          <a:solidFill>
            <a:srgbClr val="FFFCF5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889250"/>
            <a:ext cx="5181600" cy="1295400"/>
          </a:xfrm>
          <a:custGeom>
            <a:avLst/>
            <a:gdLst/>
            <a:ahLst/>
            <a:cxnLst/>
            <a:rect l="l" t="t" r="r" b="b"/>
            <a:pathLst>
              <a:path w="5181600" h="12954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05400" y="0"/>
                </a:lnTo>
                <a:arcTo hR="76200" wR="76200" stAng="16200000" swAng="5400000"/>
                <a:lnTo>
                  <a:pt x="5181600" y="76200"/>
                </a:lnTo>
                <a:arcTo hR="12700" wR="76200" stAng="0" swAng="-5400000"/>
                <a:lnTo>
                  <a:pt x="76200" y="63500"/>
                </a:lnTo>
                <a:arcTo hR="12700" wR="76200" stAng="16200000" swAng="-5400000"/>
                <a:close/>
              </a:path>
            </a:pathLst>
          </a:cu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20675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If we are free…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6800" y="3638550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…God is not omniscient.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7600" y="2889250"/>
            <a:ext cx="5181600" cy="1295400"/>
          </a:xfrm>
          <a:prstGeom prst="roundRect">
            <a:avLst>
              <a:gd name="adj" fmla="val 5882"/>
            </a:avLst>
          </a:prstGeom>
          <a:solidFill>
            <a:srgbClr val="FFFCF5"/>
          </a:solidFill>
          <a:ln/>
        </p:spPr>
      </p:sp>
      <p:sp>
        <p:nvSpPr>
          <p:cNvPr id="10" name="Shape 8"/>
          <p:cNvSpPr/>
          <p:nvPr/>
        </p:nvSpPr>
        <p:spPr>
          <a:xfrm>
            <a:off x="6197600" y="2889250"/>
            <a:ext cx="5181600" cy="1295400"/>
          </a:xfrm>
          <a:custGeom>
            <a:avLst/>
            <a:gdLst/>
            <a:ahLst/>
            <a:cxnLst/>
            <a:rect l="l" t="t" r="r" b="b"/>
            <a:pathLst>
              <a:path w="5181600" h="12954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05400" y="0"/>
                </a:lnTo>
                <a:arcTo hR="76200" wR="76200" stAng="16200000" swAng="5400000"/>
                <a:lnTo>
                  <a:pt x="5181600" y="76200"/>
                </a:lnTo>
                <a:arcTo hR="12700" wR="76200" stAng="0" swAng="-5400000"/>
                <a:lnTo>
                  <a:pt x="76200" y="63500"/>
                </a:lnTo>
                <a:arcTo hR="12700" wR="76200" stAng="16200000" swAng="-5400000"/>
                <a:close/>
              </a:path>
            </a:pathLst>
          </a:custGeom>
          <a:solidFill>
            <a:srgbClr val="8C2F2F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3206750"/>
            <a:ext cx="481380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If we are not free…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51600" y="3638550"/>
            <a:ext cx="48138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…God is not supremely good.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5 · Omniscience and freedom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 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God is everlasting, not eternal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000250"/>
            <a:ext cx="1088339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God exists in time. Because of free will, the future cannot be known — even by God.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540000"/>
            <a:ext cx="1088339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That is no restriction: omniscience only means knowing </a:t>
            </a:r>
            <a:r>
              <a:rPr lang="en-US" sz="17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everything it is possible to know</a:t>
            </a:r>
            <a:r>
              <a:rPr lang="en-US" sz="17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and God knows that at any given time.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325" y="3400425"/>
            <a:ext cx="10547350" cy="1219200"/>
          </a:xfrm>
          <a:prstGeom prst="roundRect">
            <a:avLst>
              <a:gd name="adj" fmla="val 5469"/>
            </a:avLst>
          </a:prstGeom>
          <a:solidFill>
            <a:srgbClr val="FFFCF5"/>
          </a:solidFill>
          <a:ln w="19050">
            <a:solidFill>
              <a:srgbClr val="8C2F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5850" y="3663950"/>
            <a:ext cx="103209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8C2F2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Two questions to press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85850" y="4083050"/>
            <a:ext cx="1032090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 this a satisfactory view of omniscience? Is it a satisfactory view of God’s relationship to time?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5 · Omniscience and freedom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 2 · COMPATIBILISM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4600"/>
            <a:ext cx="1088339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P2 is ambiguous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27225"/>
            <a:ext cx="5162550" cy="1371600"/>
          </a:xfrm>
          <a:prstGeom prst="roundRect">
            <a:avLst>
              <a:gd name="adj" fmla="val 5324"/>
            </a:avLst>
          </a:prstGeom>
          <a:solidFill>
            <a:srgbClr val="FFFCF5"/>
          </a:solidFill>
          <a:ln w="6350">
            <a:solidFill>
              <a:srgbClr val="DDD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159000"/>
            <a:ext cx="483997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Necessarily true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47750" y="2533650"/>
            <a:ext cx="48399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conditional: </a:t>
            </a:r>
            <a:r>
              <a:rPr lang="en-US" sz="14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</a:t>
            </a: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God knows I will do X, </a:t>
            </a:r>
            <a:r>
              <a:rPr lang="en-US" sz="14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then</a:t>
            </a: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 will do X. No one can know what is false.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4425" y="1933575"/>
            <a:ext cx="5175250" cy="1358900"/>
          </a:xfrm>
          <a:prstGeom prst="roundRect">
            <a:avLst>
              <a:gd name="adj" fmla="val 4907"/>
            </a:avLst>
          </a:prstGeom>
          <a:solidFill>
            <a:srgbClr val="FFFCF5"/>
          </a:solidFill>
          <a:ln w="19050">
            <a:solidFill>
              <a:srgbClr val="B585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171700"/>
            <a:ext cx="483997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Not necessarily true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32550" y="2546350"/>
            <a:ext cx="48399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consequent: that I </a:t>
            </a:r>
            <a:r>
              <a:rPr lang="en-US" sz="14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must</a:t>
            </a: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do X. Paris is the capital of France — but it could have been another city.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505200"/>
            <a:ext cx="1088339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won’t refrain — but that doesn’t mean I </a:t>
            </a:r>
            <a:r>
              <a:rPr lang="en-US" sz="15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can’t</a:t>
            </a:r>
            <a:r>
              <a:rPr lang="en-US" sz="15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So God can know, and I act freely.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325" y="3990975"/>
            <a:ext cx="10547350" cy="1282700"/>
          </a:xfrm>
          <a:prstGeom prst="roundRect">
            <a:avLst>
              <a:gd name="adj" fmla="val 5198"/>
            </a:avLst>
          </a:prstGeom>
          <a:solidFill>
            <a:srgbClr val="FFFCF5"/>
          </a:solidFill>
          <a:ln w="19050">
            <a:solidFill>
              <a:srgbClr val="8C2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5050" y="4203700"/>
            <a:ext cx="10425557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C2F2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Objection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5050" y="4552950"/>
            <a:ext cx="1042555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If I can refrain, I can change the past (what God knew) or make God’s belief false. And how could knowledge be complete and infallible unless the future is already fixed?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5 · Omniscience and freedom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 3 · STUMP AND KRETZMANN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13792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God does not fore-know: there is no “before” for God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200025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moment in time is </a:t>
            </a:r>
            <a:r>
              <a:rPr lang="en-US" sz="1600" b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ET-simultaneous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with God. God knows events in the eternal now — as they happen, not before they happen.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813050"/>
            <a:ext cx="1088339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P2’s phrase “knows what I will do </a:t>
            </a:r>
            <a:r>
              <a:rPr lang="en-US" sz="1600" i="1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before</a:t>
            </a: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 do it” is confused: it puts God’s knowledge in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3333750"/>
            <a:ext cx="10566400" cy="977900"/>
          </a:xfrm>
          <a:prstGeom prst="roundRect">
            <a:avLst>
              <a:gd name="adj" fmla="val 7792"/>
            </a:avLst>
          </a:prstGeom>
          <a:solidFill>
            <a:srgbClr val="EDE3CC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511550"/>
            <a:ext cx="1051712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F243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 know what we are doing as we do it, and that does not stop us being free. The same goes for God’s knowledge.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 5 · Omniscience and freedom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GLOSSARY · 1 OF 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4600"/>
            <a:ext cx="1088339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The attributes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36750"/>
          <a:ext cx="10553700" cy="2607965"/>
        </p:xfrm>
        <a:graphic>
          <a:graphicData uri="http://schemas.openxmlformats.org/drawingml/2006/table">
            <a:tbl>
              <a:tblPr/>
              <a:tblGrid>
                <a:gridCol w="2743962"/>
                <a:gridCol w="7809738"/>
              </a:tblGrid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Term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Meaning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Omnipotence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power to do anything possible — anything that can be done.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Omniscience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Knowing everything it is possible to know.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Omnibenevolence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Supreme goodness: perfect in every way, and/or a will always in accordance with moral values.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Metaphysical goodness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Goodness understood as perfection.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Moral goodness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Goodness understood as willing in accordance with moral values.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Self-sufficiency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Depending on nothing else for existence, and lacking nothing.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Glossary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GLOSSARY · 2 OF 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4600"/>
            <a:ext cx="1088339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Logic and argument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36750"/>
          <a:ext cx="10553700" cy="2980531"/>
        </p:xfrm>
        <a:graphic>
          <a:graphicData uri="http://schemas.openxmlformats.org/drawingml/2006/table">
            <a:tbl>
              <a:tblPr/>
              <a:tblGrid>
                <a:gridCol w="2743962"/>
                <a:gridCol w="7809738"/>
              </a:tblGrid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Term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Meaning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Logically impossible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 contradiction in terms; describes nothing at all.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Coherent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Free of self-contradiction; able to be meaningfully thought.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Begging the question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Assuming the truth of a conclusion in order to show it is true.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Tautology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 statement true by its own terms, which tells us nothing.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Analytic truth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True in virtue of the meanings of its terms alone.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Arbitrary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Done for no reason.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Contingent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True, but could have been otherwise.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Glossary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2F2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GLOSSARY · 3 OF 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4600"/>
            <a:ext cx="1088339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Time and freedom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36750"/>
          <a:ext cx="10553700" cy="3210421"/>
        </p:xfrm>
        <a:graphic>
          <a:graphicData uri="http://schemas.openxmlformats.org/drawingml/2006/table">
            <a:tbl>
              <a:tblPr/>
              <a:tblGrid>
                <a:gridCol w="2743962"/>
                <a:gridCol w="7809738"/>
              </a:tblGrid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Term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Meaning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Everlasting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Existing in time, throughout all time, with no beginning or end.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Eternal / atemporal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Existing outside time; the whole of life possessed “all at once”.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T-simultaneity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Existing at one and the same time.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E-simultaneity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Existing in one and the same eternal present.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ET-simultaneity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relation between something eternal and something temporal: both present from either standpoint.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Transitive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If it holds between x and y, and y and z, it holds between x and z.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Compatibilism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Here: God’s foreknowledge is compatible with human free will.</a:t>
                      </a:r>
                      <a:endParaRPr lang="en-US" sz="13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4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Glossary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CE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8C5A1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00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1F2433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Each problem, each reply</a:t>
            </a:r>
            <a:endParaRPr lang="en-US" sz="3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12950"/>
          <a:ext cx="10553700" cy="1929805"/>
        </p:xfrm>
        <a:graphic>
          <a:graphicData uri="http://schemas.openxmlformats.org/drawingml/2006/table">
            <a:tbl>
              <a:tblPr/>
              <a:tblGrid>
                <a:gridCol w="3166110"/>
                <a:gridCol w="738759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Problem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AE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AE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Strongest reply covered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A4AE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4AE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4AE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9E3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Paradox of the stone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AE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 limit on lifting means no limit on creating stones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4AE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Euthyphro dilemma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Goodness is God’s nature / structured by love / same property as God’s will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Eternity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Boethius; T-, E- and ET-simultaneity; atemporal duration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Omniscience and freedom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433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Everlasting God / compatibilism / God knows in the eternal now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171355"/>
            <a:ext cx="1088339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3D435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Now open the workbook.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4205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Concept of God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 Concept of God">
  <a:themeElements>
    <a:clrScheme name="The Concept of God">
      <a:dk1>
        <a:srgbClr val="1F2433"/>
      </a:dk1>
      <a:lt1>
        <a:srgbClr val="F6F1E7"/>
      </a:lt1>
      <a:dk2>
        <a:srgbClr val="555760"/>
      </a:dk2>
      <a:lt2>
        <a:srgbClr val="E1DDD5"/>
      </a:lt2>
      <a:accent1>
        <a:srgbClr val="8C2F2F"/>
      </a:accent1>
      <a:accent2>
        <a:srgbClr val="8C5A12"/>
      </a:accent2>
      <a:accent3>
        <a:srgbClr val="1F4E79"/>
      </a:accent3>
      <a:accent4>
        <a:srgbClr val="B5852B"/>
      </a:accent4>
      <a:accent5>
        <a:srgbClr val="3D4353"/>
      </a:accent5>
      <a:accent6>
        <a:srgbClr val="7A7466"/>
      </a:accent6>
      <a:hlink>
        <a:srgbClr val="0563C1"/>
      </a:hlink>
      <a:folHlink>
        <a:srgbClr val="954F72"/>
      </a:folHlink>
    </a:clrScheme>
    <a:fontScheme name="The Concept of God">
      <a:majorFont>
        <a:latin typeface="EB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Concept of God</dc:title>
  <dc:subject/>
  <dc:creator/>
  <cp:lastModifiedBy/>
  <cp:revision>1</cp:revision>
  <dcterms:created xsi:type="dcterms:W3CDTF">2026-10-22T15:48:34Z</dcterms:created>
  <dcterms:modified xsi:type="dcterms:W3CDTF">2026-10-22T15:48:34Z</dcterms:modified>
</cp:coreProperties>
</file>