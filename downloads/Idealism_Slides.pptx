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7"/>
  </p:notesMasterIdLst>
  <p:sldIdLst>
    <p:sldId id="264" r:id="rId2"/>
    <p:sldId id="266" r:id="rId3"/>
    <p:sldId id="259" r:id="rId4"/>
    <p:sldId id="260" r:id="rId5"/>
    <p:sldId id="271" r:id="rId6"/>
    <p:sldId id="275" r:id="rId7"/>
    <p:sldId id="272" r:id="rId8"/>
    <p:sldId id="276" r:id="rId9"/>
    <p:sldId id="263" r:id="rId10"/>
    <p:sldId id="277" r:id="rId11"/>
    <p:sldId id="257" r:id="rId12"/>
    <p:sldId id="273" r:id="rId13"/>
    <p:sldId id="278" r:id="rId14"/>
    <p:sldId id="274" r:id="rId15"/>
    <p:sldId id="269"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077"/>
    <p:restoredTop sz="94599"/>
  </p:normalViewPr>
  <p:slideViewPr>
    <p:cSldViewPr snapToGrid="0">
      <p:cViewPr varScale="1">
        <p:scale>
          <a:sx n="106" d="100"/>
          <a:sy n="106" d="100"/>
        </p:scale>
        <p:origin x="880"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3892E2-0CBE-0A40-ACAD-452A7B643036}" type="datetimeFigureOut">
              <a:rPr lang="en-US" smtClean="0"/>
              <a:t>9/24/25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4A0C6BD-9BD5-7847-A3AC-969D556BE27A}" type="slidenum">
              <a:rPr lang="en-US" smtClean="0"/>
              <a:t>‹#›</a:t>
            </a:fld>
            <a:endParaRPr lang="en-US"/>
          </a:p>
        </p:txBody>
      </p:sp>
    </p:spTree>
    <p:extLst>
      <p:ext uri="{BB962C8B-B14F-4D97-AF65-F5344CB8AC3E}">
        <p14:creationId xmlns:p14="http://schemas.microsoft.com/office/powerpoint/2010/main" val="228698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sp>
      <p:sp>
        <p:nvSpPr>
          <p:cNvPr id="2" name="Title 1"/>
          <p:cNvSpPr>
            <a:spLocks noGrp="1"/>
          </p:cNvSpPr>
          <p:nvPr>
            <p:ph type="ctrTitle"/>
          </p:nvPr>
        </p:nvSpPr>
        <p:spPr>
          <a:xfrm>
            <a:off x="1078523" y="1098388"/>
            <a:ext cx="10318418" cy="4394988"/>
          </a:xfrm>
        </p:spPr>
        <p:txBody>
          <a:bodyPr anchor="ctr">
            <a:noAutofit/>
          </a:bodyPr>
          <a:lstStyle>
            <a:lvl1pPr algn="ctr">
              <a:defRPr sz="10000" spc="800" baseline="0"/>
            </a:lvl1pPr>
          </a:lstStyle>
          <a:p>
            <a:r>
              <a:rPr lang="en-GB"/>
              <a:t>Click to edit Master title style</a:t>
            </a:r>
            <a:endParaRPr lang="en-US" dirty="0"/>
          </a:p>
        </p:txBody>
      </p:sp>
      <p:sp>
        <p:nvSpPr>
          <p:cNvPr id="3" name="Subtitle 2"/>
          <p:cNvSpPr>
            <a:spLocks noGrp="1"/>
          </p:cNvSpPr>
          <p:nvPr>
            <p:ph type="subTitle" idx="1"/>
          </p:nvPr>
        </p:nvSpPr>
        <p:spPr>
          <a:xfrm>
            <a:off x="2215045" y="5979196"/>
            <a:ext cx="8045373" cy="742279"/>
          </a:xfrm>
        </p:spPr>
        <p:txBody>
          <a:bodyPr anchor="t">
            <a:normAutofit/>
          </a:bodyPr>
          <a:lstStyle>
            <a:lvl1pPr marL="0" indent="0" algn="ctr">
              <a:lnSpc>
                <a:spcPct val="100000"/>
              </a:lnSpc>
              <a:buNone/>
              <a:defRPr sz="2000" b="1" i="0" cap="all" spc="4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a:xfrm>
            <a:off x="1078523" y="6375679"/>
            <a:ext cx="2329722" cy="348462"/>
          </a:xfrm>
        </p:spPr>
        <p:txBody>
          <a:bodyPr/>
          <a:lstStyle>
            <a:lvl1pPr>
              <a:defRPr baseline="0">
                <a:solidFill>
                  <a:schemeClr val="accent1">
                    <a:lumMod val="50000"/>
                  </a:schemeClr>
                </a:solidFill>
              </a:defRPr>
            </a:lvl1pPr>
          </a:lstStyle>
          <a:p>
            <a:fld id="{9334D819-9F07-4261-B09B-9E467E5D9002}" type="datetimeFigureOut">
              <a:rPr lang="en-US" dirty="0"/>
              <a:pPr/>
              <a:t>9/24/25</a:t>
            </a:fld>
            <a:endParaRPr lang="en-US" dirty="0"/>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accent1">
                    <a:lumMod val="50000"/>
                  </a:schemeClr>
                </a:solidFill>
              </a:defRPr>
            </a:lvl1pPr>
          </a:lstStyle>
          <a:p>
            <a:endParaRPr lang="en-US" dirty="0"/>
          </a:p>
        </p:txBody>
      </p:sp>
      <p:sp>
        <p:nvSpPr>
          <p:cNvPr id="6" name="Slide Number Placeholder 5"/>
          <p:cNvSpPr>
            <a:spLocks noGrp="1"/>
          </p:cNvSpPr>
          <p:nvPr>
            <p:ph type="sldNum" sz="quarter" idx="12"/>
          </p:nvPr>
        </p:nvSpPr>
        <p:spPr>
          <a:xfrm>
            <a:off x="9067218" y="6375679"/>
            <a:ext cx="2329723" cy="345796"/>
          </a:xfrm>
        </p:spPr>
        <p:txBody>
          <a:bodyPr/>
          <a:lstStyle>
            <a:lvl1pPr>
              <a:defRPr baseline="0">
                <a:solidFill>
                  <a:schemeClr val="accent1">
                    <a:lumMod val="50000"/>
                  </a:schemeClr>
                </a:solidFill>
              </a:defRPr>
            </a:lvl1pPr>
          </a:lstStyle>
          <a:p>
            <a:fld id="{71766878-3199-4EAB-94E7-2D6D11070E14}" type="slidenum">
              <a:rPr lang="en-US" dirty="0"/>
              <a:pPr/>
              <a:t>‹#›</a:t>
            </a:fld>
            <a:endParaRPr lang="en-US" dirty="0"/>
          </a:p>
        </p:txBody>
      </p:sp>
      <p:sp>
        <p:nvSpPr>
          <p:cNvPr id="13" name="Rectangle 12" title="left edge border"/>
          <p:cNvSpPr/>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dirty="0"/>
              <a:t>9/24/25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242929" y="1073888"/>
            <a:ext cx="8187071" cy="4064627"/>
          </a:xfrm>
        </p:spPr>
        <p:txBody>
          <a:bodyPr anchor="b">
            <a:normAutofit/>
          </a:bodyPr>
          <a:lstStyle>
            <a:lvl1pPr>
              <a:defRPr sz="8400" spc="800" baseline="0">
                <a:solidFill>
                  <a:schemeClr val="tx2"/>
                </a:solidFill>
              </a:defRPr>
            </a:lvl1pPr>
          </a:lstStyle>
          <a:p>
            <a:r>
              <a:rPr lang="en-GB"/>
              <a:t>Click to edit Master title style</a:t>
            </a:r>
            <a:endParaRPr lang="en-US" dirty="0"/>
          </a:p>
        </p:txBody>
      </p:sp>
      <p:sp>
        <p:nvSpPr>
          <p:cNvPr id="3" name="Text Placeholder 2"/>
          <p:cNvSpPr>
            <a:spLocks noGrp="1"/>
          </p:cNvSpPr>
          <p:nvPr>
            <p:ph type="body" idx="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3236546" y="6375679"/>
            <a:ext cx="1493947" cy="348462"/>
          </a:xfrm>
        </p:spPr>
        <p:txBody>
          <a:bodyPr/>
          <a:lstStyle>
            <a:lvl1pPr>
              <a:defRPr baseline="0">
                <a:solidFill>
                  <a:schemeClr val="tx2"/>
                </a:solidFill>
              </a:defRPr>
            </a:lvl1pPr>
          </a:lstStyle>
          <a:p>
            <a:fld id="{9334D819-9F07-4261-B09B-9E467E5D9002}" type="datetimeFigureOut">
              <a:rPr lang="en-US" dirty="0"/>
              <a:pPr/>
              <a:t>9/24/25</a:t>
            </a:fld>
            <a:endParaRPr lang="en-US" dirty="0"/>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942434" y="6375679"/>
            <a:ext cx="1487566" cy="345796"/>
          </a:xfrm>
        </p:spPr>
        <p:txBody>
          <a:bodyPr/>
          <a:lstStyle>
            <a:lvl1pPr>
              <a:defRPr baseline="0">
                <a:solidFill>
                  <a:schemeClr val="tx2"/>
                </a:solidFill>
              </a:defRPr>
            </a:lvl1pPr>
          </a:lstStyle>
          <a:p>
            <a:fld id="{71766878-3199-4EAB-94E7-2D6D11070E14}" type="slidenum">
              <a:rPr lang="en-US" dirty="0"/>
              <a:pPr/>
              <a:t>‹#›</a:t>
            </a:fld>
            <a:endParaRPr lang="en-US" dirty="0"/>
          </a:p>
        </p:txBody>
      </p:sp>
      <p:grpSp>
        <p:nvGrpSpPr>
          <p:cNvPr id="7" name="Group 6" title="left scallop shape"/>
          <p:cNvGrpSpPr/>
          <p:nvPr/>
        </p:nvGrpSpPr>
        <p:grpSpPr>
          <a:xfrm>
            <a:off x="0" y="0"/>
            <a:ext cx="2814638" cy="6858000"/>
            <a:chOff x="0" y="0"/>
            <a:chExt cx="2814638" cy="6858000"/>
          </a:xfrm>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9334D819-9F07-4261-B09B-9E467E5D9002}" type="datetimeFigureOut">
              <a:rPr lang="en-US" dirty="0"/>
              <a:t>9/24/25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en-GB"/>
              <a:t>Click to edit Master title style</a:t>
            </a:r>
            <a:endParaRPr lang="en-US" dirty="0"/>
          </a:p>
        </p:txBody>
      </p:sp>
      <p:sp>
        <p:nvSpPr>
          <p:cNvPr id="3" name="Text Placeholder 2"/>
          <p:cNvSpPr>
            <a:spLocks noGrp="1"/>
          </p:cNvSpPr>
          <p:nvPr>
            <p:ph type="body" idx="1"/>
          </p:nvPr>
        </p:nvSpPr>
        <p:spPr>
          <a:xfrm>
            <a:off x="1251678"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257300" y="2909102"/>
            <a:ext cx="4800600" cy="299639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633864"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633864" y="2909102"/>
            <a:ext cx="4800600" cy="299639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9334D819-9F07-4261-B09B-9E467E5D9002}" type="datetimeFigureOut">
              <a:rPr lang="en-US" dirty="0"/>
              <a:t>9/24/25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9334D819-9F07-4261-B09B-9E467E5D9002}" type="datetimeFigureOut">
              <a:rPr lang="en-US" dirty="0"/>
              <a:t>9/24/25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34D819-9F07-4261-B09B-9E467E5D9002}" type="datetimeFigureOut">
              <a:rPr lang="en-US" dirty="0"/>
              <a:t>9/24/25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en-GB"/>
              <a:t>Click to edit Master title style</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765051" y="6375679"/>
            <a:ext cx="1233355" cy="348462"/>
          </a:xfrm>
        </p:spPr>
        <p:txBody>
          <a:bodyPr/>
          <a:lstStyle/>
          <a:p>
            <a:fld id="{9334D819-9F07-4261-B09B-9E467E5D9002}" type="datetimeFigureOut">
              <a:rPr lang="en-US" dirty="0"/>
              <a:t>9/24/25</a:t>
            </a:fld>
            <a:endParaRPr lang="en-US" dirty="0"/>
          </a:p>
        </p:txBody>
      </p:sp>
      <p:sp>
        <p:nvSpPr>
          <p:cNvPr id="6" name="Footer Placeholder 5"/>
          <p:cNvSpPr>
            <a:spLocks noGrp="1"/>
          </p:cNvSpPr>
          <p:nvPr>
            <p:ph type="ftr" sz="quarter" idx="11"/>
          </p:nvPr>
        </p:nvSpPr>
        <p:spPr>
          <a:xfrm>
            <a:off x="2103620" y="6375679"/>
            <a:ext cx="3482179" cy="345796"/>
          </a:xfrm>
        </p:spPr>
        <p:txBody>
          <a:bodyPr/>
          <a:lstStyle/>
          <a:p>
            <a:endParaRPr lang="en-US" dirty="0"/>
          </a:p>
        </p:txBody>
      </p:sp>
      <p:sp>
        <p:nvSpPr>
          <p:cNvPr id="7" name="Slide Number Placeholder 6"/>
          <p:cNvSpPr>
            <a:spLocks noGrp="1"/>
          </p:cNvSpPr>
          <p:nvPr>
            <p:ph type="sldNum" sz="quarter" idx="12"/>
          </p:nvPr>
        </p:nvSpPr>
        <p:spPr>
          <a:xfrm>
            <a:off x="5691014" y="6375679"/>
            <a:ext cx="1232456" cy="345796"/>
          </a:xfrm>
        </p:spPr>
        <p:txBody>
          <a:bodyPr/>
          <a:lstStyle/>
          <a:p>
            <a:fld id="{71766878-3199-4EAB-94E7-2D6D11070E14}" type="slidenum">
              <a:rPr lang="en-US" dirty="0"/>
              <a:t>‹#›</a:t>
            </a:fld>
            <a:endParaRPr lang="en-US" dirty="0"/>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extLst>
    <p:ext uri="{DCECCB84-F9BA-43D5-87BE-67443E8EF086}">
      <p15:sldGuideLst xmlns:p15="http://schemas.microsoft.com/office/powerpoint/2012/main">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en-GB"/>
              <a:t>Click to edit Master title style</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765950" y="6375679"/>
            <a:ext cx="1232456" cy="348462"/>
          </a:xfrm>
        </p:spPr>
        <p:txBody>
          <a:bodyPr/>
          <a:lstStyle/>
          <a:p>
            <a:fld id="{9334D819-9F07-4261-B09B-9E467E5D9002}" type="datetimeFigureOut">
              <a:rPr lang="en-US" dirty="0"/>
              <a:t>9/24/25</a:t>
            </a:fld>
            <a:endParaRPr lang="en-US" dirty="0"/>
          </a:p>
        </p:txBody>
      </p:sp>
      <p:sp>
        <p:nvSpPr>
          <p:cNvPr id="6" name="Footer Placeholder 5"/>
          <p:cNvSpPr>
            <a:spLocks noGrp="1"/>
          </p:cNvSpPr>
          <p:nvPr>
            <p:ph type="ftr" sz="quarter" idx="11"/>
          </p:nvPr>
        </p:nvSpPr>
        <p:spPr>
          <a:xfrm>
            <a:off x="2103621" y="6375679"/>
            <a:ext cx="3482178" cy="345796"/>
          </a:xfrm>
        </p:spPr>
        <p:txBody>
          <a:bodyPr/>
          <a:lstStyle/>
          <a:p>
            <a:endParaRPr lang="en-US" dirty="0"/>
          </a:p>
        </p:txBody>
      </p:sp>
      <p:sp>
        <p:nvSpPr>
          <p:cNvPr id="7" name="Slide Number Placeholder 6"/>
          <p:cNvSpPr>
            <a:spLocks noGrp="1"/>
          </p:cNvSpPr>
          <p:nvPr>
            <p:ph type="sldNum" sz="quarter" idx="12"/>
          </p:nvPr>
        </p:nvSpPr>
        <p:spPr>
          <a:xfrm>
            <a:off x="5687568" y="6375679"/>
            <a:ext cx="1234440" cy="345796"/>
          </a:xfrm>
        </p:spPr>
        <p:txBody>
          <a:bodyPr/>
          <a:lstStyle/>
          <a:p>
            <a:fld id="{71766878-3199-4EAB-94E7-2D6D11070E14}"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dirty="0"/>
              <a:t>9/24/25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1257300" y="382385"/>
            <a:ext cx="8392585" cy="560040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dirty="0"/>
              <a:t>9/24/25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9334D819-9F07-4261-B09B-9E467E5D9002}" type="datetimeFigureOut">
              <a:rPr lang="en-US" dirty="0"/>
              <a:pPr/>
              <a:t>9/24/25</a:t>
            </a:fld>
            <a:endParaRPr lang="en-US" dirty="0"/>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endParaRPr lang="en-US" dirty="0"/>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71766878-3199-4EAB-94E7-2D6D11070E14}" type="slidenum">
              <a:rPr lang="en-US" dirty="0"/>
              <a:pPr/>
              <a:t>‹#›</a:t>
            </a:fld>
            <a:endParaRPr lang="en-US" dirty="0"/>
          </a:p>
        </p:txBody>
      </p:sp>
      <p:sp>
        <p:nvSpPr>
          <p:cNvPr id="11" name="Freeform 6" title="Left scallop edge"/>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sp>
      <p:sp>
        <p:nvSpPr>
          <p:cNvPr id="12" name="Rectangle 11" title="right edge border"/>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1.xml"/><Relationship Id="rId1" Type="http://schemas.openxmlformats.org/officeDocument/2006/relationships/tags" Target="../tags/tag1.xml"/><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1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1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Layout" Target="../slideLayouts/slideLayout2.xml"/><Relationship Id="rId1" Type="http://schemas.openxmlformats.org/officeDocument/2006/relationships/tags" Target="../tags/tag1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32BA35-E6D6-8127-2AA7-30DE76329E34}"/>
              </a:ext>
            </a:extLst>
          </p:cNvPr>
          <p:cNvSpPr>
            <a:spLocks noGrp="1"/>
          </p:cNvSpPr>
          <p:nvPr>
            <p:ph type="ctrTitle"/>
          </p:nvPr>
        </p:nvSpPr>
        <p:spPr>
          <a:xfrm>
            <a:off x="644849" y="954923"/>
            <a:ext cx="5875694" cy="4504620"/>
          </a:xfrm>
        </p:spPr>
        <p:txBody>
          <a:bodyPr>
            <a:normAutofit/>
          </a:bodyPr>
          <a:lstStyle/>
          <a:p>
            <a:r>
              <a:rPr lang="en-US" sz="6000" dirty="0">
                <a:latin typeface="Avenir Book" panose="02000503020000020003" pitchFamily="2" charset="0"/>
              </a:rPr>
              <a:t>Idealism</a:t>
            </a:r>
          </a:p>
        </p:txBody>
      </p:sp>
      <p:sp>
        <p:nvSpPr>
          <p:cNvPr id="3" name="Subtitle 2">
            <a:extLst>
              <a:ext uri="{FF2B5EF4-FFF2-40B4-BE49-F238E27FC236}">
                <a16:creationId xmlns:a16="http://schemas.microsoft.com/office/drawing/2014/main" id="{38A97C6D-B51A-45E7-5CCC-14FBC74607C5}"/>
              </a:ext>
            </a:extLst>
          </p:cNvPr>
          <p:cNvSpPr>
            <a:spLocks noGrp="1"/>
          </p:cNvSpPr>
          <p:nvPr>
            <p:ph type="subTitle" idx="1"/>
          </p:nvPr>
        </p:nvSpPr>
        <p:spPr>
          <a:xfrm>
            <a:off x="643157" y="5690937"/>
            <a:ext cx="5877385" cy="723530"/>
          </a:xfrm>
        </p:spPr>
        <p:txBody>
          <a:bodyPr>
            <a:normAutofit/>
          </a:bodyPr>
          <a:lstStyle/>
          <a:p>
            <a:r>
              <a:rPr lang="en-US" dirty="0">
                <a:solidFill>
                  <a:srgbClr val="0070C0"/>
                </a:solidFill>
              </a:rPr>
              <a:t>Bishop Berkeley </a:t>
            </a:r>
          </a:p>
        </p:txBody>
      </p:sp>
      <p:pic>
        <p:nvPicPr>
          <p:cNvPr id="6" name="Picture 5" descr="A person standing in a forest&#10;&#10;Description automatically generated">
            <a:extLst>
              <a:ext uri="{FF2B5EF4-FFF2-40B4-BE49-F238E27FC236}">
                <a16:creationId xmlns:a16="http://schemas.microsoft.com/office/drawing/2014/main" id="{06ADC3E9-D373-ACA6-CAF1-5B7480CAA071}"/>
              </a:ext>
            </a:extLst>
          </p:cNvPr>
          <p:cNvPicPr>
            <a:picLocks noChangeAspect="1"/>
          </p:cNvPicPr>
          <p:nvPr/>
        </p:nvPicPr>
        <p:blipFill rotWithShape="1">
          <a:blip r:embed="rId2"/>
          <a:srcRect r="22973"/>
          <a:stretch/>
        </p:blipFill>
        <p:spPr>
          <a:xfrm>
            <a:off x="6909481" y="10"/>
            <a:ext cx="5282519" cy="6857990"/>
          </a:xfrm>
          <a:custGeom>
            <a:avLst/>
            <a:gdLst/>
            <a:ahLst/>
            <a:cxnLst/>
            <a:rect l="l" t="t" r="r" b="b"/>
            <a:pathLst>
              <a:path w="5282519" h="6858000">
                <a:moveTo>
                  <a:pt x="189795" y="0"/>
                </a:moveTo>
                <a:lnTo>
                  <a:pt x="5282519" y="0"/>
                </a:lnTo>
                <a:lnTo>
                  <a:pt x="5282519" y="6858000"/>
                </a:lnTo>
                <a:lnTo>
                  <a:pt x="189795" y="6858000"/>
                </a:lnTo>
                <a:lnTo>
                  <a:pt x="184756" y="6791325"/>
                </a:lnTo>
                <a:lnTo>
                  <a:pt x="176358" y="6735762"/>
                </a:lnTo>
                <a:lnTo>
                  <a:pt x="166281" y="6683375"/>
                </a:lnTo>
                <a:lnTo>
                  <a:pt x="149485" y="6640512"/>
                </a:lnTo>
                <a:lnTo>
                  <a:pt x="132689" y="6597650"/>
                </a:lnTo>
                <a:lnTo>
                  <a:pt x="112534" y="6561137"/>
                </a:lnTo>
                <a:lnTo>
                  <a:pt x="92379" y="6523037"/>
                </a:lnTo>
                <a:lnTo>
                  <a:pt x="73903" y="6488112"/>
                </a:lnTo>
                <a:lnTo>
                  <a:pt x="55427" y="6448425"/>
                </a:lnTo>
                <a:lnTo>
                  <a:pt x="38632" y="6407150"/>
                </a:lnTo>
                <a:lnTo>
                  <a:pt x="23515" y="6361112"/>
                </a:lnTo>
                <a:lnTo>
                  <a:pt x="11758" y="6311900"/>
                </a:lnTo>
                <a:lnTo>
                  <a:pt x="3359" y="6251575"/>
                </a:lnTo>
                <a:lnTo>
                  <a:pt x="0" y="6183312"/>
                </a:lnTo>
                <a:lnTo>
                  <a:pt x="3359" y="6113462"/>
                </a:lnTo>
                <a:lnTo>
                  <a:pt x="11758" y="6056312"/>
                </a:lnTo>
                <a:lnTo>
                  <a:pt x="23515" y="6003925"/>
                </a:lnTo>
                <a:lnTo>
                  <a:pt x="38632" y="5956300"/>
                </a:lnTo>
                <a:lnTo>
                  <a:pt x="55427" y="5915025"/>
                </a:lnTo>
                <a:lnTo>
                  <a:pt x="75583" y="5876925"/>
                </a:lnTo>
                <a:lnTo>
                  <a:pt x="95738" y="5840412"/>
                </a:lnTo>
                <a:lnTo>
                  <a:pt x="115893" y="5802312"/>
                </a:lnTo>
                <a:lnTo>
                  <a:pt x="134368" y="5762625"/>
                </a:lnTo>
                <a:lnTo>
                  <a:pt x="152844" y="5721350"/>
                </a:lnTo>
                <a:lnTo>
                  <a:pt x="167960" y="5675312"/>
                </a:lnTo>
                <a:lnTo>
                  <a:pt x="178038" y="5622925"/>
                </a:lnTo>
                <a:lnTo>
                  <a:pt x="188115" y="5562600"/>
                </a:lnTo>
                <a:lnTo>
                  <a:pt x="189795" y="5494337"/>
                </a:lnTo>
                <a:lnTo>
                  <a:pt x="188115" y="5426075"/>
                </a:lnTo>
                <a:lnTo>
                  <a:pt x="178038" y="5365750"/>
                </a:lnTo>
                <a:lnTo>
                  <a:pt x="167960" y="5313362"/>
                </a:lnTo>
                <a:lnTo>
                  <a:pt x="152844" y="5268912"/>
                </a:lnTo>
                <a:lnTo>
                  <a:pt x="134368" y="5226050"/>
                </a:lnTo>
                <a:lnTo>
                  <a:pt x="115893" y="5186362"/>
                </a:lnTo>
                <a:lnTo>
                  <a:pt x="95738" y="5149850"/>
                </a:lnTo>
                <a:lnTo>
                  <a:pt x="75583" y="5114925"/>
                </a:lnTo>
                <a:lnTo>
                  <a:pt x="55427" y="5075237"/>
                </a:lnTo>
                <a:lnTo>
                  <a:pt x="38632" y="5033962"/>
                </a:lnTo>
                <a:lnTo>
                  <a:pt x="23515" y="4987925"/>
                </a:lnTo>
                <a:lnTo>
                  <a:pt x="11758" y="4935537"/>
                </a:lnTo>
                <a:lnTo>
                  <a:pt x="3359" y="4875212"/>
                </a:lnTo>
                <a:lnTo>
                  <a:pt x="0" y="4806950"/>
                </a:lnTo>
                <a:lnTo>
                  <a:pt x="3359" y="4738687"/>
                </a:lnTo>
                <a:lnTo>
                  <a:pt x="11758" y="4678362"/>
                </a:lnTo>
                <a:lnTo>
                  <a:pt x="23515" y="4625975"/>
                </a:lnTo>
                <a:lnTo>
                  <a:pt x="38632" y="4579937"/>
                </a:lnTo>
                <a:lnTo>
                  <a:pt x="55427" y="4537075"/>
                </a:lnTo>
                <a:lnTo>
                  <a:pt x="75583" y="4498975"/>
                </a:lnTo>
                <a:lnTo>
                  <a:pt x="115893" y="4424362"/>
                </a:lnTo>
                <a:lnTo>
                  <a:pt x="134368" y="4386262"/>
                </a:lnTo>
                <a:lnTo>
                  <a:pt x="152844" y="4343400"/>
                </a:lnTo>
                <a:lnTo>
                  <a:pt x="167960" y="4297362"/>
                </a:lnTo>
                <a:lnTo>
                  <a:pt x="178038" y="4244975"/>
                </a:lnTo>
                <a:lnTo>
                  <a:pt x="188115" y="4186237"/>
                </a:lnTo>
                <a:lnTo>
                  <a:pt x="189795" y="4116387"/>
                </a:lnTo>
                <a:lnTo>
                  <a:pt x="188115" y="4048125"/>
                </a:lnTo>
                <a:lnTo>
                  <a:pt x="178038" y="3987800"/>
                </a:lnTo>
                <a:lnTo>
                  <a:pt x="167960" y="3935412"/>
                </a:lnTo>
                <a:lnTo>
                  <a:pt x="152844" y="3890962"/>
                </a:lnTo>
                <a:lnTo>
                  <a:pt x="134368" y="3848100"/>
                </a:lnTo>
                <a:lnTo>
                  <a:pt x="115893" y="3811587"/>
                </a:lnTo>
                <a:lnTo>
                  <a:pt x="75583" y="3736975"/>
                </a:lnTo>
                <a:lnTo>
                  <a:pt x="55427" y="3697287"/>
                </a:lnTo>
                <a:lnTo>
                  <a:pt x="38632" y="3656012"/>
                </a:lnTo>
                <a:lnTo>
                  <a:pt x="23515" y="3609975"/>
                </a:lnTo>
                <a:lnTo>
                  <a:pt x="11758" y="3557587"/>
                </a:lnTo>
                <a:lnTo>
                  <a:pt x="3359" y="3497262"/>
                </a:lnTo>
                <a:lnTo>
                  <a:pt x="0" y="3427412"/>
                </a:lnTo>
                <a:lnTo>
                  <a:pt x="3359" y="3360737"/>
                </a:lnTo>
                <a:lnTo>
                  <a:pt x="11758" y="3300412"/>
                </a:lnTo>
                <a:lnTo>
                  <a:pt x="23515" y="3248025"/>
                </a:lnTo>
                <a:lnTo>
                  <a:pt x="38632" y="3201987"/>
                </a:lnTo>
                <a:lnTo>
                  <a:pt x="55427" y="3160712"/>
                </a:lnTo>
                <a:lnTo>
                  <a:pt x="75583" y="3121025"/>
                </a:lnTo>
                <a:lnTo>
                  <a:pt x="95738" y="3084512"/>
                </a:lnTo>
                <a:lnTo>
                  <a:pt x="115893" y="3046412"/>
                </a:lnTo>
                <a:lnTo>
                  <a:pt x="134368" y="3009900"/>
                </a:lnTo>
                <a:lnTo>
                  <a:pt x="152844" y="2967037"/>
                </a:lnTo>
                <a:lnTo>
                  <a:pt x="167960" y="2922587"/>
                </a:lnTo>
                <a:lnTo>
                  <a:pt x="178038" y="2868612"/>
                </a:lnTo>
                <a:lnTo>
                  <a:pt x="188115" y="2809875"/>
                </a:lnTo>
                <a:lnTo>
                  <a:pt x="189795" y="2741612"/>
                </a:lnTo>
                <a:lnTo>
                  <a:pt x="188115" y="2671762"/>
                </a:lnTo>
                <a:lnTo>
                  <a:pt x="178038" y="2613025"/>
                </a:lnTo>
                <a:lnTo>
                  <a:pt x="167960" y="2560637"/>
                </a:lnTo>
                <a:lnTo>
                  <a:pt x="152844" y="2513012"/>
                </a:lnTo>
                <a:lnTo>
                  <a:pt x="134368" y="2471737"/>
                </a:lnTo>
                <a:lnTo>
                  <a:pt x="115893" y="2433637"/>
                </a:lnTo>
                <a:lnTo>
                  <a:pt x="95738" y="2395537"/>
                </a:lnTo>
                <a:lnTo>
                  <a:pt x="75583" y="2359025"/>
                </a:lnTo>
                <a:lnTo>
                  <a:pt x="55427" y="2319337"/>
                </a:lnTo>
                <a:lnTo>
                  <a:pt x="38632" y="2278062"/>
                </a:lnTo>
                <a:lnTo>
                  <a:pt x="23515" y="2232025"/>
                </a:lnTo>
                <a:lnTo>
                  <a:pt x="11758" y="2179637"/>
                </a:lnTo>
                <a:lnTo>
                  <a:pt x="3359" y="2119312"/>
                </a:lnTo>
                <a:lnTo>
                  <a:pt x="0" y="2051050"/>
                </a:lnTo>
                <a:lnTo>
                  <a:pt x="3359" y="1982787"/>
                </a:lnTo>
                <a:lnTo>
                  <a:pt x="11758" y="1922462"/>
                </a:lnTo>
                <a:lnTo>
                  <a:pt x="23515" y="1870075"/>
                </a:lnTo>
                <a:lnTo>
                  <a:pt x="38632" y="1824037"/>
                </a:lnTo>
                <a:lnTo>
                  <a:pt x="55427" y="1782762"/>
                </a:lnTo>
                <a:lnTo>
                  <a:pt x="75583" y="1743075"/>
                </a:lnTo>
                <a:lnTo>
                  <a:pt x="95738" y="1708150"/>
                </a:lnTo>
                <a:lnTo>
                  <a:pt x="115893" y="1671637"/>
                </a:lnTo>
                <a:lnTo>
                  <a:pt x="134368" y="1631950"/>
                </a:lnTo>
                <a:lnTo>
                  <a:pt x="152844" y="1589087"/>
                </a:lnTo>
                <a:lnTo>
                  <a:pt x="167960" y="1544637"/>
                </a:lnTo>
                <a:lnTo>
                  <a:pt x="178038" y="1492250"/>
                </a:lnTo>
                <a:lnTo>
                  <a:pt x="188115" y="1431925"/>
                </a:lnTo>
                <a:lnTo>
                  <a:pt x="189795" y="1363662"/>
                </a:lnTo>
                <a:lnTo>
                  <a:pt x="188115" y="1295400"/>
                </a:lnTo>
                <a:lnTo>
                  <a:pt x="178038" y="1235075"/>
                </a:lnTo>
                <a:lnTo>
                  <a:pt x="167960" y="1182687"/>
                </a:lnTo>
                <a:lnTo>
                  <a:pt x="152844" y="1136650"/>
                </a:lnTo>
                <a:lnTo>
                  <a:pt x="134368" y="1095375"/>
                </a:lnTo>
                <a:lnTo>
                  <a:pt x="115893" y="1055687"/>
                </a:lnTo>
                <a:lnTo>
                  <a:pt x="95738" y="1017587"/>
                </a:lnTo>
                <a:lnTo>
                  <a:pt x="75583" y="981075"/>
                </a:lnTo>
                <a:lnTo>
                  <a:pt x="55427" y="942975"/>
                </a:lnTo>
                <a:lnTo>
                  <a:pt x="38632" y="901700"/>
                </a:lnTo>
                <a:lnTo>
                  <a:pt x="23515" y="854075"/>
                </a:lnTo>
                <a:lnTo>
                  <a:pt x="11758" y="801687"/>
                </a:lnTo>
                <a:lnTo>
                  <a:pt x="3359" y="744537"/>
                </a:lnTo>
                <a:lnTo>
                  <a:pt x="0" y="673100"/>
                </a:lnTo>
                <a:lnTo>
                  <a:pt x="3359" y="606425"/>
                </a:lnTo>
                <a:lnTo>
                  <a:pt x="11758" y="546100"/>
                </a:lnTo>
                <a:lnTo>
                  <a:pt x="23515" y="496887"/>
                </a:lnTo>
                <a:lnTo>
                  <a:pt x="38632" y="450850"/>
                </a:lnTo>
                <a:lnTo>
                  <a:pt x="55427" y="409575"/>
                </a:lnTo>
                <a:lnTo>
                  <a:pt x="73903" y="369887"/>
                </a:lnTo>
                <a:lnTo>
                  <a:pt x="92379" y="334962"/>
                </a:lnTo>
                <a:lnTo>
                  <a:pt x="112534" y="296862"/>
                </a:lnTo>
                <a:lnTo>
                  <a:pt x="132689" y="260350"/>
                </a:lnTo>
                <a:lnTo>
                  <a:pt x="149485" y="217487"/>
                </a:lnTo>
                <a:lnTo>
                  <a:pt x="166281" y="174625"/>
                </a:lnTo>
                <a:lnTo>
                  <a:pt x="176358" y="122237"/>
                </a:lnTo>
                <a:lnTo>
                  <a:pt x="184756" y="66675"/>
                </a:lnTo>
                <a:close/>
              </a:path>
            </a:pathLst>
          </a:custGeom>
        </p:spPr>
      </p:pic>
    </p:spTree>
    <p:extLst>
      <p:ext uri="{BB962C8B-B14F-4D97-AF65-F5344CB8AC3E}">
        <p14:creationId xmlns:p14="http://schemas.microsoft.com/office/powerpoint/2010/main" val="1805684216"/>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32BA35-E6D6-8127-2AA7-30DE76329E34}"/>
              </a:ext>
            </a:extLst>
          </p:cNvPr>
          <p:cNvSpPr>
            <a:spLocks noGrp="1"/>
          </p:cNvSpPr>
          <p:nvPr>
            <p:ph type="ctrTitle"/>
          </p:nvPr>
        </p:nvSpPr>
        <p:spPr>
          <a:xfrm>
            <a:off x="754144" y="484631"/>
            <a:ext cx="6340519" cy="1638469"/>
          </a:xfrm>
        </p:spPr>
        <p:txBody>
          <a:bodyPr vert="horz" lIns="91440" tIns="45720" rIns="91440" bIns="45720" rtlCol="0" anchor="t">
            <a:normAutofit/>
          </a:bodyPr>
          <a:lstStyle/>
          <a:p>
            <a:pPr algn="l"/>
            <a:r>
              <a:rPr lang="en-US" sz="4000" spc="200" dirty="0">
                <a:latin typeface="Avenir Book" panose="02000503020000020003" pitchFamily="2" charset="0"/>
              </a:rPr>
              <a:t>Technical terminology</a:t>
            </a:r>
          </a:p>
        </p:txBody>
      </p:sp>
      <p:sp>
        <p:nvSpPr>
          <p:cNvPr id="3" name="Subtitle 2">
            <a:extLst>
              <a:ext uri="{FF2B5EF4-FFF2-40B4-BE49-F238E27FC236}">
                <a16:creationId xmlns:a16="http://schemas.microsoft.com/office/drawing/2014/main" id="{38A97C6D-B51A-45E7-5CCC-14FBC74607C5}"/>
              </a:ext>
            </a:extLst>
          </p:cNvPr>
          <p:cNvSpPr>
            <a:spLocks noGrp="1"/>
          </p:cNvSpPr>
          <p:nvPr>
            <p:ph type="subTitle" idx="1"/>
          </p:nvPr>
        </p:nvSpPr>
        <p:spPr>
          <a:xfrm>
            <a:off x="765051" y="2020186"/>
            <a:ext cx="6306309" cy="4353181"/>
          </a:xfrm>
        </p:spPr>
        <p:txBody>
          <a:bodyPr vert="horz" lIns="91440" tIns="45720" rIns="91440" bIns="45720" rtlCol="0">
            <a:normAutofit lnSpcReduction="10000"/>
          </a:bodyPr>
          <a:lstStyle/>
          <a:p>
            <a:pPr indent="-228600" algn="l"/>
            <a:r>
              <a:rPr lang="en-US" sz="1400" dirty="0">
                <a:solidFill>
                  <a:schemeClr val="tx1"/>
                </a:solidFill>
                <a:latin typeface="Avenir Book" panose="02000503020000020003" pitchFamily="2" charset="0"/>
              </a:rPr>
              <a:t>Substance</a:t>
            </a:r>
            <a:r>
              <a:rPr lang="en-US" sz="1400" b="0" dirty="0">
                <a:solidFill>
                  <a:schemeClr val="tx1"/>
                </a:solidFill>
                <a:latin typeface="Avenir Book" panose="02000503020000020003" pitchFamily="2" charset="0"/>
              </a:rPr>
              <a:t>: That Thing which stays the same while its properties change. For example, the chair is the same even as its </a:t>
            </a:r>
            <a:r>
              <a:rPr lang="en-US" sz="1400" b="0" dirty="0" err="1">
                <a:solidFill>
                  <a:schemeClr val="tx1"/>
                </a:solidFill>
                <a:latin typeface="Avenir Book" panose="02000503020000020003" pitchFamily="2" charset="0"/>
              </a:rPr>
              <a:t>colour</a:t>
            </a:r>
            <a:r>
              <a:rPr lang="en-US" sz="1400" b="0" dirty="0">
                <a:solidFill>
                  <a:schemeClr val="tx1"/>
                </a:solidFill>
                <a:latin typeface="Avenir Book" panose="02000503020000020003" pitchFamily="2" charset="0"/>
              </a:rPr>
              <a:t> fades, and it is reupholstered.</a:t>
            </a:r>
          </a:p>
          <a:p>
            <a:pPr indent="-228600" algn="l"/>
            <a:endParaRPr lang="en-US" sz="1400" b="0" dirty="0">
              <a:solidFill>
                <a:schemeClr val="tx1"/>
              </a:solidFill>
              <a:latin typeface="Avenir Book" panose="02000503020000020003" pitchFamily="2" charset="0"/>
            </a:endParaRPr>
          </a:p>
          <a:p>
            <a:pPr indent="-228600" algn="l"/>
            <a:r>
              <a:rPr lang="en-US" sz="1400" dirty="0">
                <a:solidFill>
                  <a:schemeClr val="tx1"/>
                </a:solidFill>
                <a:latin typeface="Avenir Book" panose="02000503020000020003" pitchFamily="2" charset="0"/>
              </a:rPr>
              <a:t>Substance</a:t>
            </a:r>
            <a:r>
              <a:rPr lang="en-US" sz="1400" b="0" dirty="0">
                <a:solidFill>
                  <a:schemeClr val="tx1"/>
                </a:solidFill>
                <a:latin typeface="Avenir Book" panose="02000503020000020003" pitchFamily="2" charset="0"/>
              </a:rPr>
              <a:t>=that which stands under the properties)</a:t>
            </a:r>
          </a:p>
          <a:p>
            <a:pPr indent="-228600" algn="l"/>
            <a:endParaRPr lang="en-US" sz="1400" b="0" dirty="0">
              <a:solidFill>
                <a:schemeClr val="tx1"/>
              </a:solidFill>
              <a:latin typeface="Avenir Book" panose="02000503020000020003" pitchFamily="2" charset="0"/>
            </a:endParaRPr>
          </a:p>
          <a:p>
            <a:pPr indent="-228600" algn="l"/>
            <a:r>
              <a:rPr lang="en-US" sz="1400" dirty="0">
                <a:solidFill>
                  <a:schemeClr val="tx1"/>
                </a:solidFill>
                <a:latin typeface="Avenir Book" panose="02000503020000020003" pitchFamily="2" charset="0"/>
              </a:rPr>
              <a:t>Primary property</a:t>
            </a:r>
            <a:r>
              <a:rPr lang="en-US" sz="1400" b="0" dirty="0">
                <a:solidFill>
                  <a:schemeClr val="tx1"/>
                </a:solidFill>
                <a:latin typeface="Avenir Book" panose="02000503020000020003" pitchFamily="2" charset="0"/>
              </a:rPr>
              <a:t>: Remember intrinsic properties, same thing.  </a:t>
            </a:r>
          </a:p>
          <a:p>
            <a:pPr indent="-228600" algn="l"/>
            <a:endParaRPr lang="en-US" sz="1400" b="0" dirty="0">
              <a:solidFill>
                <a:schemeClr val="tx1"/>
              </a:solidFill>
              <a:latin typeface="Avenir Book" panose="02000503020000020003" pitchFamily="2" charset="0"/>
            </a:endParaRPr>
          </a:p>
          <a:p>
            <a:pPr indent="-228600" algn="l"/>
            <a:r>
              <a:rPr lang="en-US" sz="1400" dirty="0">
                <a:solidFill>
                  <a:schemeClr val="tx1"/>
                </a:solidFill>
                <a:latin typeface="Avenir Book" panose="02000503020000020003" pitchFamily="2" charset="0"/>
              </a:rPr>
              <a:t>Secondary properties</a:t>
            </a:r>
            <a:r>
              <a:rPr lang="en-US" sz="1400" b="0" dirty="0">
                <a:solidFill>
                  <a:schemeClr val="tx1"/>
                </a:solidFill>
                <a:latin typeface="Avenir Book" panose="02000503020000020003" pitchFamily="2" charset="0"/>
              </a:rPr>
              <a:t>: These need the mind, smell, taste, </a:t>
            </a:r>
            <a:r>
              <a:rPr lang="en-US" sz="1400" b="0" dirty="0" err="1">
                <a:solidFill>
                  <a:schemeClr val="tx1"/>
                </a:solidFill>
                <a:latin typeface="Avenir Book" panose="02000503020000020003" pitchFamily="2" charset="0"/>
              </a:rPr>
              <a:t>colour</a:t>
            </a:r>
            <a:r>
              <a:rPr lang="en-US" sz="1400" b="0" dirty="0">
                <a:solidFill>
                  <a:schemeClr val="tx1"/>
                </a:solidFill>
                <a:latin typeface="Avenir Book" panose="02000503020000020003" pitchFamily="2" charset="0"/>
              </a:rPr>
              <a:t>. </a:t>
            </a:r>
          </a:p>
          <a:p>
            <a:pPr indent="-228600" algn="l"/>
            <a:endParaRPr lang="en-US" sz="1400" b="0" dirty="0">
              <a:solidFill>
                <a:schemeClr val="tx1"/>
              </a:solidFill>
              <a:latin typeface="Avenir Book" panose="02000503020000020003" pitchFamily="2" charset="0"/>
            </a:endParaRPr>
          </a:p>
          <a:p>
            <a:pPr indent="-228600" algn="l"/>
            <a:r>
              <a:rPr lang="en-US" sz="1400" dirty="0">
                <a:solidFill>
                  <a:schemeClr val="tx1"/>
                </a:solidFill>
                <a:latin typeface="Avenir Book" panose="02000503020000020003" pitchFamily="2" charset="0"/>
              </a:rPr>
              <a:t>Idea:</a:t>
            </a:r>
            <a:r>
              <a:rPr lang="en-US" sz="1400" b="0" dirty="0">
                <a:solidFill>
                  <a:schemeClr val="tx1"/>
                </a:solidFill>
                <a:latin typeface="Avenir Book" panose="02000503020000020003" pitchFamily="2" charset="0"/>
              </a:rPr>
              <a:t> Images in front of the mind. </a:t>
            </a:r>
          </a:p>
          <a:p>
            <a:pPr indent="-228600" algn="l"/>
            <a:endParaRPr lang="en-US" sz="1100" b="0" dirty="0">
              <a:solidFill>
                <a:schemeClr val="tx1"/>
              </a:solidFill>
            </a:endParaRPr>
          </a:p>
          <a:p>
            <a:pPr indent="-228600" algn="l"/>
            <a:r>
              <a:rPr lang="en-US" sz="1100" b="0" dirty="0">
                <a:solidFill>
                  <a:schemeClr val="tx1"/>
                </a:solidFill>
              </a:rPr>
              <a:t> </a:t>
            </a:r>
          </a:p>
        </p:txBody>
      </p:sp>
      <p:pic>
        <p:nvPicPr>
          <p:cNvPr id="7" name="Graphic 6" descr="Run">
            <a:extLst>
              <a:ext uri="{FF2B5EF4-FFF2-40B4-BE49-F238E27FC236}">
                <a16:creationId xmlns:a16="http://schemas.microsoft.com/office/drawing/2014/main" id="{A63991CE-F686-4D66-6FB6-19ED734EDBB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50787" y="1600709"/>
            <a:ext cx="3656581" cy="3656581"/>
          </a:xfrm>
          <a:prstGeom prst="rect">
            <a:avLst/>
          </a:prstGeom>
        </p:spPr>
      </p:pic>
    </p:spTree>
    <p:custDataLst>
      <p:tags r:id="rId1"/>
    </p:custDataLst>
    <p:extLst>
      <p:ext uri="{BB962C8B-B14F-4D97-AF65-F5344CB8AC3E}">
        <p14:creationId xmlns:p14="http://schemas.microsoft.com/office/powerpoint/2010/main" val="357537446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 calcmode="lin" valueType="num">
                                      <p:cBhvr additive="base">
                                        <p:cTn id="2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anim calcmode="lin" valueType="num">
                                      <p:cBhvr additive="base">
                                        <p:cTn id="3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CF5C7B-7569-C845-8AF6-23027553D8A7}"/>
              </a:ext>
            </a:extLst>
          </p:cNvPr>
          <p:cNvSpPr>
            <a:spLocks noGrp="1"/>
          </p:cNvSpPr>
          <p:nvPr>
            <p:ph type="title"/>
          </p:nvPr>
        </p:nvSpPr>
        <p:spPr>
          <a:xfrm>
            <a:off x="1294228" y="648585"/>
            <a:ext cx="5486720" cy="1225931"/>
          </a:xfrm>
        </p:spPr>
        <p:txBody>
          <a:bodyPr>
            <a:normAutofit/>
          </a:bodyPr>
          <a:lstStyle/>
          <a:p>
            <a:r>
              <a:rPr lang="en-US" sz="4000" dirty="0">
                <a:latin typeface="Avenir Book" panose="02000503020000020003" pitchFamily="2" charset="0"/>
              </a:rPr>
              <a:t>What is Idealism?</a:t>
            </a:r>
          </a:p>
        </p:txBody>
      </p:sp>
      <p:sp>
        <p:nvSpPr>
          <p:cNvPr id="3" name="Content Placeholder 2">
            <a:extLst>
              <a:ext uri="{FF2B5EF4-FFF2-40B4-BE49-F238E27FC236}">
                <a16:creationId xmlns:a16="http://schemas.microsoft.com/office/drawing/2014/main" id="{5CA9FC88-FBFA-BF83-FFEA-A556628FF683}"/>
              </a:ext>
            </a:extLst>
          </p:cNvPr>
          <p:cNvSpPr>
            <a:spLocks noGrp="1"/>
          </p:cNvSpPr>
          <p:nvPr>
            <p:ph idx="1"/>
          </p:nvPr>
        </p:nvSpPr>
        <p:spPr>
          <a:xfrm>
            <a:off x="1167618" y="1073888"/>
            <a:ext cx="5613330" cy="4805704"/>
          </a:xfrm>
        </p:spPr>
        <p:txBody>
          <a:bodyPr>
            <a:noAutofit/>
          </a:bodyPr>
          <a:lstStyle/>
          <a:p>
            <a:pPr marL="0" indent="0">
              <a:buNone/>
            </a:pPr>
            <a:endParaRPr lang="en-US" sz="2800" dirty="0"/>
          </a:p>
          <a:p>
            <a:pPr marL="0" indent="0">
              <a:lnSpc>
                <a:spcPct val="150000"/>
              </a:lnSpc>
              <a:buNone/>
            </a:pPr>
            <a:r>
              <a:rPr lang="en-US" sz="2400" dirty="0">
                <a:solidFill>
                  <a:schemeClr val="tx1"/>
                </a:solidFill>
                <a:latin typeface="Avenir Book" panose="02000503020000020003" pitchFamily="2" charset="0"/>
              </a:rPr>
              <a:t>Idealism is the belief that all that exists are minds and ideas in the mind. All external objects are mind dependent. Without consciousness/mind there is no existence. </a:t>
            </a:r>
          </a:p>
          <a:p>
            <a:pPr marL="0" indent="0">
              <a:lnSpc>
                <a:spcPct val="150000"/>
              </a:lnSpc>
              <a:buNone/>
            </a:pPr>
            <a:endParaRPr lang="en-US" sz="2400" dirty="0">
              <a:solidFill>
                <a:schemeClr val="tx1"/>
              </a:solidFill>
              <a:latin typeface="Avenir Book" panose="02000503020000020003" pitchFamily="2" charset="0"/>
            </a:endParaRPr>
          </a:p>
          <a:p>
            <a:pPr marL="0" indent="0">
              <a:lnSpc>
                <a:spcPct val="150000"/>
              </a:lnSpc>
              <a:buNone/>
            </a:pPr>
            <a:r>
              <a:rPr lang="en-US" sz="2400" dirty="0">
                <a:solidFill>
                  <a:schemeClr val="tx1"/>
                </a:solidFill>
                <a:latin typeface="Avenir Book" panose="02000503020000020003" pitchFamily="2" charset="0"/>
              </a:rPr>
              <a:t>The slogan of idealism is ‘</a:t>
            </a:r>
            <a:r>
              <a:rPr lang="en-US" sz="2400" i="1" dirty="0" err="1">
                <a:solidFill>
                  <a:schemeClr val="tx1"/>
                </a:solidFill>
                <a:latin typeface="Avenir Book" panose="02000503020000020003" pitchFamily="2" charset="0"/>
              </a:rPr>
              <a:t>Esse</a:t>
            </a:r>
            <a:r>
              <a:rPr lang="en-US" sz="2400" i="1" dirty="0">
                <a:solidFill>
                  <a:schemeClr val="tx1"/>
                </a:solidFill>
                <a:latin typeface="Avenir Book" panose="02000503020000020003" pitchFamily="2" charset="0"/>
              </a:rPr>
              <a:t> es </a:t>
            </a:r>
            <a:r>
              <a:rPr lang="en-US" sz="2400" i="1" dirty="0" err="1">
                <a:solidFill>
                  <a:schemeClr val="tx1"/>
                </a:solidFill>
                <a:latin typeface="Avenir Book" panose="02000503020000020003" pitchFamily="2" charset="0"/>
              </a:rPr>
              <a:t>principi</a:t>
            </a:r>
            <a:r>
              <a:rPr lang="en-US" sz="2400" dirty="0">
                <a:solidFill>
                  <a:schemeClr val="tx1"/>
                </a:solidFill>
                <a:latin typeface="Avenir Book" panose="02000503020000020003" pitchFamily="2" charset="0"/>
              </a:rPr>
              <a:t>“ - “To be is to be perceived”.</a:t>
            </a:r>
          </a:p>
        </p:txBody>
      </p:sp>
      <p:pic>
        <p:nvPicPr>
          <p:cNvPr id="5" name="Picture 4" descr="Light bulb on yellow background with sketched light beams and cord">
            <a:extLst>
              <a:ext uri="{FF2B5EF4-FFF2-40B4-BE49-F238E27FC236}">
                <a16:creationId xmlns:a16="http://schemas.microsoft.com/office/drawing/2014/main" id="{EACD3863-1CF9-0F77-78C3-D8AF7C7D8981}"/>
              </a:ext>
            </a:extLst>
          </p:cNvPr>
          <p:cNvPicPr>
            <a:picLocks noChangeAspect="1"/>
          </p:cNvPicPr>
          <p:nvPr/>
        </p:nvPicPr>
        <p:blipFill>
          <a:blip r:embed="rId3"/>
          <a:srcRect l="50597" r="6339"/>
          <a:stretch/>
        </p:blipFill>
        <p:spPr>
          <a:xfrm>
            <a:off x="7389812" y="10"/>
            <a:ext cx="4802188" cy="6857990"/>
          </a:xfrm>
          <a:custGeom>
            <a:avLst/>
            <a:gdLst/>
            <a:ahLst/>
            <a:cxnLst/>
            <a:rect l="l" t="t" r="r" b="b"/>
            <a:pathLst>
              <a:path w="4802188" h="6858000">
                <a:moveTo>
                  <a:pt x="0" y="0"/>
                </a:moveTo>
                <a:lnTo>
                  <a:pt x="4802188" y="0"/>
                </a:lnTo>
                <a:lnTo>
                  <a:pt x="4802188" y="6858000"/>
                </a:lnTo>
                <a:lnTo>
                  <a:pt x="0" y="6858000"/>
                </a:lnTo>
                <a:lnTo>
                  <a:pt x="4763" y="6791325"/>
                </a:lnTo>
                <a:lnTo>
                  <a:pt x="12700" y="6735762"/>
                </a:lnTo>
                <a:lnTo>
                  <a:pt x="22225" y="6683375"/>
                </a:lnTo>
                <a:lnTo>
                  <a:pt x="38100" y="6640512"/>
                </a:lnTo>
                <a:lnTo>
                  <a:pt x="53975" y="6597650"/>
                </a:lnTo>
                <a:lnTo>
                  <a:pt x="73025" y="6561137"/>
                </a:lnTo>
                <a:lnTo>
                  <a:pt x="92075" y="6523037"/>
                </a:lnTo>
                <a:lnTo>
                  <a:pt x="109538" y="6488112"/>
                </a:lnTo>
                <a:lnTo>
                  <a:pt x="127000" y="6448425"/>
                </a:lnTo>
                <a:lnTo>
                  <a:pt x="142875" y="6407150"/>
                </a:lnTo>
                <a:lnTo>
                  <a:pt x="157163" y="6361112"/>
                </a:lnTo>
                <a:lnTo>
                  <a:pt x="168275" y="6311900"/>
                </a:lnTo>
                <a:lnTo>
                  <a:pt x="176213" y="6251575"/>
                </a:lnTo>
                <a:lnTo>
                  <a:pt x="179388" y="6183312"/>
                </a:lnTo>
                <a:lnTo>
                  <a:pt x="176213" y="6113462"/>
                </a:lnTo>
                <a:lnTo>
                  <a:pt x="168275" y="6056312"/>
                </a:lnTo>
                <a:lnTo>
                  <a:pt x="157163" y="6003925"/>
                </a:lnTo>
                <a:lnTo>
                  <a:pt x="142875" y="5956300"/>
                </a:lnTo>
                <a:lnTo>
                  <a:pt x="127000" y="5915025"/>
                </a:lnTo>
                <a:lnTo>
                  <a:pt x="107950" y="5876925"/>
                </a:lnTo>
                <a:lnTo>
                  <a:pt x="88900" y="5840412"/>
                </a:lnTo>
                <a:lnTo>
                  <a:pt x="69850" y="5802312"/>
                </a:lnTo>
                <a:lnTo>
                  <a:pt x="52388" y="5762625"/>
                </a:lnTo>
                <a:lnTo>
                  <a:pt x="34925" y="5721350"/>
                </a:lnTo>
                <a:lnTo>
                  <a:pt x="20638" y="5675312"/>
                </a:lnTo>
                <a:lnTo>
                  <a:pt x="11113" y="5622925"/>
                </a:lnTo>
                <a:lnTo>
                  <a:pt x="1588" y="5562600"/>
                </a:lnTo>
                <a:lnTo>
                  <a:pt x="0" y="5494337"/>
                </a:lnTo>
                <a:lnTo>
                  <a:pt x="1588" y="5426075"/>
                </a:lnTo>
                <a:lnTo>
                  <a:pt x="11113" y="5365750"/>
                </a:lnTo>
                <a:lnTo>
                  <a:pt x="20638" y="5313362"/>
                </a:lnTo>
                <a:lnTo>
                  <a:pt x="34925" y="5268912"/>
                </a:lnTo>
                <a:lnTo>
                  <a:pt x="52388" y="5226050"/>
                </a:lnTo>
                <a:lnTo>
                  <a:pt x="69850" y="5186362"/>
                </a:lnTo>
                <a:lnTo>
                  <a:pt x="88900" y="5149850"/>
                </a:lnTo>
                <a:lnTo>
                  <a:pt x="107950" y="5114925"/>
                </a:lnTo>
                <a:lnTo>
                  <a:pt x="127000" y="5075237"/>
                </a:lnTo>
                <a:lnTo>
                  <a:pt x="142875" y="5033962"/>
                </a:lnTo>
                <a:lnTo>
                  <a:pt x="157163" y="4987925"/>
                </a:lnTo>
                <a:lnTo>
                  <a:pt x="168275" y="4935537"/>
                </a:lnTo>
                <a:lnTo>
                  <a:pt x="176213" y="4875212"/>
                </a:lnTo>
                <a:lnTo>
                  <a:pt x="179388" y="4806950"/>
                </a:lnTo>
                <a:lnTo>
                  <a:pt x="176213" y="4738687"/>
                </a:lnTo>
                <a:lnTo>
                  <a:pt x="168275" y="4678362"/>
                </a:lnTo>
                <a:lnTo>
                  <a:pt x="157163" y="4625975"/>
                </a:lnTo>
                <a:lnTo>
                  <a:pt x="142875" y="4579937"/>
                </a:lnTo>
                <a:lnTo>
                  <a:pt x="127000" y="4537075"/>
                </a:lnTo>
                <a:lnTo>
                  <a:pt x="107950" y="4498975"/>
                </a:lnTo>
                <a:lnTo>
                  <a:pt x="69850" y="4424362"/>
                </a:lnTo>
                <a:lnTo>
                  <a:pt x="52388" y="4386262"/>
                </a:lnTo>
                <a:lnTo>
                  <a:pt x="34925" y="4343400"/>
                </a:lnTo>
                <a:lnTo>
                  <a:pt x="20638" y="4297362"/>
                </a:lnTo>
                <a:lnTo>
                  <a:pt x="11113" y="4244975"/>
                </a:lnTo>
                <a:lnTo>
                  <a:pt x="1588" y="4186237"/>
                </a:lnTo>
                <a:lnTo>
                  <a:pt x="0" y="4116387"/>
                </a:lnTo>
                <a:lnTo>
                  <a:pt x="1588" y="4048125"/>
                </a:lnTo>
                <a:lnTo>
                  <a:pt x="11113" y="3987800"/>
                </a:lnTo>
                <a:lnTo>
                  <a:pt x="20638" y="3935412"/>
                </a:lnTo>
                <a:lnTo>
                  <a:pt x="34925" y="3890962"/>
                </a:lnTo>
                <a:lnTo>
                  <a:pt x="52388" y="3848100"/>
                </a:lnTo>
                <a:lnTo>
                  <a:pt x="69850" y="3811587"/>
                </a:lnTo>
                <a:lnTo>
                  <a:pt x="107950" y="3736975"/>
                </a:lnTo>
                <a:lnTo>
                  <a:pt x="127000" y="3697287"/>
                </a:lnTo>
                <a:lnTo>
                  <a:pt x="142875" y="3656012"/>
                </a:lnTo>
                <a:lnTo>
                  <a:pt x="157163" y="3609975"/>
                </a:lnTo>
                <a:lnTo>
                  <a:pt x="168275" y="3557587"/>
                </a:lnTo>
                <a:lnTo>
                  <a:pt x="176213" y="3497262"/>
                </a:lnTo>
                <a:lnTo>
                  <a:pt x="179388" y="3427412"/>
                </a:lnTo>
                <a:lnTo>
                  <a:pt x="176213" y="3360737"/>
                </a:lnTo>
                <a:lnTo>
                  <a:pt x="168275" y="3300412"/>
                </a:lnTo>
                <a:lnTo>
                  <a:pt x="157163" y="3248025"/>
                </a:lnTo>
                <a:lnTo>
                  <a:pt x="142875" y="3201987"/>
                </a:lnTo>
                <a:lnTo>
                  <a:pt x="127000" y="3160712"/>
                </a:lnTo>
                <a:lnTo>
                  <a:pt x="107950" y="3121025"/>
                </a:lnTo>
                <a:lnTo>
                  <a:pt x="88900" y="3084512"/>
                </a:lnTo>
                <a:lnTo>
                  <a:pt x="69850" y="3046412"/>
                </a:lnTo>
                <a:lnTo>
                  <a:pt x="52388" y="3009900"/>
                </a:lnTo>
                <a:lnTo>
                  <a:pt x="34925" y="2967037"/>
                </a:lnTo>
                <a:lnTo>
                  <a:pt x="20638" y="2922587"/>
                </a:lnTo>
                <a:lnTo>
                  <a:pt x="11113" y="2868612"/>
                </a:lnTo>
                <a:lnTo>
                  <a:pt x="1588" y="2809875"/>
                </a:lnTo>
                <a:lnTo>
                  <a:pt x="0" y="2741612"/>
                </a:lnTo>
                <a:lnTo>
                  <a:pt x="1588" y="2671762"/>
                </a:lnTo>
                <a:lnTo>
                  <a:pt x="11113" y="2613025"/>
                </a:lnTo>
                <a:lnTo>
                  <a:pt x="20638" y="2560637"/>
                </a:lnTo>
                <a:lnTo>
                  <a:pt x="34925" y="2513012"/>
                </a:lnTo>
                <a:lnTo>
                  <a:pt x="52388" y="2471737"/>
                </a:lnTo>
                <a:lnTo>
                  <a:pt x="69850" y="2433637"/>
                </a:lnTo>
                <a:lnTo>
                  <a:pt x="88900" y="2395537"/>
                </a:lnTo>
                <a:lnTo>
                  <a:pt x="107950" y="2359025"/>
                </a:lnTo>
                <a:lnTo>
                  <a:pt x="127000" y="2319337"/>
                </a:lnTo>
                <a:lnTo>
                  <a:pt x="142875" y="2278062"/>
                </a:lnTo>
                <a:lnTo>
                  <a:pt x="157163" y="2232025"/>
                </a:lnTo>
                <a:lnTo>
                  <a:pt x="168275" y="2179637"/>
                </a:lnTo>
                <a:lnTo>
                  <a:pt x="176213" y="2119312"/>
                </a:lnTo>
                <a:lnTo>
                  <a:pt x="179388" y="2051050"/>
                </a:lnTo>
                <a:lnTo>
                  <a:pt x="176213" y="1982787"/>
                </a:lnTo>
                <a:lnTo>
                  <a:pt x="168275" y="1922462"/>
                </a:lnTo>
                <a:lnTo>
                  <a:pt x="157163" y="1870075"/>
                </a:lnTo>
                <a:lnTo>
                  <a:pt x="142875" y="1824037"/>
                </a:lnTo>
                <a:lnTo>
                  <a:pt x="127000" y="1782762"/>
                </a:lnTo>
                <a:lnTo>
                  <a:pt x="107950" y="1743075"/>
                </a:lnTo>
                <a:lnTo>
                  <a:pt x="88900" y="1708150"/>
                </a:lnTo>
                <a:lnTo>
                  <a:pt x="69850" y="1671637"/>
                </a:lnTo>
                <a:lnTo>
                  <a:pt x="52388" y="1631950"/>
                </a:lnTo>
                <a:lnTo>
                  <a:pt x="34925" y="1589087"/>
                </a:lnTo>
                <a:lnTo>
                  <a:pt x="20638" y="1544637"/>
                </a:lnTo>
                <a:lnTo>
                  <a:pt x="11113" y="1492250"/>
                </a:lnTo>
                <a:lnTo>
                  <a:pt x="1588" y="1431925"/>
                </a:lnTo>
                <a:lnTo>
                  <a:pt x="0" y="1363662"/>
                </a:lnTo>
                <a:lnTo>
                  <a:pt x="1588" y="1295400"/>
                </a:lnTo>
                <a:lnTo>
                  <a:pt x="11113" y="1235075"/>
                </a:lnTo>
                <a:lnTo>
                  <a:pt x="20638" y="1182687"/>
                </a:lnTo>
                <a:lnTo>
                  <a:pt x="34925" y="1136650"/>
                </a:lnTo>
                <a:lnTo>
                  <a:pt x="52388" y="1095375"/>
                </a:lnTo>
                <a:lnTo>
                  <a:pt x="69850" y="1055687"/>
                </a:lnTo>
                <a:lnTo>
                  <a:pt x="88900" y="1017587"/>
                </a:lnTo>
                <a:lnTo>
                  <a:pt x="107950" y="981075"/>
                </a:lnTo>
                <a:lnTo>
                  <a:pt x="127000" y="942975"/>
                </a:lnTo>
                <a:lnTo>
                  <a:pt x="142875" y="901700"/>
                </a:lnTo>
                <a:lnTo>
                  <a:pt x="157163" y="854075"/>
                </a:lnTo>
                <a:lnTo>
                  <a:pt x="168275" y="801687"/>
                </a:lnTo>
                <a:lnTo>
                  <a:pt x="176213" y="744537"/>
                </a:lnTo>
                <a:lnTo>
                  <a:pt x="179388" y="673100"/>
                </a:lnTo>
                <a:lnTo>
                  <a:pt x="176213" y="606425"/>
                </a:lnTo>
                <a:lnTo>
                  <a:pt x="168275" y="546100"/>
                </a:lnTo>
                <a:lnTo>
                  <a:pt x="157163" y="496887"/>
                </a:lnTo>
                <a:lnTo>
                  <a:pt x="142875" y="450850"/>
                </a:lnTo>
                <a:lnTo>
                  <a:pt x="127000" y="409575"/>
                </a:lnTo>
                <a:lnTo>
                  <a:pt x="109538" y="369887"/>
                </a:lnTo>
                <a:lnTo>
                  <a:pt x="92075" y="334962"/>
                </a:lnTo>
                <a:lnTo>
                  <a:pt x="73025" y="296862"/>
                </a:lnTo>
                <a:lnTo>
                  <a:pt x="53975" y="260350"/>
                </a:lnTo>
                <a:lnTo>
                  <a:pt x="38100" y="217487"/>
                </a:lnTo>
                <a:lnTo>
                  <a:pt x="22225" y="174625"/>
                </a:lnTo>
                <a:lnTo>
                  <a:pt x="12700" y="122237"/>
                </a:lnTo>
                <a:lnTo>
                  <a:pt x="4763" y="66675"/>
                </a:lnTo>
                <a:close/>
              </a:path>
            </a:pathLst>
          </a:custGeom>
        </p:spPr>
      </p:pic>
    </p:spTree>
    <p:custDataLst>
      <p:tags r:id="rId1"/>
    </p:custDataLst>
    <p:extLst>
      <p:ext uri="{BB962C8B-B14F-4D97-AF65-F5344CB8AC3E}">
        <p14:creationId xmlns:p14="http://schemas.microsoft.com/office/powerpoint/2010/main" val="207864754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anim calcmode="lin" valueType="num">
                                      <p:cBhvr additive="base">
                                        <p:cTn id="1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4E899D-587B-6588-2174-A321C48661FD}"/>
              </a:ext>
            </a:extLst>
          </p:cNvPr>
          <p:cNvSpPr>
            <a:spLocks noGrp="1"/>
          </p:cNvSpPr>
          <p:nvPr>
            <p:ph type="title"/>
          </p:nvPr>
        </p:nvSpPr>
        <p:spPr>
          <a:xfrm>
            <a:off x="1251678" y="606055"/>
            <a:ext cx="10178322" cy="1268461"/>
          </a:xfrm>
        </p:spPr>
        <p:txBody>
          <a:bodyPr>
            <a:normAutofit/>
          </a:bodyPr>
          <a:lstStyle/>
          <a:p>
            <a:r>
              <a:rPr lang="en-US" sz="4000" dirty="0">
                <a:latin typeface="Avenir Book" panose="02000503020000020003" pitchFamily="2" charset="0"/>
              </a:rPr>
              <a:t>Why does Berkeley come to this thesis?</a:t>
            </a:r>
          </a:p>
        </p:txBody>
      </p:sp>
      <p:sp>
        <p:nvSpPr>
          <p:cNvPr id="3" name="Content Placeholder 2">
            <a:extLst>
              <a:ext uri="{FF2B5EF4-FFF2-40B4-BE49-F238E27FC236}">
                <a16:creationId xmlns:a16="http://schemas.microsoft.com/office/drawing/2014/main" id="{7E308BD1-8C8B-8ED4-AC2B-777412920278}"/>
              </a:ext>
            </a:extLst>
          </p:cNvPr>
          <p:cNvSpPr>
            <a:spLocks noGrp="1"/>
          </p:cNvSpPr>
          <p:nvPr>
            <p:ph idx="1"/>
          </p:nvPr>
        </p:nvSpPr>
        <p:spPr>
          <a:xfrm>
            <a:off x="1251678" y="2456121"/>
            <a:ext cx="10178322" cy="3423472"/>
          </a:xfrm>
        </p:spPr>
        <p:txBody>
          <a:bodyPr>
            <a:normAutofit/>
          </a:bodyPr>
          <a:lstStyle/>
          <a:p>
            <a:pPr marL="0" indent="0">
              <a:lnSpc>
                <a:spcPct val="150000"/>
              </a:lnSpc>
              <a:buNone/>
            </a:pPr>
            <a:r>
              <a:rPr lang="en-US" sz="2400" dirty="0">
                <a:solidFill>
                  <a:schemeClr val="tx1"/>
                </a:solidFill>
                <a:latin typeface="Avenir Book" panose="02000503020000020003" pitchFamily="2" charset="0"/>
              </a:rPr>
              <a:t>There are 3 key arguments Berkeley makes…</a:t>
            </a:r>
          </a:p>
          <a:p>
            <a:pPr marL="0" indent="0">
              <a:lnSpc>
                <a:spcPct val="150000"/>
              </a:lnSpc>
              <a:buNone/>
            </a:pPr>
            <a:endParaRPr lang="en-US" sz="2400" dirty="0">
              <a:solidFill>
                <a:schemeClr val="tx1"/>
              </a:solidFill>
              <a:latin typeface="Avenir Book" panose="02000503020000020003" pitchFamily="2" charset="0"/>
            </a:endParaRPr>
          </a:p>
          <a:p>
            <a:pPr marL="742950" indent="-742950">
              <a:lnSpc>
                <a:spcPct val="150000"/>
              </a:lnSpc>
              <a:buAutoNum type="arabicParenBoth"/>
            </a:pPr>
            <a:r>
              <a:rPr lang="en-US" sz="2400" dirty="0">
                <a:solidFill>
                  <a:schemeClr val="tx1"/>
                </a:solidFill>
                <a:latin typeface="Avenir Book" panose="02000503020000020003" pitchFamily="2" charset="0"/>
              </a:rPr>
              <a:t>The idea of ‘Substance’ is confused.</a:t>
            </a:r>
          </a:p>
          <a:p>
            <a:pPr marL="742950" indent="-742950">
              <a:lnSpc>
                <a:spcPct val="150000"/>
              </a:lnSpc>
              <a:buAutoNum type="arabicParenBoth"/>
            </a:pPr>
            <a:r>
              <a:rPr lang="en-US" sz="2400" dirty="0">
                <a:solidFill>
                  <a:schemeClr val="tx1"/>
                </a:solidFill>
                <a:latin typeface="Avenir Book" panose="02000503020000020003" pitchFamily="2" charset="0"/>
              </a:rPr>
              <a:t>Locke’s primary secondary distinction does not work.</a:t>
            </a:r>
          </a:p>
          <a:p>
            <a:pPr marL="742950" indent="-742950">
              <a:lnSpc>
                <a:spcPct val="150000"/>
              </a:lnSpc>
              <a:buAutoNum type="arabicParenBoth"/>
            </a:pPr>
            <a:r>
              <a:rPr lang="en-US" sz="2400" dirty="0">
                <a:solidFill>
                  <a:schemeClr val="tx1"/>
                </a:solidFill>
                <a:latin typeface="Avenir Book" panose="02000503020000020003" pitchFamily="2" charset="0"/>
              </a:rPr>
              <a:t>The ‘master’ argument.</a:t>
            </a:r>
          </a:p>
          <a:p>
            <a:endParaRPr lang="en-US" dirty="0"/>
          </a:p>
          <a:p>
            <a:endParaRPr lang="en-US" dirty="0"/>
          </a:p>
        </p:txBody>
      </p:sp>
    </p:spTree>
    <p:custDataLst>
      <p:tags r:id="rId1"/>
    </p:custDataLst>
    <p:extLst>
      <p:ext uri="{BB962C8B-B14F-4D97-AF65-F5344CB8AC3E}">
        <p14:creationId xmlns:p14="http://schemas.microsoft.com/office/powerpoint/2010/main" val="160965861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 calcmode="lin" valueType="num">
                                      <p:cBhvr additive="base">
                                        <p:cTn id="1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81FA3D-5E82-AFFE-3341-6CB103E2CE03}"/>
              </a:ext>
            </a:extLst>
          </p:cNvPr>
          <p:cNvSpPr>
            <a:spLocks noGrp="1"/>
          </p:cNvSpPr>
          <p:nvPr>
            <p:ph type="title"/>
          </p:nvPr>
        </p:nvSpPr>
        <p:spPr>
          <a:xfrm>
            <a:off x="1123989" y="640883"/>
            <a:ext cx="8317723" cy="1492132"/>
          </a:xfrm>
        </p:spPr>
        <p:txBody>
          <a:bodyPr>
            <a:normAutofit fontScale="90000"/>
          </a:bodyPr>
          <a:lstStyle/>
          <a:p>
            <a:r>
              <a:rPr lang="en-US" sz="4400" dirty="0">
                <a:latin typeface="Avenir Book" panose="02000503020000020003" pitchFamily="2" charset="0"/>
              </a:rPr>
              <a:t>Substance does not exist</a:t>
            </a:r>
            <a:br>
              <a:rPr lang="en-US" dirty="0"/>
            </a:br>
            <a:br>
              <a:rPr lang="en-US" sz="3100" dirty="0"/>
            </a:br>
            <a:r>
              <a:rPr lang="en-US" sz="3100" cap="none" dirty="0">
                <a:latin typeface="Avenir Book" panose="02000503020000020003" pitchFamily="2" charset="0"/>
              </a:rPr>
              <a:t>If you take away all the properties of something you will not have any thing left over.  </a:t>
            </a:r>
            <a:br>
              <a:rPr lang="en-US" sz="3100" cap="none" dirty="0">
                <a:latin typeface="Avenir Book" panose="02000503020000020003" pitchFamily="2" charset="0"/>
              </a:rPr>
            </a:br>
            <a:br>
              <a:rPr lang="en-US" sz="3100" cap="none" dirty="0">
                <a:latin typeface="Avenir Book" panose="02000503020000020003" pitchFamily="2" charset="0"/>
              </a:rPr>
            </a:br>
            <a:r>
              <a:rPr lang="en-US" sz="3100" cap="none" dirty="0">
                <a:latin typeface="Avenir Book" panose="02000503020000020003" pitchFamily="2" charset="0"/>
              </a:rPr>
              <a:t>1. If you take away the </a:t>
            </a:r>
            <a:r>
              <a:rPr lang="en-US" sz="3100" cap="none" dirty="0" err="1">
                <a:latin typeface="Avenir Book" panose="02000503020000020003" pitchFamily="2" charset="0"/>
              </a:rPr>
              <a:t>colour</a:t>
            </a:r>
            <a:r>
              <a:rPr lang="en-US" sz="3100" cap="none" dirty="0">
                <a:latin typeface="Avenir Book" panose="02000503020000020003" pitchFamily="2" charset="0"/>
              </a:rPr>
              <a:t>.</a:t>
            </a:r>
            <a:br>
              <a:rPr lang="en-US" sz="3100" cap="none" dirty="0">
                <a:latin typeface="Avenir Book" panose="02000503020000020003" pitchFamily="2" charset="0"/>
              </a:rPr>
            </a:br>
            <a:r>
              <a:rPr lang="en-US" sz="3100" cap="none" dirty="0">
                <a:latin typeface="Avenir Book" panose="02000503020000020003" pitchFamily="2" charset="0"/>
              </a:rPr>
              <a:t>2. If you take away extension.</a:t>
            </a:r>
            <a:br>
              <a:rPr lang="en-US" sz="3100" cap="none" dirty="0">
                <a:latin typeface="Avenir Book" panose="02000503020000020003" pitchFamily="2" charset="0"/>
              </a:rPr>
            </a:br>
            <a:r>
              <a:rPr lang="en-US" sz="3100" cap="none" dirty="0">
                <a:latin typeface="Avenir Book" panose="02000503020000020003" pitchFamily="2" charset="0"/>
              </a:rPr>
              <a:t>3. If you take away weight</a:t>
            </a:r>
            <a:br>
              <a:rPr lang="en-US" sz="3100" cap="none" dirty="0">
                <a:latin typeface="Avenir Book" panose="02000503020000020003" pitchFamily="2" charset="0"/>
              </a:rPr>
            </a:br>
            <a:br>
              <a:rPr lang="en-US" sz="3100" cap="none" dirty="0">
                <a:latin typeface="Avenir Book" panose="02000503020000020003" pitchFamily="2" charset="0"/>
              </a:rPr>
            </a:br>
            <a:br>
              <a:rPr lang="en-US" sz="3100" cap="none" dirty="0">
                <a:latin typeface="Avenir Book" panose="02000503020000020003" pitchFamily="2" charset="0"/>
              </a:rPr>
            </a:br>
            <a:r>
              <a:rPr lang="en-US" sz="3100" cap="none" dirty="0">
                <a:latin typeface="Avenir Book" panose="02000503020000020003" pitchFamily="2" charset="0"/>
              </a:rPr>
              <a:t>THERE IS NO SUCH THING AS </a:t>
            </a:r>
            <a:br>
              <a:rPr lang="en-US" sz="3100" cap="none" dirty="0">
                <a:latin typeface="Avenir Book" panose="02000503020000020003" pitchFamily="2" charset="0"/>
              </a:rPr>
            </a:br>
            <a:r>
              <a:rPr lang="en-US" sz="3100" cap="none" dirty="0">
                <a:latin typeface="Avenir Book" panose="02000503020000020003" pitchFamily="2" charset="0"/>
              </a:rPr>
              <a:t>SUBSTANCE</a:t>
            </a:r>
            <a:endParaRPr lang="en-US" sz="3100" dirty="0">
              <a:latin typeface="Avenir Book" panose="02000503020000020003" pitchFamily="2" charset="0"/>
            </a:endParaRPr>
          </a:p>
        </p:txBody>
      </p:sp>
      <p:sp>
        <p:nvSpPr>
          <p:cNvPr id="3" name="Content Placeholder 2">
            <a:extLst>
              <a:ext uri="{FF2B5EF4-FFF2-40B4-BE49-F238E27FC236}">
                <a16:creationId xmlns:a16="http://schemas.microsoft.com/office/drawing/2014/main" id="{7A27F0D3-E435-1856-F7EA-2A08DD0F3316}"/>
              </a:ext>
            </a:extLst>
          </p:cNvPr>
          <p:cNvSpPr>
            <a:spLocks noGrp="1"/>
          </p:cNvSpPr>
          <p:nvPr>
            <p:ph idx="1"/>
          </p:nvPr>
        </p:nvSpPr>
        <p:spPr>
          <a:xfrm>
            <a:off x="1251678" y="3065928"/>
            <a:ext cx="5149122" cy="2813663"/>
          </a:xfrm>
        </p:spPr>
        <p:txBody>
          <a:bodyPr>
            <a:normAutofit/>
          </a:bodyPr>
          <a:lstStyle/>
          <a:p>
            <a:pPr marL="0" indent="0">
              <a:buNone/>
            </a:pPr>
            <a:endParaRPr lang="en-US" dirty="0">
              <a:solidFill>
                <a:schemeClr val="tx1">
                  <a:lumMod val="85000"/>
                  <a:lumOff val="15000"/>
                </a:schemeClr>
              </a:solidFill>
            </a:endParaRPr>
          </a:p>
          <a:p>
            <a:pPr marL="0" indent="0">
              <a:buNone/>
            </a:pPr>
            <a:endParaRPr lang="en-US" dirty="0">
              <a:solidFill>
                <a:schemeClr val="tx1">
                  <a:lumMod val="85000"/>
                  <a:lumOff val="15000"/>
                </a:schemeClr>
              </a:solidFill>
            </a:endParaRPr>
          </a:p>
        </p:txBody>
      </p:sp>
      <p:pic>
        <p:nvPicPr>
          <p:cNvPr id="5" name="Picture 4" descr="A leather book on a desk&#10;&#10;Description automatically generated">
            <a:extLst>
              <a:ext uri="{FF2B5EF4-FFF2-40B4-BE49-F238E27FC236}">
                <a16:creationId xmlns:a16="http://schemas.microsoft.com/office/drawing/2014/main" id="{2F5B368B-8DEB-164B-FFFD-B1A399B3B178}"/>
              </a:ext>
            </a:extLst>
          </p:cNvPr>
          <p:cNvPicPr>
            <a:picLocks noChangeAspect="1"/>
          </p:cNvPicPr>
          <p:nvPr/>
        </p:nvPicPr>
        <p:blipFill>
          <a:blip r:embed="rId2"/>
          <a:stretch>
            <a:fillRect/>
          </a:stretch>
        </p:blipFill>
        <p:spPr>
          <a:xfrm>
            <a:off x="8787285" y="2662259"/>
            <a:ext cx="3217333" cy="3217333"/>
          </a:xfrm>
          <a:prstGeom prst="rect">
            <a:avLst/>
          </a:prstGeom>
        </p:spPr>
      </p:pic>
    </p:spTree>
    <p:extLst>
      <p:ext uri="{BB962C8B-B14F-4D97-AF65-F5344CB8AC3E}">
        <p14:creationId xmlns:p14="http://schemas.microsoft.com/office/powerpoint/2010/main" val="549307267"/>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D83CB5-EA66-58DB-9560-97ED7F8F8D6C}"/>
              </a:ext>
            </a:extLst>
          </p:cNvPr>
          <p:cNvSpPr>
            <a:spLocks noGrp="1"/>
          </p:cNvSpPr>
          <p:nvPr>
            <p:ph type="title"/>
          </p:nvPr>
        </p:nvSpPr>
        <p:spPr>
          <a:xfrm>
            <a:off x="1251678" y="580913"/>
            <a:ext cx="10178322" cy="1293604"/>
          </a:xfrm>
        </p:spPr>
        <p:txBody>
          <a:bodyPr>
            <a:normAutofit/>
          </a:bodyPr>
          <a:lstStyle/>
          <a:p>
            <a:r>
              <a:rPr lang="en-US" sz="3600" cap="none" dirty="0">
                <a:latin typeface="Avenir Book" panose="02000503020000020003" pitchFamily="2" charset="0"/>
              </a:rPr>
              <a:t>THE PRIMARY SECONDARY QUALITY DISTINCTION</a:t>
            </a:r>
          </a:p>
        </p:txBody>
      </p:sp>
      <p:sp>
        <p:nvSpPr>
          <p:cNvPr id="3" name="Content Placeholder 2">
            <a:extLst>
              <a:ext uri="{FF2B5EF4-FFF2-40B4-BE49-F238E27FC236}">
                <a16:creationId xmlns:a16="http://schemas.microsoft.com/office/drawing/2014/main" id="{E47F1609-B9D2-99FE-FE6A-E0064F3E4A99}"/>
              </a:ext>
            </a:extLst>
          </p:cNvPr>
          <p:cNvSpPr>
            <a:spLocks noGrp="1"/>
          </p:cNvSpPr>
          <p:nvPr>
            <p:ph idx="1"/>
          </p:nvPr>
        </p:nvSpPr>
        <p:spPr>
          <a:xfrm>
            <a:off x="1251678" y="2000923"/>
            <a:ext cx="10178322" cy="4276164"/>
          </a:xfrm>
        </p:spPr>
        <p:txBody>
          <a:bodyPr>
            <a:noAutofit/>
          </a:bodyPr>
          <a:lstStyle/>
          <a:p>
            <a:pPr>
              <a:lnSpc>
                <a:spcPct val="150000"/>
              </a:lnSpc>
            </a:pPr>
            <a:r>
              <a:rPr lang="en-US" dirty="0">
                <a:solidFill>
                  <a:schemeClr val="tx1"/>
                </a:solidFill>
              </a:rPr>
              <a:t>J</a:t>
            </a:r>
            <a:r>
              <a:rPr lang="en-US" dirty="0">
                <a:solidFill>
                  <a:schemeClr val="tx1"/>
                </a:solidFill>
                <a:latin typeface="Avenir Book" panose="02000503020000020003" pitchFamily="2" charset="0"/>
              </a:rPr>
              <a:t>ohn Locke had developed the ‘primary secondary quality distinction’ to make sense of perceptual variation. </a:t>
            </a:r>
          </a:p>
          <a:p>
            <a:pPr>
              <a:lnSpc>
                <a:spcPct val="150000"/>
              </a:lnSpc>
            </a:pPr>
            <a:r>
              <a:rPr lang="en-US" dirty="0">
                <a:solidFill>
                  <a:schemeClr val="tx1"/>
                </a:solidFill>
                <a:latin typeface="Avenir Book" panose="02000503020000020003" pitchFamily="2" charset="0"/>
              </a:rPr>
              <a:t>The </a:t>
            </a:r>
            <a:r>
              <a:rPr lang="en-US" b="1" dirty="0">
                <a:solidFill>
                  <a:schemeClr val="tx1"/>
                </a:solidFill>
                <a:latin typeface="Avenir Book" panose="02000503020000020003" pitchFamily="2" charset="0"/>
              </a:rPr>
              <a:t>primary qualities </a:t>
            </a:r>
            <a:r>
              <a:rPr lang="en-US" dirty="0">
                <a:solidFill>
                  <a:schemeClr val="tx1"/>
                </a:solidFill>
                <a:latin typeface="Avenir Book" panose="02000503020000020003" pitchFamily="2" charset="0"/>
              </a:rPr>
              <a:t>are the powers the objects have to cause sensations in our mind. For example, if an object has a shape, then it causes a specific sensation in our mind. </a:t>
            </a:r>
          </a:p>
          <a:p>
            <a:pPr>
              <a:lnSpc>
                <a:spcPct val="150000"/>
              </a:lnSpc>
            </a:pPr>
            <a:r>
              <a:rPr lang="en-US" dirty="0">
                <a:solidFill>
                  <a:schemeClr val="tx1"/>
                </a:solidFill>
                <a:latin typeface="Avenir Book" panose="02000503020000020003" pitchFamily="2" charset="0"/>
              </a:rPr>
              <a:t>The </a:t>
            </a:r>
            <a:r>
              <a:rPr lang="en-US" b="1" dirty="0">
                <a:solidFill>
                  <a:schemeClr val="tx1"/>
                </a:solidFill>
                <a:latin typeface="Avenir Book" panose="02000503020000020003" pitchFamily="2" charset="0"/>
              </a:rPr>
              <a:t>secondary qualities </a:t>
            </a:r>
            <a:r>
              <a:rPr lang="en-US" dirty="0">
                <a:solidFill>
                  <a:schemeClr val="tx1"/>
                </a:solidFill>
                <a:latin typeface="Avenir Book" panose="02000503020000020003" pitchFamily="2" charset="0"/>
              </a:rPr>
              <a:t>are the powers that an object has that are mind-dependent. So, for example, the </a:t>
            </a:r>
            <a:r>
              <a:rPr lang="en-US" dirty="0" err="1">
                <a:solidFill>
                  <a:schemeClr val="tx1"/>
                </a:solidFill>
                <a:latin typeface="Avenir Book" panose="02000503020000020003" pitchFamily="2" charset="0"/>
              </a:rPr>
              <a:t>colour</a:t>
            </a:r>
            <a:r>
              <a:rPr lang="en-US" dirty="0">
                <a:solidFill>
                  <a:schemeClr val="tx1"/>
                </a:solidFill>
                <a:latin typeface="Avenir Book" panose="02000503020000020003" pitchFamily="2" charset="0"/>
              </a:rPr>
              <a:t> of an object cannot exist if there is no mind to experience it. </a:t>
            </a:r>
          </a:p>
        </p:txBody>
      </p:sp>
    </p:spTree>
    <p:extLst>
      <p:ext uri="{BB962C8B-B14F-4D97-AF65-F5344CB8AC3E}">
        <p14:creationId xmlns:p14="http://schemas.microsoft.com/office/powerpoint/2010/main" val="26602532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78ADC-A09A-90C0-0B3E-4C2A23C579B8}"/>
              </a:ext>
            </a:extLst>
          </p:cNvPr>
          <p:cNvSpPr>
            <a:spLocks noGrp="1"/>
          </p:cNvSpPr>
          <p:nvPr>
            <p:ph type="title"/>
          </p:nvPr>
        </p:nvSpPr>
        <p:spPr>
          <a:xfrm>
            <a:off x="1251678" y="548639"/>
            <a:ext cx="10178322" cy="1325877"/>
          </a:xfrm>
        </p:spPr>
        <p:txBody>
          <a:bodyPr>
            <a:normAutofit/>
          </a:bodyPr>
          <a:lstStyle/>
          <a:p>
            <a:r>
              <a:rPr lang="en-US" sz="3600" dirty="0">
                <a:latin typeface="Avenir Book" panose="02000503020000020003" pitchFamily="2" charset="0"/>
              </a:rPr>
              <a:t>Table of Primary secondary quality distinction</a:t>
            </a:r>
          </a:p>
        </p:txBody>
      </p:sp>
      <p:graphicFrame>
        <p:nvGraphicFramePr>
          <p:cNvPr id="4" name="Content Placeholder 3">
            <a:extLst>
              <a:ext uri="{FF2B5EF4-FFF2-40B4-BE49-F238E27FC236}">
                <a16:creationId xmlns:a16="http://schemas.microsoft.com/office/drawing/2014/main" id="{A68D8C95-5130-8CBD-6671-E54391CABA79}"/>
              </a:ext>
            </a:extLst>
          </p:cNvPr>
          <p:cNvGraphicFramePr>
            <a:graphicFrameLocks noGrp="1"/>
          </p:cNvGraphicFramePr>
          <p:nvPr>
            <p:ph idx="1"/>
            <p:extLst>
              <p:ext uri="{D42A27DB-BD31-4B8C-83A1-F6EECF244321}">
                <p14:modId xmlns:p14="http://schemas.microsoft.com/office/powerpoint/2010/main" val="1779936446"/>
              </p:ext>
            </p:extLst>
          </p:nvPr>
        </p:nvGraphicFramePr>
        <p:xfrm>
          <a:off x="1250950" y="2115880"/>
          <a:ext cx="10179050" cy="4193482"/>
        </p:xfrm>
        <a:graphic>
          <a:graphicData uri="http://schemas.openxmlformats.org/drawingml/2006/table">
            <a:tbl>
              <a:tblPr firstRow="1" bandRow="1">
                <a:tableStyleId>{5C22544A-7EE6-4342-B048-85BDC9FD1C3A}</a:tableStyleId>
              </a:tblPr>
              <a:tblGrid>
                <a:gridCol w="5089525">
                  <a:extLst>
                    <a:ext uri="{9D8B030D-6E8A-4147-A177-3AD203B41FA5}">
                      <a16:colId xmlns:a16="http://schemas.microsoft.com/office/drawing/2014/main" val="1716436210"/>
                    </a:ext>
                  </a:extLst>
                </a:gridCol>
                <a:gridCol w="5089525">
                  <a:extLst>
                    <a:ext uri="{9D8B030D-6E8A-4147-A177-3AD203B41FA5}">
                      <a16:colId xmlns:a16="http://schemas.microsoft.com/office/drawing/2014/main" val="4056573470"/>
                    </a:ext>
                  </a:extLst>
                </a:gridCol>
              </a:tblGrid>
              <a:tr h="4193482">
                <a:tc>
                  <a:txBody>
                    <a:bodyPr/>
                    <a:lstStyle/>
                    <a:p>
                      <a:endParaRPr lang="en-US" b="0" i="0" dirty="0">
                        <a:latin typeface="Avenir Book" panose="02000503020000020003" pitchFamily="2" charset="0"/>
                      </a:endParaRPr>
                    </a:p>
                    <a:p>
                      <a:r>
                        <a:rPr lang="en-US" b="0" i="0" dirty="0">
                          <a:solidFill>
                            <a:schemeClr val="tx1"/>
                          </a:solidFill>
                          <a:latin typeface="Avenir Book" panose="02000503020000020003" pitchFamily="2" charset="0"/>
                        </a:rPr>
                        <a:t>Mind independent – these properties belong to the substance itself and do not need the mind.</a:t>
                      </a:r>
                    </a:p>
                    <a:p>
                      <a:endParaRPr lang="en-US" b="0" i="0" dirty="0">
                        <a:solidFill>
                          <a:schemeClr val="tx1"/>
                        </a:solidFill>
                        <a:latin typeface="Avenir Book" panose="02000503020000020003" pitchFamily="2" charset="0"/>
                      </a:endParaRPr>
                    </a:p>
                    <a:p>
                      <a:r>
                        <a:rPr lang="en-US" b="0" i="0" dirty="0">
                          <a:solidFill>
                            <a:schemeClr val="tx1"/>
                          </a:solidFill>
                          <a:latin typeface="Avenir Book" panose="02000503020000020003" pitchFamily="2" charset="0"/>
                        </a:rPr>
                        <a:t>Volume </a:t>
                      </a:r>
                    </a:p>
                    <a:p>
                      <a:r>
                        <a:rPr lang="en-US" b="0" i="0" dirty="0">
                          <a:solidFill>
                            <a:schemeClr val="tx1"/>
                          </a:solidFill>
                          <a:latin typeface="Avenir Book" panose="02000503020000020003" pitchFamily="2" charset="0"/>
                        </a:rPr>
                        <a:t>Number</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txBody>
                  <a:tcPr/>
                </a:tc>
                <a:tc>
                  <a:txBody>
                    <a:bodyPr/>
                    <a:lstStyle/>
                    <a:p>
                      <a:endParaRPr lang="en-US" dirty="0"/>
                    </a:p>
                    <a:p>
                      <a:r>
                        <a:rPr lang="en-US" b="0" i="0" dirty="0">
                          <a:solidFill>
                            <a:schemeClr val="tx1"/>
                          </a:solidFill>
                          <a:latin typeface="Avenir Book" panose="02000503020000020003" pitchFamily="2" charset="0"/>
                        </a:rPr>
                        <a:t>Mind dependent – these are relational properties that need a mind to exist.</a:t>
                      </a:r>
                    </a:p>
                    <a:p>
                      <a:endParaRPr lang="en-US" b="0" i="0" dirty="0">
                        <a:solidFill>
                          <a:schemeClr val="tx1"/>
                        </a:solidFill>
                        <a:latin typeface="Avenir Book" panose="02000503020000020003" pitchFamily="2" charset="0"/>
                      </a:endParaRPr>
                    </a:p>
                    <a:p>
                      <a:r>
                        <a:rPr lang="en-US" b="0" i="0" dirty="0">
                          <a:solidFill>
                            <a:schemeClr val="tx1"/>
                          </a:solidFill>
                          <a:latin typeface="Avenir Book" panose="02000503020000020003" pitchFamily="2" charset="0"/>
                        </a:rPr>
                        <a:t>Color</a:t>
                      </a:r>
                    </a:p>
                    <a:p>
                      <a:r>
                        <a:rPr lang="en-US" b="0" i="0" dirty="0">
                          <a:solidFill>
                            <a:schemeClr val="tx1"/>
                          </a:solidFill>
                          <a:latin typeface="Avenir Book" panose="02000503020000020003" pitchFamily="2" charset="0"/>
                        </a:rPr>
                        <a:t>Smell</a:t>
                      </a:r>
                    </a:p>
                    <a:p>
                      <a:r>
                        <a:rPr lang="en-US" b="0" i="0" dirty="0">
                          <a:solidFill>
                            <a:schemeClr val="tx1"/>
                          </a:solidFill>
                          <a:latin typeface="Avenir Book" panose="02000503020000020003" pitchFamily="2" charset="0"/>
                        </a:rPr>
                        <a:t>Sound</a:t>
                      </a:r>
                    </a:p>
                    <a:p>
                      <a:r>
                        <a:rPr lang="en-US" b="0" i="0" dirty="0">
                          <a:solidFill>
                            <a:schemeClr val="tx1"/>
                          </a:solidFill>
                          <a:latin typeface="Avenir Book" panose="02000503020000020003" pitchFamily="2" charset="0"/>
                        </a:rPr>
                        <a:t>Taste</a:t>
                      </a:r>
                    </a:p>
                  </a:txBody>
                  <a:tcPr/>
                </a:tc>
                <a:extLst>
                  <a:ext uri="{0D108BD9-81ED-4DB2-BD59-A6C34878D82A}">
                    <a16:rowId xmlns:a16="http://schemas.microsoft.com/office/drawing/2014/main" val="3204786429"/>
                  </a:ext>
                </a:extLst>
              </a:tr>
            </a:tbl>
          </a:graphicData>
        </a:graphic>
      </p:graphicFrame>
    </p:spTree>
    <p:custDataLst>
      <p:tags r:id="rId1"/>
    </p:custDataLst>
    <p:extLst>
      <p:ext uri="{BB962C8B-B14F-4D97-AF65-F5344CB8AC3E}">
        <p14:creationId xmlns:p14="http://schemas.microsoft.com/office/powerpoint/2010/main" val="2841283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78ADC-A09A-90C0-0B3E-4C2A23C579B8}"/>
              </a:ext>
            </a:extLst>
          </p:cNvPr>
          <p:cNvSpPr>
            <a:spLocks noGrp="1"/>
          </p:cNvSpPr>
          <p:nvPr>
            <p:ph type="title"/>
          </p:nvPr>
        </p:nvSpPr>
        <p:spPr>
          <a:xfrm>
            <a:off x="1251678" y="548639"/>
            <a:ext cx="10178322" cy="1325877"/>
          </a:xfrm>
        </p:spPr>
        <p:txBody>
          <a:bodyPr>
            <a:normAutofit/>
          </a:bodyPr>
          <a:lstStyle/>
          <a:p>
            <a:r>
              <a:rPr lang="en-US" sz="3600" dirty="0">
                <a:latin typeface="Avenir Book" panose="02000503020000020003" pitchFamily="2" charset="0"/>
              </a:rPr>
              <a:t>Table of Primary secondary quality distinction</a:t>
            </a:r>
          </a:p>
        </p:txBody>
      </p:sp>
      <p:graphicFrame>
        <p:nvGraphicFramePr>
          <p:cNvPr id="4" name="Content Placeholder 3">
            <a:extLst>
              <a:ext uri="{FF2B5EF4-FFF2-40B4-BE49-F238E27FC236}">
                <a16:creationId xmlns:a16="http://schemas.microsoft.com/office/drawing/2014/main" id="{A68D8C95-5130-8CBD-6671-E54391CABA79}"/>
              </a:ext>
            </a:extLst>
          </p:cNvPr>
          <p:cNvGraphicFramePr>
            <a:graphicFrameLocks noGrp="1"/>
          </p:cNvGraphicFramePr>
          <p:nvPr>
            <p:ph idx="1"/>
            <p:extLst>
              <p:ext uri="{D42A27DB-BD31-4B8C-83A1-F6EECF244321}">
                <p14:modId xmlns:p14="http://schemas.microsoft.com/office/powerpoint/2010/main" val="3393946715"/>
              </p:ext>
            </p:extLst>
          </p:nvPr>
        </p:nvGraphicFramePr>
        <p:xfrm>
          <a:off x="1250950" y="1874516"/>
          <a:ext cx="10179050" cy="4484081"/>
        </p:xfrm>
        <a:graphic>
          <a:graphicData uri="http://schemas.openxmlformats.org/drawingml/2006/table">
            <a:tbl>
              <a:tblPr firstRow="1" bandRow="1">
                <a:tableStyleId>{5C22544A-7EE6-4342-B048-85BDC9FD1C3A}</a:tableStyleId>
              </a:tblPr>
              <a:tblGrid>
                <a:gridCol w="5089525">
                  <a:extLst>
                    <a:ext uri="{9D8B030D-6E8A-4147-A177-3AD203B41FA5}">
                      <a16:colId xmlns:a16="http://schemas.microsoft.com/office/drawing/2014/main" val="1716436210"/>
                    </a:ext>
                  </a:extLst>
                </a:gridCol>
                <a:gridCol w="5089525">
                  <a:extLst>
                    <a:ext uri="{9D8B030D-6E8A-4147-A177-3AD203B41FA5}">
                      <a16:colId xmlns:a16="http://schemas.microsoft.com/office/drawing/2014/main" val="4056573470"/>
                    </a:ext>
                  </a:extLst>
                </a:gridCol>
              </a:tblGrid>
              <a:tr h="4484081">
                <a:tc>
                  <a:txBody>
                    <a:bodyPr/>
                    <a:lstStyle/>
                    <a:p>
                      <a:pPr>
                        <a:lnSpc>
                          <a:spcPct val="150000"/>
                        </a:lnSpc>
                      </a:pPr>
                      <a:r>
                        <a:rPr lang="en-US" b="0" i="0" dirty="0">
                          <a:solidFill>
                            <a:schemeClr val="tx1"/>
                          </a:solidFill>
                          <a:latin typeface="Avenir Book" panose="02000503020000020003" pitchFamily="2" charset="0"/>
                        </a:rPr>
                        <a:t>Berkeley claimed that all properties (both primary and secondary) are mind dependent. Because we know that the </a:t>
                      </a:r>
                      <a:r>
                        <a:rPr lang="en-US" b="0" i="1" dirty="0">
                          <a:solidFill>
                            <a:schemeClr val="tx1"/>
                          </a:solidFill>
                          <a:latin typeface="Avenir Book" panose="02000503020000020003" pitchFamily="2" charset="0"/>
                        </a:rPr>
                        <a:t>size</a:t>
                      </a:r>
                      <a:r>
                        <a:rPr lang="en-US" b="0" i="0" dirty="0">
                          <a:solidFill>
                            <a:schemeClr val="tx1"/>
                          </a:solidFill>
                          <a:latin typeface="Avenir Book" panose="02000503020000020003" pitchFamily="2" charset="0"/>
                        </a:rPr>
                        <a:t> of something (its volume) will change when you see it from different distances and also that the </a:t>
                      </a:r>
                      <a:r>
                        <a:rPr lang="en-US" b="0" i="1" dirty="0">
                          <a:solidFill>
                            <a:schemeClr val="tx1"/>
                          </a:solidFill>
                          <a:latin typeface="Avenir Book" panose="02000503020000020003" pitchFamily="2" charset="0"/>
                        </a:rPr>
                        <a:t>number</a:t>
                      </a:r>
                      <a:r>
                        <a:rPr lang="en-US" b="0" i="0" dirty="0">
                          <a:solidFill>
                            <a:schemeClr val="tx1"/>
                          </a:solidFill>
                          <a:latin typeface="Avenir Book" panose="02000503020000020003" pitchFamily="2" charset="0"/>
                        </a:rPr>
                        <a:t> of things can change depending on if you put your finger to your eye and make the chairs double. This means that number and size are also secondary properties and need the mind to exist, i.e. are mind dependent.</a:t>
                      </a:r>
                    </a:p>
                  </a:txBody>
                  <a:tcPr/>
                </a:tc>
                <a:tc>
                  <a:txBody>
                    <a:bodyPr/>
                    <a:lstStyle/>
                    <a:p>
                      <a:endParaRPr lang="en-US" dirty="0"/>
                    </a:p>
                  </a:txBody>
                  <a:tcPr/>
                </a:tc>
                <a:extLst>
                  <a:ext uri="{0D108BD9-81ED-4DB2-BD59-A6C34878D82A}">
                    <a16:rowId xmlns:a16="http://schemas.microsoft.com/office/drawing/2014/main" val="3204786429"/>
                  </a:ext>
                </a:extLst>
              </a:tr>
            </a:tbl>
          </a:graphicData>
        </a:graphic>
      </p:graphicFrame>
      <p:pic>
        <p:nvPicPr>
          <p:cNvPr id="3" name="Content Placeholder 4" descr="A group of chairs with different colors&#10;&#10;Description automatically generated">
            <a:extLst>
              <a:ext uri="{FF2B5EF4-FFF2-40B4-BE49-F238E27FC236}">
                <a16:creationId xmlns:a16="http://schemas.microsoft.com/office/drawing/2014/main" id="{88ED4D73-1F6A-2D8F-3482-67E15D027FF8}"/>
              </a:ext>
            </a:extLst>
          </p:cNvPr>
          <p:cNvPicPr>
            <a:picLocks noChangeAspect="1"/>
          </p:cNvPicPr>
          <p:nvPr/>
        </p:nvPicPr>
        <p:blipFill>
          <a:blip r:embed="rId3"/>
          <a:stretch>
            <a:fillRect/>
          </a:stretch>
        </p:blipFill>
        <p:spPr>
          <a:xfrm>
            <a:off x="6881300" y="2950906"/>
            <a:ext cx="3913281" cy="2236160"/>
          </a:xfrm>
          <a:prstGeom prst="rect">
            <a:avLst/>
          </a:prstGeom>
        </p:spPr>
      </p:pic>
    </p:spTree>
    <p:custDataLst>
      <p:tags r:id="rId1"/>
    </p:custDataLst>
    <p:extLst>
      <p:ext uri="{BB962C8B-B14F-4D97-AF65-F5344CB8AC3E}">
        <p14:creationId xmlns:p14="http://schemas.microsoft.com/office/powerpoint/2010/main" val="807201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3E08B2-7D5D-2948-7667-E1DDC8D2BC11}"/>
              </a:ext>
            </a:extLst>
          </p:cNvPr>
          <p:cNvSpPr>
            <a:spLocks noGrp="1"/>
          </p:cNvSpPr>
          <p:nvPr>
            <p:ph type="title"/>
          </p:nvPr>
        </p:nvSpPr>
        <p:spPr>
          <a:xfrm>
            <a:off x="1125416" y="623455"/>
            <a:ext cx="10304583" cy="554181"/>
          </a:xfrm>
        </p:spPr>
        <p:txBody>
          <a:bodyPr>
            <a:noAutofit/>
          </a:bodyPr>
          <a:lstStyle/>
          <a:p>
            <a:r>
              <a:rPr lang="en-US" sz="4000" dirty="0">
                <a:latin typeface="Avenir Book" panose="02000503020000020003" pitchFamily="2" charset="0"/>
              </a:rPr>
              <a:t>The ‘Master’ argument</a:t>
            </a:r>
          </a:p>
        </p:txBody>
      </p:sp>
      <p:pic>
        <p:nvPicPr>
          <p:cNvPr id="5" name="Content Placeholder 4">
            <a:extLst>
              <a:ext uri="{FF2B5EF4-FFF2-40B4-BE49-F238E27FC236}">
                <a16:creationId xmlns:a16="http://schemas.microsoft.com/office/drawing/2014/main" id="{85D394C2-BEF2-32C6-9B99-71A13DE0EF64}"/>
              </a:ext>
              <a:ext uri="{C183D7F6-B498-43B3-948B-1728B52AA6E4}">
                <adec:decorative xmlns:adec="http://schemas.microsoft.com/office/drawing/2017/decorative" val="1"/>
              </a:ext>
            </a:extLst>
          </p:cNvPr>
          <p:cNvPicPr>
            <a:picLocks noGrp="1" noChangeAspect="1"/>
          </p:cNvPicPr>
          <p:nvPr>
            <p:ph idx="1"/>
          </p:nvPr>
        </p:nvPicPr>
        <p:blipFill>
          <a:blip r:embed="rId3"/>
          <a:stretch>
            <a:fillRect/>
          </a:stretch>
        </p:blipFill>
        <p:spPr>
          <a:xfrm>
            <a:off x="8696390" y="1894662"/>
            <a:ext cx="3254113" cy="3535467"/>
          </a:xfrm>
        </p:spPr>
      </p:pic>
      <p:sp>
        <p:nvSpPr>
          <p:cNvPr id="7" name="TextBox 6">
            <a:extLst>
              <a:ext uri="{FF2B5EF4-FFF2-40B4-BE49-F238E27FC236}">
                <a16:creationId xmlns:a16="http://schemas.microsoft.com/office/drawing/2014/main" id="{6E4496BE-B7EC-2D6F-BF1F-B0A0C1E07FB6}"/>
              </a:ext>
            </a:extLst>
          </p:cNvPr>
          <p:cNvSpPr txBox="1"/>
          <p:nvPr/>
        </p:nvSpPr>
        <p:spPr>
          <a:xfrm>
            <a:off x="1125416" y="1565510"/>
            <a:ext cx="6710289" cy="4669035"/>
          </a:xfrm>
          <a:prstGeom prst="rect">
            <a:avLst/>
          </a:prstGeom>
          <a:noFill/>
        </p:spPr>
        <p:txBody>
          <a:bodyPr wrap="square">
            <a:spAutoFit/>
          </a:bodyPr>
          <a:lstStyle/>
          <a:p>
            <a:pPr algn="just">
              <a:lnSpc>
                <a:spcPct val="150000"/>
              </a:lnSpc>
            </a:pPr>
            <a:r>
              <a:rPr lang="en-GB" sz="2000" dirty="0">
                <a:solidFill>
                  <a:srgbClr val="000000"/>
                </a:solidFill>
                <a:effectLst/>
                <a:latin typeface="Avenir Book" panose="02000503020000020003" pitchFamily="2" charset="0"/>
                <a:ea typeface="Calibri" panose="020F0502020204030204" pitchFamily="34" charset="0"/>
                <a:cs typeface="Times New Roman" panose="02020603050405020304" pitchFamily="18" charset="0"/>
              </a:rPr>
              <a:t>Berkeley presents his ‘master argument’ against the idea of mind-independent physical objects in his dialogues. There Berkeley portrays a fictional character </a:t>
            </a:r>
            <a:r>
              <a:rPr lang="en-GB" sz="2000" i="1" dirty="0" err="1">
                <a:solidFill>
                  <a:srgbClr val="000000"/>
                </a:solidFill>
                <a:effectLst/>
                <a:latin typeface="Avenir Book" panose="02000503020000020003" pitchFamily="2" charset="0"/>
                <a:ea typeface="Calibri" panose="020F0502020204030204" pitchFamily="34" charset="0"/>
                <a:cs typeface="Times New Roman" panose="02020603050405020304" pitchFamily="18" charset="0"/>
              </a:rPr>
              <a:t>Philonus</a:t>
            </a:r>
            <a:r>
              <a:rPr lang="en-GB" sz="2000" dirty="0">
                <a:solidFill>
                  <a:srgbClr val="000000"/>
                </a:solidFill>
                <a:effectLst/>
                <a:latin typeface="Avenir Book" panose="02000503020000020003" pitchFamily="2" charset="0"/>
                <a:ea typeface="Calibri" panose="020F0502020204030204" pitchFamily="34" charset="0"/>
                <a:cs typeface="Times New Roman" panose="02020603050405020304" pitchFamily="18" charset="0"/>
              </a:rPr>
              <a:t>, who challenges </a:t>
            </a:r>
            <a:r>
              <a:rPr lang="en-GB" sz="2000" i="1" dirty="0" err="1">
                <a:solidFill>
                  <a:srgbClr val="000000"/>
                </a:solidFill>
                <a:effectLst/>
                <a:latin typeface="Avenir Book" panose="02000503020000020003" pitchFamily="2" charset="0"/>
                <a:ea typeface="Calibri" panose="020F0502020204030204" pitchFamily="34" charset="0"/>
                <a:cs typeface="Times New Roman" panose="02020603050405020304" pitchFamily="18" charset="0"/>
              </a:rPr>
              <a:t>Hylas</a:t>
            </a:r>
            <a:r>
              <a:rPr lang="en-GB" sz="2000" i="1" dirty="0">
                <a:solidFill>
                  <a:srgbClr val="000000"/>
                </a:solidFill>
                <a:effectLst/>
                <a:latin typeface="Avenir Book" panose="02000503020000020003" pitchFamily="2" charset="0"/>
                <a:ea typeface="Calibri" panose="020F0502020204030204" pitchFamily="34" charset="0"/>
                <a:cs typeface="Times New Roman" panose="02020603050405020304" pitchFamily="18" charset="0"/>
              </a:rPr>
              <a:t> </a:t>
            </a:r>
            <a:r>
              <a:rPr lang="en-GB" sz="2000" dirty="0">
                <a:solidFill>
                  <a:srgbClr val="000000"/>
                </a:solidFill>
                <a:effectLst/>
                <a:latin typeface="Avenir Book" panose="02000503020000020003" pitchFamily="2" charset="0"/>
                <a:ea typeface="Calibri" panose="020F0502020204030204" pitchFamily="34" charset="0"/>
                <a:cs typeface="Times New Roman" panose="02020603050405020304" pitchFamily="18" charset="0"/>
              </a:rPr>
              <a:t>(Greek for matter) to think of something that exists outside the mind. Because if </a:t>
            </a:r>
            <a:r>
              <a:rPr lang="en-GB" sz="2000" i="1" dirty="0" err="1">
                <a:solidFill>
                  <a:srgbClr val="000000"/>
                </a:solidFill>
                <a:effectLst/>
                <a:latin typeface="Avenir Book" panose="02000503020000020003" pitchFamily="2" charset="0"/>
                <a:ea typeface="Calibri" panose="020F0502020204030204" pitchFamily="34" charset="0"/>
                <a:cs typeface="Times New Roman" panose="02020603050405020304" pitchFamily="18" charset="0"/>
              </a:rPr>
              <a:t>Hylas</a:t>
            </a:r>
            <a:r>
              <a:rPr lang="en-GB" sz="2000" i="1" dirty="0">
                <a:solidFill>
                  <a:srgbClr val="000000"/>
                </a:solidFill>
                <a:effectLst/>
                <a:latin typeface="Avenir Book" panose="02000503020000020003" pitchFamily="2" charset="0"/>
                <a:ea typeface="Calibri" panose="020F0502020204030204" pitchFamily="34" charset="0"/>
                <a:cs typeface="Times New Roman" panose="02020603050405020304" pitchFamily="18" charset="0"/>
              </a:rPr>
              <a:t> </a:t>
            </a:r>
            <a:r>
              <a:rPr lang="en-GB" sz="2000" dirty="0">
                <a:solidFill>
                  <a:srgbClr val="000000"/>
                </a:solidFill>
                <a:effectLst/>
                <a:latin typeface="Avenir Book" panose="02000503020000020003" pitchFamily="2" charset="0"/>
                <a:ea typeface="Calibri" panose="020F0502020204030204" pitchFamily="34" charset="0"/>
                <a:cs typeface="Times New Roman" panose="02020603050405020304" pitchFamily="18" charset="0"/>
              </a:rPr>
              <a:t>fails, Berkeley will have shown that the very idea of a mind-independent thing is absurd. </a:t>
            </a:r>
            <a:r>
              <a:rPr lang="en-GB" sz="2000" i="1" dirty="0" err="1">
                <a:solidFill>
                  <a:srgbClr val="000000"/>
                </a:solidFill>
                <a:effectLst/>
                <a:latin typeface="Avenir Book" panose="02000503020000020003" pitchFamily="2" charset="0"/>
                <a:ea typeface="Calibri" panose="020F0502020204030204" pitchFamily="34" charset="0"/>
                <a:cs typeface="Times New Roman" panose="02020603050405020304" pitchFamily="18" charset="0"/>
              </a:rPr>
              <a:t>Hylas</a:t>
            </a:r>
            <a:r>
              <a:rPr lang="en-GB" sz="2000" dirty="0">
                <a:solidFill>
                  <a:srgbClr val="000000"/>
                </a:solidFill>
                <a:effectLst/>
                <a:latin typeface="Avenir Book" panose="02000503020000020003" pitchFamily="2" charset="0"/>
                <a:ea typeface="Calibri" panose="020F0502020204030204" pitchFamily="34" charset="0"/>
                <a:cs typeface="Times New Roman" panose="02020603050405020304" pitchFamily="18" charset="0"/>
              </a:rPr>
              <a:t> claims that this is easy ‘(</a:t>
            </a:r>
            <a:r>
              <a:rPr lang="en-GB" sz="2000" i="1" dirty="0">
                <a:solidFill>
                  <a:srgbClr val="000000"/>
                </a:solidFill>
                <a:effectLst/>
                <a:latin typeface="Avenir Book" panose="02000503020000020003" pitchFamily="2" charset="0"/>
                <a:ea typeface="Calibri" panose="020F0502020204030204" pitchFamily="34" charset="0"/>
                <a:cs typeface="Times New Roman" panose="02020603050405020304" pitchFamily="18" charset="0"/>
              </a:rPr>
              <a:t>For) what could be more easy than to conceive of a tree or a house existing by itself, independent of, and unperceived by any mind whatsoever</a:t>
            </a:r>
            <a:r>
              <a:rPr lang="en-GB" sz="2000" dirty="0">
                <a:solidFill>
                  <a:srgbClr val="000000"/>
                </a:solidFill>
                <a:effectLst/>
                <a:latin typeface="Avenir Book" panose="02000503020000020003" pitchFamily="2" charset="0"/>
                <a:ea typeface="Calibri" panose="020F0502020204030204" pitchFamily="34" charset="0"/>
                <a:cs typeface="Times New Roman" panose="02020603050405020304" pitchFamily="18" charset="0"/>
              </a:rPr>
              <a:t>’.</a:t>
            </a:r>
            <a:r>
              <a:rPr lang="en-GB" sz="2000" dirty="0">
                <a:effectLst/>
                <a:latin typeface="Avenir Book" panose="02000503020000020003" pitchFamily="2" charset="0"/>
              </a:rPr>
              <a:t> </a:t>
            </a:r>
            <a:endParaRPr lang="en-US" sz="2000" dirty="0">
              <a:latin typeface="Avenir Book" panose="02000503020000020003" pitchFamily="2" charset="0"/>
            </a:endParaRPr>
          </a:p>
        </p:txBody>
      </p:sp>
    </p:spTree>
    <p:custDataLst>
      <p:tags r:id="rId1"/>
    </p:custDataLst>
    <p:extLst>
      <p:ext uri="{BB962C8B-B14F-4D97-AF65-F5344CB8AC3E}">
        <p14:creationId xmlns:p14="http://schemas.microsoft.com/office/powerpoint/2010/main" val="218663272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C1180-04E8-B9E3-31DA-5D714EFDDBB1}"/>
              </a:ext>
            </a:extLst>
          </p:cNvPr>
          <p:cNvSpPr>
            <a:spLocks noGrp="1"/>
          </p:cNvSpPr>
          <p:nvPr>
            <p:ph type="title"/>
          </p:nvPr>
        </p:nvSpPr>
        <p:spPr>
          <a:xfrm>
            <a:off x="1251678" y="731519"/>
            <a:ext cx="10178322" cy="1142997"/>
          </a:xfrm>
        </p:spPr>
        <p:txBody>
          <a:bodyPr>
            <a:normAutofit/>
          </a:bodyPr>
          <a:lstStyle/>
          <a:p>
            <a:r>
              <a:rPr lang="en-US" sz="4000" dirty="0">
                <a:latin typeface="Avenir Book" panose="02000503020000020003" pitchFamily="2" charset="0"/>
              </a:rPr>
              <a:t>The ‘Master’ argument</a:t>
            </a:r>
            <a:endParaRPr lang="en-US" sz="4000" dirty="0"/>
          </a:p>
        </p:txBody>
      </p:sp>
      <p:sp>
        <p:nvSpPr>
          <p:cNvPr id="3" name="Content Placeholder 2">
            <a:extLst>
              <a:ext uri="{FF2B5EF4-FFF2-40B4-BE49-F238E27FC236}">
                <a16:creationId xmlns:a16="http://schemas.microsoft.com/office/drawing/2014/main" id="{D52BB90F-D113-DE6B-6F55-9C21B982FDED}"/>
              </a:ext>
            </a:extLst>
          </p:cNvPr>
          <p:cNvSpPr>
            <a:spLocks noGrp="1"/>
          </p:cNvSpPr>
          <p:nvPr>
            <p:ph idx="1"/>
          </p:nvPr>
        </p:nvSpPr>
        <p:spPr>
          <a:xfrm>
            <a:off x="1251678" y="2067951"/>
            <a:ext cx="6358944" cy="3811641"/>
          </a:xfrm>
        </p:spPr>
        <p:txBody>
          <a:bodyPr>
            <a:normAutofit fontScale="92500"/>
          </a:bodyPr>
          <a:lstStyle/>
          <a:p>
            <a:pPr marL="0" indent="0" algn="just">
              <a:lnSpc>
                <a:spcPct val="150000"/>
              </a:lnSpc>
              <a:buNone/>
            </a:pPr>
            <a:r>
              <a:rPr lang="en-GB" sz="2400" i="1" kern="100" dirty="0" err="1">
                <a:solidFill>
                  <a:schemeClr val="tx1"/>
                </a:solidFill>
                <a:highlight>
                  <a:srgbClr val="F2F2F2"/>
                </a:highlight>
                <a:latin typeface="Avenir Book" panose="02000503020000020003" pitchFamily="2" charset="0"/>
                <a:ea typeface="Calibri" panose="020F0502020204030204" pitchFamily="34" charset="0"/>
                <a:cs typeface="Times New Roman" panose="02020603050405020304" pitchFamily="18" charset="0"/>
              </a:rPr>
              <a:t>Philonus</a:t>
            </a:r>
            <a:r>
              <a:rPr lang="en-GB" sz="2400" i="1" kern="100" dirty="0">
                <a:solidFill>
                  <a:schemeClr val="tx1"/>
                </a:solidFill>
                <a:highlight>
                  <a:srgbClr val="F2F2F2"/>
                </a:highlight>
                <a:latin typeface="Avenir Book" panose="02000503020000020003" pitchFamily="2" charset="0"/>
                <a:ea typeface="Calibri" panose="020F0502020204030204" pitchFamily="34" charset="0"/>
                <a:cs typeface="Times New Roman" panose="02020603050405020304" pitchFamily="18" charset="0"/>
              </a:rPr>
              <a:t> then says…</a:t>
            </a:r>
            <a:endParaRPr lang="en-GB" sz="2400" i="1" kern="100" dirty="0">
              <a:solidFill>
                <a:schemeClr val="tx1"/>
              </a:solidFill>
              <a:effectLst/>
              <a:highlight>
                <a:srgbClr val="F2F2F2"/>
              </a:highlight>
              <a:latin typeface="Avenir Book" panose="02000503020000020003" pitchFamily="2" charset="0"/>
              <a:ea typeface="Calibri" panose="020F0502020204030204" pitchFamily="34" charset="0"/>
              <a:cs typeface="Times New Roman" panose="02020603050405020304" pitchFamily="18" charset="0"/>
            </a:endParaRPr>
          </a:p>
          <a:p>
            <a:pPr marL="0" indent="0" algn="just">
              <a:lnSpc>
                <a:spcPct val="150000"/>
              </a:lnSpc>
              <a:buNone/>
            </a:pPr>
            <a:endParaRPr lang="en-GB" sz="2400" i="1" kern="100" dirty="0">
              <a:solidFill>
                <a:schemeClr val="tx1"/>
              </a:solidFill>
              <a:highlight>
                <a:srgbClr val="F2F2F2"/>
              </a:highlight>
              <a:latin typeface="Avenir Book" panose="02000503020000020003" pitchFamily="2" charset="0"/>
              <a:ea typeface="Calibri" panose="020F0502020204030204" pitchFamily="34" charset="0"/>
              <a:cs typeface="Times New Roman" panose="02020603050405020304" pitchFamily="18" charset="0"/>
            </a:endParaRPr>
          </a:p>
          <a:p>
            <a:pPr marL="0" indent="0" algn="just">
              <a:lnSpc>
                <a:spcPct val="150000"/>
              </a:lnSpc>
              <a:buNone/>
            </a:pPr>
            <a:r>
              <a:rPr lang="en-GB" sz="2400" i="1" kern="100" dirty="0">
                <a:solidFill>
                  <a:schemeClr val="tx1"/>
                </a:solidFill>
                <a:effectLst/>
                <a:highlight>
                  <a:srgbClr val="F2F2F2"/>
                </a:highlight>
                <a:latin typeface="Avenir Book" panose="02000503020000020003" pitchFamily="2" charset="0"/>
                <a:ea typeface="Calibri" panose="020F0502020204030204" pitchFamily="34" charset="0"/>
                <a:cs typeface="Times New Roman" panose="02020603050405020304" pitchFamily="18" charset="0"/>
              </a:rPr>
              <a:t>‘is it not a great contradiction to conceive of a house, unconceived? How then came you to say you conceived a house or a tree existing independently and out of all minds whatsoever?’</a:t>
            </a:r>
            <a:endParaRPr lang="en-GB" sz="2400" kern="100" dirty="0">
              <a:solidFill>
                <a:schemeClr val="tx1"/>
              </a:solidFill>
              <a:effectLst/>
              <a:highlight>
                <a:srgbClr val="F2F2F2"/>
              </a:highligh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pic>
        <p:nvPicPr>
          <p:cNvPr id="4" name="Content Placeholder 4">
            <a:extLst>
              <a:ext uri="{FF2B5EF4-FFF2-40B4-BE49-F238E27FC236}">
                <a16:creationId xmlns:a16="http://schemas.microsoft.com/office/drawing/2014/main" id="{2C3D88F1-6CBF-1CF7-5E0A-76FD6D0E1108}"/>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8679766" y="1874515"/>
            <a:ext cx="3228536" cy="3652491"/>
          </a:xfrm>
          <a:prstGeom prst="rect">
            <a:avLst/>
          </a:prstGeom>
        </p:spPr>
      </p:pic>
    </p:spTree>
    <p:extLst>
      <p:ext uri="{BB962C8B-B14F-4D97-AF65-F5344CB8AC3E}">
        <p14:creationId xmlns:p14="http://schemas.microsoft.com/office/powerpoint/2010/main" val="574299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40F0F4-51A7-D33A-66CB-B16FCCA043A0}"/>
              </a:ext>
            </a:extLst>
          </p:cNvPr>
          <p:cNvSpPr>
            <a:spLocks noGrp="1"/>
          </p:cNvSpPr>
          <p:nvPr>
            <p:ph type="title"/>
          </p:nvPr>
        </p:nvSpPr>
        <p:spPr>
          <a:xfrm>
            <a:off x="1251678" y="773723"/>
            <a:ext cx="10178322" cy="1100794"/>
          </a:xfrm>
        </p:spPr>
        <p:txBody>
          <a:bodyPr>
            <a:normAutofit/>
          </a:bodyPr>
          <a:lstStyle/>
          <a:p>
            <a:r>
              <a:rPr lang="en-US" sz="4000" dirty="0">
                <a:latin typeface="Avenir Book" panose="02000503020000020003" pitchFamily="2" charset="0"/>
              </a:rPr>
              <a:t>Mind and ideas in the mind</a:t>
            </a:r>
          </a:p>
        </p:txBody>
      </p:sp>
      <p:sp>
        <p:nvSpPr>
          <p:cNvPr id="3" name="Content Placeholder 2">
            <a:extLst>
              <a:ext uri="{FF2B5EF4-FFF2-40B4-BE49-F238E27FC236}">
                <a16:creationId xmlns:a16="http://schemas.microsoft.com/office/drawing/2014/main" id="{EE5BD9D4-2DFC-8E0D-5842-95FF23378BBC}"/>
              </a:ext>
            </a:extLst>
          </p:cNvPr>
          <p:cNvSpPr>
            <a:spLocks noGrp="1"/>
          </p:cNvSpPr>
          <p:nvPr>
            <p:ph idx="1"/>
          </p:nvPr>
        </p:nvSpPr>
        <p:spPr>
          <a:xfrm>
            <a:off x="1251678" y="2152357"/>
            <a:ext cx="10178322" cy="3727235"/>
          </a:xfrm>
        </p:spPr>
        <p:txBody>
          <a:bodyPr>
            <a:normAutofit/>
          </a:bodyPr>
          <a:lstStyle/>
          <a:p>
            <a:pPr marL="0" indent="0" algn="just">
              <a:lnSpc>
                <a:spcPct val="160000"/>
              </a:lnSpc>
              <a:buNone/>
            </a:pPr>
            <a:r>
              <a:rPr lang="en-US" sz="3600" dirty="0">
                <a:solidFill>
                  <a:schemeClr val="tx1"/>
                </a:solidFill>
                <a:latin typeface="Avenir Book" panose="02000503020000020003" pitchFamily="2" charset="0"/>
              </a:rPr>
              <a:t>So, we are left with only two fundamental things in existence. ‘Minds’ and ‘ideas’ (images) in the mind. </a:t>
            </a:r>
          </a:p>
          <a:p>
            <a:pPr marL="0" indent="0" algn="just">
              <a:lnSpc>
                <a:spcPct val="160000"/>
              </a:lnSpc>
              <a:buNone/>
            </a:pPr>
            <a:endParaRPr lang="en-US" sz="3600" dirty="0">
              <a:solidFill>
                <a:schemeClr val="tx1"/>
              </a:solidFill>
              <a:latin typeface="Avenir Book" panose="02000503020000020003" pitchFamily="2" charset="0"/>
            </a:endParaRPr>
          </a:p>
        </p:txBody>
      </p:sp>
    </p:spTree>
    <p:custDataLst>
      <p:tags r:id="rId1"/>
    </p:custDataLst>
    <p:extLst>
      <p:ext uri="{BB962C8B-B14F-4D97-AF65-F5344CB8AC3E}">
        <p14:creationId xmlns:p14="http://schemas.microsoft.com/office/powerpoint/2010/main" val="290527648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D34C9B-C77D-4E0C-669A-7B258530A787}"/>
              </a:ext>
            </a:extLst>
          </p:cNvPr>
          <p:cNvSpPr>
            <a:spLocks noGrp="1"/>
          </p:cNvSpPr>
          <p:nvPr>
            <p:ph type="title"/>
          </p:nvPr>
        </p:nvSpPr>
        <p:spPr>
          <a:xfrm>
            <a:off x="5195727" y="382385"/>
            <a:ext cx="6335338" cy="1492132"/>
          </a:xfrm>
        </p:spPr>
        <p:txBody>
          <a:bodyPr>
            <a:normAutofit/>
          </a:bodyPr>
          <a:lstStyle/>
          <a:p>
            <a:r>
              <a:rPr lang="en-US" sz="3200">
                <a:latin typeface="Avenir Book" panose="02000503020000020003" pitchFamily="2" charset="0"/>
              </a:rPr>
              <a:t>Ideas can only come from the mind of God, Why? </a:t>
            </a:r>
          </a:p>
        </p:txBody>
      </p:sp>
      <p:sp>
        <p:nvSpPr>
          <p:cNvPr id="3" name="Content Placeholder 2">
            <a:extLst>
              <a:ext uri="{FF2B5EF4-FFF2-40B4-BE49-F238E27FC236}">
                <a16:creationId xmlns:a16="http://schemas.microsoft.com/office/drawing/2014/main" id="{DEEEC195-1FC8-2411-378E-4B615D2BAD84}"/>
              </a:ext>
            </a:extLst>
          </p:cNvPr>
          <p:cNvSpPr>
            <a:spLocks noGrp="1"/>
          </p:cNvSpPr>
          <p:nvPr>
            <p:ph idx="1"/>
          </p:nvPr>
        </p:nvSpPr>
        <p:spPr>
          <a:xfrm>
            <a:off x="5195727" y="2286001"/>
            <a:ext cx="6335338" cy="3593591"/>
          </a:xfrm>
        </p:spPr>
        <p:txBody>
          <a:bodyPr>
            <a:normAutofit lnSpcReduction="10000"/>
          </a:bodyPr>
          <a:lstStyle/>
          <a:p>
            <a:pPr marL="0" indent="0">
              <a:buNone/>
            </a:pPr>
            <a:r>
              <a:rPr lang="en-US" dirty="0">
                <a:solidFill>
                  <a:schemeClr val="tx1"/>
                </a:solidFill>
                <a:latin typeface="Avenir Book" panose="02000503020000020003" pitchFamily="2" charset="0"/>
              </a:rPr>
              <a:t>Berkeley’s develops an argument from elimination which starts with these three proposition. An argument from elimination eliminates all possibilities until it comes to one final proposition. </a:t>
            </a:r>
          </a:p>
          <a:p>
            <a:pPr marL="0" indent="0">
              <a:buNone/>
            </a:pPr>
            <a:endParaRPr lang="en-US" dirty="0">
              <a:solidFill>
                <a:schemeClr val="tx1"/>
              </a:solidFill>
              <a:latin typeface="Avenir Book" panose="02000503020000020003" pitchFamily="2" charset="0"/>
            </a:endParaRPr>
          </a:p>
          <a:p>
            <a:pPr marL="0" indent="0">
              <a:buNone/>
            </a:pPr>
            <a:r>
              <a:rPr lang="en-US" dirty="0">
                <a:solidFill>
                  <a:schemeClr val="tx1"/>
                </a:solidFill>
                <a:latin typeface="Avenir Book" panose="02000503020000020003" pitchFamily="2" charset="0"/>
              </a:rPr>
              <a:t>Either </a:t>
            </a:r>
          </a:p>
          <a:p>
            <a:pPr marL="514350" indent="-514350">
              <a:buAutoNum type="arabicPeriod"/>
            </a:pPr>
            <a:r>
              <a:rPr lang="en-US" dirty="0">
                <a:solidFill>
                  <a:schemeClr val="tx1"/>
                </a:solidFill>
                <a:latin typeface="Avenir Book" panose="02000503020000020003" pitchFamily="2" charset="0"/>
              </a:rPr>
              <a:t>Ideas come from the external world. (But this can’t be true). </a:t>
            </a:r>
          </a:p>
          <a:p>
            <a:pPr marL="514350" indent="-514350">
              <a:buAutoNum type="arabicPeriod"/>
            </a:pPr>
            <a:r>
              <a:rPr lang="en-US" dirty="0">
                <a:solidFill>
                  <a:schemeClr val="tx1"/>
                </a:solidFill>
                <a:latin typeface="Avenir Book" panose="02000503020000020003" pitchFamily="2" charset="0"/>
              </a:rPr>
              <a:t>Ideas come from our own mind.</a:t>
            </a:r>
          </a:p>
          <a:p>
            <a:pPr marL="514350" indent="-514350">
              <a:buAutoNum type="arabicPeriod"/>
            </a:pPr>
            <a:r>
              <a:rPr lang="en-US" dirty="0">
                <a:solidFill>
                  <a:schemeClr val="tx1"/>
                </a:solidFill>
                <a:latin typeface="Avenir Book" panose="02000503020000020003" pitchFamily="2" charset="0"/>
              </a:rPr>
              <a:t>They come from the mind of God. </a:t>
            </a:r>
          </a:p>
        </p:txBody>
      </p:sp>
      <p:pic>
        <p:nvPicPr>
          <p:cNvPr id="19" name="Picture 18" descr="Magnifying glass on clear background">
            <a:extLst>
              <a:ext uri="{FF2B5EF4-FFF2-40B4-BE49-F238E27FC236}">
                <a16:creationId xmlns:a16="http://schemas.microsoft.com/office/drawing/2014/main" id="{7B839284-6D6A-B301-E604-E68468E864E4}"/>
              </a:ext>
            </a:extLst>
          </p:cNvPr>
          <p:cNvPicPr>
            <a:picLocks noChangeAspect="1"/>
          </p:cNvPicPr>
          <p:nvPr/>
        </p:nvPicPr>
        <p:blipFill>
          <a:blip r:embed="rId3"/>
          <a:srcRect l="43069" r="16791"/>
          <a:stretch/>
        </p:blipFill>
        <p:spPr>
          <a:xfrm>
            <a:off x="688434" y="-9525"/>
            <a:ext cx="4129822" cy="6867525"/>
          </a:xfrm>
          <a:prstGeom prst="rect">
            <a:avLst/>
          </a:prstGeom>
        </p:spPr>
      </p:pic>
    </p:spTree>
    <p:custDataLst>
      <p:tags r:id="rId1"/>
    </p:custDataLst>
    <p:extLst>
      <p:ext uri="{BB962C8B-B14F-4D97-AF65-F5344CB8AC3E}">
        <p14:creationId xmlns:p14="http://schemas.microsoft.com/office/powerpoint/2010/main" val="2000839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1B1CD9-9D35-AF49-6EF1-F79C798AEC49}"/>
              </a:ext>
            </a:extLst>
          </p:cNvPr>
          <p:cNvSpPr>
            <a:spLocks noGrp="1"/>
          </p:cNvSpPr>
          <p:nvPr>
            <p:ph type="title"/>
          </p:nvPr>
        </p:nvSpPr>
        <p:spPr>
          <a:xfrm>
            <a:off x="1251678" y="548639"/>
            <a:ext cx="10178322" cy="1325877"/>
          </a:xfrm>
        </p:spPr>
        <p:txBody>
          <a:bodyPr>
            <a:normAutofit/>
          </a:bodyPr>
          <a:lstStyle/>
          <a:p>
            <a:r>
              <a:rPr lang="en-US" sz="4000" dirty="0">
                <a:latin typeface="Avenir Book" panose="02000503020000020003" pitchFamily="2" charset="0"/>
              </a:rPr>
              <a:t>Ideas can only come from the mind of God, Why? </a:t>
            </a:r>
            <a:endParaRPr lang="en-US" sz="4000" dirty="0"/>
          </a:p>
        </p:txBody>
      </p:sp>
      <p:sp>
        <p:nvSpPr>
          <p:cNvPr id="3" name="Content Placeholder 2">
            <a:extLst>
              <a:ext uri="{FF2B5EF4-FFF2-40B4-BE49-F238E27FC236}">
                <a16:creationId xmlns:a16="http://schemas.microsoft.com/office/drawing/2014/main" id="{0F7A481B-7903-518C-8D14-AAD2D15B7405}"/>
              </a:ext>
            </a:extLst>
          </p:cNvPr>
          <p:cNvSpPr>
            <a:spLocks noGrp="1"/>
          </p:cNvSpPr>
          <p:nvPr>
            <p:ph idx="1"/>
          </p:nvPr>
        </p:nvSpPr>
        <p:spPr/>
        <p:txBody>
          <a:bodyPr>
            <a:normAutofit fontScale="85000" lnSpcReduction="20000"/>
          </a:bodyPr>
          <a:lstStyle/>
          <a:p>
            <a:pPr>
              <a:lnSpc>
                <a:spcPct val="150000"/>
              </a:lnSpc>
            </a:pPr>
            <a:r>
              <a:rPr lang="en-US" sz="2800" dirty="0">
                <a:solidFill>
                  <a:schemeClr val="tx1"/>
                </a:solidFill>
                <a:latin typeface="Avenir Book" panose="02000503020000020003" pitchFamily="2" charset="0"/>
              </a:rPr>
              <a:t>Berkeley does not consider proposition 1 as it has already been ruled out by the master argument. </a:t>
            </a:r>
          </a:p>
          <a:p>
            <a:pPr>
              <a:lnSpc>
                <a:spcPct val="150000"/>
              </a:lnSpc>
            </a:pPr>
            <a:r>
              <a:rPr lang="en-US" sz="2800" dirty="0">
                <a:solidFill>
                  <a:schemeClr val="tx1"/>
                </a:solidFill>
                <a:latin typeface="Avenir Book" panose="02000503020000020003" pitchFamily="2" charset="0"/>
              </a:rPr>
              <a:t>He considers proposition 2 because we can control and create ideas with imagination. But then he realizes that we cannot control all our sense experiences, as many are involuntary. </a:t>
            </a:r>
          </a:p>
          <a:p>
            <a:pPr>
              <a:lnSpc>
                <a:spcPct val="150000"/>
              </a:lnSpc>
            </a:pPr>
            <a:r>
              <a:rPr lang="en-US" sz="2800" dirty="0">
                <a:solidFill>
                  <a:schemeClr val="tx1"/>
                </a:solidFill>
                <a:latin typeface="Avenir Book" panose="02000503020000020003" pitchFamily="2" charset="0"/>
              </a:rPr>
              <a:t>Thus, he is left with proposition 3. Ideas must be created in the mind of God. </a:t>
            </a:r>
          </a:p>
        </p:txBody>
      </p:sp>
    </p:spTree>
    <p:extLst>
      <p:ext uri="{BB962C8B-B14F-4D97-AF65-F5344CB8AC3E}">
        <p14:creationId xmlns:p14="http://schemas.microsoft.com/office/powerpoint/2010/main" val="16391299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9" name="Content Placeholder 8" descr="A colorful nebula in space&#10;&#10;Description automatically generated with medium confidence">
            <a:extLst>
              <a:ext uri="{FF2B5EF4-FFF2-40B4-BE49-F238E27FC236}">
                <a16:creationId xmlns:a16="http://schemas.microsoft.com/office/drawing/2014/main" id="{57D2906B-C0F3-CDE5-F0BB-5055603B05AD}"/>
              </a:ext>
            </a:extLst>
          </p:cNvPr>
          <p:cNvPicPr>
            <a:picLocks noChangeAspect="1"/>
          </p:cNvPicPr>
          <p:nvPr/>
        </p:nvPicPr>
        <p:blipFill rotWithShape="1">
          <a:blip r:embed="rId3"/>
          <a:srcRect l="17620" r="11611"/>
          <a:stretch/>
        </p:blipFill>
        <p:spPr>
          <a:xfrm>
            <a:off x="7338646" y="10"/>
            <a:ext cx="4853354" cy="6857990"/>
          </a:xfrm>
          <a:prstGeom prst="rect">
            <a:avLst/>
          </a:prstGeom>
        </p:spPr>
      </p:pic>
      <p:sp>
        <p:nvSpPr>
          <p:cNvPr id="2" name="Title 1">
            <a:extLst>
              <a:ext uri="{FF2B5EF4-FFF2-40B4-BE49-F238E27FC236}">
                <a16:creationId xmlns:a16="http://schemas.microsoft.com/office/drawing/2014/main" id="{54E4A981-6528-3A28-AFA4-45A2439CD64D}"/>
              </a:ext>
            </a:extLst>
          </p:cNvPr>
          <p:cNvSpPr>
            <a:spLocks noGrp="1"/>
          </p:cNvSpPr>
          <p:nvPr>
            <p:ph type="title"/>
          </p:nvPr>
        </p:nvSpPr>
        <p:spPr>
          <a:xfrm>
            <a:off x="1237957" y="382385"/>
            <a:ext cx="5542991" cy="1492132"/>
          </a:xfrm>
        </p:spPr>
        <p:txBody>
          <a:bodyPr>
            <a:normAutofit fontScale="90000"/>
          </a:bodyPr>
          <a:lstStyle/>
          <a:p>
            <a:r>
              <a:rPr lang="en-US" sz="3600" dirty="0">
                <a:latin typeface="Avenir Book" panose="02000503020000020003" pitchFamily="2" charset="0"/>
              </a:rPr>
              <a:t>All ideas have their origin in the mind of God. </a:t>
            </a:r>
          </a:p>
        </p:txBody>
      </p:sp>
      <p:sp>
        <p:nvSpPr>
          <p:cNvPr id="13" name="Content Placeholder 12">
            <a:extLst>
              <a:ext uri="{FF2B5EF4-FFF2-40B4-BE49-F238E27FC236}">
                <a16:creationId xmlns:a16="http://schemas.microsoft.com/office/drawing/2014/main" id="{F5DFAD32-79EC-A31E-A436-7377C8C26355}"/>
              </a:ext>
            </a:extLst>
          </p:cNvPr>
          <p:cNvSpPr>
            <a:spLocks noGrp="1"/>
          </p:cNvSpPr>
          <p:nvPr>
            <p:ph idx="1"/>
          </p:nvPr>
        </p:nvSpPr>
        <p:spPr>
          <a:xfrm>
            <a:off x="1111348" y="2082018"/>
            <a:ext cx="5669600" cy="4290647"/>
          </a:xfrm>
        </p:spPr>
        <p:txBody>
          <a:bodyPr>
            <a:normAutofit fontScale="92500" lnSpcReduction="10000"/>
          </a:bodyPr>
          <a:lstStyle/>
          <a:p>
            <a:pPr marL="0" indent="0" algn="just">
              <a:lnSpc>
                <a:spcPct val="160000"/>
              </a:lnSpc>
              <a:buNone/>
            </a:pPr>
            <a:r>
              <a:rPr lang="en-US" sz="2800" dirty="0">
                <a:solidFill>
                  <a:schemeClr val="tx1"/>
                </a:solidFill>
                <a:latin typeface="Avenir Book" panose="02000503020000020003" pitchFamily="2" charset="0"/>
              </a:rPr>
              <a:t>For Berkeley God </a:t>
            </a:r>
            <a:r>
              <a:rPr lang="en-US" sz="2800" i="1" dirty="0">
                <a:solidFill>
                  <a:schemeClr val="tx1"/>
                </a:solidFill>
                <a:latin typeface="Avenir Book" panose="02000503020000020003" pitchFamily="2" charset="0"/>
              </a:rPr>
              <a:t>understands</a:t>
            </a:r>
            <a:r>
              <a:rPr lang="en-US" sz="2800" dirty="0">
                <a:solidFill>
                  <a:schemeClr val="tx1"/>
                </a:solidFill>
                <a:latin typeface="Avenir Book" panose="02000503020000020003" pitchFamily="2" charset="0"/>
              </a:rPr>
              <a:t> all ideas in his mind, in that he </a:t>
            </a:r>
            <a:r>
              <a:rPr lang="en-US" sz="2800" i="1" dirty="0">
                <a:solidFill>
                  <a:schemeClr val="tx1"/>
                </a:solidFill>
                <a:latin typeface="Avenir Book" panose="02000503020000020003" pitchFamily="2" charset="0"/>
              </a:rPr>
              <a:t>comprehends</a:t>
            </a:r>
            <a:r>
              <a:rPr lang="en-US" sz="2800" dirty="0">
                <a:solidFill>
                  <a:schemeClr val="tx1"/>
                </a:solidFill>
                <a:latin typeface="Avenir Book" panose="02000503020000020003" pitchFamily="2" charset="0"/>
              </a:rPr>
              <a:t> them. However, God does not experience them as we do, as this would make him subject to suffering and pain, which is of course, impossible. </a:t>
            </a:r>
          </a:p>
        </p:txBody>
      </p:sp>
    </p:spTree>
    <p:custDataLst>
      <p:tags r:id="rId1"/>
    </p:custDataLst>
    <p:extLst>
      <p:ext uri="{BB962C8B-B14F-4D97-AF65-F5344CB8AC3E}">
        <p14:creationId xmlns:p14="http://schemas.microsoft.com/office/powerpoint/2010/main" val="788688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 calcmode="lin" valueType="num">
                                      <p:cBhvr additive="base">
                                        <p:cTn id="7" dur="500" fill="hold"/>
                                        <p:tgtEl>
                                          <p:spTgt spid="1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9F533-3A3C-D8A3-0048-2370DED2998A}"/>
              </a:ext>
            </a:extLst>
          </p:cNvPr>
          <p:cNvSpPr>
            <a:spLocks noGrp="1"/>
          </p:cNvSpPr>
          <p:nvPr>
            <p:ph type="title"/>
          </p:nvPr>
        </p:nvSpPr>
        <p:spPr>
          <a:xfrm>
            <a:off x="1350498" y="654147"/>
            <a:ext cx="6443004" cy="1220369"/>
          </a:xfrm>
        </p:spPr>
        <p:txBody>
          <a:bodyPr>
            <a:normAutofit/>
          </a:bodyPr>
          <a:lstStyle/>
          <a:p>
            <a:r>
              <a:rPr lang="en-US" sz="4000" dirty="0">
                <a:latin typeface="Avenir Book" panose="02000503020000020003" pitchFamily="2" charset="0"/>
              </a:rPr>
              <a:t>Questions</a:t>
            </a:r>
          </a:p>
        </p:txBody>
      </p:sp>
      <p:sp>
        <p:nvSpPr>
          <p:cNvPr id="3" name="Content Placeholder 2">
            <a:extLst>
              <a:ext uri="{FF2B5EF4-FFF2-40B4-BE49-F238E27FC236}">
                <a16:creationId xmlns:a16="http://schemas.microsoft.com/office/drawing/2014/main" id="{5BA50C6E-92E6-73FB-2381-694C8C779304}"/>
              </a:ext>
            </a:extLst>
          </p:cNvPr>
          <p:cNvSpPr>
            <a:spLocks noGrp="1"/>
          </p:cNvSpPr>
          <p:nvPr>
            <p:ph idx="1"/>
          </p:nvPr>
        </p:nvSpPr>
        <p:spPr>
          <a:xfrm>
            <a:off x="1209821" y="1874517"/>
            <a:ext cx="5738957" cy="4329336"/>
          </a:xfrm>
        </p:spPr>
        <p:txBody>
          <a:bodyPr>
            <a:normAutofit/>
          </a:bodyPr>
          <a:lstStyle/>
          <a:p>
            <a:pPr marL="457200" indent="-457200" algn="just">
              <a:lnSpc>
                <a:spcPct val="100000"/>
              </a:lnSpc>
              <a:buAutoNum type="arabicPeriod"/>
            </a:pPr>
            <a:r>
              <a:rPr lang="en-US" sz="2400" dirty="0">
                <a:solidFill>
                  <a:schemeClr val="tx1"/>
                </a:solidFill>
                <a:latin typeface="Avenir Book" panose="02000503020000020003" pitchFamily="2" charset="0"/>
              </a:rPr>
              <a:t>Explain idealism (5)</a:t>
            </a:r>
          </a:p>
          <a:p>
            <a:pPr marL="457200" indent="-457200" algn="just">
              <a:lnSpc>
                <a:spcPct val="100000"/>
              </a:lnSpc>
              <a:buAutoNum type="arabicPeriod"/>
            </a:pPr>
            <a:r>
              <a:rPr lang="en-US" sz="2400" dirty="0">
                <a:solidFill>
                  <a:schemeClr val="tx1"/>
                </a:solidFill>
                <a:latin typeface="Avenir Book" panose="02000503020000020003" pitchFamily="2" charset="0"/>
              </a:rPr>
              <a:t>Explain the argument against substance (5)</a:t>
            </a:r>
          </a:p>
          <a:p>
            <a:pPr marL="457200" indent="-457200" algn="just">
              <a:lnSpc>
                <a:spcPct val="100000"/>
              </a:lnSpc>
              <a:buAutoNum type="arabicPeriod"/>
            </a:pPr>
            <a:r>
              <a:rPr lang="en-US" sz="2400" dirty="0">
                <a:solidFill>
                  <a:schemeClr val="tx1"/>
                </a:solidFill>
                <a:latin typeface="Avenir Book" panose="02000503020000020003" pitchFamily="2" charset="0"/>
              </a:rPr>
              <a:t>Outline and explain the argument against primary and secondary qualities. (12) </a:t>
            </a:r>
          </a:p>
          <a:p>
            <a:pPr marL="457200" indent="-457200" algn="just">
              <a:lnSpc>
                <a:spcPct val="100000"/>
              </a:lnSpc>
              <a:buAutoNum type="arabicPeriod"/>
            </a:pPr>
            <a:r>
              <a:rPr lang="en-US" sz="2400" dirty="0">
                <a:solidFill>
                  <a:schemeClr val="tx1"/>
                </a:solidFill>
                <a:latin typeface="Avenir Book" panose="02000503020000020003" pitchFamily="2" charset="0"/>
              </a:rPr>
              <a:t>Explain the master argument (5)</a:t>
            </a:r>
          </a:p>
          <a:p>
            <a:pPr marL="457200" indent="-457200" algn="just">
              <a:lnSpc>
                <a:spcPct val="100000"/>
              </a:lnSpc>
              <a:buAutoNum type="arabicPeriod"/>
            </a:pPr>
            <a:r>
              <a:rPr lang="en-US" sz="2400" dirty="0">
                <a:solidFill>
                  <a:schemeClr val="tx1"/>
                </a:solidFill>
                <a:latin typeface="Avenir Book" panose="02000503020000020003" pitchFamily="2" charset="0"/>
              </a:rPr>
              <a:t>Explain why Berkeley thinks that ideas have their origin in the mind of God. (12)</a:t>
            </a:r>
          </a:p>
          <a:p>
            <a:pPr marL="457200" indent="-457200" algn="just">
              <a:lnSpc>
                <a:spcPct val="100000"/>
              </a:lnSpc>
              <a:buAutoNum type="arabicPeriod"/>
            </a:pPr>
            <a:endParaRPr lang="en-US" dirty="0">
              <a:solidFill>
                <a:schemeClr val="tx1"/>
              </a:solidFill>
              <a:latin typeface="Palatino Linotype" panose="02040502050505030304" pitchFamily="18" charset="0"/>
            </a:endParaRPr>
          </a:p>
        </p:txBody>
      </p:sp>
      <p:pic>
        <p:nvPicPr>
          <p:cNvPr id="13" name="Picture 12" descr="Light bulb on yellow background with sketched light beams and cord">
            <a:extLst>
              <a:ext uri="{FF2B5EF4-FFF2-40B4-BE49-F238E27FC236}">
                <a16:creationId xmlns:a16="http://schemas.microsoft.com/office/drawing/2014/main" id="{426F7783-B7E6-4159-3D1C-8781231794A0}"/>
              </a:ext>
            </a:extLst>
          </p:cNvPr>
          <p:cNvPicPr>
            <a:picLocks noChangeAspect="1"/>
          </p:cNvPicPr>
          <p:nvPr/>
        </p:nvPicPr>
        <p:blipFill rotWithShape="1">
          <a:blip r:embed="rId3"/>
          <a:srcRect l="50651" r="6285"/>
          <a:stretch/>
        </p:blipFill>
        <p:spPr>
          <a:xfrm>
            <a:off x="7389812" y="10"/>
            <a:ext cx="4802188" cy="6857990"/>
          </a:xfrm>
          <a:custGeom>
            <a:avLst/>
            <a:gdLst/>
            <a:ahLst/>
            <a:cxnLst/>
            <a:rect l="l" t="t" r="r" b="b"/>
            <a:pathLst>
              <a:path w="4802188" h="6858000">
                <a:moveTo>
                  <a:pt x="0" y="0"/>
                </a:moveTo>
                <a:lnTo>
                  <a:pt x="4802188" y="0"/>
                </a:lnTo>
                <a:lnTo>
                  <a:pt x="4802188" y="6858000"/>
                </a:lnTo>
                <a:lnTo>
                  <a:pt x="0" y="6858000"/>
                </a:lnTo>
                <a:lnTo>
                  <a:pt x="4763" y="6791325"/>
                </a:lnTo>
                <a:lnTo>
                  <a:pt x="12700" y="6735762"/>
                </a:lnTo>
                <a:lnTo>
                  <a:pt x="22225" y="6683375"/>
                </a:lnTo>
                <a:lnTo>
                  <a:pt x="38100" y="6640512"/>
                </a:lnTo>
                <a:lnTo>
                  <a:pt x="53975" y="6597650"/>
                </a:lnTo>
                <a:lnTo>
                  <a:pt x="73025" y="6561137"/>
                </a:lnTo>
                <a:lnTo>
                  <a:pt x="92075" y="6523037"/>
                </a:lnTo>
                <a:lnTo>
                  <a:pt x="109538" y="6488112"/>
                </a:lnTo>
                <a:lnTo>
                  <a:pt x="127000" y="6448425"/>
                </a:lnTo>
                <a:lnTo>
                  <a:pt x="142875" y="6407150"/>
                </a:lnTo>
                <a:lnTo>
                  <a:pt x="157163" y="6361112"/>
                </a:lnTo>
                <a:lnTo>
                  <a:pt x="168275" y="6311900"/>
                </a:lnTo>
                <a:lnTo>
                  <a:pt x="176213" y="6251575"/>
                </a:lnTo>
                <a:lnTo>
                  <a:pt x="179388" y="6183312"/>
                </a:lnTo>
                <a:lnTo>
                  <a:pt x="176213" y="6113462"/>
                </a:lnTo>
                <a:lnTo>
                  <a:pt x="168275" y="6056312"/>
                </a:lnTo>
                <a:lnTo>
                  <a:pt x="157163" y="6003925"/>
                </a:lnTo>
                <a:lnTo>
                  <a:pt x="142875" y="5956300"/>
                </a:lnTo>
                <a:lnTo>
                  <a:pt x="127000" y="5915025"/>
                </a:lnTo>
                <a:lnTo>
                  <a:pt x="107950" y="5876925"/>
                </a:lnTo>
                <a:lnTo>
                  <a:pt x="88900" y="5840412"/>
                </a:lnTo>
                <a:lnTo>
                  <a:pt x="69850" y="5802312"/>
                </a:lnTo>
                <a:lnTo>
                  <a:pt x="52388" y="5762625"/>
                </a:lnTo>
                <a:lnTo>
                  <a:pt x="34925" y="5721350"/>
                </a:lnTo>
                <a:lnTo>
                  <a:pt x="20638" y="5675312"/>
                </a:lnTo>
                <a:lnTo>
                  <a:pt x="11113" y="5622925"/>
                </a:lnTo>
                <a:lnTo>
                  <a:pt x="1588" y="5562600"/>
                </a:lnTo>
                <a:lnTo>
                  <a:pt x="0" y="5494337"/>
                </a:lnTo>
                <a:lnTo>
                  <a:pt x="1588" y="5426075"/>
                </a:lnTo>
                <a:lnTo>
                  <a:pt x="11113" y="5365750"/>
                </a:lnTo>
                <a:lnTo>
                  <a:pt x="20638" y="5313362"/>
                </a:lnTo>
                <a:lnTo>
                  <a:pt x="34925" y="5268912"/>
                </a:lnTo>
                <a:lnTo>
                  <a:pt x="52388" y="5226050"/>
                </a:lnTo>
                <a:lnTo>
                  <a:pt x="69850" y="5186362"/>
                </a:lnTo>
                <a:lnTo>
                  <a:pt x="88900" y="5149850"/>
                </a:lnTo>
                <a:lnTo>
                  <a:pt x="107950" y="5114925"/>
                </a:lnTo>
                <a:lnTo>
                  <a:pt x="127000" y="5075237"/>
                </a:lnTo>
                <a:lnTo>
                  <a:pt x="142875" y="5033962"/>
                </a:lnTo>
                <a:lnTo>
                  <a:pt x="157163" y="4987925"/>
                </a:lnTo>
                <a:lnTo>
                  <a:pt x="168275" y="4935537"/>
                </a:lnTo>
                <a:lnTo>
                  <a:pt x="176213" y="4875212"/>
                </a:lnTo>
                <a:lnTo>
                  <a:pt x="179388" y="4806950"/>
                </a:lnTo>
                <a:lnTo>
                  <a:pt x="176213" y="4738687"/>
                </a:lnTo>
                <a:lnTo>
                  <a:pt x="168275" y="4678362"/>
                </a:lnTo>
                <a:lnTo>
                  <a:pt x="157163" y="4625975"/>
                </a:lnTo>
                <a:lnTo>
                  <a:pt x="142875" y="4579937"/>
                </a:lnTo>
                <a:lnTo>
                  <a:pt x="127000" y="4537075"/>
                </a:lnTo>
                <a:lnTo>
                  <a:pt x="107950" y="4498975"/>
                </a:lnTo>
                <a:lnTo>
                  <a:pt x="69850" y="4424362"/>
                </a:lnTo>
                <a:lnTo>
                  <a:pt x="52388" y="4386262"/>
                </a:lnTo>
                <a:lnTo>
                  <a:pt x="34925" y="4343400"/>
                </a:lnTo>
                <a:lnTo>
                  <a:pt x="20638" y="4297362"/>
                </a:lnTo>
                <a:lnTo>
                  <a:pt x="11113" y="4244975"/>
                </a:lnTo>
                <a:lnTo>
                  <a:pt x="1588" y="4186237"/>
                </a:lnTo>
                <a:lnTo>
                  <a:pt x="0" y="4116387"/>
                </a:lnTo>
                <a:lnTo>
                  <a:pt x="1588" y="4048125"/>
                </a:lnTo>
                <a:lnTo>
                  <a:pt x="11113" y="3987800"/>
                </a:lnTo>
                <a:lnTo>
                  <a:pt x="20638" y="3935412"/>
                </a:lnTo>
                <a:lnTo>
                  <a:pt x="34925" y="3890962"/>
                </a:lnTo>
                <a:lnTo>
                  <a:pt x="52388" y="3848100"/>
                </a:lnTo>
                <a:lnTo>
                  <a:pt x="69850" y="3811587"/>
                </a:lnTo>
                <a:lnTo>
                  <a:pt x="107950" y="3736975"/>
                </a:lnTo>
                <a:lnTo>
                  <a:pt x="127000" y="3697287"/>
                </a:lnTo>
                <a:lnTo>
                  <a:pt x="142875" y="3656012"/>
                </a:lnTo>
                <a:lnTo>
                  <a:pt x="157163" y="3609975"/>
                </a:lnTo>
                <a:lnTo>
                  <a:pt x="168275" y="3557587"/>
                </a:lnTo>
                <a:lnTo>
                  <a:pt x="176213" y="3497262"/>
                </a:lnTo>
                <a:lnTo>
                  <a:pt x="179388" y="3427412"/>
                </a:lnTo>
                <a:lnTo>
                  <a:pt x="176213" y="3360737"/>
                </a:lnTo>
                <a:lnTo>
                  <a:pt x="168275" y="3300412"/>
                </a:lnTo>
                <a:lnTo>
                  <a:pt x="157163" y="3248025"/>
                </a:lnTo>
                <a:lnTo>
                  <a:pt x="142875" y="3201987"/>
                </a:lnTo>
                <a:lnTo>
                  <a:pt x="127000" y="3160712"/>
                </a:lnTo>
                <a:lnTo>
                  <a:pt x="107950" y="3121025"/>
                </a:lnTo>
                <a:lnTo>
                  <a:pt x="88900" y="3084512"/>
                </a:lnTo>
                <a:lnTo>
                  <a:pt x="69850" y="3046412"/>
                </a:lnTo>
                <a:lnTo>
                  <a:pt x="52388" y="3009900"/>
                </a:lnTo>
                <a:lnTo>
                  <a:pt x="34925" y="2967037"/>
                </a:lnTo>
                <a:lnTo>
                  <a:pt x="20638" y="2922587"/>
                </a:lnTo>
                <a:lnTo>
                  <a:pt x="11113" y="2868612"/>
                </a:lnTo>
                <a:lnTo>
                  <a:pt x="1588" y="2809875"/>
                </a:lnTo>
                <a:lnTo>
                  <a:pt x="0" y="2741612"/>
                </a:lnTo>
                <a:lnTo>
                  <a:pt x="1588" y="2671762"/>
                </a:lnTo>
                <a:lnTo>
                  <a:pt x="11113" y="2613025"/>
                </a:lnTo>
                <a:lnTo>
                  <a:pt x="20638" y="2560637"/>
                </a:lnTo>
                <a:lnTo>
                  <a:pt x="34925" y="2513012"/>
                </a:lnTo>
                <a:lnTo>
                  <a:pt x="52388" y="2471737"/>
                </a:lnTo>
                <a:lnTo>
                  <a:pt x="69850" y="2433637"/>
                </a:lnTo>
                <a:lnTo>
                  <a:pt x="88900" y="2395537"/>
                </a:lnTo>
                <a:lnTo>
                  <a:pt x="107950" y="2359025"/>
                </a:lnTo>
                <a:lnTo>
                  <a:pt x="127000" y="2319337"/>
                </a:lnTo>
                <a:lnTo>
                  <a:pt x="142875" y="2278062"/>
                </a:lnTo>
                <a:lnTo>
                  <a:pt x="157163" y="2232025"/>
                </a:lnTo>
                <a:lnTo>
                  <a:pt x="168275" y="2179637"/>
                </a:lnTo>
                <a:lnTo>
                  <a:pt x="176213" y="2119312"/>
                </a:lnTo>
                <a:lnTo>
                  <a:pt x="179388" y="2051050"/>
                </a:lnTo>
                <a:lnTo>
                  <a:pt x="176213" y="1982787"/>
                </a:lnTo>
                <a:lnTo>
                  <a:pt x="168275" y="1922462"/>
                </a:lnTo>
                <a:lnTo>
                  <a:pt x="157163" y="1870075"/>
                </a:lnTo>
                <a:lnTo>
                  <a:pt x="142875" y="1824037"/>
                </a:lnTo>
                <a:lnTo>
                  <a:pt x="127000" y="1782762"/>
                </a:lnTo>
                <a:lnTo>
                  <a:pt x="107950" y="1743075"/>
                </a:lnTo>
                <a:lnTo>
                  <a:pt x="88900" y="1708150"/>
                </a:lnTo>
                <a:lnTo>
                  <a:pt x="69850" y="1671637"/>
                </a:lnTo>
                <a:lnTo>
                  <a:pt x="52388" y="1631950"/>
                </a:lnTo>
                <a:lnTo>
                  <a:pt x="34925" y="1589087"/>
                </a:lnTo>
                <a:lnTo>
                  <a:pt x="20638" y="1544637"/>
                </a:lnTo>
                <a:lnTo>
                  <a:pt x="11113" y="1492250"/>
                </a:lnTo>
                <a:lnTo>
                  <a:pt x="1588" y="1431925"/>
                </a:lnTo>
                <a:lnTo>
                  <a:pt x="0" y="1363662"/>
                </a:lnTo>
                <a:lnTo>
                  <a:pt x="1588" y="1295400"/>
                </a:lnTo>
                <a:lnTo>
                  <a:pt x="11113" y="1235075"/>
                </a:lnTo>
                <a:lnTo>
                  <a:pt x="20638" y="1182687"/>
                </a:lnTo>
                <a:lnTo>
                  <a:pt x="34925" y="1136650"/>
                </a:lnTo>
                <a:lnTo>
                  <a:pt x="52388" y="1095375"/>
                </a:lnTo>
                <a:lnTo>
                  <a:pt x="69850" y="1055687"/>
                </a:lnTo>
                <a:lnTo>
                  <a:pt x="88900" y="1017587"/>
                </a:lnTo>
                <a:lnTo>
                  <a:pt x="107950" y="981075"/>
                </a:lnTo>
                <a:lnTo>
                  <a:pt x="127000" y="942975"/>
                </a:lnTo>
                <a:lnTo>
                  <a:pt x="142875" y="901700"/>
                </a:lnTo>
                <a:lnTo>
                  <a:pt x="157163" y="854075"/>
                </a:lnTo>
                <a:lnTo>
                  <a:pt x="168275" y="801687"/>
                </a:lnTo>
                <a:lnTo>
                  <a:pt x="176213" y="744537"/>
                </a:lnTo>
                <a:lnTo>
                  <a:pt x="179388" y="673100"/>
                </a:lnTo>
                <a:lnTo>
                  <a:pt x="176213" y="606425"/>
                </a:lnTo>
                <a:lnTo>
                  <a:pt x="168275" y="546100"/>
                </a:lnTo>
                <a:lnTo>
                  <a:pt x="157163" y="496887"/>
                </a:lnTo>
                <a:lnTo>
                  <a:pt x="142875" y="450850"/>
                </a:lnTo>
                <a:lnTo>
                  <a:pt x="127000" y="409575"/>
                </a:lnTo>
                <a:lnTo>
                  <a:pt x="109538" y="369887"/>
                </a:lnTo>
                <a:lnTo>
                  <a:pt x="92075" y="334962"/>
                </a:lnTo>
                <a:lnTo>
                  <a:pt x="73025" y="296862"/>
                </a:lnTo>
                <a:lnTo>
                  <a:pt x="53975" y="260350"/>
                </a:lnTo>
                <a:lnTo>
                  <a:pt x="38100" y="217487"/>
                </a:lnTo>
                <a:lnTo>
                  <a:pt x="22225" y="174625"/>
                </a:lnTo>
                <a:lnTo>
                  <a:pt x="12700" y="122237"/>
                </a:lnTo>
                <a:lnTo>
                  <a:pt x="4763" y="66675"/>
                </a:lnTo>
                <a:close/>
              </a:path>
            </a:pathLst>
          </a:custGeom>
        </p:spPr>
      </p:pic>
    </p:spTree>
    <p:custDataLst>
      <p:tags r:id="rId1"/>
    </p:custDataLst>
    <p:extLst>
      <p:ext uri="{BB962C8B-B14F-4D97-AF65-F5344CB8AC3E}">
        <p14:creationId xmlns:p14="http://schemas.microsoft.com/office/powerpoint/2010/main" val="184473708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TIMING" val="|1|14.2|14.2|11.8|9.2"/>
</p:tagLst>
</file>

<file path=ppt/tags/tag2.xml><?xml version="1.0" encoding="utf-8"?>
<p:tagLst xmlns:a="http://schemas.openxmlformats.org/drawingml/2006/main" xmlns:r="http://schemas.openxmlformats.org/officeDocument/2006/relationships" xmlns:p="http://schemas.openxmlformats.org/presentationml/2006/main">
  <p:tag name="TIMING" val="|1.4"/>
</p:tagLst>
</file>

<file path=ppt/tags/tag3.xml><?xml version="1.0" encoding="utf-8"?>
<p:tagLst xmlns:a="http://schemas.openxmlformats.org/drawingml/2006/main" xmlns:r="http://schemas.openxmlformats.org/officeDocument/2006/relationships" xmlns:p="http://schemas.openxmlformats.org/presentationml/2006/main">
  <p:tag name="TIMING" val="|5.2"/>
</p:tagLst>
</file>

<file path=ppt/tags/tag4.xml><?xml version="1.0" encoding="utf-8"?>
<p:tagLst xmlns:a="http://schemas.openxmlformats.org/drawingml/2006/main" xmlns:r="http://schemas.openxmlformats.org/officeDocument/2006/relationships" xmlns:p="http://schemas.openxmlformats.org/presentationml/2006/main">
  <p:tag name="TIMING" val="|6.4"/>
</p:tagLst>
</file>

<file path=ppt/tags/tag5.xml><?xml version="1.0" encoding="utf-8"?>
<p:tagLst xmlns:a="http://schemas.openxmlformats.org/drawingml/2006/main" xmlns:r="http://schemas.openxmlformats.org/officeDocument/2006/relationships" xmlns:p="http://schemas.openxmlformats.org/presentationml/2006/main">
  <p:tag name="TIMING" val="|6.4"/>
</p:tagLst>
</file>

<file path=ppt/tags/tag6.xml><?xml version="1.0" encoding="utf-8"?>
<p:tagLst xmlns:a="http://schemas.openxmlformats.org/drawingml/2006/main" xmlns:r="http://schemas.openxmlformats.org/officeDocument/2006/relationships" xmlns:p="http://schemas.openxmlformats.org/presentationml/2006/main">
  <p:tag name="TIMING" val="|29.9|58"/>
</p:tagLst>
</file>

<file path=ppt/tags/tag7.xml><?xml version="1.0" encoding="utf-8"?>
<p:tagLst xmlns:a="http://schemas.openxmlformats.org/drawingml/2006/main" xmlns:r="http://schemas.openxmlformats.org/officeDocument/2006/relationships" xmlns:p="http://schemas.openxmlformats.org/presentationml/2006/main">
  <p:tag name="TIMING" val="|2|10.1"/>
</p:tagLst>
</file>

<file path=ppt/tags/tag8.xml><?xml version="1.0" encoding="utf-8"?>
<p:tagLst xmlns:a="http://schemas.openxmlformats.org/drawingml/2006/main" xmlns:r="http://schemas.openxmlformats.org/officeDocument/2006/relationships" xmlns:p="http://schemas.openxmlformats.org/presentationml/2006/main">
  <p:tag name="TIMING" val="|6.8"/>
</p:tagLst>
</file>

<file path=ppt/tags/tag9.xml><?xml version="1.0" encoding="utf-8"?>
<p:tagLst xmlns:a="http://schemas.openxmlformats.org/drawingml/2006/main" xmlns:r="http://schemas.openxmlformats.org/officeDocument/2006/relationships" xmlns:p="http://schemas.openxmlformats.org/presentationml/2006/main">
  <p:tag name="TIMING" val="|5.1"/>
</p:tagLst>
</file>

<file path=ppt/tags/tag10.xml><?xml version="1.0" encoding="utf-8"?>
<p:tagLst xmlns:a="http://schemas.openxmlformats.org/drawingml/2006/main" xmlns:r="http://schemas.openxmlformats.org/officeDocument/2006/relationships" xmlns:p="http://schemas.openxmlformats.org/presentationml/2006/main">
  <p:tag name="TIMING" val="|11.3"/>
</p:tagLst>
</file>

<file path=ppt/theme/theme1.xml><?xml version="1.0" encoding="utf-8"?>
<a:theme xmlns:a="http://schemas.openxmlformats.org/drawingml/2006/main" name="Badge">
  <a:themeElements>
    <a:clrScheme name="Badge">
      <a:dk1>
        <a:sysClr val="windowText" lastClr="000000"/>
      </a:dk1>
      <a:lt1>
        <a:sysClr val="window" lastClr="FFFFFF"/>
      </a:lt1>
      <a:dk2>
        <a:srgbClr val="2A1A00"/>
      </a:dk2>
      <a:lt2>
        <a:srgbClr val="F3F3F2"/>
      </a:lt2>
      <a:accent1>
        <a:srgbClr val="F8B323"/>
      </a:accent1>
      <a:accent2>
        <a:srgbClr val="656A59"/>
      </a:accent2>
      <a:accent3>
        <a:srgbClr val="46B2B5"/>
      </a:accent3>
      <a:accent4>
        <a:srgbClr val="8CAA7E"/>
      </a:accent4>
      <a:accent5>
        <a:srgbClr val="D36F68"/>
      </a:accent5>
      <a:accent6>
        <a:srgbClr val="826276"/>
      </a:accent6>
      <a:hlink>
        <a:srgbClr val="46B2B5"/>
      </a:hlink>
      <a:folHlink>
        <a:srgbClr val="A46694"/>
      </a:folHlink>
    </a:clrScheme>
    <a:fontScheme name="Badge">
      <a:majorFont>
        <a:latin typeface="Impact" panose="020B080603090205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panose="020B0502020104020203"/>
        <a:ea typeface=""/>
        <a:cs typeface=""/>
        <a:font script="Grek" typeface="Corbel"/>
        <a:font script="Cyrl" typeface="Corbel"/>
        <a:font script="Jpan" typeface="メイリオ"/>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adg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dge" id="{71A07785-5930-41D4-9A83-E23602B48E98}" vid="{771EA782-DFA6-45B1-AEA3-661F1715B31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Badge</Template>
  <TotalTime>353</TotalTime>
  <Words>911</Words>
  <Application>Microsoft Macintosh PowerPoint</Application>
  <PresentationFormat>Widescreen</PresentationFormat>
  <Paragraphs>78</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Aptos</vt:lpstr>
      <vt:lpstr>Arial</vt:lpstr>
      <vt:lpstr>Avenir Book</vt:lpstr>
      <vt:lpstr>Calibri</vt:lpstr>
      <vt:lpstr>Gill Sans MT</vt:lpstr>
      <vt:lpstr>Impact</vt:lpstr>
      <vt:lpstr>Palatino Linotype</vt:lpstr>
      <vt:lpstr>Badge</vt:lpstr>
      <vt:lpstr>Idealism</vt:lpstr>
      <vt:lpstr>Technical terminology</vt:lpstr>
      <vt:lpstr>What is Idealism?</vt:lpstr>
      <vt:lpstr>Why does Berkeley come to this thesis?</vt:lpstr>
      <vt:lpstr>Substance does not exist  If you take away all the properties of something you will not have any thing left over.    1. If you take away the colour. 2. If you take away extension. 3. If you take away weight   THERE IS NO SUCH THING AS  SUBSTANCE</vt:lpstr>
      <vt:lpstr>THE PRIMARY SECONDARY QUALITY DISTINCTION</vt:lpstr>
      <vt:lpstr>Table of Primary secondary quality distinction</vt:lpstr>
      <vt:lpstr>Table of Primary secondary quality distinction</vt:lpstr>
      <vt:lpstr>The ‘Master’ argument</vt:lpstr>
      <vt:lpstr>The ‘Master’ argument</vt:lpstr>
      <vt:lpstr>Mind and ideas in the mind</vt:lpstr>
      <vt:lpstr>Ideas can only come from the mind of God, Why? </vt:lpstr>
      <vt:lpstr>Ideas can only come from the mind of God, Why? </vt:lpstr>
      <vt:lpstr>All ideas have their origin in the mind of God. </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Nir Shaki</dc:creator>
  <cp:lastModifiedBy>Nir Shaki</cp:lastModifiedBy>
  <cp:revision>29</cp:revision>
  <cp:lastPrinted>2024-05-31T12:49:18Z</cp:lastPrinted>
  <dcterms:created xsi:type="dcterms:W3CDTF">2024-05-29T17:08:06Z</dcterms:created>
  <dcterms:modified xsi:type="dcterms:W3CDTF">2025-09-24T09:35:04Z</dcterms:modified>
</cp:coreProperties>
</file>