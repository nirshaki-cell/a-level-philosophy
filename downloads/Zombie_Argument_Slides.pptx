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20"/>
  </p:normalViewPr>
  <p:slideViewPr>
    <p:cSldViewPr snapToGrid="0">
      <p:cViewPr varScale="1">
        <p:scale>
          <a:sx n="90" d="100"/>
          <a:sy n="90" d="100"/>
        </p:scale>
        <p:origin x="232" y="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911D18-5594-4BFB-9CF6-BC9EC7EB6E09}" type="doc">
      <dgm:prSet loTypeId="urn:microsoft.com/office/officeart/2016/7/layout/LinearBlockProcessNumbered" loCatId="process" qsTypeId="urn:microsoft.com/office/officeart/2005/8/quickstyle/simple1" qsCatId="simple" csTypeId="urn:microsoft.com/office/officeart/2005/8/colors/accent2_2" csCatId="accent2"/>
      <dgm:spPr/>
      <dgm:t>
        <a:bodyPr/>
        <a:lstStyle/>
        <a:p>
          <a:endParaRPr lang="en-US"/>
        </a:p>
      </dgm:t>
    </dgm:pt>
    <dgm:pt modelId="{0CD4C4C7-E003-4F75-84B5-1E3B2765BD4F}">
      <dgm:prSet/>
      <dgm:spPr/>
      <dgm:t>
        <a:bodyPr/>
        <a:lstStyle/>
        <a:p>
          <a:r>
            <a:rPr lang="en-GB" dirty="0"/>
            <a:t>A philosophical Zombie is not conceivable. Type-A materialism. </a:t>
          </a:r>
          <a:endParaRPr lang="en-US" dirty="0"/>
        </a:p>
      </dgm:t>
    </dgm:pt>
    <dgm:pt modelId="{89F10926-9A14-4F38-811A-FAF0374E97A5}" type="parTrans" cxnId="{06CEF932-592F-43EB-8237-0717BD484548}">
      <dgm:prSet/>
      <dgm:spPr/>
      <dgm:t>
        <a:bodyPr/>
        <a:lstStyle/>
        <a:p>
          <a:endParaRPr lang="en-US"/>
        </a:p>
      </dgm:t>
    </dgm:pt>
    <dgm:pt modelId="{7B6288E4-FAAE-409D-8228-599A3E0D6D31}" type="sibTrans" cxnId="{06CEF932-592F-43EB-8237-0717BD484548}">
      <dgm:prSet phldrT="01" phldr="0"/>
      <dgm:spPr/>
      <dgm:t>
        <a:bodyPr/>
        <a:lstStyle/>
        <a:p>
          <a:r>
            <a:rPr lang="en-US"/>
            <a:t>01</a:t>
          </a:r>
        </a:p>
      </dgm:t>
    </dgm:pt>
    <dgm:pt modelId="{7F7A3617-72C3-4D2A-BDCA-CAF3EE5D5958}">
      <dgm:prSet/>
      <dgm:spPr/>
      <dgm:t>
        <a:bodyPr/>
        <a:lstStyle/>
        <a:p>
          <a:r>
            <a:rPr lang="en-GB" dirty="0"/>
            <a:t>A philosophical Zombie is conceivable but not metaphysically possible.</a:t>
          </a:r>
          <a:endParaRPr lang="en-US" dirty="0"/>
        </a:p>
      </dgm:t>
    </dgm:pt>
    <dgm:pt modelId="{1247B44E-BED4-4605-9B01-5259EDA30D97}" type="parTrans" cxnId="{2270F7D8-675D-4B07-A516-DAA2B7FBC75B}">
      <dgm:prSet/>
      <dgm:spPr/>
      <dgm:t>
        <a:bodyPr/>
        <a:lstStyle/>
        <a:p>
          <a:endParaRPr lang="en-US"/>
        </a:p>
      </dgm:t>
    </dgm:pt>
    <dgm:pt modelId="{14985C8F-A1B0-4E7F-BBE5-97EB51DC4388}" type="sibTrans" cxnId="{2270F7D8-675D-4B07-A516-DAA2B7FBC75B}">
      <dgm:prSet phldrT="02" phldr="0"/>
      <dgm:spPr/>
      <dgm:t>
        <a:bodyPr/>
        <a:lstStyle/>
        <a:p>
          <a:r>
            <a:rPr lang="en-US"/>
            <a:t>02</a:t>
          </a:r>
        </a:p>
      </dgm:t>
    </dgm:pt>
    <dgm:pt modelId="{F081FD14-5CF7-431A-89BC-E8FDB1AC65E3}">
      <dgm:prSet/>
      <dgm:spPr/>
      <dgm:t>
        <a:bodyPr/>
        <a:lstStyle/>
        <a:p>
          <a:r>
            <a:rPr lang="en-GB"/>
            <a:t>What is metaphysically possible tells us nothing about the actual world. </a:t>
          </a:r>
          <a:endParaRPr lang="en-US"/>
        </a:p>
      </dgm:t>
    </dgm:pt>
    <dgm:pt modelId="{F3C418B0-1FFF-4A02-B060-547BA0385AC0}" type="parTrans" cxnId="{72F0930B-A758-41E3-8F06-09B18A440A20}">
      <dgm:prSet/>
      <dgm:spPr/>
      <dgm:t>
        <a:bodyPr/>
        <a:lstStyle/>
        <a:p>
          <a:endParaRPr lang="en-US"/>
        </a:p>
      </dgm:t>
    </dgm:pt>
    <dgm:pt modelId="{EA58DD52-EF02-40CE-BF07-842AE54205E9}" type="sibTrans" cxnId="{72F0930B-A758-41E3-8F06-09B18A440A20}">
      <dgm:prSet phldrT="03" phldr="0"/>
      <dgm:spPr/>
      <dgm:t>
        <a:bodyPr/>
        <a:lstStyle/>
        <a:p>
          <a:r>
            <a:rPr lang="en-US"/>
            <a:t>03</a:t>
          </a:r>
        </a:p>
      </dgm:t>
    </dgm:pt>
    <dgm:pt modelId="{73FAA630-9EB3-E54F-B77E-BC822653C816}" type="pres">
      <dgm:prSet presAssocID="{93911D18-5594-4BFB-9CF6-BC9EC7EB6E09}" presName="Name0" presStyleCnt="0">
        <dgm:presLayoutVars>
          <dgm:animLvl val="lvl"/>
          <dgm:resizeHandles val="exact"/>
        </dgm:presLayoutVars>
      </dgm:prSet>
      <dgm:spPr/>
    </dgm:pt>
    <dgm:pt modelId="{B8EF865A-F8BC-1443-808F-34B805CB5C71}" type="pres">
      <dgm:prSet presAssocID="{0CD4C4C7-E003-4F75-84B5-1E3B2765BD4F}" presName="compositeNode" presStyleCnt="0">
        <dgm:presLayoutVars>
          <dgm:bulletEnabled val="1"/>
        </dgm:presLayoutVars>
      </dgm:prSet>
      <dgm:spPr/>
    </dgm:pt>
    <dgm:pt modelId="{D7BE4555-6BA2-F941-AE2E-F9638A1F4906}" type="pres">
      <dgm:prSet presAssocID="{0CD4C4C7-E003-4F75-84B5-1E3B2765BD4F}" presName="bgRect" presStyleLbl="alignNode1" presStyleIdx="0" presStyleCnt="3"/>
      <dgm:spPr/>
    </dgm:pt>
    <dgm:pt modelId="{8C61FF52-2C51-3449-9659-CCCE29F87C10}" type="pres">
      <dgm:prSet presAssocID="{7B6288E4-FAAE-409D-8228-599A3E0D6D31}" presName="sibTransNodeRect" presStyleLbl="alignNode1" presStyleIdx="0" presStyleCnt="3">
        <dgm:presLayoutVars>
          <dgm:chMax val="0"/>
          <dgm:bulletEnabled val="1"/>
        </dgm:presLayoutVars>
      </dgm:prSet>
      <dgm:spPr/>
    </dgm:pt>
    <dgm:pt modelId="{5FA0559F-5BC3-794F-AA92-9C09A0E3CDBE}" type="pres">
      <dgm:prSet presAssocID="{0CD4C4C7-E003-4F75-84B5-1E3B2765BD4F}" presName="nodeRect" presStyleLbl="alignNode1" presStyleIdx="0" presStyleCnt="3">
        <dgm:presLayoutVars>
          <dgm:bulletEnabled val="1"/>
        </dgm:presLayoutVars>
      </dgm:prSet>
      <dgm:spPr/>
    </dgm:pt>
    <dgm:pt modelId="{2B3ADA9A-4AC1-8F47-ACAA-1D547AC1AC5D}" type="pres">
      <dgm:prSet presAssocID="{7B6288E4-FAAE-409D-8228-599A3E0D6D31}" presName="sibTrans" presStyleCnt="0"/>
      <dgm:spPr/>
    </dgm:pt>
    <dgm:pt modelId="{783BEA17-DAB9-5D40-BD3A-F4484505EEAD}" type="pres">
      <dgm:prSet presAssocID="{7F7A3617-72C3-4D2A-BDCA-CAF3EE5D5958}" presName="compositeNode" presStyleCnt="0">
        <dgm:presLayoutVars>
          <dgm:bulletEnabled val="1"/>
        </dgm:presLayoutVars>
      </dgm:prSet>
      <dgm:spPr/>
    </dgm:pt>
    <dgm:pt modelId="{BE7EA170-3BA0-1243-B7A1-2E73559762F6}" type="pres">
      <dgm:prSet presAssocID="{7F7A3617-72C3-4D2A-BDCA-CAF3EE5D5958}" presName="bgRect" presStyleLbl="alignNode1" presStyleIdx="1" presStyleCnt="3"/>
      <dgm:spPr/>
    </dgm:pt>
    <dgm:pt modelId="{F34C0CF5-8F8F-CA4B-B925-E8103975880A}" type="pres">
      <dgm:prSet presAssocID="{14985C8F-A1B0-4E7F-BBE5-97EB51DC4388}" presName="sibTransNodeRect" presStyleLbl="alignNode1" presStyleIdx="1" presStyleCnt="3">
        <dgm:presLayoutVars>
          <dgm:chMax val="0"/>
          <dgm:bulletEnabled val="1"/>
        </dgm:presLayoutVars>
      </dgm:prSet>
      <dgm:spPr/>
    </dgm:pt>
    <dgm:pt modelId="{005D01C4-0202-F54C-A05C-E5A8DF7E6FDB}" type="pres">
      <dgm:prSet presAssocID="{7F7A3617-72C3-4D2A-BDCA-CAF3EE5D5958}" presName="nodeRect" presStyleLbl="alignNode1" presStyleIdx="1" presStyleCnt="3">
        <dgm:presLayoutVars>
          <dgm:bulletEnabled val="1"/>
        </dgm:presLayoutVars>
      </dgm:prSet>
      <dgm:spPr/>
    </dgm:pt>
    <dgm:pt modelId="{FD530304-8AD0-EB4C-A731-664442EC4ED0}" type="pres">
      <dgm:prSet presAssocID="{14985C8F-A1B0-4E7F-BBE5-97EB51DC4388}" presName="sibTrans" presStyleCnt="0"/>
      <dgm:spPr/>
    </dgm:pt>
    <dgm:pt modelId="{EE6AEE0A-2B47-8942-8952-E1B2ECE67323}" type="pres">
      <dgm:prSet presAssocID="{F081FD14-5CF7-431A-89BC-E8FDB1AC65E3}" presName="compositeNode" presStyleCnt="0">
        <dgm:presLayoutVars>
          <dgm:bulletEnabled val="1"/>
        </dgm:presLayoutVars>
      </dgm:prSet>
      <dgm:spPr/>
    </dgm:pt>
    <dgm:pt modelId="{F5A3452F-8D31-A545-8BDC-F6927935796A}" type="pres">
      <dgm:prSet presAssocID="{F081FD14-5CF7-431A-89BC-E8FDB1AC65E3}" presName="bgRect" presStyleLbl="alignNode1" presStyleIdx="2" presStyleCnt="3"/>
      <dgm:spPr/>
    </dgm:pt>
    <dgm:pt modelId="{3CB09658-37DA-D74C-93F9-67D18460855E}" type="pres">
      <dgm:prSet presAssocID="{EA58DD52-EF02-40CE-BF07-842AE54205E9}" presName="sibTransNodeRect" presStyleLbl="alignNode1" presStyleIdx="2" presStyleCnt="3">
        <dgm:presLayoutVars>
          <dgm:chMax val="0"/>
          <dgm:bulletEnabled val="1"/>
        </dgm:presLayoutVars>
      </dgm:prSet>
      <dgm:spPr/>
    </dgm:pt>
    <dgm:pt modelId="{F91E6E2F-6761-FA49-8DC2-4618789ABB73}" type="pres">
      <dgm:prSet presAssocID="{F081FD14-5CF7-431A-89BC-E8FDB1AC65E3}" presName="nodeRect" presStyleLbl="alignNode1" presStyleIdx="2" presStyleCnt="3">
        <dgm:presLayoutVars>
          <dgm:bulletEnabled val="1"/>
        </dgm:presLayoutVars>
      </dgm:prSet>
      <dgm:spPr/>
    </dgm:pt>
  </dgm:ptLst>
  <dgm:cxnLst>
    <dgm:cxn modelId="{72F0930B-A758-41E3-8F06-09B18A440A20}" srcId="{93911D18-5594-4BFB-9CF6-BC9EC7EB6E09}" destId="{F081FD14-5CF7-431A-89BC-E8FDB1AC65E3}" srcOrd="2" destOrd="0" parTransId="{F3C418B0-1FFF-4A02-B060-547BA0385AC0}" sibTransId="{EA58DD52-EF02-40CE-BF07-842AE54205E9}"/>
    <dgm:cxn modelId="{A5B04E2E-54AF-E440-8F68-7D61F0BB7585}" type="presOf" srcId="{F081FD14-5CF7-431A-89BC-E8FDB1AC65E3}" destId="{F5A3452F-8D31-A545-8BDC-F6927935796A}" srcOrd="0" destOrd="0" presId="urn:microsoft.com/office/officeart/2016/7/layout/LinearBlockProcessNumbered"/>
    <dgm:cxn modelId="{06CEF932-592F-43EB-8237-0717BD484548}" srcId="{93911D18-5594-4BFB-9CF6-BC9EC7EB6E09}" destId="{0CD4C4C7-E003-4F75-84B5-1E3B2765BD4F}" srcOrd="0" destOrd="0" parTransId="{89F10926-9A14-4F38-811A-FAF0374E97A5}" sibTransId="{7B6288E4-FAAE-409D-8228-599A3E0D6D31}"/>
    <dgm:cxn modelId="{43914833-A8F4-A34C-800E-55415F59F317}" type="presOf" srcId="{0CD4C4C7-E003-4F75-84B5-1E3B2765BD4F}" destId="{5FA0559F-5BC3-794F-AA92-9C09A0E3CDBE}" srcOrd="1" destOrd="0" presId="urn:microsoft.com/office/officeart/2016/7/layout/LinearBlockProcessNumbered"/>
    <dgm:cxn modelId="{2A207236-9E83-C947-A365-758CA7C568AC}" type="presOf" srcId="{EA58DD52-EF02-40CE-BF07-842AE54205E9}" destId="{3CB09658-37DA-D74C-93F9-67D18460855E}" srcOrd="0" destOrd="0" presId="urn:microsoft.com/office/officeart/2016/7/layout/LinearBlockProcessNumbered"/>
    <dgm:cxn modelId="{E9461838-9034-5441-A7D4-C6397C3B5802}" type="presOf" srcId="{0CD4C4C7-E003-4F75-84B5-1E3B2765BD4F}" destId="{D7BE4555-6BA2-F941-AE2E-F9638A1F4906}" srcOrd="0" destOrd="0" presId="urn:microsoft.com/office/officeart/2016/7/layout/LinearBlockProcessNumbered"/>
    <dgm:cxn modelId="{C45ED24B-E894-6C44-9532-BD6B3CEB146C}" type="presOf" srcId="{14985C8F-A1B0-4E7F-BBE5-97EB51DC4388}" destId="{F34C0CF5-8F8F-CA4B-B925-E8103975880A}" srcOrd="0" destOrd="0" presId="urn:microsoft.com/office/officeart/2016/7/layout/LinearBlockProcessNumbered"/>
    <dgm:cxn modelId="{406D018B-0851-E54F-96AE-9665524EAD11}" type="presOf" srcId="{93911D18-5594-4BFB-9CF6-BC9EC7EB6E09}" destId="{73FAA630-9EB3-E54F-B77E-BC822653C816}" srcOrd="0" destOrd="0" presId="urn:microsoft.com/office/officeart/2016/7/layout/LinearBlockProcessNumbered"/>
    <dgm:cxn modelId="{125BCDC9-FF13-124F-8FEC-3EE0569998F3}" type="presOf" srcId="{F081FD14-5CF7-431A-89BC-E8FDB1AC65E3}" destId="{F91E6E2F-6761-FA49-8DC2-4618789ABB73}" srcOrd="1" destOrd="0" presId="urn:microsoft.com/office/officeart/2016/7/layout/LinearBlockProcessNumbered"/>
    <dgm:cxn modelId="{2270F7D8-675D-4B07-A516-DAA2B7FBC75B}" srcId="{93911D18-5594-4BFB-9CF6-BC9EC7EB6E09}" destId="{7F7A3617-72C3-4D2A-BDCA-CAF3EE5D5958}" srcOrd="1" destOrd="0" parTransId="{1247B44E-BED4-4605-9B01-5259EDA30D97}" sibTransId="{14985C8F-A1B0-4E7F-BBE5-97EB51DC4388}"/>
    <dgm:cxn modelId="{628E3AE5-694B-8B4D-90BB-86726BCB7D5D}" type="presOf" srcId="{7F7A3617-72C3-4D2A-BDCA-CAF3EE5D5958}" destId="{BE7EA170-3BA0-1243-B7A1-2E73559762F6}" srcOrd="0" destOrd="0" presId="urn:microsoft.com/office/officeart/2016/7/layout/LinearBlockProcessNumbered"/>
    <dgm:cxn modelId="{2F7242EF-35E9-D048-BFE7-17E7EDB6FA11}" type="presOf" srcId="{7B6288E4-FAAE-409D-8228-599A3E0D6D31}" destId="{8C61FF52-2C51-3449-9659-CCCE29F87C10}" srcOrd="0" destOrd="0" presId="urn:microsoft.com/office/officeart/2016/7/layout/LinearBlockProcessNumbered"/>
    <dgm:cxn modelId="{5B37A7F6-1C77-A54E-B855-3B1595F3BB10}" type="presOf" srcId="{7F7A3617-72C3-4D2A-BDCA-CAF3EE5D5958}" destId="{005D01C4-0202-F54C-A05C-E5A8DF7E6FDB}" srcOrd="1" destOrd="0" presId="urn:microsoft.com/office/officeart/2016/7/layout/LinearBlockProcessNumbered"/>
    <dgm:cxn modelId="{EBADDCD3-F850-A347-B8B7-354B5C612574}" type="presParOf" srcId="{73FAA630-9EB3-E54F-B77E-BC822653C816}" destId="{B8EF865A-F8BC-1443-808F-34B805CB5C71}" srcOrd="0" destOrd="0" presId="urn:microsoft.com/office/officeart/2016/7/layout/LinearBlockProcessNumbered"/>
    <dgm:cxn modelId="{22C6365D-9C60-1647-8E92-C5666B370EAD}" type="presParOf" srcId="{B8EF865A-F8BC-1443-808F-34B805CB5C71}" destId="{D7BE4555-6BA2-F941-AE2E-F9638A1F4906}" srcOrd="0" destOrd="0" presId="urn:microsoft.com/office/officeart/2016/7/layout/LinearBlockProcessNumbered"/>
    <dgm:cxn modelId="{1CFEA525-438C-6047-ADE8-3508F28C145F}" type="presParOf" srcId="{B8EF865A-F8BC-1443-808F-34B805CB5C71}" destId="{8C61FF52-2C51-3449-9659-CCCE29F87C10}" srcOrd="1" destOrd="0" presId="urn:microsoft.com/office/officeart/2016/7/layout/LinearBlockProcessNumbered"/>
    <dgm:cxn modelId="{45F513F1-5107-CB43-AD47-E1683620CDE3}" type="presParOf" srcId="{B8EF865A-F8BC-1443-808F-34B805CB5C71}" destId="{5FA0559F-5BC3-794F-AA92-9C09A0E3CDBE}" srcOrd="2" destOrd="0" presId="urn:microsoft.com/office/officeart/2016/7/layout/LinearBlockProcessNumbered"/>
    <dgm:cxn modelId="{D27DE8E4-87F6-3043-9DE4-482317DC9DCE}" type="presParOf" srcId="{73FAA630-9EB3-E54F-B77E-BC822653C816}" destId="{2B3ADA9A-4AC1-8F47-ACAA-1D547AC1AC5D}" srcOrd="1" destOrd="0" presId="urn:microsoft.com/office/officeart/2016/7/layout/LinearBlockProcessNumbered"/>
    <dgm:cxn modelId="{E816ED9F-6B91-CD43-BB64-B85A02A7ECA4}" type="presParOf" srcId="{73FAA630-9EB3-E54F-B77E-BC822653C816}" destId="{783BEA17-DAB9-5D40-BD3A-F4484505EEAD}" srcOrd="2" destOrd="0" presId="urn:microsoft.com/office/officeart/2016/7/layout/LinearBlockProcessNumbered"/>
    <dgm:cxn modelId="{D4503E44-0768-834D-9543-796B610026E9}" type="presParOf" srcId="{783BEA17-DAB9-5D40-BD3A-F4484505EEAD}" destId="{BE7EA170-3BA0-1243-B7A1-2E73559762F6}" srcOrd="0" destOrd="0" presId="urn:microsoft.com/office/officeart/2016/7/layout/LinearBlockProcessNumbered"/>
    <dgm:cxn modelId="{C9572B31-EB80-1B4D-A60D-2DC05BB70FDD}" type="presParOf" srcId="{783BEA17-DAB9-5D40-BD3A-F4484505EEAD}" destId="{F34C0CF5-8F8F-CA4B-B925-E8103975880A}" srcOrd="1" destOrd="0" presId="urn:microsoft.com/office/officeart/2016/7/layout/LinearBlockProcessNumbered"/>
    <dgm:cxn modelId="{A59FF53A-6608-CB40-968D-B68BF2D515A9}" type="presParOf" srcId="{783BEA17-DAB9-5D40-BD3A-F4484505EEAD}" destId="{005D01C4-0202-F54C-A05C-E5A8DF7E6FDB}" srcOrd="2" destOrd="0" presId="urn:microsoft.com/office/officeart/2016/7/layout/LinearBlockProcessNumbered"/>
    <dgm:cxn modelId="{F7BFE100-4730-4748-808E-109FEEED8474}" type="presParOf" srcId="{73FAA630-9EB3-E54F-B77E-BC822653C816}" destId="{FD530304-8AD0-EB4C-A731-664442EC4ED0}" srcOrd="3" destOrd="0" presId="urn:microsoft.com/office/officeart/2016/7/layout/LinearBlockProcessNumbered"/>
    <dgm:cxn modelId="{29BF9A06-F1BF-2D4F-B209-E65EBA7538BB}" type="presParOf" srcId="{73FAA630-9EB3-E54F-B77E-BC822653C816}" destId="{EE6AEE0A-2B47-8942-8952-E1B2ECE67323}" srcOrd="4" destOrd="0" presId="urn:microsoft.com/office/officeart/2016/7/layout/LinearBlockProcessNumbered"/>
    <dgm:cxn modelId="{E654DC94-6F25-4F45-856B-448CB8891C7E}" type="presParOf" srcId="{EE6AEE0A-2B47-8942-8952-E1B2ECE67323}" destId="{F5A3452F-8D31-A545-8BDC-F6927935796A}" srcOrd="0" destOrd="0" presId="urn:microsoft.com/office/officeart/2016/7/layout/LinearBlockProcessNumbered"/>
    <dgm:cxn modelId="{6294842E-AF81-2C4D-B1E7-204BA1A1DB11}" type="presParOf" srcId="{EE6AEE0A-2B47-8942-8952-E1B2ECE67323}" destId="{3CB09658-37DA-D74C-93F9-67D18460855E}" srcOrd="1" destOrd="0" presId="urn:microsoft.com/office/officeart/2016/7/layout/LinearBlockProcessNumbered"/>
    <dgm:cxn modelId="{02B3A5B4-3BDB-8F47-A2C6-4FC03697B5C4}" type="presParOf" srcId="{EE6AEE0A-2B47-8942-8952-E1B2ECE67323}" destId="{F91E6E2F-6761-FA49-8DC2-4618789ABB73}"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BE4555-6BA2-F941-AE2E-F9638A1F4906}">
      <dsp:nvSpPr>
        <dsp:cNvPr id="0" name=""/>
        <dsp:cNvSpPr/>
      </dsp:nvSpPr>
      <dsp:spPr>
        <a:xfrm>
          <a:off x="795" y="0"/>
          <a:ext cx="3220484" cy="3593591"/>
        </a:xfrm>
        <a:prstGeom prst="rect">
          <a:avLst/>
        </a:prstGeom>
        <a:solidFill>
          <a:schemeClr val="accent2">
            <a:hueOff val="0"/>
            <a:satOff val="0"/>
            <a:lumOff val="0"/>
            <a:alphaOff val="0"/>
          </a:schemeClr>
        </a:solidFill>
        <a:ln w="12700"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8112" tIns="0" rIns="318112" bIns="330200" numCol="1" spcCol="1270" anchor="t" anchorCtr="0">
          <a:noAutofit/>
        </a:bodyPr>
        <a:lstStyle/>
        <a:p>
          <a:pPr marL="0" lvl="0" indent="0" algn="l" defTabSz="1155700">
            <a:lnSpc>
              <a:spcPct val="90000"/>
            </a:lnSpc>
            <a:spcBef>
              <a:spcPct val="0"/>
            </a:spcBef>
            <a:spcAft>
              <a:spcPct val="35000"/>
            </a:spcAft>
            <a:buNone/>
          </a:pPr>
          <a:r>
            <a:rPr lang="en-GB" sz="2600" kern="1200" dirty="0"/>
            <a:t>A philosophical Zombie is not conceivable. Type-A materialism. </a:t>
          </a:r>
          <a:endParaRPr lang="en-US" sz="2600" kern="1200" dirty="0"/>
        </a:p>
      </dsp:txBody>
      <dsp:txXfrm>
        <a:off x="795" y="1437436"/>
        <a:ext cx="3220484" cy="2156154"/>
      </dsp:txXfrm>
    </dsp:sp>
    <dsp:sp modelId="{8C61FF52-2C51-3449-9659-CCCE29F87C10}">
      <dsp:nvSpPr>
        <dsp:cNvPr id="0" name=""/>
        <dsp:cNvSpPr/>
      </dsp:nvSpPr>
      <dsp:spPr>
        <a:xfrm>
          <a:off x="795" y="0"/>
          <a:ext cx="3220484" cy="1437436"/>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8112" tIns="165100" rIns="318112"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795" y="0"/>
        <a:ext cx="3220484" cy="1437436"/>
      </dsp:txXfrm>
    </dsp:sp>
    <dsp:sp modelId="{BE7EA170-3BA0-1243-B7A1-2E73559762F6}">
      <dsp:nvSpPr>
        <dsp:cNvPr id="0" name=""/>
        <dsp:cNvSpPr/>
      </dsp:nvSpPr>
      <dsp:spPr>
        <a:xfrm>
          <a:off x="3478918" y="0"/>
          <a:ext cx="3220484" cy="3593591"/>
        </a:xfrm>
        <a:prstGeom prst="rect">
          <a:avLst/>
        </a:prstGeom>
        <a:solidFill>
          <a:schemeClr val="accent2">
            <a:hueOff val="0"/>
            <a:satOff val="0"/>
            <a:lumOff val="0"/>
            <a:alphaOff val="0"/>
          </a:schemeClr>
        </a:solidFill>
        <a:ln w="12700"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8112" tIns="0" rIns="318112" bIns="330200" numCol="1" spcCol="1270" anchor="t" anchorCtr="0">
          <a:noAutofit/>
        </a:bodyPr>
        <a:lstStyle/>
        <a:p>
          <a:pPr marL="0" lvl="0" indent="0" algn="l" defTabSz="1155700">
            <a:lnSpc>
              <a:spcPct val="90000"/>
            </a:lnSpc>
            <a:spcBef>
              <a:spcPct val="0"/>
            </a:spcBef>
            <a:spcAft>
              <a:spcPct val="35000"/>
            </a:spcAft>
            <a:buNone/>
          </a:pPr>
          <a:r>
            <a:rPr lang="en-GB" sz="2600" kern="1200" dirty="0"/>
            <a:t>A philosophical Zombie is conceivable but not metaphysically possible.</a:t>
          </a:r>
          <a:endParaRPr lang="en-US" sz="2600" kern="1200" dirty="0"/>
        </a:p>
      </dsp:txBody>
      <dsp:txXfrm>
        <a:off x="3478918" y="1437436"/>
        <a:ext cx="3220484" cy="2156154"/>
      </dsp:txXfrm>
    </dsp:sp>
    <dsp:sp modelId="{F34C0CF5-8F8F-CA4B-B925-E8103975880A}">
      <dsp:nvSpPr>
        <dsp:cNvPr id="0" name=""/>
        <dsp:cNvSpPr/>
      </dsp:nvSpPr>
      <dsp:spPr>
        <a:xfrm>
          <a:off x="3478918" y="0"/>
          <a:ext cx="3220484" cy="1437436"/>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8112" tIns="165100" rIns="318112"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478918" y="0"/>
        <a:ext cx="3220484" cy="1437436"/>
      </dsp:txXfrm>
    </dsp:sp>
    <dsp:sp modelId="{F5A3452F-8D31-A545-8BDC-F6927935796A}">
      <dsp:nvSpPr>
        <dsp:cNvPr id="0" name=""/>
        <dsp:cNvSpPr/>
      </dsp:nvSpPr>
      <dsp:spPr>
        <a:xfrm>
          <a:off x="6957042" y="0"/>
          <a:ext cx="3220484" cy="3593591"/>
        </a:xfrm>
        <a:prstGeom prst="rect">
          <a:avLst/>
        </a:prstGeom>
        <a:solidFill>
          <a:schemeClr val="accent2">
            <a:hueOff val="0"/>
            <a:satOff val="0"/>
            <a:lumOff val="0"/>
            <a:alphaOff val="0"/>
          </a:schemeClr>
        </a:solidFill>
        <a:ln w="12700"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8112" tIns="0" rIns="318112" bIns="330200" numCol="1" spcCol="1270" anchor="t" anchorCtr="0">
          <a:noAutofit/>
        </a:bodyPr>
        <a:lstStyle/>
        <a:p>
          <a:pPr marL="0" lvl="0" indent="0" algn="l" defTabSz="1155700">
            <a:lnSpc>
              <a:spcPct val="90000"/>
            </a:lnSpc>
            <a:spcBef>
              <a:spcPct val="0"/>
            </a:spcBef>
            <a:spcAft>
              <a:spcPct val="35000"/>
            </a:spcAft>
            <a:buNone/>
          </a:pPr>
          <a:r>
            <a:rPr lang="en-GB" sz="2600" kern="1200"/>
            <a:t>What is metaphysically possible tells us nothing about the actual world. </a:t>
          </a:r>
          <a:endParaRPr lang="en-US" sz="2600" kern="1200"/>
        </a:p>
      </dsp:txBody>
      <dsp:txXfrm>
        <a:off x="6957042" y="1437436"/>
        <a:ext cx="3220484" cy="2156154"/>
      </dsp:txXfrm>
    </dsp:sp>
    <dsp:sp modelId="{3CB09658-37DA-D74C-93F9-67D18460855E}">
      <dsp:nvSpPr>
        <dsp:cNvPr id="0" name=""/>
        <dsp:cNvSpPr/>
      </dsp:nvSpPr>
      <dsp:spPr>
        <a:xfrm>
          <a:off x="6957042" y="0"/>
          <a:ext cx="3220484" cy="1437436"/>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18112" tIns="165100" rIns="318112"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957042" y="0"/>
        <a:ext cx="3220484" cy="1437436"/>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7/14/24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82580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7/14/24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969807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7/14/24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01471683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7/14/24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5555657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7/14/24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80219709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7/14/24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150894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7/14/24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708817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7/14/24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58717585"/>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7/14/24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04923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7/14/24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596248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7/14/24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6752675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7/14/24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123058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E7F888-F6D2-4C64-873F-F97CB90B9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art of a person">
            <a:extLst>
              <a:ext uri="{FF2B5EF4-FFF2-40B4-BE49-F238E27FC236}">
                <a16:creationId xmlns:a16="http://schemas.microsoft.com/office/drawing/2014/main" id="{D1FAB634-BE55-FCB8-BF0A-6F0B74FEE2CE}"/>
              </a:ext>
            </a:extLst>
          </p:cNvPr>
          <p:cNvPicPr>
            <a:picLocks noChangeAspect="1"/>
          </p:cNvPicPr>
          <p:nvPr/>
        </p:nvPicPr>
        <p:blipFill rotWithShape="1">
          <a:blip r:embed="rId2">
            <a:grayscl/>
          </a:blip>
          <a:srcRect l="8970" r="34757" b="2"/>
          <a:stretch/>
        </p:blipFill>
        <p:spPr>
          <a:xfrm>
            <a:off x="20" y="-1"/>
            <a:ext cx="3863000" cy="6864691"/>
          </a:xfrm>
          <a:prstGeom prst="rect">
            <a:avLst/>
          </a:prstGeom>
        </p:spPr>
      </p:pic>
      <p:sp>
        <p:nvSpPr>
          <p:cNvPr id="11" name="Rectangle 10">
            <a:extLst>
              <a:ext uri="{FF2B5EF4-FFF2-40B4-BE49-F238E27FC236}">
                <a16:creationId xmlns:a16="http://schemas.microsoft.com/office/drawing/2014/main" id="{5FB2BCFB-1182-4F0A-A956-4B292DD9F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1"/>
            <a:ext cx="3863020" cy="6858000"/>
          </a:xfrm>
          <a:prstGeom prst="rect">
            <a:avLst/>
          </a:prstGeom>
          <a:solidFill>
            <a:schemeClr val="tx2">
              <a:alpha val="75000"/>
            </a:schemeClr>
          </a:solidFill>
          <a:ln w="0">
            <a:noFill/>
            <a:prstDash val="solid"/>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3" name="Rectangle 12">
            <a:extLst>
              <a:ext uri="{FF2B5EF4-FFF2-40B4-BE49-F238E27FC236}">
                <a16:creationId xmlns:a16="http://schemas.microsoft.com/office/drawing/2014/main" id="{32BE5828-9189-4547-B4EE-98084C1FD1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863020" y="-1"/>
            <a:ext cx="66184" cy="6858001"/>
          </a:xfrm>
          <a:prstGeom prst="rect">
            <a:avLst/>
          </a:prstGeom>
          <a:solidFill>
            <a:schemeClr val="bg2"/>
          </a:solidFill>
          <a:ln w="0">
            <a:noFill/>
            <a:prstDash val="solid"/>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5" name="Freeform 6">
            <a:extLst>
              <a:ext uri="{FF2B5EF4-FFF2-40B4-BE49-F238E27FC236}">
                <a16:creationId xmlns:a16="http://schemas.microsoft.com/office/drawing/2014/main" id="{9620E22B-F6BD-4085-82B5-2118842E13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69352"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4D9403D0-DF87-A2B3-50E9-599C04B0FDD7}"/>
              </a:ext>
            </a:extLst>
          </p:cNvPr>
          <p:cNvSpPr>
            <a:spLocks noGrp="1"/>
          </p:cNvSpPr>
          <p:nvPr>
            <p:ph type="ctrTitle"/>
          </p:nvPr>
        </p:nvSpPr>
        <p:spPr>
          <a:xfrm>
            <a:off x="4340056" y="1098388"/>
            <a:ext cx="7494169" cy="4394988"/>
          </a:xfrm>
        </p:spPr>
        <p:txBody>
          <a:bodyPr>
            <a:normAutofit/>
          </a:bodyPr>
          <a:lstStyle/>
          <a:p>
            <a:r>
              <a:rPr lang="en-US" sz="4800" dirty="0">
                <a:latin typeface="Optima" panose="02000503060000020004" pitchFamily="2" charset="0"/>
              </a:rPr>
              <a:t>Philosophy of mind</a:t>
            </a:r>
            <a:br>
              <a:rPr lang="en-US" sz="4800" dirty="0">
                <a:latin typeface="Optima" panose="02000503060000020004" pitchFamily="2" charset="0"/>
              </a:rPr>
            </a:br>
            <a:br>
              <a:rPr lang="en-US" sz="4800" dirty="0">
                <a:latin typeface="Optima" panose="02000503060000020004" pitchFamily="2" charset="0"/>
              </a:rPr>
            </a:br>
            <a:r>
              <a:rPr lang="en-US" sz="4800" dirty="0">
                <a:latin typeface="Optima" panose="02000503060000020004" pitchFamily="2" charset="0"/>
              </a:rPr>
              <a:t>‘Zombies’</a:t>
            </a:r>
          </a:p>
        </p:txBody>
      </p:sp>
      <p:sp>
        <p:nvSpPr>
          <p:cNvPr id="3" name="Subtitle 2">
            <a:extLst>
              <a:ext uri="{FF2B5EF4-FFF2-40B4-BE49-F238E27FC236}">
                <a16:creationId xmlns:a16="http://schemas.microsoft.com/office/drawing/2014/main" id="{883E99FA-4324-CAEB-DA47-5E6D4E6610AB}"/>
              </a:ext>
            </a:extLst>
          </p:cNvPr>
          <p:cNvSpPr>
            <a:spLocks noGrp="1"/>
          </p:cNvSpPr>
          <p:nvPr>
            <p:ph type="subTitle" idx="1"/>
          </p:nvPr>
        </p:nvSpPr>
        <p:spPr>
          <a:xfrm>
            <a:off x="4340055" y="5929460"/>
            <a:ext cx="7494170" cy="561637"/>
          </a:xfrm>
        </p:spPr>
        <p:txBody>
          <a:bodyPr>
            <a:normAutofit/>
          </a:bodyPr>
          <a:lstStyle/>
          <a:p>
            <a:endParaRPr lang="en-US" dirty="0">
              <a:solidFill>
                <a:schemeClr val="bg2"/>
              </a:solidFill>
            </a:endParaRPr>
          </a:p>
        </p:txBody>
      </p:sp>
    </p:spTree>
    <p:extLst>
      <p:ext uri="{BB962C8B-B14F-4D97-AF65-F5344CB8AC3E}">
        <p14:creationId xmlns:p14="http://schemas.microsoft.com/office/powerpoint/2010/main" val="178821702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2282-45F7-6B16-2B8D-03551841C624}"/>
              </a:ext>
            </a:extLst>
          </p:cNvPr>
          <p:cNvSpPr>
            <a:spLocks noGrp="1"/>
          </p:cNvSpPr>
          <p:nvPr>
            <p:ph type="title"/>
          </p:nvPr>
        </p:nvSpPr>
        <p:spPr>
          <a:xfrm>
            <a:off x="1251678" y="382385"/>
            <a:ext cx="5984274" cy="1492132"/>
          </a:xfrm>
        </p:spPr>
        <p:txBody>
          <a:bodyPr>
            <a:normAutofit/>
          </a:bodyPr>
          <a:lstStyle/>
          <a:p>
            <a:r>
              <a:rPr lang="en-US" dirty="0">
                <a:latin typeface="Optima" panose="02000503060000020004" pitchFamily="2" charset="0"/>
              </a:rPr>
              <a:t>The Zombies argument </a:t>
            </a:r>
          </a:p>
        </p:txBody>
      </p:sp>
      <p:sp>
        <p:nvSpPr>
          <p:cNvPr id="3" name="Content Placeholder 2">
            <a:extLst>
              <a:ext uri="{FF2B5EF4-FFF2-40B4-BE49-F238E27FC236}">
                <a16:creationId xmlns:a16="http://schemas.microsoft.com/office/drawing/2014/main" id="{CBB43702-02F7-3814-0649-6C776E2EF0F4}"/>
              </a:ext>
            </a:extLst>
          </p:cNvPr>
          <p:cNvSpPr>
            <a:spLocks noGrp="1"/>
          </p:cNvSpPr>
          <p:nvPr>
            <p:ph idx="1"/>
          </p:nvPr>
        </p:nvSpPr>
        <p:spPr>
          <a:xfrm>
            <a:off x="1251678" y="2286001"/>
            <a:ext cx="5984274" cy="4085056"/>
          </a:xfrm>
        </p:spPr>
        <p:txBody>
          <a:bodyPr>
            <a:normAutofit/>
          </a:bodyPr>
          <a:lstStyle/>
          <a:p>
            <a:pPr marL="0" indent="0" algn="just">
              <a:lnSpc>
                <a:spcPct val="100000"/>
              </a:lnSpc>
              <a:buNone/>
            </a:pPr>
            <a:r>
              <a:rPr lang="en-GB" sz="1700" kern="100" dirty="0">
                <a:ln>
                  <a:noFill/>
                </a:ln>
                <a:solidFill>
                  <a:srgbClr val="000000"/>
                </a:solidFill>
                <a:effectLst>
                  <a:outerShdw blurRad="38100" dist="19050" dir="2700000" algn="tl">
                    <a:schemeClr val="dk1">
                      <a:alpha val="40000"/>
                    </a:schemeClr>
                  </a:outerShdw>
                </a:effectLst>
                <a:latin typeface="Optima" panose="02000503060000020004" pitchFamily="2" charset="0"/>
                <a:ea typeface="Calibri" panose="020F0502020204030204" pitchFamily="34" charset="0"/>
                <a:cs typeface="Times New Roman" panose="02020603050405020304" pitchFamily="18" charset="0"/>
              </a:rPr>
              <a:t>This was first developed by David Chalmers, in his essay, ‘Consciousness and its Place in Nature’, and in a previous book called ‘The Conscious Mind’. This presentation is a detailed explanation of the Zombie thought experiment which aims to show that consciousness cannot be reduced to physical facts. </a:t>
            </a:r>
          </a:p>
          <a:p>
            <a:pPr marL="0" indent="0" algn="just">
              <a:lnSpc>
                <a:spcPct val="100000"/>
              </a:lnSpc>
              <a:buNone/>
            </a:pPr>
            <a:endParaRPr lang="en-GB" sz="1700" kern="100" dirty="0">
              <a:solidFill>
                <a:srgbClr val="000000"/>
              </a:solidFill>
              <a:effectLst>
                <a:outerShdw blurRad="38100" dist="19050" dir="2700000" algn="tl">
                  <a:schemeClr val="dk1">
                    <a:alpha val="40000"/>
                  </a:schemeClr>
                </a:outerShdw>
              </a:effectLst>
              <a:latin typeface="Optima" panose="02000503060000020004" pitchFamily="2" charset="0"/>
              <a:ea typeface="Calibri" panose="020F0502020204030204" pitchFamily="34" charset="0"/>
              <a:cs typeface="Times New Roman" panose="02020603050405020304" pitchFamily="18" charset="0"/>
            </a:endParaRPr>
          </a:p>
          <a:p>
            <a:pPr marL="0" indent="0" algn="just">
              <a:lnSpc>
                <a:spcPct val="100000"/>
              </a:lnSpc>
              <a:buNone/>
            </a:pPr>
            <a:r>
              <a:rPr lang="en-GB" sz="1700" kern="100" dirty="0">
                <a:ln>
                  <a:noFill/>
                </a:ln>
                <a:solidFill>
                  <a:srgbClr val="000000"/>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‘Consciousness fits uneasily into our conception of the natural world, the natural world is the physical world. But on the most common conception of consciousness, it is not easy to see how it could be part of the physical world. So, it seems that to find the place for consciousness within the natural order, we must either revise our conception of consciousness, or revise our conception of nature’. D. Chalmers</a:t>
            </a:r>
            <a:endParaRPr lang="en-GB" sz="1700" kern="100" dirty="0">
              <a:solidFill>
                <a:srgbClr val="000000"/>
              </a:solidFill>
              <a:effectLst/>
              <a:highlight>
                <a:srgbClr val="00B0F0"/>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buNone/>
            </a:pPr>
            <a:endParaRPr lang="en-GB" sz="17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pPr>
            <a:endParaRPr lang="en-US" sz="1700" dirty="0">
              <a:solidFill>
                <a:srgbClr val="000000"/>
              </a:solidFill>
            </a:endParaRPr>
          </a:p>
        </p:txBody>
      </p:sp>
      <p:pic>
        <p:nvPicPr>
          <p:cNvPr id="4" name="Picture 3" descr="A person standing in front of a wall&#10;&#10;Description automatically generated">
            <a:extLst>
              <a:ext uri="{FF2B5EF4-FFF2-40B4-BE49-F238E27FC236}">
                <a16:creationId xmlns:a16="http://schemas.microsoft.com/office/drawing/2014/main" id="{F1470091-C743-AA1D-B12D-0C988C743C76}"/>
              </a:ext>
            </a:extLst>
          </p:cNvPr>
          <p:cNvPicPr>
            <a:picLocks noChangeAspect="1"/>
          </p:cNvPicPr>
          <p:nvPr/>
        </p:nvPicPr>
        <p:blipFill rotWithShape="1">
          <a:blip r:embed="rId2"/>
          <a:srcRect t="7150" r="-1" b="11091"/>
          <a:stretch/>
        </p:blipFill>
        <p:spPr>
          <a:xfrm>
            <a:off x="7555992" y="635946"/>
            <a:ext cx="3902582" cy="5573241"/>
          </a:xfrm>
          <a:prstGeom prst="rect">
            <a:avLst/>
          </a:prstGeom>
        </p:spPr>
      </p:pic>
    </p:spTree>
    <p:extLst>
      <p:ext uri="{BB962C8B-B14F-4D97-AF65-F5344CB8AC3E}">
        <p14:creationId xmlns:p14="http://schemas.microsoft.com/office/powerpoint/2010/main" val="3431662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E402393-0CD9-4C74-906C-74AC06E1D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0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6E14F1-DF9C-5EF4-532E-AF5E9018532F}"/>
              </a:ext>
            </a:extLst>
          </p:cNvPr>
          <p:cNvSpPr>
            <a:spLocks noGrp="1"/>
          </p:cNvSpPr>
          <p:nvPr>
            <p:ph type="title"/>
          </p:nvPr>
        </p:nvSpPr>
        <p:spPr>
          <a:xfrm>
            <a:off x="959755" y="804335"/>
            <a:ext cx="6574899" cy="1261258"/>
          </a:xfrm>
        </p:spPr>
        <p:txBody>
          <a:bodyPr anchor="ctr">
            <a:normAutofit fontScale="90000"/>
          </a:bodyPr>
          <a:lstStyle/>
          <a:p>
            <a:r>
              <a:rPr lang="en-US" dirty="0">
                <a:solidFill>
                  <a:schemeClr val="tx1"/>
                </a:solidFill>
                <a:latin typeface="Optima" panose="02000503060000020004" pitchFamily="2" charset="0"/>
              </a:rPr>
              <a:t>The hard problem of consciousness</a:t>
            </a:r>
          </a:p>
        </p:txBody>
      </p:sp>
      <p:sp>
        <p:nvSpPr>
          <p:cNvPr id="3" name="Content Placeholder 2">
            <a:extLst>
              <a:ext uri="{FF2B5EF4-FFF2-40B4-BE49-F238E27FC236}">
                <a16:creationId xmlns:a16="http://schemas.microsoft.com/office/drawing/2014/main" id="{5EDD52DC-3C5D-D3C5-8300-01AF88189F08}"/>
              </a:ext>
            </a:extLst>
          </p:cNvPr>
          <p:cNvSpPr>
            <a:spLocks noGrp="1"/>
          </p:cNvSpPr>
          <p:nvPr>
            <p:ph idx="1"/>
          </p:nvPr>
        </p:nvSpPr>
        <p:spPr>
          <a:xfrm>
            <a:off x="959754" y="2682240"/>
            <a:ext cx="6574895" cy="3371426"/>
          </a:xfrm>
        </p:spPr>
        <p:txBody>
          <a:bodyPr anchor="t">
            <a:normAutofit fontScale="92500"/>
          </a:bodyPr>
          <a:lstStyle/>
          <a:p>
            <a:pPr marL="0" indent="0" algn="just">
              <a:lnSpc>
                <a:spcPct val="100000"/>
              </a:lnSpc>
              <a:buNone/>
            </a:pPr>
            <a:r>
              <a:rPr lang="en-GB" kern="100" dirty="0">
                <a:ln>
                  <a:noFill/>
                </a:ln>
                <a:solidFill>
                  <a:schemeClr val="tx1"/>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‘The hard problem of consciousness is the problem of experience. Human beings have subjective experience: there is something it is like to be them. We can say a being is conscious, as it is sometimes put – when there is something it is like to be that being…There is no question that experience is closely associated with physical processes in systems such as brains. It seems that physical processes give rise to experience…</a:t>
            </a:r>
            <a:r>
              <a:rPr lang="en-GB" i="1" kern="100" dirty="0">
                <a:ln>
                  <a:noFill/>
                </a:ln>
                <a:solidFill>
                  <a:schemeClr val="tx1"/>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But how and why do physical processes give rise to experience? Why do these processes take place ‘in the dark’ without any accompanying states of experience? This is the central mystery of consciousness.’</a:t>
            </a:r>
            <a:endParaRPr lang="en-GB" kern="100" dirty="0">
              <a:solidFill>
                <a:schemeClr val="tx1"/>
              </a:solidFill>
              <a:effectLst/>
              <a:highlight>
                <a:srgbClr val="00B0F0"/>
              </a:highlight>
              <a:latin typeface="Calibri" panose="020F0502020204030204" pitchFamily="34" charset="0"/>
              <a:ea typeface="Calibri" panose="020F0502020204030204" pitchFamily="34" charset="0"/>
              <a:cs typeface="Times New Roman" panose="02020603050405020304" pitchFamily="18" charset="0"/>
            </a:endParaRPr>
          </a:p>
          <a:p>
            <a:pPr>
              <a:lnSpc>
                <a:spcPct val="100000"/>
              </a:lnSpc>
            </a:pPr>
            <a:endParaRPr lang="en-US" sz="1700" dirty="0">
              <a:solidFill>
                <a:schemeClr val="tx1"/>
              </a:solidFill>
            </a:endParaRPr>
          </a:p>
        </p:txBody>
      </p:sp>
      <p:sp>
        <p:nvSpPr>
          <p:cNvPr id="16" name="Freeform: Shape 15">
            <a:extLst>
              <a:ext uri="{FF2B5EF4-FFF2-40B4-BE49-F238E27FC236}">
                <a16:creationId xmlns:a16="http://schemas.microsoft.com/office/drawing/2014/main" id="{8C4F1A0C-BD28-4977-9745-E2A4FB752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9668" y="0"/>
            <a:ext cx="4232332" cy="3701000"/>
          </a:xfrm>
          <a:custGeom>
            <a:avLst/>
            <a:gdLst>
              <a:gd name="connsiteX0" fmla="*/ 319701 w 4232332"/>
              <a:gd name="connsiteY0" fmla="*/ 0 h 3701000"/>
              <a:gd name="connsiteX1" fmla="*/ 4232332 w 4232332"/>
              <a:gd name="connsiteY1" fmla="*/ 0 h 3701000"/>
              <a:gd name="connsiteX2" fmla="*/ 4232332 w 4232332"/>
              <a:gd name="connsiteY2" fmla="*/ 3034486 h 3701000"/>
              <a:gd name="connsiteX3" fmla="*/ 4230268 w 4232332"/>
              <a:gd name="connsiteY3" fmla="*/ 3035198 h 3701000"/>
              <a:gd name="connsiteX4" fmla="*/ 4185051 w 4232332"/>
              <a:gd name="connsiteY4" fmla="*/ 3049231 h 3701000"/>
              <a:gd name="connsiteX5" fmla="*/ 4136714 w 4232332"/>
              <a:gd name="connsiteY5" fmla="*/ 3061706 h 3701000"/>
              <a:gd name="connsiteX6" fmla="*/ 4089935 w 4232332"/>
              <a:gd name="connsiteY6" fmla="*/ 3074180 h 3701000"/>
              <a:gd name="connsiteX7" fmla="*/ 4043158 w 4232332"/>
              <a:gd name="connsiteY7" fmla="*/ 3088214 h 3701000"/>
              <a:gd name="connsiteX8" fmla="*/ 3997940 w 4232332"/>
              <a:gd name="connsiteY8" fmla="*/ 3103806 h 3701000"/>
              <a:gd name="connsiteX9" fmla="*/ 3955840 w 4232332"/>
              <a:gd name="connsiteY9" fmla="*/ 3122518 h 3701000"/>
              <a:gd name="connsiteX10" fmla="*/ 3916860 w 4232332"/>
              <a:gd name="connsiteY10" fmla="*/ 3144346 h 3701000"/>
              <a:gd name="connsiteX11" fmla="*/ 3882555 w 4232332"/>
              <a:gd name="connsiteY11" fmla="*/ 3172413 h 3701000"/>
              <a:gd name="connsiteX12" fmla="*/ 3846692 w 4232332"/>
              <a:gd name="connsiteY12" fmla="*/ 3203599 h 3701000"/>
              <a:gd name="connsiteX13" fmla="*/ 3815506 w 4232332"/>
              <a:gd name="connsiteY13" fmla="*/ 3239461 h 3701000"/>
              <a:gd name="connsiteX14" fmla="*/ 3785881 w 4232332"/>
              <a:gd name="connsiteY14" fmla="*/ 3276884 h 3701000"/>
              <a:gd name="connsiteX15" fmla="*/ 3756254 w 4232332"/>
              <a:gd name="connsiteY15" fmla="*/ 3315864 h 3701000"/>
              <a:gd name="connsiteX16" fmla="*/ 3726629 w 4232332"/>
              <a:gd name="connsiteY16" fmla="*/ 3354846 h 3701000"/>
              <a:gd name="connsiteX17" fmla="*/ 3697003 w 4232332"/>
              <a:gd name="connsiteY17" fmla="*/ 3392268 h 3701000"/>
              <a:gd name="connsiteX18" fmla="*/ 3664258 w 4232332"/>
              <a:gd name="connsiteY18" fmla="*/ 3428131 h 3701000"/>
              <a:gd name="connsiteX19" fmla="*/ 3631513 w 4232332"/>
              <a:gd name="connsiteY19" fmla="*/ 3459315 h 3701000"/>
              <a:gd name="connsiteX20" fmla="*/ 3594093 w 4232332"/>
              <a:gd name="connsiteY20" fmla="*/ 3485823 h 3701000"/>
              <a:gd name="connsiteX21" fmla="*/ 3555111 w 4232332"/>
              <a:gd name="connsiteY21" fmla="*/ 3506094 h 3701000"/>
              <a:gd name="connsiteX22" fmla="*/ 3508332 w 4232332"/>
              <a:gd name="connsiteY22" fmla="*/ 3520128 h 3701000"/>
              <a:gd name="connsiteX23" fmla="*/ 3459994 w 4232332"/>
              <a:gd name="connsiteY23" fmla="*/ 3526365 h 3701000"/>
              <a:gd name="connsiteX24" fmla="*/ 3410100 w 4232332"/>
              <a:gd name="connsiteY24" fmla="*/ 3527923 h 3701000"/>
              <a:gd name="connsiteX25" fmla="*/ 3357084 w 4232332"/>
              <a:gd name="connsiteY25" fmla="*/ 3523245 h 3701000"/>
              <a:gd name="connsiteX26" fmla="*/ 3304070 w 4232332"/>
              <a:gd name="connsiteY26" fmla="*/ 3517009 h 3701000"/>
              <a:gd name="connsiteX27" fmla="*/ 3251054 w 4232332"/>
              <a:gd name="connsiteY27" fmla="*/ 3509211 h 3701000"/>
              <a:gd name="connsiteX28" fmla="*/ 3198040 w 4232332"/>
              <a:gd name="connsiteY28" fmla="*/ 3502976 h 3701000"/>
              <a:gd name="connsiteX29" fmla="*/ 3145024 w 4232332"/>
              <a:gd name="connsiteY29" fmla="*/ 3499857 h 3701000"/>
              <a:gd name="connsiteX30" fmla="*/ 3093569 w 4232332"/>
              <a:gd name="connsiteY30" fmla="*/ 3499857 h 3701000"/>
              <a:gd name="connsiteX31" fmla="*/ 3045233 w 4232332"/>
              <a:gd name="connsiteY31" fmla="*/ 3506094 h 3701000"/>
              <a:gd name="connsiteX32" fmla="*/ 2995337 w 4232332"/>
              <a:gd name="connsiteY32" fmla="*/ 3518569 h 3701000"/>
              <a:gd name="connsiteX33" fmla="*/ 2950118 w 4232332"/>
              <a:gd name="connsiteY33" fmla="*/ 3537278 h 3701000"/>
              <a:gd name="connsiteX34" fmla="*/ 2903340 w 4232332"/>
              <a:gd name="connsiteY34" fmla="*/ 3562227 h 3701000"/>
              <a:gd name="connsiteX35" fmla="*/ 2856564 w 4232332"/>
              <a:gd name="connsiteY35" fmla="*/ 3587176 h 3701000"/>
              <a:gd name="connsiteX36" fmla="*/ 2809785 w 4232332"/>
              <a:gd name="connsiteY36" fmla="*/ 3615241 h 3701000"/>
              <a:gd name="connsiteX37" fmla="*/ 2764565 w 4232332"/>
              <a:gd name="connsiteY37" fmla="*/ 3641749 h 3701000"/>
              <a:gd name="connsiteX38" fmla="*/ 2716230 w 4232332"/>
              <a:gd name="connsiteY38" fmla="*/ 3665138 h 3701000"/>
              <a:gd name="connsiteX39" fmla="*/ 2669451 w 4232332"/>
              <a:gd name="connsiteY39" fmla="*/ 3683850 h 3701000"/>
              <a:gd name="connsiteX40" fmla="*/ 2621114 w 4232332"/>
              <a:gd name="connsiteY40" fmla="*/ 3696324 h 3701000"/>
              <a:gd name="connsiteX41" fmla="*/ 2571219 w 4232332"/>
              <a:gd name="connsiteY41" fmla="*/ 3701000 h 3701000"/>
              <a:gd name="connsiteX42" fmla="*/ 2521322 w 4232332"/>
              <a:gd name="connsiteY42" fmla="*/ 3696324 h 3701000"/>
              <a:gd name="connsiteX43" fmla="*/ 2472985 w 4232332"/>
              <a:gd name="connsiteY43" fmla="*/ 3683850 h 3701000"/>
              <a:gd name="connsiteX44" fmla="*/ 2426209 w 4232332"/>
              <a:gd name="connsiteY44" fmla="*/ 3665138 h 3701000"/>
              <a:gd name="connsiteX45" fmla="*/ 2377871 w 4232332"/>
              <a:gd name="connsiteY45" fmla="*/ 3641749 h 3701000"/>
              <a:gd name="connsiteX46" fmla="*/ 2332651 w 4232332"/>
              <a:gd name="connsiteY46" fmla="*/ 3615241 h 3701000"/>
              <a:gd name="connsiteX47" fmla="*/ 2285874 w 4232332"/>
              <a:gd name="connsiteY47" fmla="*/ 3587176 h 3701000"/>
              <a:gd name="connsiteX48" fmla="*/ 2239096 w 4232332"/>
              <a:gd name="connsiteY48" fmla="*/ 3562227 h 3701000"/>
              <a:gd name="connsiteX49" fmla="*/ 2192319 w 4232332"/>
              <a:gd name="connsiteY49" fmla="*/ 3537278 h 3701000"/>
              <a:gd name="connsiteX50" fmla="*/ 2145542 w 4232332"/>
              <a:gd name="connsiteY50" fmla="*/ 3518569 h 3701000"/>
              <a:gd name="connsiteX51" fmla="*/ 2097204 w 4232332"/>
              <a:gd name="connsiteY51" fmla="*/ 3506094 h 3701000"/>
              <a:gd name="connsiteX52" fmla="*/ 2048867 w 4232332"/>
              <a:gd name="connsiteY52" fmla="*/ 3499857 h 3701000"/>
              <a:gd name="connsiteX53" fmla="*/ 1997410 w 4232332"/>
              <a:gd name="connsiteY53" fmla="*/ 3499857 h 3701000"/>
              <a:gd name="connsiteX54" fmla="*/ 1944396 w 4232332"/>
              <a:gd name="connsiteY54" fmla="*/ 3502976 h 3701000"/>
              <a:gd name="connsiteX55" fmla="*/ 1891382 w 4232332"/>
              <a:gd name="connsiteY55" fmla="*/ 3509211 h 3701000"/>
              <a:gd name="connsiteX56" fmla="*/ 1838366 w 4232332"/>
              <a:gd name="connsiteY56" fmla="*/ 3517009 h 3701000"/>
              <a:gd name="connsiteX57" fmla="*/ 1785350 w 4232332"/>
              <a:gd name="connsiteY57" fmla="*/ 3523245 h 3701000"/>
              <a:gd name="connsiteX58" fmla="*/ 1732336 w 4232332"/>
              <a:gd name="connsiteY58" fmla="*/ 3527923 h 3701000"/>
              <a:gd name="connsiteX59" fmla="*/ 1682442 w 4232332"/>
              <a:gd name="connsiteY59" fmla="*/ 3526365 h 3701000"/>
              <a:gd name="connsiteX60" fmla="*/ 1634105 w 4232332"/>
              <a:gd name="connsiteY60" fmla="*/ 3520128 h 3701000"/>
              <a:gd name="connsiteX61" fmla="*/ 1587326 w 4232332"/>
              <a:gd name="connsiteY61" fmla="*/ 3506094 h 3701000"/>
              <a:gd name="connsiteX62" fmla="*/ 1548345 w 4232332"/>
              <a:gd name="connsiteY62" fmla="*/ 3485823 h 3701000"/>
              <a:gd name="connsiteX63" fmla="*/ 1510922 w 4232332"/>
              <a:gd name="connsiteY63" fmla="*/ 3459315 h 3701000"/>
              <a:gd name="connsiteX64" fmla="*/ 1478179 w 4232332"/>
              <a:gd name="connsiteY64" fmla="*/ 3428131 h 3701000"/>
              <a:gd name="connsiteX65" fmla="*/ 1445433 w 4232332"/>
              <a:gd name="connsiteY65" fmla="*/ 3392268 h 3701000"/>
              <a:gd name="connsiteX66" fmla="*/ 1415807 w 4232332"/>
              <a:gd name="connsiteY66" fmla="*/ 3354846 h 3701000"/>
              <a:gd name="connsiteX67" fmla="*/ 1386182 w 4232332"/>
              <a:gd name="connsiteY67" fmla="*/ 3315864 h 3701000"/>
              <a:gd name="connsiteX68" fmla="*/ 1356556 w 4232332"/>
              <a:gd name="connsiteY68" fmla="*/ 3276884 h 3701000"/>
              <a:gd name="connsiteX69" fmla="*/ 1326930 w 4232332"/>
              <a:gd name="connsiteY69" fmla="*/ 3239461 h 3701000"/>
              <a:gd name="connsiteX70" fmla="*/ 1295744 w 4232332"/>
              <a:gd name="connsiteY70" fmla="*/ 3203599 h 3701000"/>
              <a:gd name="connsiteX71" fmla="*/ 1259881 w 4232332"/>
              <a:gd name="connsiteY71" fmla="*/ 3172413 h 3701000"/>
              <a:gd name="connsiteX72" fmla="*/ 1225577 w 4232332"/>
              <a:gd name="connsiteY72" fmla="*/ 3144346 h 3701000"/>
              <a:gd name="connsiteX73" fmla="*/ 1186596 w 4232332"/>
              <a:gd name="connsiteY73" fmla="*/ 3122518 h 3701000"/>
              <a:gd name="connsiteX74" fmla="*/ 1144496 w 4232332"/>
              <a:gd name="connsiteY74" fmla="*/ 3103806 h 3701000"/>
              <a:gd name="connsiteX75" fmla="*/ 1099278 w 4232332"/>
              <a:gd name="connsiteY75" fmla="*/ 3088214 h 3701000"/>
              <a:gd name="connsiteX76" fmla="*/ 1052499 w 4232332"/>
              <a:gd name="connsiteY76" fmla="*/ 3074180 h 3701000"/>
              <a:gd name="connsiteX77" fmla="*/ 1005723 w 4232332"/>
              <a:gd name="connsiteY77" fmla="*/ 3061706 h 3701000"/>
              <a:gd name="connsiteX78" fmla="*/ 957386 w 4232332"/>
              <a:gd name="connsiteY78" fmla="*/ 3049231 h 3701000"/>
              <a:gd name="connsiteX79" fmla="*/ 912167 w 4232332"/>
              <a:gd name="connsiteY79" fmla="*/ 3035198 h 3701000"/>
              <a:gd name="connsiteX80" fmla="*/ 866948 w 4232332"/>
              <a:gd name="connsiteY80" fmla="*/ 3019606 h 3701000"/>
              <a:gd name="connsiteX81" fmla="*/ 824850 w 4232332"/>
              <a:gd name="connsiteY81" fmla="*/ 3000894 h 3701000"/>
              <a:gd name="connsiteX82" fmla="*/ 787426 w 4232332"/>
              <a:gd name="connsiteY82" fmla="*/ 2977505 h 3701000"/>
              <a:gd name="connsiteX83" fmla="*/ 753122 w 4232332"/>
              <a:gd name="connsiteY83" fmla="*/ 2949439 h 3701000"/>
              <a:gd name="connsiteX84" fmla="*/ 725057 w 4232332"/>
              <a:gd name="connsiteY84" fmla="*/ 2915136 h 3701000"/>
              <a:gd name="connsiteX85" fmla="*/ 701668 w 4232332"/>
              <a:gd name="connsiteY85" fmla="*/ 2877713 h 3701000"/>
              <a:gd name="connsiteX86" fmla="*/ 682956 w 4232332"/>
              <a:gd name="connsiteY86" fmla="*/ 2835613 h 3701000"/>
              <a:gd name="connsiteX87" fmla="*/ 667364 w 4232332"/>
              <a:gd name="connsiteY87" fmla="*/ 2790396 h 3701000"/>
              <a:gd name="connsiteX88" fmla="*/ 653331 w 4232332"/>
              <a:gd name="connsiteY88" fmla="*/ 2745177 h 3701000"/>
              <a:gd name="connsiteX89" fmla="*/ 640857 w 4232332"/>
              <a:gd name="connsiteY89" fmla="*/ 2696840 h 3701000"/>
              <a:gd name="connsiteX90" fmla="*/ 628382 w 4232332"/>
              <a:gd name="connsiteY90" fmla="*/ 2650063 h 3701000"/>
              <a:gd name="connsiteX91" fmla="*/ 614349 w 4232332"/>
              <a:gd name="connsiteY91" fmla="*/ 2603285 h 3701000"/>
              <a:gd name="connsiteX92" fmla="*/ 598756 w 4232332"/>
              <a:gd name="connsiteY92" fmla="*/ 2558065 h 3701000"/>
              <a:gd name="connsiteX93" fmla="*/ 580044 w 4232332"/>
              <a:gd name="connsiteY93" fmla="*/ 2515965 h 3701000"/>
              <a:gd name="connsiteX94" fmla="*/ 558214 w 4232332"/>
              <a:gd name="connsiteY94" fmla="*/ 2476984 h 3701000"/>
              <a:gd name="connsiteX95" fmla="*/ 530150 w 4232332"/>
              <a:gd name="connsiteY95" fmla="*/ 2442681 h 3701000"/>
              <a:gd name="connsiteX96" fmla="*/ 498963 w 4232332"/>
              <a:gd name="connsiteY96" fmla="*/ 2406817 h 3701000"/>
              <a:gd name="connsiteX97" fmla="*/ 463101 w 4232332"/>
              <a:gd name="connsiteY97" fmla="*/ 2375633 h 3701000"/>
              <a:gd name="connsiteX98" fmla="*/ 424118 w 4232332"/>
              <a:gd name="connsiteY98" fmla="*/ 2346007 h 3701000"/>
              <a:gd name="connsiteX99" fmla="*/ 385138 w 4232332"/>
              <a:gd name="connsiteY99" fmla="*/ 2316382 h 3701000"/>
              <a:gd name="connsiteX100" fmla="*/ 346157 w 4232332"/>
              <a:gd name="connsiteY100" fmla="*/ 2286756 h 3701000"/>
              <a:gd name="connsiteX101" fmla="*/ 308733 w 4232332"/>
              <a:gd name="connsiteY101" fmla="*/ 2257129 h 3701000"/>
              <a:gd name="connsiteX102" fmla="*/ 272871 w 4232332"/>
              <a:gd name="connsiteY102" fmla="*/ 2224386 h 3701000"/>
              <a:gd name="connsiteX103" fmla="*/ 241686 w 4232332"/>
              <a:gd name="connsiteY103" fmla="*/ 2191641 h 3701000"/>
              <a:gd name="connsiteX104" fmla="*/ 215179 w 4232332"/>
              <a:gd name="connsiteY104" fmla="*/ 2154219 h 3701000"/>
              <a:gd name="connsiteX105" fmla="*/ 194909 w 4232332"/>
              <a:gd name="connsiteY105" fmla="*/ 2115238 h 3701000"/>
              <a:gd name="connsiteX106" fmla="*/ 180876 w 4232332"/>
              <a:gd name="connsiteY106" fmla="*/ 2068461 h 3701000"/>
              <a:gd name="connsiteX107" fmla="*/ 174638 w 4232332"/>
              <a:gd name="connsiteY107" fmla="*/ 2020123 h 3701000"/>
              <a:gd name="connsiteX108" fmla="*/ 173078 w 4232332"/>
              <a:gd name="connsiteY108" fmla="*/ 1970225 h 3701000"/>
              <a:gd name="connsiteX109" fmla="*/ 177756 w 4232332"/>
              <a:gd name="connsiteY109" fmla="*/ 1917211 h 3701000"/>
              <a:gd name="connsiteX110" fmla="*/ 183993 w 4232332"/>
              <a:gd name="connsiteY110" fmla="*/ 1864197 h 3701000"/>
              <a:gd name="connsiteX111" fmla="*/ 191789 w 4232332"/>
              <a:gd name="connsiteY111" fmla="*/ 1811182 h 3701000"/>
              <a:gd name="connsiteX112" fmla="*/ 198027 w 4232332"/>
              <a:gd name="connsiteY112" fmla="*/ 1758167 h 3701000"/>
              <a:gd name="connsiteX113" fmla="*/ 201146 w 4232332"/>
              <a:gd name="connsiteY113" fmla="*/ 1705153 h 3701000"/>
              <a:gd name="connsiteX114" fmla="*/ 201146 w 4232332"/>
              <a:gd name="connsiteY114" fmla="*/ 1653697 h 3701000"/>
              <a:gd name="connsiteX115" fmla="*/ 194909 w 4232332"/>
              <a:gd name="connsiteY115" fmla="*/ 1605362 h 3701000"/>
              <a:gd name="connsiteX116" fmla="*/ 182434 w 4232332"/>
              <a:gd name="connsiteY116" fmla="*/ 1557024 h 3701000"/>
              <a:gd name="connsiteX117" fmla="*/ 163723 w 4232332"/>
              <a:gd name="connsiteY117" fmla="*/ 1511804 h 3701000"/>
              <a:gd name="connsiteX118" fmla="*/ 140335 w 4232332"/>
              <a:gd name="connsiteY118" fmla="*/ 1465027 h 3701000"/>
              <a:gd name="connsiteX119" fmla="*/ 113826 w 4232332"/>
              <a:gd name="connsiteY119" fmla="*/ 1418251 h 3701000"/>
              <a:gd name="connsiteX120" fmla="*/ 85761 w 4232332"/>
              <a:gd name="connsiteY120" fmla="*/ 1371472 h 3701000"/>
              <a:gd name="connsiteX121" fmla="*/ 59253 w 4232332"/>
              <a:gd name="connsiteY121" fmla="*/ 1326252 h 3701000"/>
              <a:gd name="connsiteX122" fmla="*/ 35863 w 4232332"/>
              <a:gd name="connsiteY122" fmla="*/ 1277917 h 3701000"/>
              <a:gd name="connsiteX123" fmla="*/ 17153 w 4232332"/>
              <a:gd name="connsiteY123" fmla="*/ 1231139 h 3701000"/>
              <a:gd name="connsiteX124" fmla="*/ 4679 w 4232332"/>
              <a:gd name="connsiteY124" fmla="*/ 1182801 h 3701000"/>
              <a:gd name="connsiteX125" fmla="*/ 0 w 4232332"/>
              <a:gd name="connsiteY125" fmla="*/ 1132905 h 3701000"/>
              <a:gd name="connsiteX126" fmla="*/ 4679 w 4232332"/>
              <a:gd name="connsiteY126" fmla="*/ 1083010 h 3701000"/>
              <a:gd name="connsiteX127" fmla="*/ 17153 w 4232332"/>
              <a:gd name="connsiteY127" fmla="*/ 1034673 h 3701000"/>
              <a:gd name="connsiteX128" fmla="*/ 35863 w 4232332"/>
              <a:gd name="connsiteY128" fmla="*/ 987895 h 3701000"/>
              <a:gd name="connsiteX129" fmla="*/ 59253 w 4232332"/>
              <a:gd name="connsiteY129" fmla="*/ 939559 h 3701000"/>
              <a:gd name="connsiteX130" fmla="*/ 85761 w 4232332"/>
              <a:gd name="connsiteY130" fmla="*/ 894339 h 3701000"/>
              <a:gd name="connsiteX131" fmla="*/ 113826 w 4232332"/>
              <a:gd name="connsiteY131" fmla="*/ 847563 h 3701000"/>
              <a:gd name="connsiteX132" fmla="*/ 140335 w 4232332"/>
              <a:gd name="connsiteY132" fmla="*/ 800784 h 3701000"/>
              <a:gd name="connsiteX133" fmla="*/ 163723 w 4232332"/>
              <a:gd name="connsiteY133" fmla="*/ 754007 h 3701000"/>
              <a:gd name="connsiteX134" fmla="*/ 182434 w 4232332"/>
              <a:gd name="connsiteY134" fmla="*/ 708787 h 3701000"/>
              <a:gd name="connsiteX135" fmla="*/ 194909 w 4232332"/>
              <a:gd name="connsiteY135" fmla="*/ 660451 h 3701000"/>
              <a:gd name="connsiteX136" fmla="*/ 201146 w 4232332"/>
              <a:gd name="connsiteY136" fmla="*/ 612115 h 3701000"/>
              <a:gd name="connsiteX137" fmla="*/ 201146 w 4232332"/>
              <a:gd name="connsiteY137" fmla="*/ 560659 h 3701000"/>
              <a:gd name="connsiteX138" fmla="*/ 198027 w 4232332"/>
              <a:gd name="connsiteY138" fmla="*/ 507644 h 3701000"/>
              <a:gd name="connsiteX139" fmla="*/ 191789 w 4232332"/>
              <a:gd name="connsiteY139" fmla="*/ 454630 h 3701000"/>
              <a:gd name="connsiteX140" fmla="*/ 183993 w 4232332"/>
              <a:gd name="connsiteY140" fmla="*/ 401614 h 3701000"/>
              <a:gd name="connsiteX141" fmla="*/ 177756 w 4232332"/>
              <a:gd name="connsiteY141" fmla="*/ 348600 h 3701000"/>
              <a:gd name="connsiteX142" fmla="*/ 173078 w 4232332"/>
              <a:gd name="connsiteY142" fmla="*/ 295586 h 3701000"/>
              <a:gd name="connsiteX143" fmla="*/ 174638 w 4232332"/>
              <a:gd name="connsiteY143" fmla="*/ 245689 h 3701000"/>
              <a:gd name="connsiteX144" fmla="*/ 180876 w 4232332"/>
              <a:gd name="connsiteY144" fmla="*/ 197353 h 3701000"/>
              <a:gd name="connsiteX145" fmla="*/ 194909 w 4232332"/>
              <a:gd name="connsiteY145" fmla="*/ 150574 h 3701000"/>
              <a:gd name="connsiteX146" fmla="*/ 215179 w 4232332"/>
              <a:gd name="connsiteY146" fmla="*/ 111594 h 3701000"/>
              <a:gd name="connsiteX147" fmla="*/ 241686 w 4232332"/>
              <a:gd name="connsiteY147" fmla="*/ 74171 h 3701000"/>
              <a:gd name="connsiteX148" fmla="*/ 272871 w 4232332"/>
              <a:gd name="connsiteY148" fmla="*/ 41427 h 3701000"/>
              <a:gd name="connsiteX149" fmla="*/ 308733 w 4232332"/>
              <a:gd name="connsiteY149" fmla="*/ 8683 h 370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4232332" h="3701000">
                <a:moveTo>
                  <a:pt x="319701" y="0"/>
                </a:moveTo>
                <a:lnTo>
                  <a:pt x="4232332" y="0"/>
                </a:lnTo>
                <a:lnTo>
                  <a:pt x="4232332" y="3034486"/>
                </a:lnTo>
                <a:lnTo>
                  <a:pt x="4230268" y="3035198"/>
                </a:lnTo>
                <a:lnTo>
                  <a:pt x="4185051" y="3049231"/>
                </a:lnTo>
                <a:lnTo>
                  <a:pt x="4136714" y="3061706"/>
                </a:lnTo>
                <a:lnTo>
                  <a:pt x="4089935" y="3074180"/>
                </a:lnTo>
                <a:lnTo>
                  <a:pt x="4043158" y="3088214"/>
                </a:lnTo>
                <a:lnTo>
                  <a:pt x="3997940" y="3103806"/>
                </a:lnTo>
                <a:lnTo>
                  <a:pt x="3955840" y="3122518"/>
                </a:lnTo>
                <a:lnTo>
                  <a:pt x="3916860" y="3144346"/>
                </a:lnTo>
                <a:lnTo>
                  <a:pt x="3882555" y="3172413"/>
                </a:lnTo>
                <a:lnTo>
                  <a:pt x="3846692" y="3203599"/>
                </a:lnTo>
                <a:lnTo>
                  <a:pt x="3815506" y="3239461"/>
                </a:lnTo>
                <a:lnTo>
                  <a:pt x="3785881" y="3276884"/>
                </a:lnTo>
                <a:lnTo>
                  <a:pt x="3756254" y="3315864"/>
                </a:lnTo>
                <a:lnTo>
                  <a:pt x="3726629" y="3354846"/>
                </a:lnTo>
                <a:lnTo>
                  <a:pt x="3697003" y="3392268"/>
                </a:lnTo>
                <a:lnTo>
                  <a:pt x="3664258" y="3428131"/>
                </a:lnTo>
                <a:lnTo>
                  <a:pt x="3631513" y="3459315"/>
                </a:lnTo>
                <a:lnTo>
                  <a:pt x="3594093" y="3485823"/>
                </a:lnTo>
                <a:lnTo>
                  <a:pt x="3555111" y="3506094"/>
                </a:lnTo>
                <a:lnTo>
                  <a:pt x="3508332" y="3520128"/>
                </a:lnTo>
                <a:lnTo>
                  <a:pt x="3459994" y="3526365"/>
                </a:lnTo>
                <a:lnTo>
                  <a:pt x="3410100" y="3527923"/>
                </a:lnTo>
                <a:lnTo>
                  <a:pt x="3357084" y="3523245"/>
                </a:lnTo>
                <a:lnTo>
                  <a:pt x="3304070" y="3517009"/>
                </a:lnTo>
                <a:lnTo>
                  <a:pt x="3251054" y="3509211"/>
                </a:lnTo>
                <a:lnTo>
                  <a:pt x="3198040" y="3502976"/>
                </a:lnTo>
                <a:lnTo>
                  <a:pt x="3145024" y="3499857"/>
                </a:lnTo>
                <a:lnTo>
                  <a:pt x="3093569" y="3499857"/>
                </a:lnTo>
                <a:lnTo>
                  <a:pt x="3045233" y="3506094"/>
                </a:lnTo>
                <a:lnTo>
                  <a:pt x="2995337" y="3518569"/>
                </a:lnTo>
                <a:lnTo>
                  <a:pt x="2950118" y="3537278"/>
                </a:lnTo>
                <a:lnTo>
                  <a:pt x="2903340" y="3562227"/>
                </a:lnTo>
                <a:lnTo>
                  <a:pt x="2856564" y="3587176"/>
                </a:lnTo>
                <a:lnTo>
                  <a:pt x="2809785" y="3615241"/>
                </a:lnTo>
                <a:lnTo>
                  <a:pt x="2764565" y="3641749"/>
                </a:lnTo>
                <a:lnTo>
                  <a:pt x="2716230" y="3665138"/>
                </a:lnTo>
                <a:lnTo>
                  <a:pt x="2669451" y="3683850"/>
                </a:lnTo>
                <a:lnTo>
                  <a:pt x="2621114" y="3696324"/>
                </a:lnTo>
                <a:lnTo>
                  <a:pt x="2571219" y="3701000"/>
                </a:lnTo>
                <a:lnTo>
                  <a:pt x="2521322" y="3696324"/>
                </a:lnTo>
                <a:lnTo>
                  <a:pt x="2472985" y="3683850"/>
                </a:lnTo>
                <a:lnTo>
                  <a:pt x="2426209" y="3665138"/>
                </a:lnTo>
                <a:lnTo>
                  <a:pt x="2377871" y="3641749"/>
                </a:lnTo>
                <a:lnTo>
                  <a:pt x="2332651" y="3615241"/>
                </a:lnTo>
                <a:lnTo>
                  <a:pt x="2285874" y="3587176"/>
                </a:lnTo>
                <a:lnTo>
                  <a:pt x="2239096" y="3562227"/>
                </a:lnTo>
                <a:lnTo>
                  <a:pt x="2192319" y="3537278"/>
                </a:lnTo>
                <a:lnTo>
                  <a:pt x="2145542" y="3518569"/>
                </a:lnTo>
                <a:lnTo>
                  <a:pt x="2097204" y="3506094"/>
                </a:lnTo>
                <a:lnTo>
                  <a:pt x="2048867" y="3499857"/>
                </a:lnTo>
                <a:lnTo>
                  <a:pt x="1997410" y="3499857"/>
                </a:lnTo>
                <a:lnTo>
                  <a:pt x="1944396" y="3502976"/>
                </a:lnTo>
                <a:lnTo>
                  <a:pt x="1891382" y="3509211"/>
                </a:lnTo>
                <a:lnTo>
                  <a:pt x="1838366" y="3517009"/>
                </a:lnTo>
                <a:lnTo>
                  <a:pt x="1785350" y="3523245"/>
                </a:lnTo>
                <a:lnTo>
                  <a:pt x="1732336" y="3527923"/>
                </a:lnTo>
                <a:lnTo>
                  <a:pt x="1682442" y="3526365"/>
                </a:lnTo>
                <a:lnTo>
                  <a:pt x="1634105" y="3520128"/>
                </a:lnTo>
                <a:lnTo>
                  <a:pt x="1587326" y="3506094"/>
                </a:lnTo>
                <a:lnTo>
                  <a:pt x="1548345" y="3485823"/>
                </a:lnTo>
                <a:lnTo>
                  <a:pt x="1510922" y="3459315"/>
                </a:lnTo>
                <a:lnTo>
                  <a:pt x="1478179" y="3428131"/>
                </a:lnTo>
                <a:lnTo>
                  <a:pt x="1445433" y="3392268"/>
                </a:lnTo>
                <a:lnTo>
                  <a:pt x="1415807" y="3354846"/>
                </a:lnTo>
                <a:lnTo>
                  <a:pt x="1386182" y="3315864"/>
                </a:lnTo>
                <a:lnTo>
                  <a:pt x="1356556" y="3276884"/>
                </a:lnTo>
                <a:lnTo>
                  <a:pt x="1326930" y="3239461"/>
                </a:lnTo>
                <a:lnTo>
                  <a:pt x="1295744" y="3203599"/>
                </a:lnTo>
                <a:lnTo>
                  <a:pt x="1259881" y="3172413"/>
                </a:lnTo>
                <a:lnTo>
                  <a:pt x="1225577" y="3144346"/>
                </a:lnTo>
                <a:lnTo>
                  <a:pt x="1186596" y="3122518"/>
                </a:lnTo>
                <a:lnTo>
                  <a:pt x="1144496" y="3103806"/>
                </a:lnTo>
                <a:lnTo>
                  <a:pt x="1099278" y="3088214"/>
                </a:lnTo>
                <a:lnTo>
                  <a:pt x="1052499" y="3074180"/>
                </a:lnTo>
                <a:lnTo>
                  <a:pt x="1005723" y="3061706"/>
                </a:lnTo>
                <a:lnTo>
                  <a:pt x="957386" y="3049231"/>
                </a:lnTo>
                <a:lnTo>
                  <a:pt x="912167" y="3035198"/>
                </a:lnTo>
                <a:lnTo>
                  <a:pt x="866948" y="3019606"/>
                </a:lnTo>
                <a:lnTo>
                  <a:pt x="824850" y="3000894"/>
                </a:lnTo>
                <a:lnTo>
                  <a:pt x="787426" y="2977505"/>
                </a:lnTo>
                <a:lnTo>
                  <a:pt x="753122" y="2949439"/>
                </a:lnTo>
                <a:lnTo>
                  <a:pt x="725057" y="2915136"/>
                </a:lnTo>
                <a:lnTo>
                  <a:pt x="701668" y="2877713"/>
                </a:lnTo>
                <a:lnTo>
                  <a:pt x="682956" y="2835613"/>
                </a:lnTo>
                <a:lnTo>
                  <a:pt x="667364" y="2790396"/>
                </a:lnTo>
                <a:lnTo>
                  <a:pt x="653331" y="2745177"/>
                </a:lnTo>
                <a:lnTo>
                  <a:pt x="640857" y="2696840"/>
                </a:lnTo>
                <a:lnTo>
                  <a:pt x="628382" y="2650063"/>
                </a:lnTo>
                <a:lnTo>
                  <a:pt x="614349" y="2603285"/>
                </a:lnTo>
                <a:lnTo>
                  <a:pt x="598756" y="2558065"/>
                </a:lnTo>
                <a:lnTo>
                  <a:pt x="580044" y="2515965"/>
                </a:lnTo>
                <a:lnTo>
                  <a:pt x="558214" y="2476984"/>
                </a:lnTo>
                <a:lnTo>
                  <a:pt x="530150" y="2442681"/>
                </a:lnTo>
                <a:lnTo>
                  <a:pt x="498963" y="2406817"/>
                </a:lnTo>
                <a:lnTo>
                  <a:pt x="463101" y="2375633"/>
                </a:lnTo>
                <a:lnTo>
                  <a:pt x="424118" y="2346007"/>
                </a:lnTo>
                <a:lnTo>
                  <a:pt x="385138" y="2316382"/>
                </a:lnTo>
                <a:lnTo>
                  <a:pt x="346157" y="2286756"/>
                </a:lnTo>
                <a:lnTo>
                  <a:pt x="308733" y="2257129"/>
                </a:lnTo>
                <a:lnTo>
                  <a:pt x="272871" y="2224386"/>
                </a:lnTo>
                <a:lnTo>
                  <a:pt x="241686" y="2191641"/>
                </a:lnTo>
                <a:lnTo>
                  <a:pt x="215179" y="2154219"/>
                </a:lnTo>
                <a:lnTo>
                  <a:pt x="194909" y="2115238"/>
                </a:lnTo>
                <a:lnTo>
                  <a:pt x="180876" y="2068461"/>
                </a:lnTo>
                <a:lnTo>
                  <a:pt x="174638" y="2020123"/>
                </a:lnTo>
                <a:lnTo>
                  <a:pt x="173078" y="1970225"/>
                </a:lnTo>
                <a:lnTo>
                  <a:pt x="177756" y="1917211"/>
                </a:lnTo>
                <a:lnTo>
                  <a:pt x="183993" y="1864197"/>
                </a:lnTo>
                <a:lnTo>
                  <a:pt x="191789" y="1811182"/>
                </a:lnTo>
                <a:lnTo>
                  <a:pt x="198027" y="1758167"/>
                </a:lnTo>
                <a:lnTo>
                  <a:pt x="201146" y="1705153"/>
                </a:lnTo>
                <a:lnTo>
                  <a:pt x="201146" y="1653697"/>
                </a:lnTo>
                <a:lnTo>
                  <a:pt x="194909" y="1605362"/>
                </a:lnTo>
                <a:lnTo>
                  <a:pt x="182434" y="1557024"/>
                </a:lnTo>
                <a:lnTo>
                  <a:pt x="163723" y="1511804"/>
                </a:lnTo>
                <a:lnTo>
                  <a:pt x="140335" y="1465027"/>
                </a:lnTo>
                <a:lnTo>
                  <a:pt x="113826" y="1418251"/>
                </a:lnTo>
                <a:lnTo>
                  <a:pt x="85761" y="1371472"/>
                </a:lnTo>
                <a:lnTo>
                  <a:pt x="59253" y="1326252"/>
                </a:lnTo>
                <a:lnTo>
                  <a:pt x="35863" y="1277917"/>
                </a:lnTo>
                <a:lnTo>
                  <a:pt x="17153" y="1231139"/>
                </a:lnTo>
                <a:lnTo>
                  <a:pt x="4679" y="1182801"/>
                </a:lnTo>
                <a:lnTo>
                  <a:pt x="0" y="1132905"/>
                </a:lnTo>
                <a:lnTo>
                  <a:pt x="4679" y="1083010"/>
                </a:lnTo>
                <a:lnTo>
                  <a:pt x="17153" y="1034673"/>
                </a:lnTo>
                <a:lnTo>
                  <a:pt x="35863" y="987895"/>
                </a:lnTo>
                <a:lnTo>
                  <a:pt x="59253" y="939559"/>
                </a:lnTo>
                <a:lnTo>
                  <a:pt x="85761" y="894339"/>
                </a:lnTo>
                <a:lnTo>
                  <a:pt x="113826" y="847563"/>
                </a:lnTo>
                <a:lnTo>
                  <a:pt x="140335" y="800784"/>
                </a:lnTo>
                <a:lnTo>
                  <a:pt x="163723" y="754007"/>
                </a:lnTo>
                <a:lnTo>
                  <a:pt x="182434" y="708787"/>
                </a:lnTo>
                <a:lnTo>
                  <a:pt x="194909" y="660451"/>
                </a:lnTo>
                <a:lnTo>
                  <a:pt x="201146" y="612115"/>
                </a:lnTo>
                <a:lnTo>
                  <a:pt x="201146" y="560659"/>
                </a:lnTo>
                <a:lnTo>
                  <a:pt x="198027" y="507644"/>
                </a:lnTo>
                <a:lnTo>
                  <a:pt x="191789" y="454630"/>
                </a:lnTo>
                <a:lnTo>
                  <a:pt x="183993" y="401614"/>
                </a:lnTo>
                <a:lnTo>
                  <a:pt x="177756" y="348600"/>
                </a:lnTo>
                <a:lnTo>
                  <a:pt x="173078" y="295586"/>
                </a:lnTo>
                <a:lnTo>
                  <a:pt x="174638" y="245689"/>
                </a:lnTo>
                <a:lnTo>
                  <a:pt x="180876" y="197353"/>
                </a:lnTo>
                <a:lnTo>
                  <a:pt x="194909" y="150574"/>
                </a:lnTo>
                <a:lnTo>
                  <a:pt x="215179" y="111594"/>
                </a:lnTo>
                <a:lnTo>
                  <a:pt x="241686" y="74171"/>
                </a:lnTo>
                <a:lnTo>
                  <a:pt x="272871" y="41427"/>
                </a:lnTo>
                <a:lnTo>
                  <a:pt x="308733" y="868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pic>
        <p:nvPicPr>
          <p:cNvPr id="9" name="Picture 8" descr="A garden with a fountain and a dog&#10;&#10;Description automatically generated">
            <a:extLst>
              <a:ext uri="{FF2B5EF4-FFF2-40B4-BE49-F238E27FC236}">
                <a16:creationId xmlns:a16="http://schemas.microsoft.com/office/drawing/2014/main" id="{CD700472-C23C-B339-B96B-DF3FDA6D43B5}"/>
              </a:ext>
            </a:extLst>
          </p:cNvPr>
          <p:cNvPicPr>
            <a:picLocks noChangeAspect="1"/>
          </p:cNvPicPr>
          <p:nvPr/>
        </p:nvPicPr>
        <p:blipFill rotWithShape="1">
          <a:blip r:embed="rId2"/>
          <a:srcRect l="22801" r="11468" b="-1"/>
          <a:stretch/>
        </p:blipFill>
        <p:spPr>
          <a:xfrm>
            <a:off x="8075117" y="10"/>
            <a:ext cx="4116885" cy="3585712"/>
          </a:xfrm>
          <a:custGeom>
            <a:avLst/>
            <a:gdLst/>
            <a:ahLst/>
            <a:cxnLst/>
            <a:rect l="l" t="t" r="r" b="b"/>
            <a:pathLst>
              <a:path w="4116885" h="3585722">
                <a:moveTo>
                  <a:pt x="371204" y="0"/>
                </a:moveTo>
                <a:lnTo>
                  <a:pt x="4116885" y="0"/>
                </a:lnTo>
                <a:lnTo>
                  <a:pt x="4116885" y="2920084"/>
                </a:lnTo>
                <a:lnTo>
                  <a:pt x="4083518" y="2934914"/>
                </a:lnTo>
                <a:lnTo>
                  <a:pt x="4040331" y="2949806"/>
                </a:lnTo>
                <a:lnTo>
                  <a:pt x="3997143" y="2963209"/>
                </a:lnTo>
                <a:lnTo>
                  <a:pt x="3950976" y="2975125"/>
                </a:lnTo>
                <a:lnTo>
                  <a:pt x="3906298" y="2987039"/>
                </a:lnTo>
                <a:lnTo>
                  <a:pt x="3861622" y="3000442"/>
                </a:lnTo>
                <a:lnTo>
                  <a:pt x="3818433" y="3015336"/>
                </a:lnTo>
                <a:lnTo>
                  <a:pt x="3778225" y="3033207"/>
                </a:lnTo>
                <a:lnTo>
                  <a:pt x="3740994" y="3054056"/>
                </a:lnTo>
                <a:lnTo>
                  <a:pt x="3708230" y="3080861"/>
                </a:lnTo>
                <a:lnTo>
                  <a:pt x="3673977" y="3110649"/>
                </a:lnTo>
                <a:lnTo>
                  <a:pt x="3644190" y="3144902"/>
                </a:lnTo>
                <a:lnTo>
                  <a:pt x="3615895" y="3180643"/>
                </a:lnTo>
                <a:lnTo>
                  <a:pt x="3587600" y="3217874"/>
                </a:lnTo>
                <a:lnTo>
                  <a:pt x="3559305" y="3255107"/>
                </a:lnTo>
                <a:lnTo>
                  <a:pt x="3531009" y="3290849"/>
                </a:lnTo>
                <a:lnTo>
                  <a:pt x="3499734" y="3325101"/>
                </a:lnTo>
                <a:lnTo>
                  <a:pt x="3468459" y="3354887"/>
                </a:lnTo>
                <a:lnTo>
                  <a:pt x="3432719" y="3380204"/>
                </a:lnTo>
                <a:lnTo>
                  <a:pt x="3395487" y="3399565"/>
                </a:lnTo>
                <a:lnTo>
                  <a:pt x="3350809" y="3412968"/>
                </a:lnTo>
                <a:lnTo>
                  <a:pt x="3304642" y="3418925"/>
                </a:lnTo>
                <a:lnTo>
                  <a:pt x="3256988" y="3420415"/>
                </a:lnTo>
                <a:lnTo>
                  <a:pt x="3206353" y="3415946"/>
                </a:lnTo>
                <a:lnTo>
                  <a:pt x="3155719" y="3409991"/>
                </a:lnTo>
                <a:lnTo>
                  <a:pt x="3105083" y="3402543"/>
                </a:lnTo>
                <a:lnTo>
                  <a:pt x="3054450" y="3396587"/>
                </a:lnTo>
                <a:lnTo>
                  <a:pt x="3003814" y="3393607"/>
                </a:lnTo>
                <a:lnTo>
                  <a:pt x="2954669" y="3393607"/>
                </a:lnTo>
                <a:lnTo>
                  <a:pt x="2908503" y="3399565"/>
                </a:lnTo>
                <a:lnTo>
                  <a:pt x="2860847" y="3411479"/>
                </a:lnTo>
                <a:lnTo>
                  <a:pt x="2817659" y="3429350"/>
                </a:lnTo>
                <a:lnTo>
                  <a:pt x="2772981" y="3453178"/>
                </a:lnTo>
                <a:lnTo>
                  <a:pt x="2728305" y="3477008"/>
                </a:lnTo>
                <a:lnTo>
                  <a:pt x="2683627" y="3503814"/>
                </a:lnTo>
                <a:lnTo>
                  <a:pt x="2640437" y="3529131"/>
                </a:lnTo>
                <a:lnTo>
                  <a:pt x="2594272" y="3551469"/>
                </a:lnTo>
                <a:lnTo>
                  <a:pt x="2549594" y="3569341"/>
                </a:lnTo>
                <a:lnTo>
                  <a:pt x="2503426" y="3581255"/>
                </a:lnTo>
                <a:lnTo>
                  <a:pt x="2455772" y="3585722"/>
                </a:lnTo>
                <a:lnTo>
                  <a:pt x="2408116" y="3581255"/>
                </a:lnTo>
                <a:lnTo>
                  <a:pt x="2361949" y="3569341"/>
                </a:lnTo>
                <a:lnTo>
                  <a:pt x="2317272" y="3551469"/>
                </a:lnTo>
                <a:lnTo>
                  <a:pt x="2271105" y="3529131"/>
                </a:lnTo>
                <a:lnTo>
                  <a:pt x="2227917" y="3503814"/>
                </a:lnTo>
                <a:lnTo>
                  <a:pt x="2183239" y="3477008"/>
                </a:lnTo>
                <a:lnTo>
                  <a:pt x="2138561" y="3453178"/>
                </a:lnTo>
                <a:lnTo>
                  <a:pt x="2093885" y="3429350"/>
                </a:lnTo>
                <a:lnTo>
                  <a:pt x="2049208" y="3411479"/>
                </a:lnTo>
                <a:lnTo>
                  <a:pt x="2003041" y="3399565"/>
                </a:lnTo>
                <a:lnTo>
                  <a:pt x="1956874" y="3393607"/>
                </a:lnTo>
                <a:lnTo>
                  <a:pt x="1907728" y="3393607"/>
                </a:lnTo>
                <a:lnTo>
                  <a:pt x="1857094" y="3396587"/>
                </a:lnTo>
                <a:lnTo>
                  <a:pt x="1806460" y="3402543"/>
                </a:lnTo>
                <a:lnTo>
                  <a:pt x="1755825" y="3409991"/>
                </a:lnTo>
                <a:lnTo>
                  <a:pt x="1705189" y="3415946"/>
                </a:lnTo>
                <a:lnTo>
                  <a:pt x="1654555" y="3420415"/>
                </a:lnTo>
                <a:lnTo>
                  <a:pt x="1606901" y="3418925"/>
                </a:lnTo>
                <a:lnTo>
                  <a:pt x="1560733" y="3412968"/>
                </a:lnTo>
                <a:lnTo>
                  <a:pt x="1516055" y="3399565"/>
                </a:lnTo>
                <a:lnTo>
                  <a:pt x="1478825" y="3380204"/>
                </a:lnTo>
                <a:lnTo>
                  <a:pt x="1443081" y="3354887"/>
                </a:lnTo>
                <a:lnTo>
                  <a:pt x="1411808" y="3325101"/>
                </a:lnTo>
                <a:lnTo>
                  <a:pt x="1380533" y="3290849"/>
                </a:lnTo>
                <a:lnTo>
                  <a:pt x="1352239" y="3255107"/>
                </a:lnTo>
                <a:lnTo>
                  <a:pt x="1323942" y="3217874"/>
                </a:lnTo>
                <a:lnTo>
                  <a:pt x="1295647" y="3180643"/>
                </a:lnTo>
                <a:lnTo>
                  <a:pt x="1267352" y="3144902"/>
                </a:lnTo>
                <a:lnTo>
                  <a:pt x="1237566" y="3110649"/>
                </a:lnTo>
                <a:lnTo>
                  <a:pt x="1203314" y="3080861"/>
                </a:lnTo>
                <a:lnTo>
                  <a:pt x="1170550" y="3054056"/>
                </a:lnTo>
                <a:lnTo>
                  <a:pt x="1133319" y="3033207"/>
                </a:lnTo>
                <a:lnTo>
                  <a:pt x="1093109" y="3015336"/>
                </a:lnTo>
                <a:lnTo>
                  <a:pt x="1049921" y="3000442"/>
                </a:lnTo>
                <a:lnTo>
                  <a:pt x="1005242" y="2987039"/>
                </a:lnTo>
                <a:lnTo>
                  <a:pt x="960566" y="2975125"/>
                </a:lnTo>
                <a:lnTo>
                  <a:pt x="914400" y="2963209"/>
                </a:lnTo>
                <a:lnTo>
                  <a:pt x="871211" y="2949806"/>
                </a:lnTo>
                <a:lnTo>
                  <a:pt x="828022" y="2934914"/>
                </a:lnTo>
                <a:lnTo>
                  <a:pt x="787813" y="2917043"/>
                </a:lnTo>
                <a:lnTo>
                  <a:pt x="752072" y="2894704"/>
                </a:lnTo>
                <a:lnTo>
                  <a:pt x="719306" y="2867898"/>
                </a:lnTo>
                <a:lnTo>
                  <a:pt x="692502" y="2835134"/>
                </a:lnTo>
                <a:lnTo>
                  <a:pt x="670163" y="2799391"/>
                </a:lnTo>
                <a:lnTo>
                  <a:pt x="652291" y="2759180"/>
                </a:lnTo>
                <a:lnTo>
                  <a:pt x="637399" y="2715993"/>
                </a:lnTo>
                <a:lnTo>
                  <a:pt x="623997" y="2672804"/>
                </a:lnTo>
                <a:lnTo>
                  <a:pt x="612083" y="2626638"/>
                </a:lnTo>
                <a:lnTo>
                  <a:pt x="600169" y="2581960"/>
                </a:lnTo>
                <a:lnTo>
                  <a:pt x="586764" y="2537281"/>
                </a:lnTo>
                <a:lnTo>
                  <a:pt x="571872" y="2494092"/>
                </a:lnTo>
                <a:lnTo>
                  <a:pt x="554000" y="2453882"/>
                </a:lnTo>
                <a:lnTo>
                  <a:pt x="533152" y="2416651"/>
                </a:lnTo>
                <a:lnTo>
                  <a:pt x="506346" y="2383887"/>
                </a:lnTo>
                <a:lnTo>
                  <a:pt x="476561" y="2349633"/>
                </a:lnTo>
                <a:lnTo>
                  <a:pt x="442308" y="2319849"/>
                </a:lnTo>
                <a:lnTo>
                  <a:pt x="405075" y="2291554"/>
                </a:lnTo>
                <a:lnTo>
                  <a:pt x="367844" y="2263257"/>
                </a:lnTo>
                <a:lnTo>
                  <a:pt x="330615" y="2234962"/>
                </a:lnTo>
                <a:lnTo>
                  <a:pt x="294872" y="2206664"/>
                </a:lnTo>
                <a:lnTo>
                  <a:pt x="260619" y="2175390"/>
                </a:lnTo>
                <a:lnTo>
                  <a:pt x="230835" y="2144116"/>
                </a:lnTo>
                <a:lnTo>
                  <a:pt x="205519" y="2108372"/>
                </a:lnTo>
                <a:lnTo>
                  <a:pt x="186158" y="2071141"/>
                </a:lnTo>
                <a:lnTo>
                  <a:pt x="172755" y="2026465"/>
                </a:lnTo>
                <a:lnTo>
                  <a:pt x="166797" y="1980297"/>
                </a:lnTo>
                <a:lnTo>
                  <a:pt x="165306" y="1932640"/>
                </a:lnTo>
                <a:lnTo>
                  <a:pt x="169775" y="1882006"/>
                </a:lnTo>
                <a:lnTo>
                  <a:pt x="175733" y="1831370"/>
                </a:lnTo>
                <a:lnTo>
                  <a:pt x="183178" y="1780735"/>
                </a:lnTo>
                <a:lnTo>
                  <a:pt x="189136" y="1730101"/>
                </a:lnTo>
                <a:lnTo>
                  <a:pt x="192116" y="1679466"/>
                </a:lnTo>
                <a:lnTo>
                  <a:pt x="192116" y="1630319"/>
                </a:lnTo>
                <a:lnTo>
                  <a:pt x="186158" y="1584152"/>
                </a:lnTo>
                <a:lnTo>
                  <a:pt x="174244" y="1537986"/>
                </a:lnTo>
                <a:lnTo>
                  <a:pt x="156372" y="1494795"/>
                </a:lnTo>
                <a:lnTo>
                  <a:pt x="134033" y="1450119"/>
                </a:lnTo>
                <a:lnTo>
                  <a:pt x="108716" y="1405442"/>
                </a:lnTo>
                <a:lnTo>
                  <a:pt x="81910" y="1360762"/>
                </a:lnTo>
                <a:lnTo>
                  <a:pt x="56594" y="1317574"/>
                </a:lnTo>
                <a:lnTo>
                  <a:pt x="34253" y="1271407"/>
                </a:lnTo>
                <a:lnTo>
                  <a:pt x="16383" y="1226729"/>
                </a:lnTo>
                <a:lnTo>
                  <a:pt x="4469" y="1180561"/>
                </a:lnTo>
                <a:lnTo>
                  <a:pt x="0" y="1132905"/>
                </a:lnTo>
                <a:lnTo>
                  <a:pt x="4469" y="1085249"/>
                </a:lnTo>
                <a:lnTo>
                  <a:pt x="16383" y="1039083"/>
                </a:lnTo>
                <a:lnTo>
                  <a:pt x="34253" y="994403"/>
                </a:lnTo>
                <a:lnTo>
                  <a:pt x="56594" y="948238"/>
                </a:lnTo>
                <a:lnTo>
                  <a:pt x="81910" y="905048"/>
                </a:lnTo>
                <a:lnTo>
                  <a:pt x="108716" y="860370"/>
                </a:lnTo>
                <a:lnTo>
                  <a:pt x="134033" y="815693"/>
                </a:lnTo>
                <a:lnTo>
                  <a:pt x="156372" y="771015"/>
                </a:lnTo>
                <a:lnTo>
                  <a:pt x="174244" y="727825"/>
                </a:lnTo>
                <a:lnTo>
                  <a:pt x="186158" y="681658"/>
                </a:lnTo>
                <a:lnTo>
                  <a:pt x="192116" y="635491"/>
                </a:lnTo>
                <a:lnTo>
                  <a:pt x="192116" y="586346"/>
                </a:lnTo>
                <a:lnTo>
                  <a:pt x="189136" y="535711"/>
                </a:lnTo>
                <a:lnTo>
                  <a:pt x="183178" y="485075"/>
                </a:lnTo>
                <a:lnTo>
                  <a:pt x="175733" y="434440"/>
                </a:lnTo>
                <a:lnTo>
                  <a:pt x="169775" y="383806"/>
                </a:lnTo>
                <a:lnTo>
                  <a:pt x="165306" y="333172"/>
                </a:lnTo>
                <a:lnTo>
                  <a:pt x="166797" y="285515"/>
                </a:lnTo>
                <a:lnTo>
                  <a:pt x="172755" y="239348"/>
                </a:lnTo>
                <a:lnTo>
                  <a:pt x="186158" y="194669"/>
                </a:lnTo>
                <a:lnTo>
                  <a:pt x="205519" y="157438"/>
                </a:lnTo>
                <a:lnTo>
                  <a:pt x="230835" y="121696"/>
                </a:lnTo>
                <a:lnTo>
                  <a:pt x="260619" y="90421"/>
                </a:lnTo>
                <a:lnTo>
                  <a:pt x="294872" y="59147"/>
                </a:lnTo>
                <a:lnTo>
                  <a:pt x="330615" y="30850"/>
                </a:lnTo>
                <a:lnTo>
                  <a:pt x="367844" y="2553"/>
                </a:lnTo>
                <a:close/>
              </a:path>
            </a:pathLst>
          </a:custGeom>
        </p:spPr>
      </p:pic>
      <p:sp>
        <p:nvSpPr>
          <p:cNvPr id="18" name="Freeform: Shape 17">
            <a:extLst>
              <a:ext uri="{FF2B5EF4-FFF2-40B4-BE49-F238E27FC236}">
                <a16:creationId xmlns:a16="http://schemas.microsoft.com/office/drawing/2014/main" id="{2AD292BD-58D8-4261-AD54-80C939F13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78598" y="3909952"/>
            <a:ext cx="3313402" cy="2948047"/>
          </a:xfrm>
          <a:custGeom>
            <a:avLst/>
            <a:gdLst>
              <a:gd name="connsiteX0" fmla="*/ 1934947 w 3313402"/>
              <a:gd name="connsiteY0" fmla="*/ 0 h 2948047"/>
              <a:gd name="connsiteX1" fmla="*/ 1972495 w 3313402"/>
              <a:gd name="connsiteY1" fmla="*/ 3519 h 2948047"/>
              <a:gd name="connsiteX2" fmla="*/ 2008871 w 3313402"/>
              <a:gd name="connsiteY2" fmla="*/ 12907 h 2948047"/>
              <a:gd name="connsiteX3" fmla="*/ 2044074 w 3313402"/>
              <a:gd name="connsiteY3" fmla="*/ 26988 h 2948047"/>
              <a:gd name="connsiteX4" fmla="*/ 2080448 w 3313402"/>
              <a:gd name="connsiteY4" fmla="*/ 44589 h 2948047"/>
              <a:gd name="connsiteX5" fmla="*/ 2114478 w 3313402"/>
              <a:gd name="connsiteY5" fmla="*/ 64537 h 2948047"/>
              <a:gd name="connsiteX6" fmla="*/ 2149681 w 3313402"/>
              <a:gd name="connsiteY6" fmla="*/ 85659 h 2948047"/>
              <a:gd name="connsiteX7" fmla="*/ 2184882 w 3313402"/>
              <a:gd name="connsiteY7" fmla="*/ 104433 h 2948047"/>
              <a:gd name="connsiteX8" fmla="*/ 2220084 w 3313402"/>
              <a:gd name="connsiteY8" fmla="*/ 123208 h 2948047"/>
              <a:gd name="connsiteX9" fmla="*/ 2254113 w 3313402"/>
              <a:gd name="connsiteY9" fmla="*/ 137288 h 2948047"/>
              <a:gd name="connsiteX10" fmla="*/ 2291662 w 3313402"/>
              <a:gd name="connsiteY10" fmla="*/ 146675 h 2948047"/>
              <a:gd name="connsiteX11" fmla="*/ 2328037 w 3313402"/>
              <a:gd name="connsiteY11" fmla="*/ 151369 h 2948047"/>
              <a:gd name="connsiteX12" fmla="*/ 2366759 w 3313402"/>
              <a:gd name="connsiteY12" fmla="*/ 151369 h 2948047"/>
              <a:gd name="connsiteX13" fmla="*/ 2406656 w 3313402"/>
              <a:gd name="connsiteY13" fmla="*/ 149023 h 2948047"/>
              <a:gd name="connsiteX14" fmla="*/ 2446551 w 3313402"/>
              <a:gd name="connsiteY14" fmla="*/ 144329 h 2948047"/>
              <a:gd name="connsiteX15" fmla="*/ 2486448 w 3313402"/>
              <a:gd name="connsiteY15" fmla="*/ 138462 h 2948047"/>
              <a:gd name="connsiteX16" fmla="*/ 2526343 w 3313402"/>
              <a:gd name="connsiteY16" fmla="*/ 133769 h 2948047"/>
              <a:gd name="connsiteX17" fmla="*/ 2566239 w 3313402"/>
              <a:gd name="connsiteY17" fmla="*/ 130247 h 2948047"/>
              <a:gd name="connsiteX18" fmla="*/ 2603787 w 3313402"/>
              <a:gd name="connsiteY18" fmla="*/ 131421 h 2948047"/>
              <a:gd name="connsiteX19" fmla="*/ 2640163 w 3313402"/>
              <a:gd name="connsiteY19" fmla="*/ 136115 h 2948047"/>
              <a:gd name="connsiteX20" fmla="*/ 2675366 w 3313402"/>
              <a:gd name="connsiteY20" fmla="*/ 146675 h 2948047"/>
              <a:gd name="connsiteX21" fmla="*/ 2704702 w 3313402"/>
              <a:gd name="connsiteY21" fmla="*/ 161930 h 2948047"/>
              <a:gd name="connsiteX22" fmla="*/ 2732862 w 3313402"/>
              <a:gd name="connsiteY22" fmla="*/ 181878 h 2948047"/>
              <a:gd name="connsiteX23" fmla="*/ 2757504 w 3313402"/>
              <a:gd name="connsiteY23" fmla="*/ 205346 h 2948047"/>
              <a:gd name="connsiteX24" fmla="*/ 2782146 w 3313402"/>
              <a:gd name="connsiteY24" fmla="*/ 232334 h 2948047"/>
              <a:gd name="connsiteX25" fmla="*/ 2804440 w 3313402"/>
              <a:gd name="connsiteY25" fmla="*/ 260495 h 2948047"/>
              <a:gd name="connsiteX26" fmla="*/ 2826735 w 3313402"/>
              <a:gd name="connsiteY26" fmla="*/ 289831 h 2948047"/>
              <a:gd name="connsiteX27" fmla="*/ 2849030 w 3313402"/>
              <a:gd name="connsiteY27" fmla="*/ 319166 h 2948047"/>
              <a:gd name="connsiteX28" fmla="*/ 2871324 w 3313402"/>
              <a:gd name="connsiteY28" fmla="*/ 347327 h 2948047"/>
              <a:gd name="connsiteX29" fmla="*/ 2894793 w 3313402"/>
              <a:gd name="connsiteY29" fmla="*/ 374315 h 2948047"/>
              <a:gd name="connsiteX30" fmla="*/ 2921781 w 3313402"/>
              <a:gd name="connsiteY30" fmla="*/ 397785 h 2948047"/>
              <a:gd name="connsiteX31" fmla="*/ 2947597 w 3313402"/>
              <a:gd name="connsiteY31" fmla="*/ 418906 h 2948047"/>
              <a:gd name="connsiteX32" fmla="*/ 2976931 w 3313402"/>
              <a:gd name="connsiteY32" fmla="*/ 435332 h 2948047"/>
              <a:gd name="connsiteX33" fmla="*/ 3008614 w 3313402"/>
              <a:gd name="connsiteY33" fmla="*/ 449413 h 2948047"/>
              <a:gd name="connsiteX34" fmla="*/ 3042641 w 3313402"/>
              <a:gd name="connsiteY34" fmla="*/ 461147 h 2948047"/>
              <a:gd name="connsiteX35" fmla="*/ 3077843 w 3313402"/>
              <a:gd name="connsiteY35" fmla="*/ 471708 h 2948047"/>
              <a:gd name="connsiteX36" fmla="*/ 3113046 w 3313402"/>
              <a:gd name="connsiteY36" fmla="*/ 481096 h 2948047"/>
              <a:gd name="connsiteX37" fmla="*/ 3149422 w 3313402"/>
              <a:gd name="connsiteY37" fmla="*/ 490483 h 2948047"/>
              <a:gd name="connsiteX38" fmla="*/ 3183450 w 3313402"/>
              <a:gd name="connsiteY38" fmla="*/ 501044 h 2948047"/>
              <a:gd name="connsiteX39" fmla="*/ 3217478 w 3313402"/>
              <a:gd name="connsiteY39" fmla="*/ 512777 h 2948047"/>
              <a:gd name="connsiteX40" fmla="*/ 3249161 w 3313402"/>
              <a:gd name="connsiteY40" fmla="*/ 526859 h 2948047"/>
              <a:gd name="connsiteX41" fmla="*/ 3277323 w 3313402"/>
              <a:gd name="connsiteY41" fmla="*/ 544460 h 2948047"/>
              <a:gd name="connsiteX42" fmla="*/ 3303139 w 3313402"/>
              <a:gd name="connsiteY42" fmla="*/ 565581 h 2948047"/>
              <a:gd name="connsiteX43" fmla="*/ 3313402 w 3313402"/>
              <a:gd name="connsiteY43" fmla="*/ 578126 h 2948047"/>
              <a:gd name="connsiteX44" fmla="*/ 3313402 w 3313402"/>
              <a:gd name="connsiteY44" fmla="*/ 2948047 h 2948047"/>
              <a:gd name="connsiteX45" fmla="*/ 422306 w 3313402"/>
              <a:gd name="connsiteY45" fmla="*/ 2948047 h 2948047"/>
              <a:gd name="connsiteX46" fmla="*/ 420079 w 3313402"/>
              <a:gd name="connsiteY46" fmla="*/ 2944070 h 2948047"/>
              <a:gd name="connsiteX47" fmla="*/ 398960 w 3313402"/>
              <a:gd name="connsiteY47" fmla="*/ 2918255 h 2948047"/>
              <a:gd name="connsiteX48" fmla="*/ 375490 w 3313402"/>
              <a:gd name="connsiteY48" fmla="*/ 2891267 h 2948047"/>
              <a:gd name="connsiteX49" fmla="*/ 348502 w 3313402"/>
              <a:gd name="connsiteY49" fmla="*/ 2867799 h 2948047"/>
              <a:gd name="connsiteX50" fmla="*/ 319166 w 3313402"/>
              <a:gd name="connsiteY50" fmla="*/ 2845505 h 2948047"/>
              <a:gd name="connsiteX51" fmla="*/ 289832 w 3313402"/>
              <a:gd name="connsiteY51" fmla="*/ 2823210 h 2948047"/>
              <a:gd name="connsiteX52" fmla="*/ 260497 w 3313402"/>
              <a:gd name="connsiteY52" fmla="*/ 2800916 h 2948047"/>
              <a:gd name="connsiteX53" fmla="*/ 232334 w 3313402"/>
              <a:gd name="connsiteY53" fmla="*/ 2778620 h 2948047"/>
              <a:gd name="connsiteX54" fmla="*/ 205346 w 3313402"/>
              <a:gd name="connsiteY54" fmla="*/ 2753979 h 2948047"/>
              <a:gd name="connsiteX55" fmla="*/ 181878 w 3313402"/>
              <a:gd name="connsiteY55" fmla="*/ 2729338 h 2948047"/>
              <a:gd name="connsiteX56" fmla="*/ 161931 w 3313402"/>
              <a:gd name="connsiteY56" fmla="*/ 2701176 h 2948047"/>
              <a:gd name="connsiteX57" fmla="*/ 146677 w 3313402"/>
              <a:gd name="connsiteY57" fmla="*/ 2671841 h 2948047"/>
              <a:gd name="connsiteX58" fmla="*/ 136116 w 3313402"/>
              <a:gd name="connsiteY58" fmla="*/ 2636640 h 2948047"/>
              <a:gd name="connsiteX59" fmla="*/ 131422 w 3313402"/>
              <a:gd name="connsiteY59" fmla="*/ 2600264 h 2948047"/>
              <a:gd name="connsiteX60" fmla="*/ 130248 w 3313402"/>
              <a:gd name="connsiteY60" fmla="*/ 2562713 h 2948047"/>
              <a:gd name="connsiteX61" fmla="*/ 133769 w 3313402"/>
              <a:gd name="connsiteY61" fmla="*/ 2522818 h 2948047"/>
              <a:gd name="connsiteX62" fmla="*/ 138462 w 3313402"/>
              <a:gd name="connsiteY62" fmla="*/ 2482923 h 2948047"/>
              <a:gd name="connsiteX63" fmla="*/ 144329 w 3313402"/>
              <a:gd name="connsiteY63" fmla="*/ 2443026 h 2948047"/>
              <a:gd name="connsiteX64" fmla="*/ 149023 w 3313402"/>
              <a:gd name="connsiteY64" fmla="*/ 2403131 h 2948047"/>
              <a:gd name="connsiteX65" fmla="*/ 151371 w 3313402"/>
              <a:gd name="connsiteY65" fmla="*/ 2363236 h 2948047"/>
              <a:gd name="connsiteX66" fmla="*/ 151371 w 3313402"/>
              <a:gd name="connsiteY66" fmla="*/ 2324513 h 2948047"/>
              <a:gd name="connsiteX67" fmla="*/ 146677 w 3313402"/>
              <a:gd name="connsiteY67" fmla="*/ 2288138 h 2948047"/>
              <a:gd name="connsiteX68" fmla="*/ 137289 w 3313402"/>
              <a:gd name="connsiteY68" fmla="*/ 2251763 h 2948047"/>
              <a:gd name="connsiteX69" fmla="*/ 123208 w 3313402"/>
              <a:gd name="connsiteY69" fmla="*/ 2217733 h 2948047"/>
              <a:gd name="connsiteX70" fmla="*/ 105607 w 3313402"/>
              <a:gd name="connsiteY70" fmla="*/ 2182531 h 2948047"/>
              <a:gd name="connsiteX71" fmla="*/ 85659 w 3313402"/>
              <a:gd name="connsiteY71" fmla="*/ 2147330 h 2948047"/>
              <a:gd name="connsiteX72" fmla="*/ 64538 w 3313402"/>
              <a:gd name="connsiteY72" fmla="*/ 2112127 h 2948047"/>
              <a:gd name="connsiteX73" fmla="*/ 44590 w 3313402"/>
              <a:gd name="connsiteY73" fmla="*/ 2078098 h 2948047"/>
              <a:gd name="connsiteX74" fmla="*/ 26988 w 3313402"/>
              <a:gd name="connsiteY74" fmla="*/ 2041723 h 2948047"/>
              <a:gd name="connsiteX75" fmla="*/ 12908 w 3313402"/>
              <a:gd name="connsiteY75" fmla="*/ 2006521 h 2948047"/>
              <a:gd name="connsiteX76" fmla="*/ 3521 w 3313402"/>
              <a:gd name="connsiteY76" fmla="*/ 1970145 h 2948047"/>
              <a:gd name="connsiteX77" fmla="*/ 0 w 3313402"/>
              <a:gd name="connsiteY77" fmla="*/ 1932596 h 2948047"/>
              <a:gd name="connsiteX78" fmla="*/ 3521 w 3313402"/>
              <a:gd name="connsiteY78" fmla="*/ 1895048 h 2948047"/>
              <a:gd name="connsiteX79" fmla="*/ 12908 w 3313402"/>
              <a:gd name="connsiteY79" fmla="*/ 1858672 h 2948047"/>
              <a:gd name="connsiteX80" fmla="*/ 26988 w 3313402"/>
              <a:gd name="connsiteY80" fmla="*/ 1823470 h 2948047"/>
              <a:gd name="connsiteX81" fmla="*/ 44590 w 3313402"/>
              <a:gd name="connsiteY81" fmla="*/ 1787095 h 2948047"/>
              <a:gd name="connsiteX82" fmla="*/ 64538 w 3313402"/>
              <a:gd name="connsiteY82" fmla="*/ 1753065 h 2948047"/>
              <a:gd name="connsiteX83" fmla="*/ 85659 w 3313402"/>
              <a:gd name="connsiteY83" fmla="*/ 1717864 h 2948047"/>
              <a:gd name="connsiteX84" fmla="*/ 105607 w 3313402"/>
              <a:gd name="connsiteY84" fmla="*/ 1682661 h 2948047"/>
              <a:gd name="connsiteX85" fmla="*/ 123208 w 3313402"/>
              <a:gd name="connsiteY85" fmla="*/ 1647460 h 2948047"/>
              <a:gd name="connsiteX86" fmla="*/ 137289 w 3313402"/>
              <a:gd name="connsiteY86" fmla="*/ 1613430 h 2948047"/>
              <a:gd name="connsiteX87" fmla="*/ 146677 w 3313402"/>
              <a:gd name="connsiteY87" fmla="*/ 1577054 h 2948047"/>
              <a:gd name="connsiteX88" fmla="*/ 151371 w 3313402"/>
              <a:gd name="connsiteY88" fmla="*/ 1540680 h 2948047"/>
              <a:gd name="connsiteX89" fmla="*/ 151371 w 3313402"/>
              <a:gd name="connsiteY89" fmla="*/ 1501958 h 2948047"/>
              <a:gd name="connsiteX90" fmla="*/ 149023 w 3313402"/>
              <a:gd name="connsiteY90" fmla="*/ 1462061 h 2948047"/>
              <a:gd name="connsiteX91" fmla="*/ 144329 w 3313402"/>
              <a:gd name="connsiteY91" fmla="*/ 1422166 h 2948047"/>
              <a:gd name="connsiteX92" fmla="*/ 138462 w 3313402"/>
              <a:gd name="connsiteY92" fmla="*/ 1382269 h 2948047"/>
              <a:gd name="connsiteX93" fmla="*/ 133769 w 3313402"/>
              <a:gd name="connsiteY93" fmla="*/ 1342374 h 2948047"/>
              <a:gd name="connsiteX94" fmla="*/ 130248 w 3313402"/>
              <a:gd name="connsiteY94" fmla="*/ 1302479 h 2948047"/>
              <a:gd name="connsiteX95" fmla="*/ 131422 w 3313402"/>
              <a:gd name="connsiteY95" fmla="*/ 1264930 h 2948047"/>
              <a:gd name="connsiteX96" fmla="*/ 136116 w 3313402"/>
              <a:gd name="connsiteY96" fmla="*/ 1228554 h 2948047"/>
              <a:gd name="connsiteX97" fmla="*/ 146677 w 3313402"/>
              <a:gd name="connsiteY97" fmla="*/ 1193352 h 2948047"/>
              <a:gd name="connsiteX98" fmla="*/ 161931 w 3313402"/>
              <a:gd name="connsiteY98" fmla="*/ 1164017 h 2948047"/>
              <a:gd name="connsiteX99" fmla="*/ 181878 w 3313402"/>
              <a:gd name="connsiteY99" fmla="*/ 1135856 h 2948047"/>
              <a:gd name="connsiteX100" fmla="*/ 205346 w 3313402"/>
              <a:gd name="connsiteY100" fmla="*/ 1111214 h 2948047"/>
              <a:gd name="connsiteX101" fmla="*/ 232334 w 3313402"/>
              <a:gd name="connsiteY101" fmla="*/ 1086573 h 2948047"/>
              <a:gd name="connsiteX102" fmla="*/ 260497 w 3313402"/>
              <a:gd name="connsiteY102" fmla="*/ 1064277 h 2948047"/>
              <a:gd name="connsiteX103" fmla="*/ 289832 w 3313402"/>
              <a:gd name="connsiteY103" fmla="*/ 1041982 h 2948047"/>
              <a:gd name="connsiteX104" fmla="*/ 319166 w 3313402"/>
              <a:gd name="connsiteY104" fmla="*/ 1019688 h 2948047"/>
              <a:gd name="connsiteX105" fmla="*/ 348502 w 3313402"/>
              <a:gd name="connsiteY105" fmla="*/ 997393 h 2948047"/>
              <a:gd name="connsiteX106" fmla="*/ 375490 w 3313402"/>
              <a:gd name="connsiteY106" fmla="*/ 973926 h 2948047"/>
              <a:gd name="connsiteX107" fmla="*/ 398960 w 3313402"/>
              <a:gd name="connsiteY107" fmla="*/ 946938 h 2948047"/>
              <a:gd name="connsiteX108" fmla="*/ 420079 w 3313402"/>
              <a:gd name="connsiteY108" fmla="*/ 921122 h 2948047"/>
              <a:gd name="connsiteX109" fmla="*/ 436507 w 3313402"/>
              <a:gd name="connsiteY109" fmla="*/ 891788 h 2948047"/>
              <a:gd name="connsiteX110" fmla="*/ 450588 w 3313402"/>
              <a:gd name="connsiteY110" fmla="*/ 860106 h 2948047"/>
              <a:gd name="connsiteX111" fmla="*/ 462322 w 3313402"/>
              <a:gd name="connsiteY111" fmla="*/ 826076 h 2948047"/>
              <a:gd name="connsiteX112" fmla="*/ 472883 w 3313402"/>
              <a:gd name="connsiteY112" fmla="*/ 790874 h 2948047"/>
              <a:gd name="connsiteX113" fmla="*/ 482271 w 3313402"/>
              <a:gd name="connsiteY113" fmla="*/ 755672 h 2948047"/>
              <a:gd name="connsiteX114" fmla="*/ 491658 w 3313402"/>
              <a:gd name="connsiteY114" fmla="*/ 719297 h 2948047"/>
              <a:gd name="connsiteX115" fmla="*/ 502219 w 3313402"/>
              <a:gd name="connsiteY115" fmla="*/ 685268 h 2948047"/>
              <a:gd name="connsiteX116" fmla="*/ 513952 w 3313402"/>
              <a:gd name="connsiteY116" fmla="*/ 651238 h 2948047"/>
              <a:gd name="connsiteX117" fmla="*/ 528034 w 3313402"/>
              <a:gd name="connsiteY117" fmla="*/ 619558 h 2948047"/>
              <a:gd name="connsiteX118" fmla="*/ 545635 w 3313402"/>
              <a:gd name="connsiteY118" fmla="*/ 591396 h 2948047"/>
              <a:gd name="connsiteX119" fmla="*/ 566755 w 3313402"/>
              <a:gd name="connsiteY119" fmla="*/ 565581 h 2948047"/>
              <a:gd name="connsiteX120" fmla="*/ 592570 w 3313402"/>
              <a:gd name="connsiteY120" fmla="*/ 544460 h 2948047"/>
              <a:gd name="connsiteX121" fmla="*/ 620733 w 3313402"/>
              <a:gd name="connsiteY121" fmla="*/ 526859 h 2948047"/>
              <a:gd name="connsiteX122" fmla="*/ 652413 w 3313402"/>
              <a:gd name="connsiteY122" fmla="*/ 512777 h 2948047"/>
              <a:gd name="connsiteX123" fmla="*/ 686443 w 3313402"/>
              <a:gd name="connsiteY123" fmla="*/ 501044 h 2948047"/>
              <a:gd name="connsiteX124" fmla="*/ 720472 w 3313402"/>
              <a:gd name="connsiteY124" fmla="*/ 490483 h 2948047"/>
              <a:gd name="connsiteX125" fmla="*/ 756848 w 3313402"/>
              <a:gd name="connsiteY125" fmla="*/ 481096 h 2948047"/>
              <a:gd name="connsiteX126" fmla="*/ 792049 w 3313402"/>
              <a:gd name="connsiteY126" fmla="*/ 471708 h 2948047"/>
              <a:gd name="connsiteX127" fmla="*/ 827252 w 3313402"/>
              <a:gd name="connsiteY127" fmla="*/ 461147 h 2948047"/>
              <a:gd name="connsiteX128" fmla="*/ 861280 w 3313402"/>
              <a:gd name="connsiteY128" fmla="*/ 449413 h 2948047"/>
              <a:gd name="connsiteX129" fmla="*/ 892962 w 3313402"/>
              <a:gd name="connsiteY129" fmla="*/ 435332 h 2948047"/>
              <a:gd name="connsiteX130" fmla="*/ 922297 w 3313402"/>
              <a:gd name="connsiteY130" fmla="*/ 418906 h 2948047"/>
              <a:gd name="connsiteX131" fmla="*/ 948112 w 3313402"/>
              <a:gd name="connsiteY131" fmla="*/ 397785 h 2948047"/>
              <a:gd name="connsiteX132" fmla="*/ 975101 w 3313402"/>
              <a:gd name="connsiteY132" fmla="*/ 374315 h 2948047"/>
              <a:gd name="connsiteX133" fmla="*/ 998569 w 3313402"/>
              <a:gd name="connsiteY133" fmla="*/ 347327 h 2948047"/>
              <a:gd name="connsiteX134" fmla="*/ 1020864 w 3313402"/>
              <a:gd name="connsiteY134" fmla="*/ 319166 h 2948047"/>
              <a:gd name="connsiteX135" fmla="*/ 1043158 w 3313402"/>
              <a:gd name="connsiteY135" fmla="*/ 289831 h 2948047"/>
              <a:gd name="connsiteX136" fmla="*/ 1065453 w 3313402"/>
              <a:gd name="connsiteY136" fmla="*/ 260495 h 2948047"/>
              <a:gd name="connsiteX137" fmla="*/ 1087747 w 3313402"/>
              <a:gd name="connsiteY137" fmla="*/ 232334 h 2948047"/>
              <a:gd name="connsiteX138" fmla="*/ 1112390 w 3313402"/>
              <a:gd name="connsiteY138" fmla="*/ 205346 h 2948047"/>
              <a:gd name="connsiteX139" fmla="*/ 1137030 w 3313402"/>
              <a:gd name="connsiteY139" fmla="*/ 181878 h 2948047"/>
              <a:gd name="connsiteX140" fmla="*/ 1165193 w 3313402"/>
              <a:gd name="connsiteY140" fmla="*/ 161930 h 2948047"/>
              <a:gd name="connsiteX141" fmla="*/ 1194528 w 3313402"/>
              <a:gd name="connsiteY141" fmla="*/ 146675 h 2948047"/>
              <a:gd name="connsiteX142" fmla="*/ 1229731 w 3313402"/>
              <a:gd name="connsiteY142" fmla="*/ 136115 h 2948047"/>
              <a:gd name="connsiteX143" fmla="*/ 1266106 w 3313402"/>
              <a:gd name="connsiteY143" fmla="*/ 131421 h 2948047"/>
              <a:gd name="connsiteX144" fmla="*/ 1303654 w 3313402"/>
              <a:gd name="connsiteY144" fmla="*/ 130247 h 2948047"/>
              <a:gd name="connsiteX145" fmla="*/ 1343549 w 3313402"/>
              <a:gd name="connsiteY145" fmla="*/ 133769 h 2948047"/>
              <a:gd name="connsiteX146" fmla="*/ 1383446 w 3313402"/>
              <a:gd name="connsiteY146" fmla="*/ 138462 h 2948047"/>
              <a:gd name="connsiteX147" fmla="*/ 1423342 w 3313402"/>
              <a:gd name="connsiteY147" fmla="*/ 144329 h 2948047"/>
              <a:gd name="connsiteX148" fmla="*/ 1463237 w 3313402"/>
              <a:gd name="connsiteY148" fmla="*/ 149023 h 2948047"/>
              <a:gd name="connsiteX149" fmla="*/ 1503133 w 3313402"/>
              <a:gd name="connsiteY149" fmla="*/ 151369 h 2948047"/>
              <a:gd name="connsiteX150" fmla="*/ 1541856 w 3313402"/>
              <a:gd name="connsiteY150" fmla="*/ 151369 h 2948047"/>
              <a:gd name="connsiteX151" fmla="*/ 1578232 w 3313402"/>
              <a:gd name="connsiteY151" fmla="*/ 146675 h 2948047"/>
              <a:gd name="connsiteX152" fmla="*/ 1614608 w 3313402"/>
              <a:gd name="connsiteY152" fmla="*/ 137288 h 2948047"/>
              <a:gd name="connsiteX153" fmla="*/ 1649810 w 3313402"/>
              <a:gd name="connsiteY153" fmla="*/ 123208 h 2948047"/>
              <a:gd name="connsiteX154" fmla="*/ 1685011 w 3313402"/>
              <a:gd name="connsiteY154" fmla="*/ 104433 h 2948047"/>
              <a:gd name="connsiteX155" fmla="*/ 1720214 w 3313402"/>
              <a:gd name="connsiteY155" fmla="*/ 85659 h 2948047"/>
              <a:gd name="connsiteX156" fmla="*/ 1755415 w 3313402"/>
              <a:gd name="connsiteY156" fmla="*/ 64537 h 2948047"/>
              <a:gd name="connsiteX157" fmla="*/ 1789445 w 3313402"/>
              <a:gd name="connsiteY157" fmla="*/ 44589 h 2948047"/>
              <a:gd name="connsiteX158" fmla="*/ 1825821 w 3313402"/>
              <a:gd name="connsiteY158" fmla="*/ 26988 h 2948047"/>
              <a:gd name="connsiteX159" fmla="*/ 1861022 w 3313402"/>
              <a:gd name="connsiteY159" fmla="*/ 12907 h 2948047"/>
              <a:gd name="connsiteX160" fmla="*/ 1897398 w 3313402"/>
              <a:gd name="connsiteY160" fmla="*/ 3519 h 294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3313402" h="2948047">
                <a:moveTo>
                  <a:pt x="1934947" y="0"/>
                </a:moveTo>
                <a:lnTo>
                  <a:pt x="1972495" y="3519"/>
                </a:lnTo>
                <a:lnTo>
                  <a:pt x="2008871" y="12907"/>
                </a:lnTo>
                <a:lnTo>
                  <a:pt x="2044074" y="26988"/>
                </a:lnTo>
                <a:lnTo>
                  <a:pt x="2080448" y="44589"/>
                </a:lnTo>
                <a:lnTo>
                  <a:pt x="2114478" y="64537"/>
                </a:lnTo>
                <a:lnTo>
                  <a:pt x="2149681" y="85659"/>
                </a:lnTo>
                <a:lnTo>
                  <a:pt x="2184882" y="104433"/>
                </a:lnTo>
                <a:lnTo>
                  <a:pt x="2220084" y="123208"/>
                </a:lnTo>
                <a:lnTo>
                  <a:pt x="2254113" y="137288"/>
                </a:lnTo>
                <a:lnTo>
                  <a:pt x="2291662" y="146675"/>
                </a:lnTo>
                <a:lnTo>
                  <a:pt x="2328037" y="151369"/>
                </a:lnTo>
                <a:lnTo>
                  <a:pt x="2366759" y="151369"/>
                </a:lnTo>
                <a:lnTo>
                  <a:pt x="2406656" y="149023"/>
                </a:lnTo>
                <a:lnTo>
                  <a:pt x="2446551" y="144329"/>
                </a:lnTo>
                <a:lnTo>
                  <a:pt x="2486448" y="138462"/>
                </a:lnTo>
                <a:lnTo>
                  <a:pt x="2526343" y="133769"/>
                </a:lnTo>
                <a:lnTo>
                  <a:pt x="2566239" y="130247"/>
                </a:lnTo>
                <a:lnTo>
                  <a:pt x="2603787" y="131421"/>
                </a:lnTo>
                <a:lnTo>
                  <a:pt x="2640163" y="136115"/>
                </a:lnTo>
                <a:lnTo>
                  <a:pt x="2675366" y="146675"/>
                </a:lnTo>
                <a:lnTo>
                  <a:pt x="2704702" y="161930"/>
                </a:lnTo>
                <a:lnTo>
                  <a:pt x="2732862" y="181878"/>
                </a:lnTo>
                <a:lnTo>
                  <a:pt x="2757504" y="205346"/>
                </a:lnTo>
                <a:lnTo>
                  <a:pt x="2782146" y="232334"/>
                </a:lnTo>
                <a:lnTo>
                  <a:pt x="2804440" y="260495"/>
                </a:lnTo>
                <a:lnTo>
                  <a:pt x="2826735" y="289831"/>
                </a:lnTo>
                <a:lnTo>
                  <a:pt x="2849030" y="319166"/>
                </a:lnTo>
                <a:lnTo>
                  <a:pt x="2871324" y="347327"/>
                </a:lnTo>
                <a:lnTo>
                  <a:pt x="2894793" y="374315"/>
                </a:lnTo>
                <a:lnTo>
                  <a:pt x="2921781" y="397785"/>
                </a:lnTo>
                <a:lnTo>
                  <a:pt x="2947597" y="418906"/>
                </a:lnTo>
                <a:lnTo>
                  <a:pt x="2976931" y="435332"/>
                </a:lnTo>
                <a:lnTo>
                  <a:pt x="3008614" y="449413"/>
                </a:lnTo>
                <a:lnTo>
                  <a:pt x="3042641" y="461147"/>
                </a:lnTo>
                <a:lnTo>
                  <a:pt x="3077843" y="471708"/>
                </a:lnTo>
                <a:lnTo>
                  <a:pt x="3113046" y="481096"/>
                </a:lnTo>
                <a:lnTo>
                  <a:pt x="3149422" y="490483"/>
                </a:lnTo>
                <a:lnTo>
                  <a:pt x="3183450" y="501044"/>
                </a:lnTo>
                <a:lnTo>
                  <a:pt x="3217478" y="512777"/>
                </a:lnTo>
                <a:lnTo>
                  <a:pt x="3249161" y="526859"/>
                </a:lnTo>
                <a:lnTo>
                  <a:pt x="3277323" y="544460"/>
                </a:lnTo>
                <a:lnTo>
                  <a:pt x="3303139" y="565581"/>
                </a:lnTo>
                <a:lnTo>
                  <a:pt x="3313402" y="578126"/>
                </a:lnTo>
                <a:lnTo>
                  <a:pt x="3313402" y="2948047"/>
                </a:lnTo>
                <a:lnTo>
                  <a:pt x="422306" y="2948047"/>
                </a:lnTo>
                <a:lnTo>
                  <a:pt x="420079" y="2944070"/>
                </a:lnTo>
                <a:lnTo>
                  <a:pt x="398960" y="2918255"/>
                </a:lnTo>
                <a:lnTo>
                  <a:pt x="375490" y="2891267"/>
                </a:lnTo>
                <a:lnTo>
                  <a:pt x="348502" y="2867799"/>
                </a:lnTo>
                <a:lnTo>
                  <a:pt x="319166" y="2845505"/>
                </a:lnTo>
                <a:lnTo>
                  <a:pt x="289832" y="2823210"/>
                </a:lnTo>
                <a:lnTo>
                  <a:pt x="260497" y="2800916"/>
                </a:lnTo>
                <a:lnTo>
                  <a:pt x="232334" y="2778620"/>
                </a:lnTo>
                <a:lnTo>
                  <a:pt x="205346" y="2753979"/>
                </a:lnTo>
                <a:lnTo>
                  <a:pt x="181878" y="2729338"/>
                </a:lnTo>
                <a:lnTo>
                  <a:pt x="161931" y="2701176"/>
                </a:lnTo>
                <a:lnTo>
                  <a:pt x="146677" y="2671841"/>
                </a:lnTo>
                <a:lnTo>
                  <a:pt x="136116" y="2636640"/>
                </a:lnTo>
                <a:lnTo>
                  <a:pt x="131422" y="2600264"/>
                </a:lnTo>
                <a:lnTo>
                  <a:pt x="130248" y="2562713"/>
                </a:lnTo>
                <a:lnTo>
                  <a:pt x="133769" y="2522818"/>
                </a:lnTo>
                <a:lnTo>
                  <a:pt x="138462" y="2482923"/>
                </a:lnTo>
                <a:lnTo>
                  <a:pt x="144329" y="2443026"/>
                </a:lnTo>
                <a:lnTo>
                  <a:pt x="149023" y="2403131"/>
                </a:lnTo>
                <a:lnTo>
                  <a:pt x="151371" y="2363236"/>
                </a:lnTo>
                <a:lnTo>
                  <a:pt x="151371" y="2324513"/>
                </a:lnTo>
                <a:lnTo>
                  <a:pt x="146677" y="2288138"/>
                </a:lnTo>
                <a:lnTo>
                  <a:pt x="137289" y="2251763"/>
                </a:lnTo>
                <a:lnTo>
                  <a:pt x="123208" y="2217733"/>
                </a:lnTo>
                <a:lnTo>
                  <a:pt x="105607" y="2182531"/>
                </a:lnTo>
                <a:lnTo>
                  <a:pt x="85659" y="2147330"/>
                </a:lnTo>
                <a:lnTo>
                  <a:pt x="64538" y="2112127"/>
                </a:lnTo>
                <a:lnTo>
                  <a:pt x="44590" y="2078098"/>
                </a:lnTo>
                <a:lnTo>
                  <a:pt x="26988" y="2041723"/>
                </a:lnTo>
                <a:lnTo>
                  <a:pt x="12908" y="2006521"/>
                </a:lnTo>
                <a:lnTo>
                  <a:pt x="3521" y="1970145"/>
                </a:lnTo>
                <a:lnTo>
                  <a:pt x="0" y="1932596"/>
                </a:lnTo>
                <a:lnTo>
                  <a:pt x="3521" y="1895048"/>
                </a:lnTo>
                <a:lnTo>
                  <a:pt x="12908" y="1858672"/>
                </a:lnTo>
                <a:lnTo>
                  <a:pt x="26988" y="1823470"/>
                </a:lnTo>
                <a:lnTo>
                  <a:pt x="44590" y="1787095"/>
                </a:lnTo>
                <a:lnTo>
                  <a:pt x="64538" y="1753065"/>
                </a:lnTo>
                <a:lnTo>
                  <a:pt x="85659" y="1717864"/>
                </a:lnTo>
                <a:lnTo>
                  <a:pt x="105607" y="1682661"/>
                </a:lnTo>
                <a:lnTo>
                  <a:pt x="123208" y="1647460"/>
                </a:lnTo>
                <a:lnTo>
                  <a:pt x="137289" y="1613430"/>
                </a:lnTo>
                <a:lnTo>
                  <a:pt x="146677" y="1577054"/>
                </a:lnTo>
                <a:lnTo>
                  <a:pt x="151371" y="1540680"/>
                </a:lnTo>
                <a:lnTo>
                  <a:pt x="151371" y="1501958"/>
                </a:lnTo>
                <a:lnTo>
                  <a:pt x="149023" y="1462061"/>
                </a:lnTo>
                <a:lnTo>
                  <a:pt x="144329" y="1422166"/>
                </a:lnTo>
                <a:lnTo>
                  <a:pt x="138462" y="1382269"/>
                </a:lnTo>
                <a:lnTo>
                  <a:pt x="133769" y="1342374"/>
                </a:lnTo>
                <a:lnTo>
                  <a:pt x="130248" y="1302479"/>
                </a:lnTo>
                <a:lnTo>
                  <a:pt x="131422" y="1264930"/>
                </a:lnTo>
                <a:lnTo>
                  <a:pt x="136116" y="1228554"/>
                </a:lnTo>
                <a:lnTo>
                  <a:pt x="146677" y="1193352"/>
                </a:lnTo>
                <a:lnTo>
                  <a:pt x="161931" y="1164017"/>
                </a:lnTo>
                <a:lnTo>
                  <a:pt x="181878" y="1135856"/>
                </a:lnTo>
                <a:lnTo>
                  <a:pt x="205346" y="1111214"/>
                </a:lnTo>
                <a:lnTo>
                  <a:pt x="232334" y="1086573"/>
                </a:lnTo>
                <a:lnTo>
                  <a:pt x="260497" y="1064277"/>
                </a:lnTo>
                <a:lnTo>
                  <a:pt x="289832" y="1041982"/>
                </a:lnTo>
                <a:lnTo>
                  <a:pt x="319166" y="1019688"/>
                </a:lnTo>
                <a:lnTo>
                  <a:pt x="348502" y="997393"/>
                </a:lnTo>
                <a:lnTo>
                  <a:pt x="375490" y="973926"/>
                </a:lnTo>
                <a:lnTo>
                  <a:pt x="398960" y="946938"/>
                </a:lnTo>
                <a:lnTo>
                  <a:pt x="420079" y="921122"/>
                </a:lnTo>
                <a:lnTo>
                  <a:pt x="436507" y="891788"/>
                </a:lnTo>
                <a:lnTo>
                  <a:pt x="450588" y="860106"/>
                </a:lnTo>
                <a:lnTo>
                  <a:pt x="462322" y="826076"/>
                </a:lnTo>
                <a:lnTo>
                  <a:pt x="472883" y="790874"/>
                </a:lnTo>
                <a:lnTo>
                  <a:pt x="482271" y="755672"/>
                </a:lnTo>
                <a:lnTo>
                  <a:pt x="491658" y="719297"/>
                </a:lnTo>
                <a:lnTo>
                  <a:pt x="502219" y="685268"/>
                </a:lnTo>
                <a:lnTo>
                  <a:pt x="513952" y="651238"/>
                </a:lnTo>
                <a:lnTo>
                  <a:pt x="528034" y="619558"/>
                </a:lnTo>
                <a:lnTo>
                  <a:pt x="545635" y="591396"/>
                </a:lnTo>
                <a:lnTo>
                  <a:pt x="566755" y="565581"/>
                </a:lnTo>
                <a:lnTo>
                  <a:pt x="592570" y="544460"/>
                </a:lnTo>
                <a:lnTo>
                  <a:pt x="620733" y="526859"/>
                </a:lnTo>
                <a:lnTo>
                  <a:pt x="652413" y="512777"/>
                </a:lnTo>
                <a:lnTo>
                  <a:pt x="686443" y="501044"/>
                </a:lnTo>
                <a:lnTo>
                  <a:pt x="720472" y="490483"/>
                </a:lnTo>
                <a:lnTo>
                  <a:pt x="756848" y="481096"/>
                </a:lnTo>
                <a:lnTo>
                  <a:pt x="792049" y="471708"/>
                </a:lnTo>
                <a:lnTo>
                  <a:pt x="827252" y="461147"/>
                </a:lnTo>
                <a:lnTo>
                  <a:pt x="861280" y="449413"/>
                </a:lnTo>
                <a:lnTo>
                  <a:pt x="892962" y="435332"/>
                </a:lnTo>
                <a:lnTo>
                  <a:pt x="922297" y="418906"/>
                </a:lnTo>
                <a:lnTo>
                  <a:pt x="948112" y="397785"/>
                </a:lnTo>
                <a:lnTo>
                  <a:pt x="975101" y="374315"/>
                </a:lnTo>
                <a:lnTo>
                  <a:pt x="998569" y="347327"/>
                </a:lnTo>
                <a:lnTo>
                  <a:pt x="1020864" y="319166"/>
                </a:lnTo>
                <a:lnTo>
                  <a:pt x="1043158" y="289831"/>
                </a:lnTo>
                <a:lnTo>
                  <a:pt x="1065453" y="260495"/>
                </a:lnTo>
                <a:lnTo>
                  <a:pt x="1087747" y="232334"/>
                </a:lnTo>
                <a:lnTo>
                  <a:pt x="1112390" y="205346"/>
                </a:lnTo>
                <a:lnTo>
                  <a:pt x="1137030" y="181878"/>
                </a:lnTo>
                <a:lnTo>
                  <a:pt x="1165193" y="161930"/>
                </a:lnTo>
                <a:lnTo>
                  <a:pt x="1194528" y="146675"/>
                </a:lnTo>
                <a:lnTo>
                  <a:pt x="1229731" y="136115"/>
                </a:lnTo>
                <a:lnTo>
                  <a:pt x="1266106" y="131421"/>
                </a:lnTo>
                <a:lnTo>
                  <a:pt x="1303654" y="130247"/>
                </a:lnTo>
                <a:lnTo>
                  <a:pt x="1343549" y="133769"/>
                </a:lnTo>
                <a:lnTo>
                  <a:pt x="1383446" y="138462"/>
                </a:lnTo>
                <a:lnTo>
                  <a:pt x="1423342" y="144329"/>
                </a:lnTo>
                <a:lnTo>
                  <a:pt x="1463237" y="149023"/>
                </a:lnTo>
                <a:lnTo>
                  <a:pt x="1503133" y="151369"/>
                </a:lnTo>
                <a:lnTo>
                  <a:pt x="1541856" y="151369"/>
                </a:lnTo>
                <a:lnTo>
                  <a:pt x="1578232" y="146675"/>
                </a:lnTo>
                <a:lnTo>
                  <a:pt x="1614608" y="137288"/>
                </a:lnTo>
                <a:lnTo>
                  <a:pt x="1649810" y="123208"/>
                </a:lnTo>
                <a:lnTo>
                  <a:pt x="1685011" y="104433"/>
                </a:lnTo>
                <a:lnTo>
                  <a:pt x="1720214" y="85659"/>
                </a:lnTo>
                <a:lnTo>
                  <a:pt x="1755415" y="64537"/>
                </a:lnTo>
                <a:lnTo>
                  <a:pt x="1789445" y="44589"/>
                </a:lnTo>
                <a:lnTo>
                  <a:pt x="1825821" y="26988"/>
                </a:lnTo>
                <a:lnTo>
                  <a:pt x="1861022" y="12907"/>
                </a:lnTo>
                <a:lnTo>
                  <a:pt x="1897398" y="3519"/>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pic>
        <p:nvPicPr>
          <p:cNvPr id="7" name="Picture 6" descr="A close up of a brain&#10;&#10;Description automatically generated">
            <a:extLst>
              <a:ext uri="{FF2B5EF4-FFF2-40B4-BE49-F238E27FC236}">
                <a16:creationId xmlns:a16="http://schemas.microsoft.com/office/drawing/2014/main" id="{49FFBD36-AC53-80A3-4F44-98FB07D22925}"/>
              </a:ext>
            </a:extLst>
          </p:cNvPr>
          <p:cNvPicPr>
            <a:picLocks noChangeAspect="1"/>
          </p:cNvPicPr>
          <p:nvPr/>
        </p:nvPicPr>
        <p:blipFill rotWithShape="1">
          <a:blip r:embed="rId3"/>
          <a:srcRect t="3496" r="-4" b="7498"/>
          <a:stretch/>
        </p:blipFill>
        <p:spPr>
          <a:xfrm>
            <a:off x="8991066" y="4009104"/>
            <a:ext cx="3200935" cy="2848897"/>
          </a:xfrm>
          <a:custGeom>
            <a:avLst/>
            <a:gdLst/>
            <a:ahLst/>
            <a:cxnLst/>
            <a:rect l="l" t="t" r="r" b="b"/>
            <a:pathLst>
              <a:path w="3200935" h="2848897">
                <a:moveTo>
                  <a:pt x="1822480" y="0"/>
                </a:moveTo>
                <a:lnTo>
                  <a:pt x="1858100" y="3339"/>
                </a:lnTo>
                <a:lnTo>
                  <a:pt x="1892611" y="12245"/>
                </a:lnTo>
                <a:lnTo>
                  <a:pt x="1926007" y="25604"/>
                </a:lnTo>
                <a:lnTo>
                  <a:pt x="1960514" y="42302"/>
                </a:lnTo>
                <a:lnTo>
                  <a:pt x="1992798" y="61227"/>
                </a:lnTo>
                <a:lnTo>
                  <a:pt x="2026194" y="81264"/>
                </a:lnTo>
                <a:lnTo>
                  <a:pt x="2059589" y="99075"/>
                </a:lnTo>
                <a:lnTo>
                  <a:pt x="2092985" y="116887"/>
                </a:lnTo>
                <a:lnTo>
                  <a:pt x="2125268" y="130245"/>
                </a:lnTo>
                <a:lnTo>
                  <a:pt x="2160890" y="139150"/>
                </a:lnTo>
                <a:lnTo>
                  <a:pt x="2195399" y="143604"/>
                </a:lnTo>
                <a:lnTo>
                  <a:pt x="2232134" y="143604"/>
                </a:lnTo>
                <a:lnTo>
                  <a:pt x="2269983" y="141378"/>
                </a:lnTo>
                <a:lnTo>
                  <a:pt x="2307831" y="136924"/>
                </a:lnTo>
                <a:lnTo>
                  <a:pt x="2345681" y="131359"/>
                </a:lnTo>
                <a:lnTo>
                  <a:pt x="2383529" y="126906"/>
                </a:lnTo>
                <a:lnTo>
                  <a:pt x="2421378" y="123565"/>
                </a:lnTo>
                <a:lnTo>
                  <a:pt x="2456999" y="124678"/>
                </a:lnTo>
                <a:lnTo>
                  <a:pt x="2491507" y="129132"/>
                </a:lnTo>
                <a:lnTo>
                  <a:pt x="2524903" y="139150"/>
                </a:lnTo>
                <a:lnTo>
                  <a:pt x="2552734" y="153622"/>
                </a:lnTo>
                <a:lnTo>
                  <a:pt x="2579449" y="172547"/>
                </a:lnTo>
                <a:lnTo>
                  <a:pt x="2602827" y="194811"/>
                </a:lnTo>
                <a:lnTo>
                  <a:pt x="2626204" y="220414"/>
                </a:lnTo>
                <a:lnTo>
                  <a:pt x="2647355" y="247131"/>
                </a:lnTo>
                <a:lnTo>
                  <a:pt x="2668506" y="274961"/>
                </a:lnTo>
                <a:lnTo>
                  <a:pt x="2689656" y="302791"/>
                </a:lnTo>
                <a:lnTo>
                  <a:pt x="2710806" y="329509"/>
                </a:lnTo>
                <a:lnTo>
                  <a:pt x="2733071" y="355112"/>
                </a:lnTo>
                <a:lnTo>
                  <a:pt x="2758675" y="377377"/>
                </a:lnTo>
                <a:lnTo>
                  <a:pt x="2783165" y="397415"/>
                </a:lnTo>
                <a:lnTo>
                  <a:pt x="2810995" y="412999"/>
                </a:lnTo>
                <a:lnTo>
                  <a:pt x="2841051" y="426357"/>
                </a:lnTo>
                <a:lnTo>
                  <a:pt x="2873333" y="437489"/>
                </a:lnTo>
                <a:lnTo>
                  <a:pt x="2906728" y="447507"/>
                </a:lnTo>
                <a:lnTo>
                  <a:pt x="2940124" y="456413"/>
                </a:lnTo>
                <a:lnTo>
                  <a:pt x="2974633" y="465320"/>
                </a:lnTo>
                <a:lnTo>
                  <a:pt x="3006916" y="475338"/>
                </a:lnTo>
                <a:lnTo>
                  <a:pt x="3039197" y="486470"/>
                </a:lnTo>
                <a:lnTo>
                  <a:pt x="3069254" y="499829"/>
                </a:lnTo>
                <a:lnTo>
                  <a:pt x="3095972" y="516527"/>
                </a:lnTo>
                <a:lnTo>
                  <a:pt x="3120463" y="536565"/>
                </a:lnTo>
                <a:lnTo>
                  <a:pt x="3140498" y="561055"/>
                </a:lnTo>
                <a:lnTo>
                  <a:pt x="3157197" y="587772"/>
                </a:lnTo>
                <a:lnTo>
                  <a:pt x="3170555" y="617827"/>
                </a:lnTo>
                <a:lnTo>
                  <a:pt x="3181687" y="650112"/>
                </a:lnTo>
                <a:lnTo>
                  <a:pt x="3191705" y="682393"/>
                </a:lnTo>
                <a:lnTo>
                  <a:pt x="3200612" y="716904"/>
                </a:lnTo>
                <a:lnTo>
                  <a:pt x="3200935" y="718115"/>
                </a:lnTo>
                <a:lnTo>
                  <a:pt x="3200935" y="2848897"/>
                </a:lnTo>
                <a:lnTo>
                  <a:pt x="413394" y="2848897"/>
                </a:lnTo>
                <a:lnTo>
                  <a:pt x="400932" y="2820857"/>
                </a:lnTo>
                <a:lnTo>
                  <a:pt x="385348" y="2793028"/>
                </a:lnTo>
                <a:lnTo>
                  <a:pt x="365311" y="2768537"/>
                </a:lnTo>
                <a:lnTo>
                  <a:pt x="343046" y="2742933"/>
                </a:lnTo>
                <a:lnTo>
                  <a:pt x="317443" y="2720669"/>
                </a:lnTo>
                <a:lnTo>
                  <a:pt x="289612" y="2699519"/>
                </a:lnTo>
                <a:lnTo>
                  <a:pt x="261783" y="2678368"/>
                </a:lnTo>
                <a:lnTo>
                  <a:pt x="233954" y="2657218"/>
                </a:lnTo>
                <a:lnTo>
                  <a:pt x="207237" y="2636065"/>
                </a:lnTo>
                <a:lnTo>
                  <a:pt x="181633" y="2612689"/>
                </a:lnTo>
                <a:lnTo>
                  <a:pt x="159370" y="2589312"/>
                </a:lnTo>
                <a:lnTo>
                  <a:pt x="140446" y="2562594"/>
                </a:lnTo>
                <a:lnTo>
                  <a:pt x="125974" y="2534764"/>
                </a:lnTo>
                <a:lnTo>
                  <a:pt x="115956" y="2501370"/>
                </a:lnTo>
                <a:lnTo>
                  <a:pt x="111502" y="2466860"/>
                </a:lnTo>
                <a:lnTo>
                  <a:pt x="110388" y="2431236"/>
                </a:lnTo>
                <a:lnTo>
                  <a:pt x="113728" y="2393388"/>
                </a:lnTo>
                <a:lnTo>
                  <a:pt x="118182" y="2355539"/>
                </a:lnTo>
                <a:lnTo>
                  <a:pt x="123747" y="2317690"/>
                </a:lnTo>
                <a:lnTo>
                  <a:pt x="128200" y="2279842"/>
                </a:lnTo>
                <a:lnTo>
                  <a:pt x="130428" y="2241992"/>
                </a:lnTo>
                <a:lnTo>
                  <a:pt x="130428" y="2205256"/>
                </a:lnTo>
                <a:lnTo>
                  <a:pt x="125974" y="2170747"/>
                </a:lnTo>
                <a:lnTo>
                  <a:pt x="117069" y="2136238"/>
                </a:lnTo>
                <a:lnTo>
                  <a:pt x="103710" y="2103954"/>
                </a:lnTo>
                <a:lnTo>
                  <a:pt x="87012" y="2070559"/>
                </a:lnTo>
                <a:lnTo>
                  <a:pt x="68088" y="2037163"/>
                </a:lnTo>
                <a:lnTo>
                  <a:pt x="48051" y="2003766"/>
                </a:lnTo>
                <a:lnTo>
                  <a:pt x="29127" y="1971483"/>
                </a:lnTo>
                <a:lnTo>
                  <a:pt x="12427" y="1936974"/>
                </a:lnTo>
                <a:lnTo>
                  <a:pt x="0" y="1905903"/>
                </a:lnTo>
                <a:lnTo>
                  <a:pt x="0" y="1760990"/>
                </a:lnTo>
                <a:lnTo>
                  <a:pt x="12427" y="1729918"/>
                </a:lnTo>
                <a:lnTo>
                  <a:pt x="29127" y="1695410"/>
                </a:lnTo>
                <a:lnTo>
                  <a:pt x="48051" y="1663126"/>
                </a:lnTo>
                <a:lnTo>
                  <a:pt x="68088" y="1629730"/>
                </a:lnTo>
                <a:lnTo>
                  <a:pt x="87012" y="1596334"/>
                </a:lnTo>
                <a:lnTo>
                  <a:pt x="103710" y="1562938"/>
                </a:lnTo>
                <a:lnTo>
                  <a:pt x="117069" y="1530654"/>
                </a:lnTo>
                <a:lnTo>
                  <a:pt x="125974" y="1496145"/>
                </a:lnTo>
                <a:lnTo>
                  <a:pt x="130428" y="1461636"/>
                </a:lnTo>
                <a:lnTo>
                  <a:pt x="130428" y="1424901"/>
                </a:lnTo>
                <a:lnTo>
                  <a:pt x="128200" y="1387052"/>
                </a:lnTo>
                <a:lnTo>
                  <a:pt x="123747" y="1349203"/>
                </a:lnTo>
                <a:lnTo>
                  <a:pt x="118182" y="1311353"/>
                </a:lnTo>
                <a:lnTo>
                  <a:pt x="113728" y="1273505"/>
                </a:lnTo>
                <a:lnTo>
                  <a:pt x="110388" y="1235657"/>
                </a:lnTo>
                <a:lnTo>
                  <a:pt x="111502" y="1200034"/>
                </a:lnTo>
                <a:lnTo>
                  <a:pt x="115956" y="1165525"/>
                </a:lnTo>
                <a:lnTo>
                  <a:pt x="125974" y="1132128"/>
                </a:lnTo>
                <a:lnTo>
                  <a:pt x="140446" y="1104298"/>
                </a:lnTo>
                <a:lnTo>
                  <a:pt x="159370" y="1077582"/>
                </a:lnTo>
                <a:lnTo>
                  <a:pt x="181633" y="1054204"/>
                </a:lnTo>
                <a:lnTo>
                  <a:pt x="207237" y="1030827"/>
                </a:lnTo>
                <a:lnTo>
                  <a:pt x="233954" y="1009676"/>
                </a:lnTo>
                <a:lnTo>
                  <a:pt x="261783" y="988524"/>
                </a:lnTo>
                <a:lnTo>
                  <a:pt x="289612" y="967374"/>
                </a:lnTo>
                <a:lnTo>
                  <a:pt x="317443" y="946223"/>
                </a:lnTo>
                <a:lnTo>
                  <a:pt x="343046" y="923960"/>
                </a:lnTo>
                <a:lnTo>
                  <a:pt x="365311" y="898356"/>
                </a:lnTo>
                <a:lnTo>
                  <a:pt x="385348" y="873865"/>
                </a:lnTo>
                <a:lnTo>
                  <a:pt x="400932" y="846035"/>
                </a:lnTo>
                <a:lnTo>
                  <a:pt x="414290" y="815980"/>
                </a:lnTo>
                <a:lnTo>
                  <a:pt x="425422" y="783695"/>
                </a:lnTo>
                <a:lnTo>
                  <a:pt x="435442" y="750298"/>
                </a:lnTo>
                <a:lnTo>
                  <a:pt x="444347" y="716904"/>
                </a:lnTo>
                <a:lnTo>
                  <a:pt x="453253" y="682393"/>
                </a:lnTo>
                <a:lnTo>
                  <a:pt x="463271" y="650112"/>
                </a:lnTo>
                <a:lnTo>
                  <a:pt x="474403" y="617827"/>
                </a:lnTo>
                <a:lnTo>
                  <a:pt x="487762" y="587772"/>
                </a:lnTo>
                <a:lnTo>
                  <a:pt x="504460" y="561055"/>
                </a:lnTo>
                <a:lnTo>
                  <a:pt x="524495" y="536565"/>
                </a:lnTo>
                <a:lnTo>
                  <a:pt x="548987" y="516527"/>
                </a:lnTo>
                <a:lnTo>
                  <a:pt x="575704" y="499829"/>
                </a:lnTo>
                <a:lnTo>
                  <a:pt x="605759" y="486470"/>
                </a:lnTo>
                <a:lnTo>
                  <a:pt x="638042" y="475338"/>
                </a:lnTo>
                <a:lnTo>
                  <a:pt x="670325" y="465320"/>
                </a:lnTo>
                <a:lnTo>
                  <a:pt x="704834" y="456413"/>
                </a:lnTo>
                <a:lnTo>
                  <a:pt x="738229" y="447507"/>
                </a:lnTo>
                <a:lnTo>
                  <a:pt x="771626" y="437489"/>
                </a:lnTo>
                <a:lnTo>
                  <a:pt x="803907" y="426357"/>
                </a:lnTo>
                <a:lnTo>
                  <a:pt x="833964" y="412999"/>
                </a:lnTo>
                <a:lnTo>
                  <a:pt x="861794" y="397415"/>
                </a:lnTo>
                <a:lnTo>
                  <a:pt x="886284" y="377377"/>
                </a:lnTo>
                <a:lnTo>
                  <a:pt x="911888" y="355112"/>
                </a:lnTo>
                <a:lnTo>
                  <a:pt x="934152" y="329509"/>
                </a:lnTo>
                <a:lnTo>
                  <a:pt x="955302" y="302791"/>
                </a:lnTo>
                <a:lnTo>
                  <a:pt x="976452" y="274961"/>
                </a:lnTo>
                <a:lnTo>
                  <a:pt x="997604" y="247131"/>
                </a:lnTo>
                <a:lnTo>
                  <a:pt x="1018754" y="220414"/>
                </a:lnTo>
                <a:lnTo>
                  <a:pt x="1042131" y="194811"/>
                </a:lnTo>
                <a:lnTo>
                  <a:pt x="1065507" y="172547"/>
                </a:lnTo>
                <a:lnTo>
                  <a:pt x="1092225" y="153622"/>
                </a:lnTo>
                <a:lnTo>
                  <a:pt x="1120055" y="139150"/>
                </a:lnTo>
                <a:lnTo>
                  <a:pt x="1153451" y="129132"/>
                </a:lnTo>
                <a:lnTo>
                  <a:pt x="1187961" y="124678"/>
                </a:lnTo>
                <a:lnTo>
                  <a:pt x="1223581" y="123565"/>
                </a:lnTo>
                <a:lnTo>
                  <a:pt x="1261429" y="126906"/>
                </a:lnTo>
                <a:lnTo>
                  <a:pt x="1299279" y="131359"/>
                </a:lnTo>
                <a:lnTo>
                  <a:pt x="1337128" y="136924"/>
                </a:lnTo>
                <a:lnTo>
                  <a:pt x="1374976" y="141378"/>
                </a:lnTo>
                <a:lnTo>
                  <a:pt x="1412824" y="143604"/>
                </a:lnTo>
                <a:lnTo>
                  <a:pt x="1449561" y="143604"/>
                </a:lnTo>
                <a:lnTo>
                  <a:pt x="1484069" y="139150"/>
                </a:lnTo>
                <a:lnTo>
                  <a:pt x="1518579" y="130245"/>
                </a:lnTo>
                <a:lnTo>
                  <a:pt x="1551974" y="116887"/>
                </a:lnTo>
                <a:lnTo>
                  <a:pt x="1585369" y="99075"/>
                </a:lnTo>
                <a:lnTo>
                  <a:pt x="1618765" y="81264"/>
                </a:lnTo>
                <a:lnTo>
                  <a:pt x="1652161" y="61227"/>
                </a:lnTo>
                <a:lnTo>
                  <a:pt x="1684444" y="42302"/>
                </a:lnTo>
                <a:lnTo>
                  <a:pt x="1718953" y="25604"/>
                </a:lnTo>
                <a:lnTo>
                  <a:pt x="1752349" y="12245"/>
                </a:lnTo>
                <a:lnTo>
                  <a:pt x="1786858" y="3339"/>
                </a:lnTo>
                <a:close/>
              </a:path>
            </a:pathLst>
          </a:custGeom>
        </p:spPr>
      </p:pic>
    </p:spTree>
    <p:extLst>
      <p:ext uri="{BB962C8B-B14F-4D97-AF65-F5344CB8AC3E}">
        <p14:creationId xmlns:p14="http://schemas.microsoft.com/office/powerpoint/2010/main" val="10498221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D6781-5402-EBD3-C259-8051D9E4F141}"/>
              </a:ext>
            </a:extLst>
          </p:cNvPr>
          <p:cNvSpPr>
            <a:spLocks noGrp="1"/>
          </p:cNvSpPr>
          <p:nvPr>
            <p:ph type="title"/>
          </p:nvPr>
        </p:nvSpPr>
        <p:spPr>
          <a:xfrm>
            <a:off x="1251678" y="682751"/>
            <a:ext cx="10178322" cy="1191765"/>
          </a:xfrm>
        </p:spPr>
        <p:txBody>
          <a:bodyPr/>
          <a:lstStyle/>
          <a:p>
            <a:r>
              <a:rPr lang="en-US" dirty="0">
                <a:latin typeface="Optima" panose="02000503060000020004" pitchFamily="2" charset="0"/>
              </a:rPr>
              <a:t>The argument </a:t>
            </a:r>
          </a:p>
        </p:txBody>
      </p:sp>
      <p:sp>
        <p:nvSpPr>
          <p:cNvPr id="3" name="Content Placeholder 2">
            <a:extLst>
              <a:ext uri="{FF2B5EF4-FFF2-40B4-BE49-F238E27FC236}">
                <a16:creationId xmlns:a16="http://schemas.microsoft.com/office/drawing/2014/main" id="{A63ABEF0-0345-1EB3-2D03-14EEE87033CC}"/>
              </a:ext>
            </a:extLst>
          </p:cNvPr>
          <p:cNvSpPr>
            <a:spLocks noGrp="1"/>
          </p:cNvSpPr>
          <p:nvPr>
            <p:ph idx="1"/>
          </p:nvPr>
        </p:nvSpPr>
        <p:spPr/>
        <p:txBody>
          <a:bodyPr>
            <a:normAutofit lnSpcReduction="10000"/>
          </a:bodyPr>
          <a:lstStyle/>
          <a:p>
            <a:pPr marL="0" indent="0" algn="just">
              <a:buNone/>
            </a:pPr>
            <a:r>
              <a:rPr lang="en-GB" sz="1800" kern="100" dirty="0">
                <a:ln>
                  <a:noFill/>
                </a:ln>
                <a:solidFill>
                  <a:srgbClr val="000000"/>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‘it is conceivable that there is a system that is physically identical to a conscious being, but that lacks at least some of that being’s conscious states. Such a system might be a </a:t>
            </a:r>
            <a:r>
              <a:rPr lang="en-GB" sz="1800" i="1" kern="100" dirty="0">
                <a:ln>
                  <a:noFill/>
                </a:ln>
                <a:solidFill>
                  <a:srgbClr val="000000"/>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zombie: </a:t>
            </a:r>
            <a:r>
              <a:rPr lang="en-GB" sz="1800" kern="100" dirty="0">
                <a:ln>
                  <a:noFill/>
                </a:ln>
                <a:solidFill>
                  <a:srgbClr val="000000"/>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a system that is physically identical to a conscious being but that lacks consciousness entirely…These systems will look identical to a normal conscious being from the third-person perspective: in particular their brain process will be molecule for molecule identical with the original, and their behaviour will be indistinguishable. But things will be different from the first-person point of view…There is nothing it is like to be a Zombie.’ David Chalmers.</a:t>
            </a:r>
            <a:endParaRPr lang="en-GB" sz="1800" kern="100" dirty="0">
              <a:effectLst/>
              <a:highlight>
                <a:srgbClr val="00B0F0"/>
              </a:highlight>
              <a:latin typeface="Calibri" panose="020F0502020204030204" pitchFamily="34" charset="0"/>
              <a:ea typeface="Calibri" panose="020F0502020204030204" pitchFamily="34" charset="0"/>
              <a:cs typeface="Times New Roman" panose="02020603050405020304" pitchFamily="18" charset="0"/>
            </a:endParaRPr>
          </a:p>
          <a:p>
            <a:pPr algn="just"/>
            <a:endParaRPr lang="en-GB" sz="1800" kern="100" dirty="0">
              <a:effectLst/>
              <a:highlight>
                <a:srgbClr val="00B0F0"/>
              </a:highligh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GB" sz="1800" dirty="0">
                <a:ln>
                  <a:noFill/>
                </a:ln>
                <a:solidFill>
                  <a:srgbClr val="000000"/>
                </a:solidFill>
                <a:effectLst>
                  <a:outerShdw blurRad="38100" dist="19050" dir="2700000" algn="tl">
                    <a:schemeClr val="dk1">
                      <a:alpha val="40000"/>
                    </a:schemeClr>
                  </a:outerShdw>
                </a:effectLst>
                <a:latin typeface="Optima" panose="02000503060000020004" pitchFamily="2" charset="0"/>
                <a:ea typeface="Calibri" panose="020F0502020204030204" pitchFamily="34" charset="0"/>
                <a:cs typeface="Times New Roman" panose="02020603050405020304" pitchFamily="18" charset="0"/>
              </a:rPr>
              <a:t>There is little reason to think that Zombies exist in the actual world. But many hold that they are at least conceivable; we can coherently imagine Zombies, and there is no contradiction in the idea that reveals itself even on reflection…</a:t>
            </a:r>
            <a:r>
              <a:rPr lang="en-GB" dirty="0">
                <a:effectLst/>
              </a:rPr>
              <a:t> </a:t>
            </a:r>
            <a:endParaRPr lang="en-US" dirty="0"/>
          </a:p>
        </p:txBody>
      </p:sp>
    </p:spTree>
    <p:extLst>
      <p:ext uri="{BB962C8B-B14F-4D97-AF65-F5344CB8AC3E}">
        <p14:creationId xmlns:p14="http://schemas.microsoft.com/office/powerpoint/2010/main" val="8548789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C930B2-6BDB-DC71-4DC5-BFADE8CF07D7}"/>
              </a:ext>
            </a:extLst>
          </p:cNvPr>
          <p:cNvSpPr>
            <a:spLocks noGrp="1"/>
          </p:cNvSpPr>
          <p:nvPr>
            <p:ph type="title"/>
          </p:nvPr>
        </p:nvSpPr>
        <p:spPr>
          <a:xfrm>
            <a:off x="765051" y="382385"/>
            <a:ext cx="6015897" cy="1492132"/>
          </a:xfrm>
        </p:spPr>
        <p:txBody>
          <a:bodyPr>
            <a:normAutofit/>
          </a:bodyPr>
          <a:lstStyle/>
          <a:p>
            <a:r>
              <a:rPr lang="en-US" dirty="0">
                <a:latin typeface="Optima" panose="02000503060000020004" pitchFamily="2" charset="0"/>
              </a:rPr>
              <a:t>The argument put formally</a:t>
            </a:r>
          </a:p>
        </p:txBody>
      </p:sp>
      <p:sp>
        <p:nvSpPr>
          <p:cNvPr id="12" name="Rectangle 11">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EFC93C23-1B73-50B9-E9CB-48B053BA8C9A}"/>
              </a:ext>
            </a:extLst>
          </p:cNvPr>
          <p:cNvSpPr>
            <a:spLocks noGrp="1"/>
          </p:cNvSpPr>
          <p:nvPr>
            <p:ph idx="1"/>
          </p:nvPr>
        </p:nvSpPr>
        <p:spPr>
          <a:xfrm>
            <a:off x="765051" y="2286001"/>
            <a:ext cx="6015897" cy="3593591"/>
          </a:xfrm>
        </p:spPr>
        <p:txBody>
          <a:bodyPr>
            <a:normAutofit/>
          </a:bodyPr>
          <a:lstStyle/>
          <a:p>
            <a:pPr marL="0" indent="0">
              <a:lnSpc>
                <a:spcPct val="100000"/>
              </a:lnSpc>
              <a:buNone/>
            </a:pPr>
            <a:r>
              <a:rPr lang="en-GB" kern="100" dirty="0">
                <a:ln>
                  <a:noFill/>
                </a:ln>
                <a:solidFill>
                  <a:schemeClr val="tx1"/>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1: It is conceivable that there be Zombies</a:t>
            </a:r>
          </a:p>
          <a:p>
            <a:pPr marL="0" indent="0">
              <a:lnSpc>
                <a:spcPct val="100000"/>
              </a:lnSpc>
              <a:buNone/>
            </a:pPr>
            <a:endParaRPr lang="en-GB" kern="100" dirty="0">
              <a:solidFill>
                <a:schemeClr val="tx1"/>
              </a:solidFill>
              <a:effectLst/>
              <a:highlight>
                <a:srgbClr val="00B0F0"/>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buNone/>
            </a:pPr>
            <a:r>
              <a:rPr lang="en-GB" kern="100" dirty="0">
                <a:ln>
                  <a:noFill/>
                </a:ln>
                <a:solidFill>
                  <a:schemeClr val="tx1"/>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2: If it is conceivable that there are Zombies, it is metaphysically possible that there be Zombies.</a:t>
            </a:r>
          </a:p>
          <a:p>
            <a:pPr marL="0" indent="0">
              <a:lnSpc>
                <a:spcPct val="100000"/>
              </a:lnSpc>
              <a:buNone/>
            </a:pPr>
            <a:endParaRPr lang="en-GB" kern="100" dirty="0">
              <a:solidFill>
                <a:schemeClr val="tx1"/>
              </a:solidFill>
              <a:effectLst/>
              <a:highlight>
                <a:srgbClr val="00B0F0"/>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buNone/>
            </a:pPr>
            <a:r>
              <a:rPr lang="en-GB" kern="100" dirty="0">
                <a:ln>
                  <a:noFill/>
                </a:ln>
                <a:solidFill>
                  <a:schemeClr val="tx1"/>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3: If it is metaphysically possible that there be Zombies, then consciousness is not physical. </a:t>
            </a:r>
          </a:p>
          <a:p>
            <a:pPr marL="0" indent="0">
              <a:lnSpc>
                <a:spcPct val="100000"/>
              </a:lnSpc>
              <a:buNone/>
            </a:pPr>
            <a:endParaRPr lang="en-GB" kern="100" dirty="0">
              <a:solidFill>
                <a:schemeClr val="tx1"/>
              </a:solidFill>
              <a:effectLst/>
              <a:highlight>
                <a:srgbClr val="00B0F0"/>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buNone/>
            </a:pPr>
            <a:r>
              <a:rPr lang="en-GB" kern="100" dirty="0">
                <a:ln>
                  <a:noFill/>
                </a:ln>
                <a:solidFill>
                  <a:schemeClr val="tx1"/>
                </a:solidFill>
                <a:effectLst>
                  <a:outerShdw blurRad="38100" dist="19050" dir="2700000" algn="tl">
                    <a:schemeClr val="dk1">
                      <a:alpha val="40000"/>
                    </a:schemeClr>
                  </a:outerShdw>
                </a:effectLst>
                <a:highlight>
                  <a:srgbClr val="00B0F0"/>
                </a:highlight>
                <a:latin typeface="Optima" panose="02000503060000020004" pitchFamily="2" charset="0"/>
                <a:ea typeface="Calibri" panose="020F0502020204030204" pitchFamily="34" charset="0"/>
                <a:cs typeface="Times New Roman" panose="02020603050405020304" pitchFamily="18" charset="0"/>
              </a:rPr>
              <a:t>4: Therefore, consciousness is non-physical. </a:t>
            </a:r>
            <a:endParaRPr lang="en-GB" kern="100" dirty="0">
              <a:solidFill>
                <a:schemeClr val="tx1"/>
              </a:solidFill>
              <a:effectLst/>
              <a:highlight>
                <a:srgbClr val="00B0F0"/>
              </a:highlight>
              <a:latin typeface="Calibri" panose="020F0502020204030204" pitchFamily="34" charset="0"/>
              <a:ea typeface="Calibri" panose="020F0502020204030204" pitchFamily="34" charset="0"/>
              <a:cs typeface="Times New Roman" panose="02020603050405020304" pitchFamily="18" charset="0"/>
            </a:endParaRPr>
          </a:p>
          <a:p>
            <a:pPr>
              <a:lnSpc>
                <a:spcPct val="100000"/>
              </a:lnSpc>
            </a:pPr>
            <a:endParaRPr lang="en-US" dirty="0"/>
          </a:p>
        </p:txBody>
      </p:sp>
      <p:pic>
        <p:nvPicPr>
          <p:cNvPr id="5" name="Picture 4" descr="A person standing in front of a wall&#10;&#10;Description automatically generated">
            <a:extLst>
              <a:ext uri="{FF2B5EF4-FFF2-40B4-BE49-F238E27FC236}">
                <a16:creationId xmlns:a16="http://schemas.microsoft.com/office/drawing/2014/main" id="{D5F47182-75CD-2BED-6992-DB2E5B0A5729}"/>
              </a:ext>
            </a:extLst>
          </p:cNvPr>
          <p:cNvPicPr>
            <a:picLocks noChangeAspect="1"/>
          </p:cNvPicPr>
          <p:nvPr/>
        </p:nvPicPr>
        <p:blipFill rotWithShape="1">
          <a:blip r:embed="rId2"/>
          <a:srcRect t="7150" r="-1" b="11091"/>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extLst>
      <p:ext uri="{BB962C8B-B14F-4D97-AF65-F5344CB8AC3E}">
        <p14:creationId xmlns:p14="http://schemas.microsoft.com/office/powerpoint/2010/main" val="34559073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4046F-5C20-073D-2160-61AD9AB0A4ED}"/>
              </a:ext>
            </a:extLst>
          </p:cNvPr>
          <p:cNvSpPr>
            <a:spLocks noGrp="1"/>
          </p:cNvSpPr>
          <p:nvPr>
            <p:ph type="title"/>
          </p:nvPr>
        </p:nvSpPr>
        <p:spPr>
          <a:xfrm>
            <a:off x="1251678" y="382385"/>
            <a:ext cx="10178322" cy="1492132"/>
          </a:xfrm>
        </p:spPr>
        <p:txBody>
          <a:bodyPr anchor="ctr">
            <a:normAutofit/>
          </a:bodyPr>
          <a:lstStyle/>
          <a:p>
            <a:r>
              <a:rPr lang="en-US" dirty="0">
                <a:latin typeface="Optima" panose="02000503060000020004" pitchFamily="2" charset="0"/>
              </a:rPr>
              <a:t>Responses to the Zombie argument</a:t>
            </a:r>
          </a:p>
        </p:txBody>
      </p:sp>
      <p:graphicFrame>
        <p:nvGraphicFramePr>
          <p:cNvPr id="5" name="Content Placeholder 2">
            <a:extLst>
              <a:ext uri="{FF2B5EF4-FFF2-40B4-BE49-F238E27FC236}">
                <a16:creationId xmlns:a16="http://schemas.microsoft.com/office/drawing/2014/main" id="{9F167356-1310-BAED-F796-54F7DE308EFE}"/>
              </a:ext>
            </a:extLst>
          </p:cNvPr>
          <p:cNvGraphicFramePr>
            <a:graphicFrameLocks noGrp="1"/>
          </p:cNvGraphicFramePr>
          <p:nvPr>
            <p:ph idx="1"/>
            <p:extLst>
              <p:ext uri="{D42A27DB-BD31-4B8C-83A1-F6EECF244321}">
                <p14:modId xmlns:p14="http://schemas.microsoft.com/office/powerpoint/2010/main" val="3187987289"/>
              </p:ext>
            </p:extLst>
          </p:nvPr>
        </p:nvGraphicFramePr>
        <p:xfrm>
          <a:off x="1251678" y="2286001"/>
          <a:ext cx="10178322" cy="35935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183348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022D5-A65A-4A7A-CD4A-D1125D181922}"/>
              </a:ext>
            </a:extLst>
          </p:cNvPr>
          <p:cNvSpPr>
            <a:spLocks noGrp="1"/>
          </p:cNvSpPr>
          <p:nvPr>
            <p:ph type="title"/>
          </p:nvPr>
        </p:nvSpPr>
        <p:spPr>
          <a:xfrm>
            <a:off x="1251677" y="645105"/>
            <a:ext cx="4357499" cy="1320855"/>
          </a:xfrm>
        </p:spPr>
        <p:txBody>
          <a:bodyPr>
            <a:normAutofit fontScale="90000"/>
          </a:bodyPr>
          <a:lstStyle/>
          <a:p>
            <a:r>
              <a:rPr lang="en-US" sz="2800">
                <a:latin typeface="Optima" panose="02000503060000020004" pitchFamily="2" charset="0"/>
              </a:rPr>
              <a:t>(1) It is not actually possible to imagine a Zombie</a:t>
            </a:r>
          </a:p>
        </p:txBody>
      </p:sp>
      <p:sp>
        <p:nvSpPr>
          <p:cNvPr id="3" name="Content Placeholder 2">
            <a:extLst>
              <a:ext uri="{FF2B5EF4-FFF2-40B4-BE49-F238E27FC236}">
                <a16:creationId xmlns:a16="http://schemas.microsoft.com/office/drawing/2014/main" id="{E2BD8374-875A-C76F-FFD2-D136BC554999}"/>
              </a:ext>
            </a:extLst>
          </p:cNvPr>
          <p:cNvSpPr>
            <a:spLocks noGrp="1"/>
          </p:cNvSpPr>
          <p:nvPr>
            <p:ph idx="1"/>
          </p:nvPr>
        </p:nvSpPr>
        <p:spPr>
          <a:xfrm>
            <a:off x="1251678" y="2286001"/>
            <a:ext cx="4363595" cy="3593591"/>
          </a:xfrm>
        </p:spPr>
        <p:txBody>
          <a:bodyPr>
            <a:normAutofit lnSpcReduction="10000"/>
          </a:bodyPr>
          <a:lstStyle/>
          <a:p>
            <a:pPr marL="0" indent="0" algn="just">
              <a:lnSpc>
                <a:spcPct val="100000"/>
              </a:lnSpc>
              <a:buNone/>
            </a:pPr>
            <a:r>
              <a:rPr lang="en-GB" sz="1900" kern="100" dirty="0">
                <a:solidFill>
                  <a:srgbClr val="002060"/>
                </a:solidFill>
                <a:effectLst/>
                <a:latin typeface="Optima" panose="02000503060000020004" pitchFamily="2" charset="0"/>
                <a:ea typeface="Calibri" panose="020F0502020204030204" pitchFamily="34" charset="0"/>
                <a:cs typeface="Times New Roman" panose="02020603050405020304" pitchFamily="18" charset="0"/>
              </a:rPr>
              <a:t>This form of materialism claims that even though it seems to us that we can conceive of a Zombie, what we are really thinking of is incoherent. It is like thinking that 2+2=5: although we can make the mistake of thinking this, we are not really thinking properly of the numbers 2 and 5 and thus we are just confused. The same applies to a Zombie. If we really were thinking of a Zombie, we would understand that it must be conscious. Chalmers calls this type-A materialism. </a:t>
            </a:r>
            <a:endParaRPr lang="en-GB" sz="19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pPr>
            <a:endParaRPr lang="en-US" sz="1900" dirty="0"/>
          </a:p>
        </p:txBody>
      </p:sp>
      <p:pic>
        <p:nvPicPr>
          <p:cNvPr id="6" name="Picture 5" descr="A person looking up at a zombie&#10;&#10;Description automatically generated">
            <a:extLst>
              <a:ext uri="{FF2B5EF4-FFF2-40B4-BE49-F238E27FC236}">
                <a16:creationId xmlns:a16="http://schemas.microsoft.com/office/drawing/2014/main" id="{CD08EBEE-C9C2-08BC-F585-5BA2CFFA5554}"/>
              </a:ext>
            </a:extLst>
          </p:cNvPr>
          <p:cNvPicPr>
            <a:picLocks noChangeAspect="1"/>
          </p:cNvPicPr>
          <p:nvPr/>
        </p:nvPicPr>
        <p:blipFill rotWithShape="1">
          <a:blip r:embed="rId2"/>
          <a:srcRect r="2" b="123"/>
          <a:stretch/>
        </p:blipFill>
        <p:spPr>
          <a:xfrm>
            <a:off x="6096000" y="580713"/>
            <a:ext cx="5414304" cy="5407737"/>
          </a:xfrm>
          <a:custGeom>
            <a:avLst/>
            <a:gdLst/>
            <a:ahLst/>
            <a:cxnLst/>
            <a:rect l="l" t="t" r="r" b="b"/>
            <a:pathLst>
              <a:path w="3860171" h="3855489">
                <a:moveTo>
                  <a:pt x="1930086" y="0"/>
                </a:moveTo>
                <a:lnTo>
                  <a:pt x="1967540" y="3511"/>
                </a:lnTo>
                <a:lnTo>
                  <a:pt x="2003824" y="12875"/>
                </a:lnTo>
                <a:lnTo>
                  <a:pt x="2038938" y="26920"/>
                </a:lnTo>
                <a:lnTo>
                  <a:pt x="2075222" y="44477"/>
                </a:lnTo>
                <a:lnTo>
                  <a:pt x="2109166" y="64375"/>
                </a:lnTo>
                <a:lnTo>
                  <a:pt x="2144279" y="85443"/>
                </a:lnTo>
                <a:lnTo>
                  <a:pt x="2179393" y="104171"/>
                </a:lnTo>
                <a:lnTo>
                  <a:pt x="2214507" y="122898"/>
                </a:lnTo>
                <a:lnTo>
                  <a:pt x="2248450" y="136943"/>
                </a:lnTo>
                <a:lnTo>
                  <a:pt x="2285905" y="146307"/>
                </a:lnTo>
                <a:lnTo>
                  <a:pt x="2322189" y="150989"/>
                </a:lnTo>
                <a:lnTo>
                  <a:pt x="2360814" y="150989"/>
                </a:lnTo>
                <a:lnTo>
                  <a:pt x="2400610" y="148648"/>
                </a:lnTo>
                <a:lnTo>
                  <a:pt x="2440405" y="143966"/>
                </a:lnTo>
                <a:lnTo>
                  <a:pt x="2480201" y="138114"/>
                </a:lnTo>
                <a:lnTo>
                  <a:pt x="2519996" y="133432"/>
                </a:lnTo>
                <a:lnTo>
                  <a:pt x="2559792" y="129921"/>
                </a:lnTo>
                <a:lnTo>
                  <a:pt x="2597247" y="131091"/>
                </a:lnTo>
                <a:lnTo>
                  <a:pt x="2633531" y="135773"/>
                </a:lnTo>
                <a:lnTo>
                  <a:pt x="2668644" y="146307"/>
                </a:lnTo>
                <a:lnTo>
                  <a:pt x="2697906" y="161523"/>
                </a:lnTo>
                <a:lnTo>
                  <a:pt x="2725997" y="181421"/>
                </a:lnTo>
                <a:lnTo>
                  <a:pt x="2750577" y="204830"/>
                </a:lnTo>
                <a:lnTo>
                  <a:pt x="2775156" y="231750"/>
                </a:lnTo>
                <a:lnTo>
                  <a:pt x="2797395" y="259841"/>
                </a:lnTo>
                <a:lnTo>
                  <a:pt x="2819634" y="289103"/>
                </a:lnTo>
                <a:lnTo>
                  <a:pt x="2841872" y="318364"/>
                </a:lnTo>
                <a:lnTo>
                  <a:pt x="2864111" y="346455"/>
                </a:lnTo>
                <a:lnTo>
                  <a:pt x="2887520" y="373376"/>
                </a:lnTo>
                <a:lnTo>
                  <a:pt x="2914441" y="396785"/>
                </a:lnTo>
                <a:lnTo>
                  <a:pt x="2940191" y="417853"/>
                </a:lnTo>
                <a:lnTo>
                  <a:pt x="2969452" y="434240"/>
                </a:lnTo>
                <a:lnTo>
                  <a:pt x="3001055" y="448285"/>
                </a:lnTo>
                <a:lnTo>
                  <a:pt x="3034998" y="459990"/>
                </a:lnTo>
                <a:lnTo>
                  <a:pt x="3070112" y="470524"/>
                </a:lnTo>
                <a:lnTo>
                  <a:pt x="3105226" y="479888"/>
                </a:lnTo>
                <a:lnTo>
                  <a:pt x="3141510" y="489251"/>
                </a:lnTo>
                <a:lnTo>
                  <a:pt x="3175453" y="499785"/>
                </a:lnTo>
                <a:lnTo>
                  <a:pt x="3209396" y="511490"/>
                </a:lnTo>
                <a:lnTo>
                  <a:pt x="3240999" y="525535"/>
                </a:lnTo>
                <a:lnTo>
                  <a:pt x="3269090" y="543092"/>
                </a:lnTo>
                <a:lnTo>
                  <a:pt x="3294840" y="564161"/>
                </a:lnTo>
                <a:lnTo>
                  <a:pt x="3315908" y="589911"/>
                </a:lnTo>
                <a:lnTo>
                  <a:pt x="3333465" y="618002"/>
                </a:lnTo>
                <a:lnTo>
                  <a:pt x="3347510" y="649604"/>
                </a:lnTo>
                <a:lnTo>
                  <a:pt x="3359215" y="683547"/>
                </a:lnTo>
                <a:lnTo>
                  <a:pt x="3369749" y="717491"/>
                </a:lnTo>
                <a:lnTo>
                  <a:pt x="3379113" y="753775"/>
                </a:lnTo>
                <a:lnTo>
                  <a:pt x="3388476" y="788889"/>
                </a:lnTo>
                <a:lnTo>
                  <a:pt x="3399010" y="824002"/>
                </a:lnTo>
                <a:lnTo>
                  <a:pt x="3410715" y="857946"/>
                </a:lnTo>
                <a:lnTo>
                  <a:pt x="3424760" y="889548"/>
                </a:lnTo>
                <a:lnTo>
                  <a:pt x="3441147" y="918809"/>
                </a:lnTo>
                <a:lnTo>
                  <a:pt x="3462215" y="944560"/>
                </a:lnTo>
                <a:lnTo>
                  <a:pt x="3485624" y="971480"/>
                </a:lnTo>
                <a:lnTo>
                  <a:pt x="3512545" y="994889"/>
                </a:lnTo>
                <a:lnTo>
                  <a:pt x="3540636" y="1017128"/>
                </a:lnTo>
                <a:lnTo>
                  <a:pt x="3571068" y="1039367"/>
                </a:lnTo>
                <a:lnTo>
                  <a:pt x="3600329" y="1061605"/>
                </a:lnTo>
                <a:lnTo>
                  <a:pt x="3628420" y="1083844"/>
                </a:lnTo>
                <a:lnTo>
                  <a:pt x="3655341" y="1108424"/>
                </a:lnTo>
                <a:lnTo>
                  <a:pt x="3678750" y="1133003"/>
                </a:lnTo>
                <a:lnTo>
                  <a:pt x="3698648" y="1161094"/>
                </a:lnTo>
                <a:lnTo>
                  <a:pt x="3713864" y="1190356"/>
                </a:lnTo>
                <a:lnTo>
                  <a:pt x="3724398" y="1225469"/>
                </a:lnTo>
                <a:lnTo>
                  <a:pt x="3729080" y="1261754"/>
                </a:lnTo>
                <a:lnTo>
                  <a:pt x="3730250" y="1299208"/>
                </a:lnTo>
                <a:lnTo>
                  <a:pt x="3726739" y="1339004"/>
                </a:lnTo>
                <a:lnTo>
                  <a:pt x="3722057" y="1378799"/>
                </a:lnTo>
                <a:lnTo>
                  <a:pt x="3716205" y="1418595"/>
                </a:lnTo>
                <a:lnTo>
                  <a:pt x="3711523" y="1458391"/>
                </a:lnTo>
                <a:lnTo>
                  <a:pt x="3709182" y="1498186"/>
                </a:lnTo>
                <a:lnTo>
                  <a:pt x="3709182" y="1536811"/>
                </a:lnTo>
                <a:lnTo>
                  <a:pt x="3713864" y="1573096"/>
                </a:lnTo>
                <a:lnTo>
                  <a:pt x="3723228" y="1609380"/>
                </a:lnTo>
                <a:lnTo>
                  <a:pt x="3737273" y="1643323"/>
                </a:lnTo>
                <a:lnTo>
                  <a:pt x="3756000" y="1678437"/>
                </a:lnTo>
                <a:lnTo>
                  <a:pt x="3774728" y="1713550"/>
                </a:lnTo>
                <a:lnTo>
                  <a:pt x="3795796" y="1748664"/>
                </a:lnTo>
                <a:lnTo>
                  <a:pt x="3815694" y="1782608"/>
                </a:lnTo>
                <a:lnTo>
                  <a:pt x="3833250" y="1818892"/>
                </a:lnTo>
                <a:lnTo>
                  <a:pt x="3847296" y="1854005"/>
                </a:lnTo>
                <a:lnTo>
                  <a:pt x="3856660" y="1890290"/>
                </a:lnTo>
                <a:lnTo>
                  <a:pt x="3860171" y="1927744"/>
                </a:lnTo>
                <a:lnTo>
                  <a:pt x="3856660" y="1965199"/>
                </a:lnTo>
                <a:lnTo>
                  <a:pt x="3847296" y="2001483"/>
                </a:lnTo>
                <a:lnTo>
                  <a:pt x="3833250" y="2036597"/>
                </a:lnTo>
                <a:lnTo>
                  <a:pt x="3815694" y="2072881"/>
                </a:lnTo>
                <a:lnTo>
                  <a:pt x="3795796" y="2106824"/>
                </a:lnTo>
                <a:lnTo>
                  <a:pt x="3774728" y="2141938"/>
                </a:lnTo>
                <a:lnTo>
                  <a:pt x="3756000" y="2177052"/>
                </a:lnTo>
                <a:lnTo>
                  <a:pt x="3737273" y="2212166"/>
                </a:lnTo>
                <a:lnTo>
                  <a:pt x="3723228" y="2246109"/>
                </a:lnTo>
                <a:lnTo>
                  <a:pt x="3713864" y="2282393"/>
                </a:lnTo>
                <a:lnTo>
                  <a:pt x="3709182" y="2318677"/>
                </a:lnTo>
                <a:lnTo>
                  <a:pt x="3709182" y="2357302"/>
                </a:lnTo>
                <a:lnTo>
                  <a:pt x="3711523" y="2397098"/>
                </a:lnTo>
                <a:lnTo>
                  <a:pt x="3716205" y="2436894"/>
                </a:lnTo>
                <a:lnTo>
                  <a:pt x="3722057" y="2476689"/>
                </a:lnTo>
                <a:lnTo>
                  <a:pt x="3726739" y="2516485"/>
                </a:lnTo>
                <a:lnTo>
                  <a:pt x="3730250" y="2556280"/>
                </a:lnTo>
                <a:lnTo>
                  <a:pt x="3729080" y="2593735"/>
                </a:lnTo>
                <a:lnTo>
                  <a:pt x="3724398" y="2630019"/>
                </a:lnTo>
                <a:lnTo>
                  <a:pt x="3713864" y="2665133"/>
                </a:lnTo>
                <a:lnTo>
                  <a:pt x="3698648" y="2694394"/>
                </a:lnTo>
                <a:lnTo>
                  <a:pt x="3678750" y="2722485"/>
                </a:lnTo>
                <a:lnTo>
                  <a:pt x="3655341" y="2747065"/>
                </a:lnTo>
                <a:lnTo>
                  <a:pt x="3628420" y="2771645"/>
                </a:lnTo>
                <a:lnTo>
                  <a:pt x="3600329" y="2793883"/>
                </a:lnTo>
                <a:lnTo>
                  <a:pt x="3571068" y="2816122"/>
                </a:lnTo>
                <a:lnTo>
                  <a:pt x="3540636" y="2838361"/>
                </a:lnTo>
                <a:lnTo>
                  <a:pt x="3512545" y="2860599"/>
                </a:lnTo>
                <a:lnTo>
                  <a:pt x="3485624" y="2884009"/>
                </a:lnTo>
                <a:lnTo>
                  <a:pt x="3462215" y="2910929"/>
                </a:lnTo>
                <a:lnTo>
                  <a:pt x="3441147" y="2936679"/>
                </a:lnTo>
                <a:lnTo>
                  <a:pt x="3424760" y="2965941"/>
                </a:lnTo>
                <a:lnTo>
                  <a:pt x="3410715" y="2997543"/>
                </a:lnTo>
                <a:lnTo>
                  <a:pt x="3399010" y="3031486"/>
                </a:lnTo>
                <a:lnTo>
                  <a:pt x="3388476" y="3066600"/>
                </a:lnTo>
                <a:lnTo>
                  <a:pt x="3379113" y="3101714"/>
                </a:lnTo>
                <a:lnTo>
                  <a:pt x="3369749" y="3137998"/>
                </a:lnTo>
                <a:lnTo>
                  <a:pt x="3359215" y="3171941"/>
                </a:lnTo>
                <a:lnTo>
                  <a:pt x="3347510" y="3205885"/>
                </a:lnTo>
                <a:lnTo>
                  <a:pt x="3333465" y="3237487"/>
                </a:lnTo>
                <a:lnTo>
                  <a:pt x="3315908" y="3265578"/>
                </a:lnTo>
                <a:lnTo>
                  <a:pt x="3294840" y="3291328"/>
                </a:lnTo>
                <a:lnTo>
                  <a:pt x="3269090" y="3312396"/>
                </a:lnTo>
                <a:lnTo>
                  <a:pt x="3240999" y="3329953"/>
                </a:lnTo>
                <a:lnTo>
                  <a:pt x="3209396" y="3343999"/>
                </a:lnTo>
                <a:lnTo>
                  <a:pt x="3175453" y="3355703"/>
                </a:lnTo>
                <a:lnTo>
                  <a:pt x="3141510" y="3366237"/>
                </a:lnTo>
                <a:lnTo>
                  <a:pt x="3105226" y="3375601"/>
                </a:lnTo>
                <a:lnTo>
                  <a:pt x="3070112" y="3384965"/>
                </a:lnTo>
                <a:lnTo>
                  <a:pt x="3034998" y="3395499"/>
                </a:lnTo>
                <a:lnTo>
                  <a:pt x="3001055" y="3407203"/>
                </a:lnTo>
                <a:lnTo>
                  <a:pt x="2969452" y="3421249"/>
                </a:lnTo>
                <a:lnTo>
                  <a:pt x="2940191" y="3437635"/>
                </a:lnTo>
                <a:lnTo>
                  <a:pt x="2914441" y="3458704"/>
                </a:lnTo>
                <a:lnTo>
                  <a:pt x="2887520" y="3482113"/>
                </a:lnTo>
                <a:lnTo>
                  <a:pt x="2864111" y="3509033"/>
                </a:lnTo>
                <a:lnTo>
                  <a:pt x="2841872" y="3537124"/>
                </a:lnTo>
                <a:lnTo>
                  <a:pt x="2819634" y="3566386"/>
                </a:lnTo>
                <a:lnTo>
                  <a:pt x="2797395" y="3595647"/>
                </a:lnTo>
                <a:lnTo>
                  <a:pt x="2775156" y="3623738"/>
                </a:lnTo>
                <a:lnTo>
                  <a:pt x="2750577" y="3650659"/>
                </a:lnTo>
                <a:lnTo>
                  <a:pt x="2725997" y="3674068"/>
                </a:lnTo>
                <a:lnTo>
                  <a:pt x="2697906" y="3693966"/>
                </a:lnTo>
                <a:lnTo>
                  <a:pt x="2668644" y="3709182"/>
                </a:lnTo>
                <a:lnTo>
                  <a:pt x="2633531" y="3719716"/>
                </a:lnTo>
                <a:lnTo>
                  <a:pt x="2597247" y="3724398"/>
                </a:lnTo>
                <a:lnTo>
                  <a:pt x="2559792" y="3725568"/>
                </a:lnTo>
                <a:lnTo>
                  <a:pt x="2519996" y="3722057"/>
                </a:lnTo>
                <a:lnTo>
                  <a:pt x="2480201" y="3717375"/>
                </a:lnTo>
                <a:lnTo>
                  <a:pt x="2440405" y="3711523"/>
                </a:lnTo>
                <a:lnTo>
                  <a:pt x="2400610" y="3706841"/>
                </a:lnTo>
                <a:lnTo>
                  <a:pt x="2360814" y="3704500"/>
                </a:lnTo>
                <a:lnTo>
                  <a:pt x="2322189" y="3704500"/>
                </a:lnTo>
                <a:lnTo>
                  <a:pt x="2285905" y="3709182"/>
                </a:lnTo>
                <a:lnTo>
                  <a:pt x="2248450" y="3718545"/>
                </a:lnTo>
                <a:lnTo>
                  <a:pt x="2214507" y="3732591"/>
                </a:lnTo>
                <a:lnTo>
                  <a:pt x="2179393" y="3751318"/>
                </a:lnTo>
                <a:lnTo>
                  <a:pt x="2144279" y="3770045"/>
                </a:lnTo>
                <a:lnTo>
                  <a:pt x="2109166" y="3791114"/>
                </a:lnTo>
                <a:lnTo>
                  <a:pt x="2075222" y="3811011"/>
                </a:lnTo>
                <a:lnTo>
                  <a:pt x="2038938" y="3828568"/>
                </a:lnTo>
                <a:lnTo>
                  <a:pt x="2003824" y="3842614"/>
                </a:lnTo>
                <a:lnTo>
                  <a:pt x="1967540" y="3851978"/>
                </a:lnTo>
                <a:lnTo>
                  <a:pt x="1930086" y="3855489"/>
                </a:lnTo>
                <a:lnTo>
                  <a:pt x="1892631" y="3851978"/>
                </a:lnTo>
                <a:lnTo>
                  <a:pt x="1856347" y="3842614"/>
                </a:lnTo>
                <a:lnTo>
                  <a:pt x="1821233" y="3828568"/>
                </a:lnTo>
                <a:lnTo>
                  <a:pt x="1784949" y="3811011"/>
                </a:lnTo>
                <a:lnTo>
                  <a:pt x="1751005" y="3791114"/>
                </a:lnTo>
                <a:lnTo>
                  <a:pt x="1715892" y="3770045"/>
                </a:lnTo>
                <a:lnTo>
                  <a:pt x="1680778" y="3751318"/>
                </a:lnTo>
                <a:lnTo>
                  <a:pt x="1645664" y="3732591"/>
                </a:lnTo>
                <a:lnTo>
                  <a:pt x="1610550" y="3718545"/>
                </a:lnTo>
                <a:lnTo>
                  <a:pt x="1574266" y="3709182"/>
                </a:lnTo>
                <a:lnTo>
                  <a:pt x="1537982" y="3704500"/>
                </a:lnTo>
                <a:lnTo>
                  <a:pt x="1499357" y="3704500"/>
                </a:lnTo>
                <a:lnTo>
                  <a:pt x="1459561" y="3706841"/>
                </a:lnTo>
                <a:lnTo>
                  <a:pt x="1419766" y="3711523"/>
                </a:lnTo>
                <a:lnTo>
                  <a:pt x="1379970" y="3717375"/>
                </a:lnTo>
                <a:lnTo>
                  <a:pt x="1340175" y="3722057"/>
                </a:lnTo>
                <a:lnTo>
                  <a:pt x="1300379" y="3725568"/>
                </a:lnTo>
                <a:lnTo>
                  <a:pt x="1262924" y="3724398"/>
                </a:lnTo>
                <a:lnTo>
                  <a:pt x="1226640" y="3719716"/>
                </a:lnTo>
                <a:lnTo>
                  <a:pt x="1191526" y="3709182"/>
                </a:lnTo>
                <a:lnTo>
                  <a:pt x="1162265" y="3693966"/>
                </a:lnTo>
                <a:lnTo>
                  <a:pt x="1134174" y="3674068"/>
                </a:lnTo>
                <a:lnTo>
                  <a:pt x="1109594" y="3650659"/>
                </a:lnTo>
                <a:lnTo>
                  <a:pt x="1085015" y="3623738"/>
                </a:lnTo>
                <a:lnTo>
                  <a:pt x="1062776" y="3595647"/>
                </a:lnTo>
                <a:lnTo>
                  <a:pt x="1040537" y="3566386"/>
                </a:lnTo>
                <a:lnTo>
                  <a:pt x="1018299" y="3537124"/>
                </a:lnTo>
                <a:lnTo>
                  <a:pt x="996060" y="3509033"/>
                </a:lnTo>
                <a:lnTo>
                  <a:pt x="972651" y="3482113"/>
                </a:lnTo>
                <a:lnTo>
                  <a:pt x="945730" y="3458704"/>
                </a:lnTo>
                <a:lnTo>
                  <a:pt x="919980" y="3437635"/>
                </a:lnTo>
                <a:lnTo>
                  <a:pt x="890719" y="3421249"/>
                </a:lnTo>
                <a:lnTo>
                  <a:pt x="859116" y="3407203"/>
                </a:lnTo>
                <a:lnTo>
                  <a:pt x="825173" y="3395499"/>
                </a:lnTo>
                <a:lnTo>
                  <a:pt x="790059" y="3384965"/>
                </a:lnTo>
                <a:lnTo>
                  <a:pt x="754946" y="3375601"/>
                </a:lnTo>
                <a:lnTo>
                  <a:pt x="718662" y="3366237"/>
                </a:lnTo>
                <a:lnTo>
                  <a:pt x="684718" y="3355703"/>
                </a:lnTo>
                <a:lnTo>
                  <a:pt x="650775" y="3343999"/>
                </a:lnTo>
                <a:lnTo>
                  <a:pt x="619173" y="3329953"/>
                </a:lnTo>
                <a:lnTo>
                  <a:pt x="591082" y="3312396"/>
                </a:lnTo>
                <a:lnTo>
                  <a:pt x="565332" y="3291328"/>
                </a:lnTo>
                <a:lnTo>
                  <a:pt x="544263" y="3265578"/>
                </a:lnTo>
                <a:lnTo>
                  <a:pt x="526706" y="3237487"/>
                </a:lnTo>
                <a:lnTo>
                  <a:pt x="512661" y="3205885"/>
                </a:lnTo>
                <a:lnTo>
                  <a:pt x="500956" y="3171941"/>
                </a:lnTo>
                <a:lnTo>
                  <a:pt x="490422" y="3137998"/>
                </a:lnTo>
                <a:lnTo>
                  <a:pt x="481059" y="3101714"/>
                </a:lnTo>
                <a:lnTo>
                  <a:pt x="471695" y="3066600"/>
                </a:lnTo>
                <a:lnTo>
                  <a:pt x="461161" y="3031486"/>
                </a:lnTo>
                <a:lnTo>
                  <a:pt x="449456" y="2997543"/>
                </a:lnTo>
                <a:lnTo>
                  <a:pt x="435411" y="2965941"/>
                </a:lnTo>
                <a:lnTo>
                  <a:pt x="419024" y="2936679"/>
                </a:lnTo>
                <a:lnTo>
                  <a:pt x="397956" y="2910929"/>
                </a:lnTo>
                <a:lnTo>
                  <a:pt x="374547" y="2884009"/>
                </a:lnTo>
                <a:lnTo>
                  <a:pt x="347626" y="2860599"/>
                </a:lnTo>
                <a:lnTo>
                  <a:pt x="318365" y="2838361"/>
                </a:lnTo>
                <a:lnTo>
                  <a:pt x="289103" y="2816122"/>
                </a:lnTo>
                <a:lnTo>
                  <a:pt x="259842" y="2793883"/>
                </a:lnTo>
                <a:lnTo>
                  <a:pt x="231751" y="2771645"/>
                </a:lnTo>
                <a:lnTo>
                  <a:pt x="204830" y="2747065"/>
                </a:lnTo>
                <a:lnTo>
                  <a:pt x="181421" y="2722485"/>
                </a:lnTo>
                <a:lnTo>
                  <a:pt x="161523" y="2694394"/>
                </a:lnTo>
                <a:lnTo>
                  <a:pt x="146308" y="2665133"/>
                </a:lnTo>
                <a:lnTo>
                  <a:pt x="135773" y="2630019"/>
                </a:lnTo>
                <a:lnTo>
                  <a:pt x="131092" y="2593735"/>
                </a:lnTo>
                <a:lnTo>
                  <a:pt x="129921" y="2556280"/>
                </a:lnTo>
                <a:lnTo>
                  <a:pt x="133432" y="2516485"/>
                </a:lnTo>
                <a:lnTo>
                  <a:pt x="138114" y="2476689"/>
                </a:lnTo>
                <a:lnTo>
                  <a:pt x="143967" y="2436894"/>
                </a:lnTo>
                <a:lnTo>
                  <a:pt x="148648" y="2397098"/>
                </a:lnTo>
                <a:lnTo>
                  <a:pt x="150989" y="2357302"/>
                </a:lnTo>
                <a:lnTo>
                  <a:pt x="150989" y="2318677"/>
                </a:lnTo>
                <a:lnTo>
                  <a:pt x="146308" y="2282393"/>
                </a:lnTo>
                <a:lnTo>
                  <a:pt x="136944" y="2246109"/>
                </a:lnTo>
                <a:lnTo>
                  <a:pt x="122898" y="2212166"/>
                </a:lnTo>
                <a:lnTo>
                  <a:pt x="105341" y="2177052"/>
                </a:lnTo>
                <a:lnTo>
                  <a:pt x="85444" y="2141938"/>
                </a:lnTo>
                <a:lnTo>
                  <a:pt x="64375" y="2106824"/>
                </a:lnTo>
                <a:lnTo>
                  <a:pt x="44478" y="2072881"/>
                </a:lnTo>
                <a:lnTo>
                  <a:pt x="26921" y="2036597"/>
                </a:lnTo>
                <a:lnTo>
                  <a:pt x="12875" y="2001483"/>
                </a:lnTo>
                <a:lnTo>
                  <a:pt x="3512" y="1965199"/>
                </a:lnTo>
                <a:lnTo>
                  <a:pt x="0" y="1927744"/>
                </a:lnTo>
                <a:lnTo>
                  <a:pt x="3512" y="1890290"/>
                </a:lnTo>
                <a:lnTo>
                  <a:pt x="12875" y="1854005"/>
                </a:lnTo>
                <a:lnTo>
                  <a:pt x="26921" y="1818892"/>
                </a:lnTo>
                <a:lnTo>
                  <a:pt x="44478" y="1782608"/>
                </a:lnTo>
                <a:lnTo>
                  <a:pt x="64375" y="1748664"/>
                </a:lnTo>
                <a:lnTo>
                  <a:pt x="85444" y="1713550"/>
                </a:lnTo>
                <a:lnTo>
                  <a:pt x="105341" y="1678437"/>
                </a:lnTo>
                <a:lnTo>
                  <a:pt x="122898" y="1643323"/>
                </a:lnTo>
                <a:lnTo>
                  <a:pt x="136944" y="1609380"/>
                </a:lnTo>
                <a:lnTo>
                  <a:pt x="146308" y="1573096"/>
                </a:lnTo>
                <a:lnTo>
                  <a:pt x="150989" y="1536811"/>
                </a:lnTo>
                <a:lnTo>
                  <a:pt x="150989" y="1498186"/>
                </a:lnTo>
                <a:lnTo>
                  <a:pt x="148648" y="1458391"/>
                </a:lnTo>
                <a:lnTo>
                  <a:pt x="143967" y="1418595"/>
                </a:lnTo>
                <a:lnTo>
                  <a:pt x="138114" y="1378799"/>
                </a:lnTo>
                <a:lnTo>
                  <a:pt x="133432" y="1339004"/>
                </a:lnTo>
                <a:lnTo>
                  <a:pt x="129921" y="1299208"/>
                </a:lnTo>
                <a:lnTo>
                  <a:pt x="131092" y="1261754"/>
                </a:lnTo>
                <a:lnTo>
                  <a:pt x="135773" y="1225469"/>
                </a:lnTo>
                <a:lnTo>
                  <a:pt x="146308" y="1190356"/>
                </a:lnTo>
                <a:lnTo>
                  <a:pt x="161523" y="1161094"/>
                </a:lnTo>
                <a:lnTo>
                  <a:pt x="181421" y="1133003"/>
                </a:lnTo>
                <a:lnTo>
                  <a:pt x="204830" y="1108424"/>
                </a:lnTo>
                <a:lnTo>
                  <a:pt x="231751" y="1083844"/>
                </a:lnTo>
                <a:lnTo>
                  <a:pt x="259842" y="1061605"/>
                </a:lnTo>
                <a:lnTo>
                  <a:pt x="289103" y="1039367"/>
                </a:lnTo>
                <a:lnTo>
                  <a:pt x="318365" y="1017128"/>
                </a:lnTo>
                <a:lnTo>
                  <a:pt x="347626" y="994889"/>
                </a:lnTo>
                <a:lnTo>
                  <a:pt x="374547" y="971480"/>
                </a:lnTo>
                <a:lnTo>
                  <a:pt x="397956" y="944560"/>
                </a:lnTo>
                <a:lnTo>
                  <a:pt x="419024" y="918809"/>
                </a:lnTo>
                <a:lnTo>
                  <a:pt x="435411" y="889548"/>
                </a:lnTo>
                <a:lnTo>
                  <a:pt x="449456" y="857946"/>
                </a:lnTo>
                <a:lnTo>
                  <a:pt x="461161" y="824002"/>
                </a:lnTo>
                <a:lnTo>
                  <a:pt x="471695" y="788889"/>
                </a:lnTo>
                <a:lnTo>
                  <a:pt x="481059" y="753775"/>
                </a:lnTo>
                <a:lnTo>
                  <a:pt x="490422" y="717491"/>
                </a:lnTo>
                <a:lnTo>
                  <a:pt x="500956" y="683547"/>
                </a:lnTo>
                <a:lnTo>
                  <a:pt x="512661" y="649604"/>
                </a:lnTo>
                <a:lnTo>
                  <a:pt x="526706" y="618002"/>
                </a:lnTo>
                <a:lnTo>
                  <a:pt x="544263" y="589911"/>
                </a:lnTo>
                <a:lnTo>
                  <a:pt x="565332" y="564161"/>
                </a:lnTo>
                <a:lnTo>
                  <a:pt x="591082" y="543092"/>
                </a:lnTo>
                <a:lnTo>
                  <a:pt x="619173" y="525535"/>
                </a:lnTo>
                <a:lnTo>
                  <a:pt x="650775" y="511490"/>
                </a:lnTo>
                <a:lnTo>
                  <a:pt x="684718" y="499785"/>
                </a:lnTo>
                <a:lnTo>
                  <a:pt x="718662" y="489251"/>
                </a:lnTo>
                <a:lnTo>
                  <a:pt x="754946" y="479888"/>
                </a:lnTo>
                <a:lnTo>
                  <a:pt x="790059" y="470524"/>
                </a:lnTo>
                <a:lnTo>
                  <a:pt x="825173" y="459990"/>
                </a:lnTo>
                <a:lnTo>
                  <a:pt x="859116" y="448285"/>
                </a:lnTo>
                <a:lnTo>
                  <a:pt x="890719" y="434240"/>
                </a:lnTo>
                <a:lnTo>
                  <a:pt x="919980" y="417853"/>
                </a:lnTo>
                <a:lnTo>
                  <a:pt x="945730" y="396785"/>
                </a:lnTo>
                <a:lnTo>
                  <a:pt x="972651" y="373376"/>
                </a:lnTo>
                <a:lnTo>
                  <a:pt x="996060" y="346455"/>
                </a:lnTo>
                <a:lnTo>
                  <a:pt x="1018299" y="318364"/>
                </a:lnTo>
                <a:lnTo>
                  <a:pt x="1040537" y="289103"/>
                </a:lnTo>
                <a:lnTo>
                  <a:pt x="1062776" y="259841"/>
                </a:lnTo>
                <a:lnTo>
                  <a:pt x="1085015" y="231750"/>
                </a:lnTo>
                <a:lnTo>
                  <a:pt x="1109594" y="204830"/>
                </a:lnTo>
                <a:lnTo>
                  <a:pt x="1134174" y="181421"/>
                </a:lnTo>
                <a:lnTo>
                  <a:pt x="1162265" y="161523"/>
                </a:lnTo>
                <a:lnTo>
                  <a:pt x="1191526" y="146307"/>
                </a:lnTo>
                <a:lnTo>
                  <a:pt x="1226640" y="135773"/>
                </a:lnTo>
                <a:lnTo>
                  <a:pt x="1262924" y="131091"/>
                </a:lnTo>
                <a:lnTo>
                  <a:pt x="1300379" y="129921"/>
                </a:lnTo>
                <a:lnTo>
                  <a:pt x="1340175" y="133432"/>
                </a:lnTo>
                <a:lnTo>
                  <a:pt x="1379970" y="138114"/>
                </a:lnTo>
                <a:lnTo>
                  <a:pt x="1419766" y="143966"/>
                </a:lnTo>
                <a:lnTo>
                  <a:pt x="1459561" y="148648"/>
                </a:lnTo>
                <a:lnTo>
                  <a:pt x="1499357" y="150989"/>
                </a:lnTo>
                <a:lnTo>
                  <a:pt x="1537982" y="150989"/>
                </a:lnTo>
                <a:lnTo>
                  <a:pt x="1574266" y="146307"/>
                </a:lnTo>
                <a:lnTo>
                  <a:pt x="1610550" y="136943"/>
                </a:lnTo>
                <a:lnTo>
                  <a:pt x="1645664" y="122898"/>
                </a:lnTo>
                <a:lnTo>
                  <a:pt x="1680778" y="104171"/>
                </a:lnTo>
                <a:lnTo>
                  <a:pt x="1715892" y="85443"/>
                </a:lnTo>
                <a:lnTo>
                  <a:pt x="1751005" y="64375"/>
                </a:lnTo>
                <a:lnTo>
                  <a:pt x="1784949" y="44477"/>
                </a:lnTo>
                <a:lnTo>
                  <a:pt x="1821233" y="26920"/>
                </a:lnTo>
                <a:lnTo>
                  <a:pt x="1856347" y="12875"/>
                </a:lnTo>
                <a:lnTo>
                  <a:pt x="1892631" y="3511"/>
                </a:lnTo>
                <a:close/>
              </a:path>
            </a:pathLst>
          </a:custGeom>
        </p:spPr>
      </p:pic>
    </p:spTree>
    <p:extLst>
      <p:ext uri="{BB962C8B-B14F-4D97-AF65-F5344CB8AC3E}">
        <p14:creationId xmlns:p14="http://schemas.microsoft.com/office/powerpoint/2010/main" val="3345613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cartoon of a person thinking about a zombie&#10;&#10;Description automatically generated">
            <a:extLst>
              <a:ext uri="{FF2B5EF4-FFF2-40B4-BE49-F238E27FC236}">
                <a16:creationId xmlns:a16="http://schemas.microsoft.com/office/drawing/2014/main" id="{7F313323-AF21-3ECC-C11C-C01AE8EDE132}"/>
              </a:ext>
            </a:extLst>
          </p:cNvPr>
          <p:cNvPicPr>
            <a:picLocks noChangeAspect="1"/>
          </p:cNvPicPr>
          <p:nvPr/>
        </p:nvPicPr>
        <p:blipFill rotWithShape="1">
          <a:blip r:embed="rId2"/>
          <a:srcRect l="9763" r="19467"/>
          <a:stretch/>
        </p:blipFill>
        <p:spPr>
          <a:xfrm>
            <a:off x="7338646" y="10"/>
            <a:ext cx="4853354" cy="6857990"/>
          </a:xfrm>
          <a:prstGeom prst="rect">
            <a:avLst/>
          </a:prstGeom>
        </p:spPr>
      </p:pic>
      <p:sp>
        <p:nvSpPr>
          <p:cNvPr id="10" name="Freeform 10">
            <a:extLst>
              <a:ext uri="{FF2B5EF4-FFF2-40B4-BE49-F238E27FC236}">
                <a16:creationId xmlns:a16="http://schemas.microsoft.com/office/drawing/2014/main" id="{FF606621-EDD0-4CB0-B5A0-2BD458842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60CAD327-9993-7B52-186F-466F46229B47}"/>
              </a:ext>
            </a:extLst>
          </p:cNvPr>
          <p:cNvSpPr>
            <a:spLocks noGrp="1"/>
          </p:cNvSpPr>
          <p:nvPr>
            <p:ph type="title"/>
          </p:nvPr>
        </p:nvSpPr>
        <p:spPr>
          <a:xfrm>
            <a:off x="765051" y="382385"/>
            <a:ext cx="6015897" cy="1492132"/>
          </a:xfrm>
        </p:spPr>
        <p:txBody>
          <a:bodyPr>
            <a:normAutofit/>
          </a:bodyPr>
          <a:lstStyle/>
          <a:p>
            <a:r>
              <a:rPr lang="en-US" sz="3200">
                <a:latin typeface="Optima" panose="02000503060000020004" pitchFamily="2" charset="0"/>
              </a:rPr>
              <a:t>(2) We can conceive of Zombies but they are not in fact possible.</a:t>
            </a:r>
          </a:p>
        </p:txBody>
      </p:sp>
      <p:sp>
        <p:nvSpPr>
          <p:cNvPr id="12" name="Rectangle 11">
            <a:extLst>
              <a:ext uri="{FF2B5EF4-FFF2-40B4-BE49-F238E27FC236}">
                <a16:creationId xmlns:a16="http://schemas.microsoft.com/office/drawing/2014/main" id="{F7E0AF57-42C6-4312-BEDF-A384DC8E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5E22DA36-F499-9894-BA30-30A3D6FD58C9}"/>
              </a:ext>
            </a:extLst>
          </p:cNvPr>
          <p:cNvSpPr>
            <a:spLocks noGrp="1"/>
          </p:cNvSpPr>
          <p:nvPr>
            <p:ph idx="1"/>
          </p:nvPr>
        </p:nvSpPr>
        <p:spPr>
          <a:xfrm>
            <a:off x="765051" y="2286001"/>
            <a:ext cx="6015897" cy="3593591"/>
          </a:xfrm>
        </p:spPr>
        <p:txBody>
          <a:bodyPr>
            <a:normAutofit fontScale="92500"/>
          </a:bodyPr>
          <a:lstStyle/>
          <a:p>
            <a:pPr marL="0" indent="0" algn="just">
              <a:lnSpc>
                <a:spcPct val="100000"/>
              </a:lnSpc>
              <a:buNone/>
            </a:pPr>
            <a:r>
              <a:rPr lang="en-GB" kern="100" dirty="0">
                <a:solidFill>
                  <a:srgbClr val="002060"/>
                </a:solidFill>
                <a:effectLst/>
                <a:latin typeface="Optima" panose="02000503060000020004" pitchFamily="2" charset="0"/>
                <a:ea typeface="Calibri" panose="020F0502020204030204" pitchFamily="34" charset="0"/>
                <a:cs typeface="Times New Roman" panose="02020603050405020304" pitchFamily="18" charset="0"/>
              </a:rPr>
              <a:t>This form </a:t>
            </a:r>
            <a:r>
              <a:rPr lang="en-GB" kern="100" dirty="0">
                <a:solidFill>
                  <a:srgbClr val="002060"/>
                </a:solidFill>
                <a:latin typeface="Optima" panose="02000503060000020004" pitchFamily="2" charset="0"/>
                <a:ea typeface="Calibri" panose="020F0502020204030204" pitchFamily="34" charset="0"/>
                <a:cs typeface="Times New Roman" panose="02020603050405020304" pitchFamily="18" charset="0"/>
              </a:rPr>
              <a:t>of materialism claims that a</a:t>
            </a:r>
            <a:r>
              <a:rPr lang="en-GB" kern="100" dirty="0">
                <a:solidFill>
                  <a:srgbClr val="002060"/>
                </a:solidFill>
                <a:effectLst/>
                <a:latin typeface="Optima" panose="02000503060000020004" pitchFamily="2" charset="0"/>
                <a:ea typeface="Calibri" panose="020F0502020204030204" pitchFamily="34" charset="0"/>
                <a:cs typeface="Times New Roman" panose="02020603050405020304" pitchFamily="18" charset="0"/>
              </a:rPr>
              <a:t>lthough Zombies are conceivable, they are not in fact possible. This argument works on the claim that conceivability is not a guide to possibility. For example, I could conceive of myself jumping over Mount Everest in one leap, and although this is logically possible (i.e. we do not contradict ourselves in imagining it, unlike a square circle), it is in fact impossible both physically and metaphysically. For example, we may think that water could have been something other than H₂O, but actually this was never possible. If water is H₂O, it is H₂O everywhere it exists, including all other possible worlds. </a:t>
            </a:r>
            <a:endParaRPr lang="en-GB"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pPr>
            <a:endParaRPr lang="en-US" dirty="0"/>
          </a:p>
        </p:txBody>
      </p:sp>
    </p:spTree>
    <p:extLst>
      <p:ext uri="{BB962C8B-B14F-4D97-AF65-F5344CB8AC3E}">
        <p14:creationId xmlns:p14="http://schemas.microsoft.com/office/powerpoint/2010/main" val="345397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Content Placeholder 3" descr="A cartoon of a person thinking about a zombie&#10;&#10;Description automatically generated">
            <a:extLst>
              <a:ext uri="{FF2B5EF4-FFF2-40B4-BE49-F238E27FC236}">
                <a16:creationId xmlns:a16="http://schemas.microsoft.com/office/drawing/2014/main" id="{8E2761BD-F516-FC39-755F-EE7140C95342}"/>
              </a:ext>
            </a:extLst>
          </p:cNvPr>
          <p:cNvPicPr>
            <a:picLocks noChangeAspect="1"/>
          </p:cNvPicPr>
          <p:nvPr/>
        </p:nvPicPr>
        <p:blipFill rotWithShape="1">
          <a:blip r:embed="rId2"/>
          <a:srcRect l="9763" r="19467"/>
          <a:stretch/>
        </p:blipFill>
        <p:spPr>
          <a:xfrm>
            <a:off x="7338646" y="10"/>
            <a:ext cx="4853354" cy="6857990"/>
          </a:xfrm>
          <a:prstGeom prst="rect">
            <a:avLst/>
          </a:prstGeom>
        </p:spPr>
      </p:pic>
      <p:sp>
        <p:nvSpPr>
          <p:cNvPr id="11" name="Freeform 10">
            <a:extLst>
              <a:ext uri="{FF2B5EF4-FFF2-40B4-BE49-F238E27FC236}">
                <a16:creationId xmlns:a16="http://schemas.microsoft.com/office/drawing/2014/main" id="{FF606621-EDD0-4CB0-B5A0-2BD458842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6778C5C0-42F4-2D91-408B-1685606FC6DD}"/>
              </a:ext>
            </a:extLst>
          </p:cNvPr>
          <p:cNvSpPr>
            <a:spLocks noGrp="1"/>
          </p:cNvSpPr>
          <p:nvPr>
            <p:ph type="title"/>
          </p:nvPr>
        </p:nvSpPr>
        <p:spPr>
          <a:xfrm>
            <a:off x="765051" y="382385"/>
            <a:ext cx="6015897" cy="1492132"/>
          </a:xfrm>
        </p:spPr>
        <p:txBody>
          <a:bodyPr>
            <a:normAutofit fontScale="90000"/>
          </a:bodyPr>
          <a:lstStyle/>
          <a:p>
            <a:r>
              <a:rPr lang="en-US" sz="3200" dirty="0">
                <a:latin typeface="Optima" panose="02000503060000020004" pitchFamily="2" charset="0"/>
              </a:rPr>
              <a:t>(3) What is metaphysically possible does not tell us about the actual world. </a:t>
            </a:r>
          </a:p>
        </p:txBody>
      </p:sp>
      <p:sp>
        <p:nvSpPr>
          <p:cNvPr id="13" name="Rectangle 12">
            <a:extLst>
              <a:ext uri="{FF2B5EF4-FFF2-40B4-BE49-F238E27FC236}">
                <a16:creationId xmlns:a16="http://schemas.microsoft.com/office/drawing/2014/main" id="{F7E0AF57-42C6-4312-BEDF-A384DC8E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Content Placeholder 7">
            <a:extLst>
              <a:ext uri="{FF2B5EF4-FFF2-40B4-BE49-F238E27FC236}">
                <a16:creationId xmlns:a16="http://schemas.microsoft.com/office/drawing/2014/main" id="{8EB17C4F-28AC-2D02-606D-CE973EAF688B}"/>
              </a:ext>
            </a:extLst>
          </p:cNvPr>
          <p:cNvSpPr>
            <a:spLocks noGrp="1"/>
          </p:cNvSpPr>
          <p:nvPr>
            <p:ph idx="1"/>
          </p:nvPr>
        </p:nvSpPr>
        <p:spPr>
          <a:xfrm>
            <a:off x="765051" y="2286001"/>
            <a:ext cx="5586981" cy="3593591"/>
          </a:xfrm>
        </p:spPr>
        <p:txBody>
          <a:bodyPr>
            <a:normAutofit/>
          </a:bodyPr>
          <a:lstStyle/>
          <a:p>
            <a:pPr marL="0" indent="0" algn="just">
              <a:buNone/>
            </a:pPr>
            <a:r>
              <a:rPr lang="en-US" sz="3200" dirty="0">
                <a:solidFill>
                  <a:srgbClr val="002060"/>
                </a:solidFill>
              </a:rPr>
              <a:t>Whether Zombies are possible or not, in a metaphysical sense, is irrelevant to our world, which is the only world that exists. Possible worlds are of no consequence. </a:t>
            </a:r>
          </a:p>
        </p:txBody>
      </p:sp>
    </p:spTree>
    <p:extLst>
      <p:ext uri="{BB962C8B-B14F-4D97-AF65-F5344CB8AC3E}">
        <p14:creationId xmlns:p14="http://schemas.microsoft.com/office/powerpoint/2010/main" val="205799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604DA-D222-EAE7-2404-2EF60348CB6E}"/>
              </a:ext>
            </a:extLst>
          </p:cNvPr>
          <p:cNvSpPr>
            <a:spLocks noGrp="1"/>
          </p:cNvSpPr>
          <p:nvPr>
            <p:ph type="title"/>
          </p:nvPr>
        </p:nvSpPr>
        <p:spPr>
          <a:xfrm>
            <a:off x="1251678" y="658367"/>
            <a:ext cx="10178322" cy="1216149"/>
          </a:xfrm>
        </p:spPr>
        <p:txBody>
          <a:bodyPr/>
          <a:lstStyle/>
          <a:p>
            <a:r>
              <a:rPr lang="en-US" dirty="0">
                <a:latin typeface="Optima" panose="02000503060000020004" pitchFamily="2" charset="0"/>
              </a:rPr>
              <a:t>Further reading</a:t>
            </a:r>
          </a:p>
        </p:txBody>
      </p:sp>
      <p:sp>
        <p:nvSpPr>
          <p:cNvPr id="3" name="Content Placeholder 2">
            <a:extLst>
              <a:ext uri="{FF2B5EF4-FFF2-40B4-BE49-F238E27FC236}">
                <a16:creationId xmlns:a16="http://schemas.microsoft.com/office/drawing/2014/main" id="{71C17D37-03AB-85CF-D8F8-7E9C883E0D9E}"/>
              </a:ext>
            </a:extLst>
          </p:cNvPr>
          <p:cNvSpPr>
            <a:spLocks noGrp="1"/>
          </p:cNvSpPr>
          <p:nvPr>
            <p:ph idx="1"/>
          </p:nvPr>
        </p:nvSpPr>
        <p:spPr/>
        <p:txBody>
          <a:bodyPr>
            <a:normAutofit/>
          </a:bodyPr>
          <a:lstStyle/>
          <a:p>
            <a:pPr marL="0" indent="0">
              <a:buNone/>
            </a:pPr>
            <a:r>
              <a:rPr lang="en-US" sz="2800" dirty="0">
                <a:solidFill>
                  <a:srgbClr val="002060"/>
                </a:solidFill>
              </a:rPr>
              <a:t>David Chalmers, ‘Consciousness and its Place in Nature’.</a:t>
            </a:r>
          </a:p>
          <a:p>
            <a:pPr marL="0" indent="0">
              <a:buNone/>
            </a:pPr>
            <a:endParaRPr lang="en-US" sz="2800" dirty="0">
              <a:solidFill>
                <a:srgbClr val="002060"/>
              </a:solidFill>
            </a:endParaRPr>
          </a:p>
          <a:p>
            <a:pPr marL="0" indent="0">
              <a:buNone/>
            </a:pPr>
            <a:r>
              <a:rPr lang="en-US" sz="2800" dirty="0">
                <a:solidFill>
                  <a:srgbClr val="002060"/>
                </a:solidFill>
              </a:rPr>
              <a:t>David Chalmers, The Conscious Mind. </a:t>
            </a:r>
          </a:p>
        </p:txBody>
      </p:sp>
    </p:spTree>
    <p:extLst>
      <p:ext uri="{BB962C8B-B14F-4D97-AF65-F5344CB8AC3E}">
        <p14:creationId xmlns:p14="http://schemas.microsoft.com/office/powerpoint/2010/main" val="2085420411"/>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Badge</Template>
  <TotalTime>48</TotalTime>
  <Words>848</Words>
  <Application>Microsoft Macintosh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Gill Sans MT</vt:lpstr>
      <vt:lpstr>Impact</vt:lpstr>
      <vt:lpstr>Optima</vt:lpstr>
      <vt:lpstr>Badge</vt:lpstr>
      <vt:lpstr>Philosophy of mind  'Zombies’</vt:lpstr>
      <vt:lpstr>The Zombies argument </vt:lpstr>
      <vt:lpstr>The hard problem of consciousness</vt:lpstr>
      <vt:lpstr>The argument </vt:lpstr>
      <vt:lpstr>The argument put formally</vt:lpstr>
      <vt:lpstr>Responses to the Zombie argument</vt:lpstr>
      <vt:lpstr>(1) It is not actually possible to imagine a Zombie</vt:lpstr>
      <vt:lpstr>(2) We can conceive of Zombies but they are not in fact possible.</vt:lpstr>
      <vt:lpstr>(3) What is metaphysically possible does not tell us about the actual world. </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12</cp:revision>
  <dcterms:created xsi:type="dcterms:W3CDTF">2024-07-09T15:11:11Z</dcterms:created>
  <dcterms:modified xsi:type="dcterms:W3CDTF">2024-07-14T18:56:23Z</dcterms:modified>
</cp:coreProperties>
</file>