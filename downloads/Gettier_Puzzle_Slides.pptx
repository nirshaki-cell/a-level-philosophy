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notesMasterIdLst>
    <p:notesMasterId r:id="rId16"/>
  </p:notesMasterIdLst>
  <p:sldIdLst>
    <p:sldId id="256" r:id="rId2"/>
    <p:sldId id="258" r:id="rId3"/>
    <p:sldId id="279" r:id="rId4"/>
    <p:sldId id="261" r:id="rId5"/>
    <p:sldId id="280" r:id="rId6"/>
    <p:sldId id="264" r:id="rId7"/>
    <p:sldId id="268" r:id="rId8"/>
    <p:sldId id="269" r:id="rId9"/>
    <p:sldId id="271" r:id="rId10"/>
    <p:sldId id="273" r:id="rId11"/>
    <p:sldId id="274" r:id="rId12"/>
    <p:sldId id="275" r:id="rId13"/>
    <p:sldId id="276" r:id="rId14"/>
    <p:sldId id="28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61"/>
  </p:normalViewPr>
  <p:slideViewPr>
    <p:cSldViewPr snapToGrid="0">
      <p:cViewPr varScale="1">
        <p:scale>
          <a:sx n="106" d="100"/>
          <a:sy n="106" d="100"/>
        </p:scale>
        <p:origin x="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E10E9-44D2-AD40-BE85-91689BD8613D}" type="datetimeFigureOut">
              <a:rPr lang="en-US" smtClean="0"/>
              <a:t>9/24/24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6EF5EB-5039-BA46-AC32-43FF69E2D529}" type="slidenum">
              <a:rPr lang="en-US" smtClean="0"/>
              <a:t>‹#›</a:t>
            </a:fld>
            <a:endParaRPr lang="en-US"/>
          </a:p>
        </p:txBody>
      </p:sp>
    </p:spTree>
    <p:extLst>
      <p:ext uri="{BB962C8B-B14F-4D97-AF65-F5344CB8AC3E}">
        <p14:creationId xmlns:p14="http://schemas.microsoft.com/office/powerpoint/2010/main" val="366909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6EF5EB-5039-BA46-AC32-43FF69E2D529}" type="slidenum">
              <a:rPr lang="en-US" smtClean="0"/>
              <a:t>10</a:t>
            </a:fld>
            <a:endParaRPr lang="en-US"/>
          </a:p>
        </p:txBody>
      </p:sp>
    </p:spTree>
    <p:extLst>
      <p:ext uri="{BB962C8B-B14F-4D97-AF65-F5344CB8AC3E}">
        <p14:creationId xmlns:p14="http://schemas.microsoft.com/office/powerpoint/2010/main" val="3324591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tx1">
                    <a:lumMod val="65000"/>
                    <a:lumOff val="35000"/>
                  </a:schemeClr>
                </a:solidFill>
              </a:defRPr>
            </a:lvl1pPr>
          </a:lstStyle>
          <a:p>
            <a:fld id="{9334D819-9F07-4261-B09B-9E467E5D9002}" type="datetimeFigureOut">
              <a:rPr lang="en-US" smtClean="0"/>
              <a:pPr/>
              <a:t>9/24/24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tx1">
                    <a:lumMod val="65000"/>
                    <a:lumOff val="35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02313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53030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9/24/24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57547187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9/24/24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0546258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1">
                    <a:lumMod val="85000"/>
                    <a:lumOff val="1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1">
                    <a:lumMod val="85000"/>
                    <a:lumOff val="1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9/24/24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22563640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9/24/24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779448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9/24/24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200965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9/24/24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11305240"/>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1">
              <a:lumMod val="85000"/>
              <a:lumOff val="15000"/>
            </a:schemeClr>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9/24/24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503857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576205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9/24/24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34909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9/24/24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1">
              <a:lumMod val="85000"/>
              <a:lumOff val="15000"/>
            </a:schemeClr>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866484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51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7B75E-E434-A7FC-0124-719A2FED7996}"/>
              </a:ext>
            </a:extLst>
          </p:cNvPr>
          <p:cNvSpPr>
            <a:spLocks noGrp="1"/>
          </p:cNvSpPr>
          <p:nvPr>
            <p:ph type="ctrTitle"/>
          </p:nvPr>
        </p:nvSpPr>
        <p:spPr/>
        <p:txBody>
          <a:bodyPr/>
          <a:lstStyle/>
          <a:p>
            <a:r>
              <a:rPr lang="en-US" sz="5400" dirty="0">
                <a:latin typeface="Avenir Book" panose="02000503020000020003" pitchFamily="2" charset="0"/>
              </a:rPr>
              <a:t>The Gettier puzzle</a:t>
            </a:r>
            <a:br>
              <a:rPr lang="en-US" sz="5400" dirty="0">
                <a:latin typeface="Avenir Book" panose="02000503020000020003" pitchFamily="2" charset="0"/>
              </a:rPr>
            </a:br>
            <a:r>
              <a:rPr lang="en-US" sz="5400" dirty="0">
                <a:latin typeface="Avenir Book" panose="02000503020000020003" pitchFamily="2" charset="0"/>
              </a:rPr>
              <a:t>And no false lemma</a:t>
            </a:r>
          </a:p>
        </p:txBody>
      </p:sp>
      <p:sp>
        <p:nvSpPr>
          <p:cNvPr id="3" name="Subtitle 2">
            <a:extLst>
              <a:ext uri="{FF2B5EF4-FFF2-40B4-BE49-F238E27FC236}">
                <a16:creationId xmlns:a16="http://schemas.microsoft.com/office/drawing/2014/main" id="{6B42186A-614F-45C1-B80A-C9AE030D5A5C}"/>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6606784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74ED80-45FF-4F86-B49C-1306F7061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D5847CD-959D-4EEF-A551-65942EBC3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65427B5E-8592-273B-A20F-E17B26DE2228}"/>
              </a:ext>
            </a:extLst>
          </p:cNvPr>
          <p:cNvSpPr>
            <a:spLocks noGrp="1"/>
          </p:cNvSpPr>
          <p:nvPr>
            <p:ph type="title"/>
          </p:nvPr>
        </p:nvSpPr>
        <p:spPr>
          <a:xfrm>
            <a:off x="754144" y="484631"/>
            <a:ext cx="6340519" cy="1638469"/>
          </a:xfrm>
        </p:spPr>
        <p:txBody>
          <a:bodyPr>
            <a:normAutofit/>
          </a:bodyPr>
          <a:lstStyle/>
          <a:p>
            <a:r>
              <a:rPr lang="en-US" sz="4000" dirty="0">
                <a:latin typeface="Avenir Book" panose="02000503020000020003" pitchFamily="2" charset="0"/>
              </a:rPr>
              <a:t>What is the Gettier puzzle?</a:t>
            </a:r>
          </a:p>
        </p:txBody>
      </p:sp>
      <p:sp>
        <p:nvSpPr>
          <p:cNvPr id="13" name="Rectangle 12">
            <a:extLst>
              <a:ext uri="{FF2B5EF4-FFF2-40B4-BE49-F238E27FC236}">
                <a16:creationId xmlns:a16="http://schemas.microsoft.com/office/drawing/2014/main" id="{1CC0B614-29D2-4FBD-9F99-0F394A803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59E262F-8F65-F8B1-BE0D-7BC11FBEB8A7}"/>
              </a:ext>
            </a:extLst>
          </p:cNvPr>
          <p:cNvSpPr>
            <a:spLocks noGrp="1"/>
          </p:cNvSpPr>
          <p:nvPr>
            <p:ph idx="1"/>
          </p:nvPr>
        </p:nvSpPr>
        <p:spPr>
          <a:xfrm>
            <a:off x="765051" y="2123100"/>
            <a:ext cx="6306309" cy="3916193"/>
          </a:xfrm>
        </p:spPr>
        <p:txBody>
          <a:bodyPr>
            <a:normAutofit fontScale="92500" lnSpcReduction="20000"/>
          </a:bodyPr>
          <a:lstStyle/>
          <a:p>
            <a:pPr marL="0" indent="0" algn="just">
              <a:lnSpc>
                <a:spcPct val="150000"/>
              </a:lnSpc>
              <a:buNone/>
            </a:pPr>
            <a:r>
              <a:rPr lang="en-US" sz="2800" dirty="0">
                <a:solidFill>
                  <a:srgbClr val="000000"/>
                </a:solidFill>
                <a:latin typeface="Avenir Book" panose="02000503020000020003" pitchFamily="2" charset="0"/>
              </a:rPr>
              <a:t>Developed by Edmund Gettier the puzzle gives what appears to be clear examples of justified, true, belief that </a:t>
            </a:r>
            <a:r>
              <a:rPr lang="en-US" sz="2800" i="1" dirty="0">
                <a:solidFill>
                  <a:srgbClr val="000000"/>
                </a:solidFill>
                <a:latin typeface="Avenir Book" panose="02000503020000020003" pitchFamily="2" charset="0"/>
              </a:rPr>
              <a:t>does not </a:t>
            </a:r>
            <a:r>
              <a:rPr lang="en-US" sz="2800" dirty="0">
                <a:solidFill>
                  <a:srgbClr val="000000"/>
                </a:solidFill>
                <a:latin typeface="Avenir Book" panose="02000503020000020003" pitchFamily="2" charset="0"/>
              </a:rPr>
              <a:t>count as knowledge. In doing this Gettier ‘opened up’ a search for a new definition that would be more adequate. </a:t>
            </a:r>
          </a:p>
        </p:txBody>
      </p:sp>
      <p:pic>
        <p:nvPicPr>
          <p:cNvPr id="4" name="Picture 3" descr="Men sitting on a bench&#10;&#10;Description automatically generated">
            <a:extLst>
              <a:ext uri="{FF2B5EF4-FFF2-40B4-BE49-F238E27FC236}">
                <a16:creationId xmlns:a16="http://schemas.microsoft.com/office/drawing/2014/main" id="{AEF4512A-D6F0-6C79-8DBC-A58F73840142}"/>
              </a:ext>
            </a:extLst>
          </p:cNvPr>
          <p:cNvPicPr>
            <a:picLocks noChangeAspect="1"/>
          </p:cNvPicPr>
          <p:nvPr/>
        </p:nvPicPr>
        <p:blipFill>
          <a:blip r:embed="rId2"/>
          <a:stretch>
            <a:fillRect/>
          </a:stretch>
        </p:blipFill>
        <p:spPr>
          <a:xfrm>
            <a:off x="8050787" y="2231470"/>
            <a:ext cx="3656581" cy="2395060"/>
          </a:xfrm>
          <a:prstGeom prst="rect">
            <a:avLst/>
          </a:prstGeom>
        </p:spPr>
      </p:pic>
    </p:spTree>
    <p:extLst>
      <p:ext uri="{BB962C8B-B14F-4D97-AF65-F5344CB8AC3E}">
        <p14:creationId xmlns:p14="http://schemas.microsoft.com/office/powerpoint/2010/main" val="13791490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74ED80-45FF-4F86-B49C-1306F7061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D5847CD-959D-4EEF-A551-65942EBC3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02DA6969-6977-B59F-6A91-48D971F3FF3F}"/>
              </a:ext>
            </a:extLst>
          </p:cNvPr>
          <p:cNvSpPr>
            <a:spLocks noGrp="1"/>
          </p:cNvSpPr>
          <p:nvPr>
            <p:ph type="title"/>
          </p:nvPr>
        </p:nvSpPr>
        <p:spPr>
          <a:xfrm>
            <a:off x="754144" y="484631"/>
            <a:ext cx="6340519" cy="1638469"/>
          </a:xfrm>
        </p:spPr>
        <p:txBody>
          <a:bodyPr>
            <a:normAutofit/>
          </a:bodyPr>
          <a:lstStyle/>
          <a:p>
            <a:r>
              <a:rPr lang="en-US" sz="4000" dirty="0">
                <a:latin typeface="Avenir Book" panose="02000503020000020003" pitchFamily="2" charset="0"/>
              </a:rPr>
              <a:t>Two important assumptions</a:t>
            </a:r>
          </a:p>
        </p:txBody>
      </p:sp>
      <p:sp>
        <p:nvSpPr>
          <p:cNvPr id="13" name="Rectangle 12">
            <a:extLst>
              <a:ext uri="{FF2B5EF4-FFF2-40B4-BE49-F238E27FC236}">
                <a16:creationId xmlns:a16="http://schemas.microsoft.com/office/drawing/2014/main" id="{1CC0B614-29D2-4FBD-9F99-0F394A803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CEA535C-BEBF-689D-BDE4-919CB3C4AE1A}"/>
              </a:ext>
            </a:extLst>
          </p:cNvPr>
          <p:cNvSpPr>
            <a:spLocks noGrp="1"/>
          </p:cNvSpPr>
          <p:nvPr>
            <p:ph idx="1"/>
          </p:nvPr>
        </p:nvSpPr>
        <p:spPr>
          <a:xfrm>
            <a:off x="765051" y="2231470"/>
            <a:ext cx="6306309" cy="4141897"/>
          </a:xfrm>
        </p:spPr>
        <p:txBody>
          <a:bodyPr>
            <a:normAutofit/>
          </a:bodyPr>
          <a:lstStyle/>
          <a:p>
            <a:pPr marL="0" indent="0">
              <a:lnSpc>
                <a:spcPct val="150000"/>
              </a:lnSpc>
              <a:buNone/>
            </a:pPr>
            <a:r>
              <a:rPr lang="en-US" dirty="0">
                <a:solidFill>
                  <a:srgbClr val="000000"/>
                </a:solidFill>
                <a:latin typeface="Avenir Book" panose="02000503020000020003" pitchFamily="2" charset="0"/>
              </a:rPr>
              <a:t>To understand the way the Gettier puzzle works we need to know the principle of closure. The principle of closure says that </a:t>
            </a:r>
          </a:p>
          <a:p>
            <a:pPr>
              <a:lnSpc>
                <a:spcPct val="150000"/>
              </a:lnSpc>
            </a:pPr>
            <a:endParaRPr lang="en-US" dirty="0">
              <a:solidFill>
                <a:srgbClr val="000000"/>
              </a:solidFill>
              <a:latin typeface="Avenir Book" panose="02000503020000020003" pitchFamily="2" charset="0"/>
            </a:endParaRPr>
          </a:p>
          <a:p>
            <a:pPr>
              <a:lnSpc>
                <a:spcPct val="150000"/>
              </a:lnSpc>
            </a:pPr>
            <a:r>
              <a:rPr lang="en-US" dirty="0">
                <a:solidFill>
                  <a:srgbClr val="000000"/>
                </a:solidFill>
                <a:latin typeface="Avenir Book" panose="02000503020000020003" pitchFamily="2" charset="0"/>
              </a:rPr>
              <a:t>1. If I know that P</a:t>
            </a:r>
          </a:p>
          <a:p>
            <a:pPr>
              <a:lnSpc>
                <a:spcPct val="150000"/>
              </a:lnSpc>
            </a:pPr>
            <a:r>
              <a:rPr lang="en-US" dirty="0">
                <a:solidFill>
                  <a:srgbClr val="000000"/>
                </a:solidFill>
                <a:latin typeface="Avenir Book" panose="02000503020000020003" pitchFamily="2" charset="0"/>
              </a:rPr>
              <a:t>2. And I know that P implies Q</a:t>
            </a:r>
          </a:p>
          <a:p>
            <a:pPr>
              <a:lnSpc>
                <a:spcPct val="150000"/>
              </a:lnSpc>
            </a:pPr>
            <a:r>
              <a:rPr lang="en-US" dirty="0">
                <a:solidFill>
                  <a:srgbClr val="000000"/>
                </a:solidFill>
                <a:latin typeface="Avenir Book" panose="02000503020000020003" pitchFamily="2" charset="0"/>
              </a:rPr>
              <a:t>3. Then given P, I am justified in believing Q.</a:t>
            </a:r>
          </a:p>
        </p:txBody>
      </p:sp>
      <p:pic>
        <p:nvPicPr>
          <p:cNvPr id="4" name="Picture 3" descr="Men sitting on a bench&#10;&#10;Description automatically generated">
            <a:extLst>
              <a:ext uri="{FF2B5EF4-FFF2-40B4-BE49-F238E27FC236}">
                <a16:creationId xmlns:a16="http://schemas.microsoft.com/office/drawing/2014/main" id="{BFBB14B9-B647-ADC9-8972-52F28D4639CA}"/>
              </a:ext>
            </a:extLst>
          </p:cNvPr>
          <p:cNvPicPr>
            <a:picLocks noChangeAspect="1"/>
          </p:cNvPicPr>
          <p:nvPr/>
        </p:nvPicPr>
        <p:blipFill>
          <a:blip r:embed="rId2"/>
          <a:stretch>
            <a:fillRect/>
          </a:stretch>
        </p:blipFill>
        <p:spPr>
          <a:xfrm>
            <a:off x="8050787" y="2231470"/>
            <a:ext cx="3656581" cy="2395060"/>
          </a:xfrm>
          <a:prstGeom prst="rect">
            <a:avLst/>
          </a:prstGeom>
        </p:spPr>
      </p:pic>
    </p:spTree>
    <p:extLst>
      <p:ext uri="{BB962C8B-B14F-4D97-AF65-F5344CB8AC3E}">
        <p14:creationId xmlns:p14="http://schemas.microsoft.com/office/powerpoint/2010/main" val="4011393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1800-EC54-7B39-3CB2-C84F094B00CF}"/>
              </a:ext>
            </a:extLst>
          </p:cNvPr>
          <p:cNvSpPr>
            <a:spLocks noGrp="1"/>
          </p:cNvSpPr>
          <p:nvPr>
            <p:ph type="title"/>
          </p:nvPr>
        </p:nvSpPr>
        <p:spPr>
          <a:xfrm>
            <a:off x="1169581" y="514351"/>
            <a:ext cx="8559209" cy="800100"/>
          </a:xfrm>
        </p:spPr>
        <p:txBody>
          <a:bodyPr>
            <a:normAutofit/>
          </a:bodyPr>
          <a:lstStyle/>
          <a:p>
            <a:r>
              <a:rPr lang="en-US" sz="4000" dirty="0">
                <a:latin typeface="Avenir Book" panose="02000503020000020003" pitchFamily="2" charset="0"/>
              </a:rPr>
              <a:t>The thought experiment </a:t>
            </a:r>
          </a:p>
        </p:txBody>
      </p:sp>
      <p:sp>
        <p:nvSpPr>
          <p:cNvPr id="3" name="Content Placeholder 2">
            <a:extLst>
              <a:ext uri="{FF2B5EF4-FFF2-40B4-BE49-F238E27FC236}">
                <a16:creationId xmlns:a16="http://schemas.microsoft.com/office/drawing/2014/main" id="{90F74234-D803-7295-AE17-614B09E3FECA}"/>
              </a:ext>
            </a:extLst>
          </p:cNvPr>
          <p:cNvSpPr>
            <a:spLocks noGrp="1"/>
          </p:cNvSpPr>
          <p:nvPr>
            <p:ph idx="1"/>
          </p:nvPr>
        </p:nvSpPr>
        <p:spPr>
          <a:xfrm>
            <a:off x="1169581" y="1628776"/>
            <a:ext cx="6613452" cy="4474312"/>
          </a:xfrm>
        </p:spPr>
        <p:txBody>
          <a:bodyPr>
            <a:normAutofit fontScale="92500"/>
          </a:bodyPr>
          <a:lstStyle/>
          <a:p>
            <a:pPr marL="457200" indent="-457200">
              <a:lnSpc>
                <a:spcPct val="150000"/>
              </a:lnSpc>
              <a:buAutoNum type="arabicParenBoth"/>
            </a:pPr>
            <a:r>
              <a:rPr lang="en-US" sz="1600" dirty="0">
                <a:solidFill>
                  <a:srgbClr val="000000"/>
                </a:solidFill>
                <a:latin typeface="Avenir Book" panose="02000503020000020003" pitchFamily="2" charset="0"/>
              </a:rPr>
              <a:t>Smith and Jones are both going for a job interview. </a:t>
            </a:r>
          </a:p>
          <a:p>
            <a:pPr marL="457200" indent="-457200">
              <a:lnSpc>
                <a:spcPct val="150000"/>
              </a:lnSpc>
              <a:buAutoNum type="arabicParenBoth"/>
            </a:pPr>
            <a:r>
              <a:rPr lang="en-US" sz="1600" dirty="0">
                <a:solidFill>
                  <a:srgbClr val="000000"/>
                </a:solidFill>
                <a:latin typeface="Avenir Book" panose="02000503020000020003" pitchFamily="2" charset="0"/>
              </a:rPr>
              <a:t>Smith is told that Jones will get the job though a contact who he knows.</a:t>
            </a:r>
          </a:p>
          <a:p>
            <a:pPr marL="457200" indent="-457200">
              <a:lnSpc>
                <a:spcPct val="150000"/>
              </a:lnSpc>
              <a:buAutoNum type="arabicParenBoth"/>
            </a:pPr>
            <a:r>
              <a:rPr lang="en-US" sz="1600" dirty="0">
                <a:solidFill>
                  <a:srgbClr val="000000"/>
                </a:solidFill>
                <a:latin typeface="Avenir Book" panose="02000503020000020003" pitchFamily="2" charset="0"/>
              </a:rPr>
              <a:t>Smith sees Jones put ten coins in his pocket just before the interview.</a:t>
            </a:r>
          </a:p>
          <a:p>
            <a:pPr marL="457200" indent="-457200">
              <a:lnSpc>
                <a:spcPct val="150000"/>
              </a:lnSpc>
              <a:buAutoNum type="arabicParenBoth"/>
            </a:pPr>
            <a:r>
              <a:rPr lang="en-US" sz="1600" dirty="0">
                <a:solidFill>
                  <a:srgbClr val="000000"/>
                </a:solidFill>
                <a:latin typeface="Avenir Book" panose="02000503020000020003" pitchFamily="2" charset="0"/>
              </a:rPr>
              <a:t>Smith forms the belief that Jones will get the job, and then reasons that ’the man who will get the job has ten coins in his pocket’. </a:t>
            </a:r>
          </a:p>
          <a:p>
            <a:pPr marL="457200" indent="-457200">
              <a:lnSpc>
                <a:spcPct val="150000"/>
              </a:lnSpc>
              <a:buAutoNum type="arabicParenBoth"/>
            </a:pPr>
            <a:r>
              <a:rPr lang="en-US" sz="1600" dirty="0">
                <a:solidFill>
                  <a:srgbClr val="000000"/>
                </a:solidFill>
                <a:latin typeface="Avenir Book" panose="02000503020000020003" pitchFamily="2" charset="0"/>
              </a:rPr>
              <a:t>Unbeknownst to Smith he himself also has 10 coins in his pocket, and also surprisingly gets the job. </a:t>
            </a:r>
          </a:p>
          <a:p>
            <a:pPr marL="457200" indent="-457200">
              <a:lnSpc>
                <a:spcPct val="150000"/>
              </a:lnSpc>
              <a:buAutoNum type="arabicParenBoth"/>
            </a:pPr>
            <a:r>
              <a:rPr lang="en-US" sz="1600" dirty="0">
                <a:solidFill>
                  <a:srgbClr val="000000"/>
                </a:solidFill>
                <a:latin typeface="Avenir Book" panose="02000503020000020003" pitchFamily="2" charset="0"/>
              </a:rPr>
              <a:t>Smith’s belief that ‘the man who will get the job has ten coins in his pocket’ is justified, it is true, and he believes it. BUT IT ISN’T KNOWLEDGE! HOW SO?</a:t>
            </a:r>
          </a:p>
        </p:txBody>
      </p:sp>
      <p:pic>
        <p:nvPicPr>
          <p:cNvPr id="4" name="Picture 3">
            <a:extLst>
              <a:ext uri="{FF2B5EF4-FFF2-40B4-BE49-F238E27FC236}">
                <a16:creationId xmlns:a16="http://schemas.microsoft.com/office/drawing/2014/main" id="{7D81A7E8-85CD-ED12-2EB8-A4833FB910F5}"/>
              </a:ext>
            </a:extLst>
          </p:cNvPr>
          <p:cNvPicPr>
            <a:picLocks noChangeAspect="1"/>
          </p:cNvPicPr>
          <p:nvPr/>
        </p:nvPicPr>
        <p:blipFill>
          <a:blip r:embed="rId2"/>
          <a:stretch>
            <a:fillRect/>
          </a:stretch>
        </p:blipFill>
        <p:spPr>
          <a:xfrm>
            <a:off x="8050787" y="2231470"/>
            <a:ext cx="3656581" cy="2395060"/>
          </a:xfrm>
          <a:prstGeom prst="rect">
            <a:avLst/>
          </a:prstGeom>
        </p:spPr>
      </p:pic>
    </p:spTree>
    <p:extLst>
      <p:ext uri="{BB962C8B-B14F-4D97-AF65-F5344CB8AC3E}">
        <p14:creationId xmlns:p14="http://schemas.microsoft.com/office/powerpoint/2010/main" val="18297907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74ED80-45FF-4F86-B49C-1306F7061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D5847CD-959D-4EEF-A551-65942EBC3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349E6FD5-93EC-AA90-B516-737696E5F06E}"/>
              </a:ext>
            </a:extLst>
          </p:cNvPr>
          <p:cNvSpPr>
            <a:spLocks noGrp="1"/>
          </p:cNvSpPr>
          <p:nvPr>
            <p:ph type="title"/>
          </p:nvPr>
        </p:nvSpPr>
        <p:spPr>
          <a:xfrm>
            <a:off x="754144" y="484631"/>
            <a:ext cx="6986358" cy="1638469"/>
          </a:xfrm>
        </p:spPr>
        <p:txBody>
          <a:bodyPr>
            <a:noAutofit/>
          </a:bodyPr>
          <a:lstStyle/>
          <a:p>
            <a:r>
              <a:rPr lang="en-US" sz="4000" dirty="0">
                <a:latin typeface="Avenir Book" panose="02000503020000020003" pitchFamily="2" charset="0"/>
              </a:rPr>
              <a:t>Remember the principle of closure</a:t>
            </a:r>
          </a:p>
        </p:txBody>
      </p:sp>
      <p:sp>
        <p:nvSpPr>
          <p:cNvPr id="13" name="Rectangle 12">
            <a:extLst>
              <a:ext uri="{FF2B5EF4-FFF2-40B4-BE49-F238E27FC236}">
                <a16:creationId xmlns:a16="http://schemas.microsoft.com/office/drawing/2014/main" id="{1CC0B614-29D2-4FBD-9F99-0F394A803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0D0F482-0E14-B4EC-C527-2F2EB7EFC0F4}"/>
              </a:ext>
            </a:extLst>
          </p:cNvPr>
          <p:cNvSpPr>
            <a:spLocks noGrp="1"/>
          </p:cNvSpPr>
          <p:nvPr>
            <p:ph idx="1"/>
          </p:nvPr>
        </p:nvSpPr>
        <p:spPr>
          <a:xfrm>
            <a:off x="765051" y="2443140"/>
            <a:ext cx="6539516" cy="3930227"/>
          </a:xfrm>
        </p:spPr>
        <p:txBody>
          <a:bodyPr>
            <a:normAutofit/>
          </a:bodyPr>
          <a:lstStyle/>
          <a:p>
            <a:pPr>
              <a:lnSpc>
                <a:spcPct val="150000"/>
              </a:lnSpc>
            </a:pPr>
            <a:r>
              <a:rPr lang="en-US" dirty="0">
                <a:solidFill>
                  <a:srgbClr val="000000"/>
                </a:solidFill>
                <a:latin typeface="Avenir Book" panose="02000503020000020003" pitchFamily="2" charset="0"/>
              </a:rPr>
              <a:t>Remember the principle of closure means that Smith </a:t>
            </a:r>
            <a:r>
              <a:rPr lang="en-US" i="1" dirty="0">
                <a:solidFill>
                  <a:srgbClr val="000000"/>
                </a:solidFill>
                <a:latin typeface="Avenir Book" panose="02000503020000020003" pitchFamily="2" charset="0"/>
              </a:rPr>
              <a:t>is justified </a:t>
            </a:r>
            <a:r>
              <a:rPr lang="en-US" dirty="0">
                <a:solidFill>
                  <a:srgbClr val="000000"/>
                </a:solidFill>
                <a:latin typeface="Avenir Book" panose="02000503020000020003" pitchFamily="2" charset="0"/>
              </a:rPr>
              <a:t>in his conclusion!</a:t>
            </a:r>
          </a:p>
          <a:p>
            <a:pPr>
              <a:lnSpc>
                <a:spcPct val="150000"/>
              </a:lnSpc>
            </a:pPr>
            <a:endParaRPr lang="en-US" dirty="0">
              <a:solidFill>
                <a:srgbClr val="000000"/>
              </a:solidFill>
              <a:latin typeface="Avenir Book" panose="02000503020000020003" pitchFamily="2" charset="0"/>
            </a:endParaRPr>
          </a:p>
          <a:p>
            <a:pPr>
              <a:lnSpc>
                <a:spcPct val="150000"/>
              </a:lnSpc>
            </a:pPr>
            <a:r>
              <a:rPr lang="en-US" dirty="0">
                <a:solidFill>
                  <a:srgbClr val="000000"/>
                </a:solidFill>
                <a:latin typeface="Avenir Book" panose="02000503020000020003" pitchFamily="2" charset="0"/>
              </a:rPr>
              <a:t>Smith believes Jones will get the job.</a:t>
            </a:r>
          </a:p>
          <a:p>
            <a:pPr>
              <a:lnSpc>
                <a:spcPct val="150000"/>
              </a:lnSpc>
            </a:pPr>
            <a:r>
              <a:rPr lang="en-US" dirty="0">
                <a:solidFill>
                  <a:srgbClr val="000000"/>
                </a:solidFill>
                <a:latin typeface="Avenir Book" panose="02000503020000020003" pitchFamily="2" charset="0"/>
              </a:rPr>
              <a:t>Smith believes that Jones has 10 coins in his pocket.</a:t>
            </a:r>
          </a:p>
          <a:p>
            <a:pPr>
              <a:lnSpc>
                <a:spcPct val="150000"/>
              </a:lnSpc>
            </a:pPr>
            <a:r>
              <a:rPr lang="en-US" dirty="0">
                <a:solidFill>
                  <a:srgbClr val="000000"/>
                </a:solidFill>
                <a:latin typeface="Avenir Book" panose="02000503020000020003" pitchFamily="2" charset="0"/>
              </a:rPr>
              <a:t>Ergo, Smith believes that the man who gets the job will have 10 coins in his pocket. </a:t>
            </a:r>
          </a:p>
        </p:txBody>
      </p:sp>
      <p:pic>
        <p:nvPicPr>
          <p:cNvPr id="4" name="Picture 3" descr="Men sitting on a bench&#10;&#10;Description automatically generated">
            <a:extLst>
              <a:ext uri="{FF2B5EF4-FFF2-40B4-BE49-F238E27FC236}">
                <a16:creationId xmlns:a16="http://schemas.microsoft.com/office/drawing/2014/main" id="{50035B60-DC21-45AE-8849-913A33FD3E54}"/>
              </a:ext>
            </a:extLst>
          </p:cNvPr>
          <p:cNvPicPr>
            <a:picLocks noChangeAspect="1"/>
          </p:cNvPicPr>
          <p:nvPr/>
        </p:nvPicPr>
        <p:blipFill>
          <a:blip r:embed="rId2"/>
          <a:stretch>
            <a:fillRect/>
          </a:stretch>
        </p:blipFill>
        <p:spPr>
          <a:xfrm>
            <a:off x="8050787" y="2231470"/>
            <a:ext cx="3656581" cy="2395060"/>
          </a:xfrm>
          <a:prstGeom prst="rect">
            <a:avLst/>
          </a:prstGeom>
        </p:spPr>
      </p:pic>
    </p:spTree>
    <p:extLst>
      <p:ext uri="{BB962C8B-B14F-4D97-AF65-F5344CB8AC3E}">
        <p14:creationId xmlns:p14="http://schemas.microsoft.com/office/powerpoint/2010/main" val="375168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74ED80-45FF-4F86-B49C-1306F7061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0">
            <a:extLst>
              <a:ext uri="{FF2B5EF4-FFF2-40B4-BE49-F238E27FC236}">
                <a16:creationId xmlns:a16="http://schemas.microsoft.com/office/drawing/2014/main" id="{ED5847CD-959D-4EEF-A551-65942EBC3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20D2D66E-677F-C1C6-890F-7A098B3FD78C}"/>
              </a:ext>
            </a:extLst>
          </p:cNvPr>
          <p:cNvSpPr>
            <a:spLocks noGrp="1"/>
          </p:cNvSpPr>
          <p:nvPr>
            <p:ph type="title"/>
          </p:nvPr>
        </p:nvSpPr>
        <p:spPr>
          <a:xfrm>
            <a:off x="765051" y="686649"/>
            <a:ext cx="6340519" cy="653053"/>
          </a:xfrm>
        </p:spPr>
        <p:txBody>
          <a:bodyPr>
            <a:normAutofit/>
          </a:bodyPr>
          <a:lstStyle/>
          <a:p>
            <a:r>
              <a:rPr lang="en-US" sz="4000" dirty="0">
                <a:latin typeface="Avenir Book" panose="02000503020000020003" pitchFamily="2" charset="0"/>
              </a:rPr>
              <a:t>Other examples</a:t>
            </a:r>
          </a:p>
        </p:txBody>
      </p:sp>
      <p:sp>
        <p:nvSpPr>
          <p:cNvPr id="14" name="Rectangle 13">
            <a:extLst>
              <a:ext uri="{FF2B5EF4-FFF2-40B4-BE49-F238E27FC236}">
                <a16:creationId xmlns:a16="http://schemas.microsoft.com/office/drawing/2014/main" id="{1CC0B614-29D2-4FBD-9F99-0F394A803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F9423499-DA79-D81E-944D-E121E9F003E2}"/>
              </a:ext>
            </a:extLst>
          </p:cNvPr>
          <p:cNvSpPr>
            <a:spLocks noGrp="1"/>
          </p:cNvSpPr>
          <p:nvPr>
            <p:ph idx="1"/>
          </p:nvPr>
        </p:nvSpPr>
        <p:spPr>
          <a:xfrm>
            <a:off x="765051" y="999460"/>
            <a:ext cx="6092949" cy="4848448"/>
          </a:xfrm>
        </p:spPr>
        <p:txBody>
          <a:bodyPr>
            <a:noAutofit/>
          </a:bodyPr>
          <a:lstStyle/>
          <a:p>
            <a:pPr marL="0" indent="0">
              <a:buNone/>
            </a:pPr>
            <a:endParaRPr lang="en-US" sz="2800" dirty="0">
              <a:solidFill>
                <a:srgbClr val="000000"/>
              </a:solidFill>
              <a:latin typeface="Avenir Book" panose="02000503020000020003" pitchFamily="2" charset="0"/>
            </a:endParaRPr>
          </a:p>
          <a:p>
            <a:pPr marL="0" indent="0">
              <a:lnSpc>
                <a:spcPct val="150000"/>
              </a:lnSpc>
              <a:buNone/>
            </a:pPr>
            <a:r>
              <a:rPr lang="en-US" sz="2800" dirty="0">
                <a:solidFill>
                  <a:srgbClr val="000000"/>
                </a:solidFill>
                <a:latin typeface="Avenir Book" panose="02000503020000020003" pitchFamily="2" charset="0"/>
              </a:rPr>
              <a:t>We can easily multiply other examples of this. For example, someone looking at a stopped clock that tells the correct time would have justified, true belief about the time but still not be thought to know the time. </a:t>
            </a:r>
          </a:p>
        </p:txBody>
      </p:sp>
      <p:pic>
        <p:nvPicPr>
          <p:cNvPr id="5" name="Picture 4" descr="A child in a uniform looking at a clock&#10;&#10;Description automatically generated">
            <a:extLst>
              <a:ext uri="{FF2B5EF4-FFF2-40B4-BE49-F238E27FC236}">
                <a16:creationId xmlns:a16="http://schemas.microsoft.com/office/drawing/2014/main" id="{B3B1EF98-6FE6-F051-7F9A-E4DFCB2B27F6}"/>
              </a:ext>
            </a:extLst>
          </p:cNvPr>
          <p:cNvPicPr>
            <a:picLocks noChangeAspect="1"/>
          </p:cNvPicPr>
          <p:nvPr/>
        </p:nvPicPr>
        <p:blipFill>
          <a:blip r:embed="rId2"/>
          <a:srcRect r="2" b="123"/>
          <a:stretch/>
        </p:blipFill>
        <p:spPr>
          <a:xfrm>
            <a:off x="8050787" y="1602922"/>
            <a:ext cx="3656581" cy="3652156"/>
          </a:xfrm>
          <a:prstGeom prst="rect">
            <a:avLst/>
          </a:prstGeom>
        </p:spPr>
      </p:pic>
    </p:spTree>
    <p:extLst>
      <p:ext uri="{BB962C8B-B14F-4D97-AF65-F5344CB8AC3E}">
        <p14:creationId xmlns:p14="http://schemas.microsoft.com/office/powerpoint/2010/main" val="21116831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5E14-5DD9-E67A-2C59-1716754A1E21}"/>
              </a:ext>
            </a:extLst>
          </p:cNvPr>
          <p:cNvSpPr>
            <a:spLocks noGrp="1"/>
          </p:cNvSpPr>
          <p:nvPr>
            <p:ph type="title"/>
          </p:nvPr>
        </p:nvSpPr>
        <p:spPr>
          <a:xfrm>
            <a:off x="1251678" y="782053"/>
            <a:ext cx="10178322" cy="1092463"/>
          </a:xfrm>
        </p:spPr>
        <p:txBody>
          <a:bodyPr>
            <a:normAutofit/>
          </a:bodyPr>
          <a:lstStyle/>
          <a:p>
            <a:r>
              <a:rPr lang="en-US" sz="4000" dirty="0">
                <a:latin typeface="Avenir Book" panose="02000503020000020003" pitchFamily="2" charset="0"/>
              </a:rPr>
              <a:t>No false lemma solution </a:t>
            </a:r>
          </a:p>
        </p:txBody>
      </p:sp>
      <p:sp>
        <p:nvSpPr>
          <p:cNvPr id="3" name="Content Placeholder 2">
            <a:extLst>
              <a:ext uri="{FF2B5EF4-FFF2-40B4-BE49-F238E27FC236}">
                <a16:creationId xmlns:a16="http://schemas.microsoft.com/office/drawing/2014/main" id="{05834893-4550-860B-A5D5-C4062FA0DA26}"/>
              </a:ext>
            </a:extLst>
          </p:cNvPr>
          <p:cNvSpPr>
            <a:spLocks noGrp="1"/>
          </p:cNvSpPr>
          <p:nvPr>
            <p:ph idx="1"/>
          </p:nvPr>
        </p:nvSpPr>
        <p:spPr>
          <a:xfrm>
            <a:off x="1251677" y="1874517"/>
            <a:ext cx="10479112" cy="4005076"/>
          </a:xfrm>
        </p:spPr>
        <p:txBody>
          <a:bodyPr>
            <a:noAutofit/>
          </a:bodyPr>
          <a:lstStyle/>
          <a:p>
            <a:pPr marL="0" indent="0">
              <a:lnSpc>
                <a:spcPct val="150000"/>
              </a:lnSpc>
              <a:buNone/>
            </a:pPr>
            <a:r>
              <a:rPr lang="en-US" sz="3200" dirty="0">
                <a:solidFill>
                  <a:schemeClr val="tx1"/>
                </a:solidFill>
                <a:latin typeface="Avenir Book" panose="02000503020000020003" pitchFamily="2" charset="0"/>
              </a:rPr>
              <a:t>This solution attempts to add a further condition to knowledge, known as the ‘no false lemma condition’. It says that we should not come to our conclusion via (a false lemma/premise). In this instance the premise that ‘Jones will get the job’.  </a:t>
            </a:r>
          </a:p>
        </p:txBody>
      </p:sp>
    </p:spTree>
    <p:extLst>
      <p:ext uri="{BB962C8B-B14F-4D97-AF65-F5344CB8AC3E}">
        <p14:creationId xmlns:p14="http://schemas.microsoft.com/office/powerpoint/2010/main" val="26698849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1669-7281-49C2-8BF0-67BA70EC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3E7013-6507-8EBD-65FA-FDD0E86B8976}"/>
              </a:ext>
            </a:extLst>
          </p:cNvPr>
          <p:cNvSpPr>
            <a:spLocks noGrp="1"/>
          </p:cNvSpPr>
          <p:nvPr>
            <p:ph type="title"/>
          </p:nvPr>
        </p:nvSpPr>
        <p:spPr>
          <a:xfrm>
            <a:off x="2895600" y="542259"/>
            <a:ext cx="8534399" cy="765546"/>
          </a:xfrm>
        </p:spPr>
        <p:txBody>
          <a:bodyPr anchor="b">
            <a:normAutofit/>
          </a:bodyPr>
          <a:lstStyle/>
          <a:p>
            <a:pPr algn="ctr"/>
            <a:r>
              <a:rPr lang="en-US" sz="3600" dirty="0">
                <a:latin typeface="Avenir Book" panose="02000503020000020003" pitchFamily="2" charset="0"/>
              </a:rPr>
              <a:t>The no false lemma definition</a:t>
            </a:r>
          </a:p>
        </p:txBody>
      </p:sp>
      <p:sp>
        <p:nvSpPr>
          <p:cNvPr id="10" name="Freeform: Shape 9">
            <a:extLst>
              <a:ext uri="{FF2B5EF4-FFF2-40B4-BE49-F238E27FC236}">
                <a16:creationId xmlns:a16="http://schemas.microsoft.com/office/drawing/2014/main" id="{16992B13-74C4-4370-93C5-F5403D944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2275119" cy="6858000"/>
          </a:xfrm>
          <a:custGeom>
            <a:avLst/>
            <a:gdLst>
              <a:gd name="connsiteX0" fmla="*/ 0 w 2275119"/>
              <a:gd name="connsiteY0" fmla="*/ 0 h 6858000"/>
              <a:gd name="connsiteX1" fmla="*/ 1389294 w 2275119"/>
              <a:gd name="connsiteY1" fmla="*/ 0 h 6858000"/>
              <a:gd name="connsiteX2" fmla="*/ 1556068 w 2275119"/>
              <a:gd name="connsiteY2" fmla="*/ 0 h 6858000"/>
              <a:gd name="connsiteX3" fmla="*/ 2098907 w 2275119"/>
              <a:gd name="connsiteY3" fmla="*/ 0 h 6858000"/>
              <a:gd name="connsiteX4" fmla="*/ 2100494 w 2275119"/>
              <a:gd name="connsiteY4" fmla="*/ 68263 h 6858000"/>
              <a:gd name="connsiteX5" fmla="*/ 2108432 w 2275119"/>
              <a:gd name="connsiteY5" fmla="*/ 128588 h 6858000"/>
              <a:gd name="connsiteX6" fmla="*/ 2119544 w 2275119"/>
              <a:gd name="connsiteY6" fmla="*/ 180975 h 6858000"/>
              <a:gd name="connsiteX7" fmla="*/ 2133832 w 2275119"/>
              <a:gd name="connsiteY7" fmla="*/ 227013 h 6858000"/>
              <a:gd name="connsiteX8" fmla="*/ 2149707 w 2275119"/>
              <a:gd name="connsiteY8" fmla="*/ 268288 h 6858000"/>
              <a:gd name="connsiteX9" fmla="*/ 2168757 w 2275119"/>
              <a:gd name="connsiteY9" fmla="*/ 304800 h 6858000"/>
              <a:gd name="connsiteX10" fmla="*/ 2187807 w 2275119"/>
              <a:gd name="connsiteY10" fmla="*/ 342900 h 6858000"/>
              <a:gd name="connsiteX11" fmla="*/ 2206857 w 2275119"/>
              <a:gd name="connsiteY11" fmla="*/ 381000 h 6858000"/>
              <a:gd name="connsiteX12" fmla="*/ 2222732 w 2275119"/>
              <a:gd name="connsiteY12" fmla="*/ 417513 h 6858000"/>
              <a:gd name="connsiteX13" fmla="*/ 2238607 w 2275119"/>
              <a:gd name="connsiteY13" fmla="*/ 458788 h 6858000"/>
              <a:gd name="connsiteX14" fmla="*/ 2254482 w 2275119"/>
              <a:gd name="connsiteY14" fmla="*/ 504825 h 6858000"/>
              <a:gd name="connsiteX15" fmla="*/ 2265594 w 2275119"/>
              <a:gd name="connsiteY15" fmla="*/ 557213 h 6858000"/>
              <a:gd name="connsiteX16" fmla="*/ 2271944 w 2275119"/>
              <a:gd name="connsiteY16" fmla="*/ 617538 h 6858000"/>
              <a:gd name="connsiteX17" fmla="*/ 2275119 w 2275119"/>
              <a:gd name="connsiteY17" fmla="*/ 685800 h 6858000"/>
              <a:gd name="connsiteX18" fmla="*/ 2271944 w 2275119"/>
              <a:gd name="connsiteY18" fmla="*/ 754063 h 6858000"/>
              <a:gd name="connsiteX19" fmla="*/ 2265594 w 2275119"/>
              <a:gd name="connsiteY19" fmla="*/ 814388 h 6858000"/>
              <a:gd name="connsiteX20" fmla="*/ 2254482 w 2275119"/>
              <a:gd name="connsiteY20" fmla="*/ 866775 h 6858000"/>
              <a:gd name="connsiteX21" fmla="*/ 2238607 w 2275119"/>
              <a:gd name="connsiteY21" fmla="*/ 912813 h 6858000"/>
              <a:gd name="connsiteX22" fmla="*/ 2222732 w 2275119"/>
              <a:gd name="connsiteY22" fmla="*/ 954088 h 6858000"/>
              <a:gd name="connsiteX23" fmla="*/ 2206857 w 2275119"/>
              <a:gd name="connsiteY23" fmla="*/ 990600 h 6858000"/>
              <a:gd name="connsiteX24" fmla="*/ 2187807 w 2275119"/>
              <a:gd name="connsiteY24" fmla="*/ 1028700 h 6858000"/>
              <a:gd name="connsiteX25" fmla="*/ 2168757 w 2275119"/>
              <a:gd name="connsiteY25" fmla="*/ 1066800 h 6858000"/>
              <a:gd name="connsiteX26" fmla="*/ 2149707 w 2275119"/>
              <a:gd name="connsiteY26" fmla="*/ 1103313 h 6858000"/>
              <a:gd name="connsiteX27" fmla="*/ 2133832 w 2275119"/>
              <a:gd name="connsiteY27" fmla="*/ 1144588 h 6858000"/>
              <a:gd name="connsiteX28" fmla="*/ 2119544 w 2275119"/>
              <a:gd name="connsiteY28" fmla="*/ 1190625 h 6858000"/>
              <a:gd name="connsiteX29" fmla="*/ 2108432 w 2275119"/>
              <a:gd name="connsiteY29" fmla="*/ 1243013 h 6858000"/>
              <a:gd name="connsiteX30" fmla="*/ 2100494 w 2275119"/>
              <a:gd name="connsiteY30" fmla="*/ 1303338 h 6858000"/>
              <a:gd name="connsiteX31" fmla="*/ 2098907 w 2275119"/>
              <a:gd name="connsiteY31" fmla="*/ 1371600 h 6858000"/>
              <a:gd name="connsiteX32" fmla="*/ 2100494 w 2275119"/>
              <a:gd name="connsiteY32" fmla="*/ 1439863 h 6858000"/>
              <a:gd name="connsiteX33" fmla="*/ 2108432 w 2275119"/>
              <a:gd name="connsiteY33" fmla="*/ 1500188 h 6858000"/>
              <a:gd name="connsiteX34" fmla="*/ 2119544 w 2275119"/>
              <a:gd name="connsiteY34" fmla="*/ 1552575 h 6858000"/>
              <a:gd name="connsiteX35" fmla="*/ 2133832 w 2275119"/>
              <a:gd name="connsiteY35" fmla="*/ 1598613 h 6858000"/>
              <a:gd name="connsiteX36" fmla="*/ 2149707 w 2275119"/>
              <a:gd name="connsiteY36" fmla="*/ 1639888 h 6858000"/>
              <a:gd name="connsiteX37" fmla="*/ 2168757 w 2275119"/>
              <a:gd name="connsiteY37" fmla="*/ 1676400 h 6858000"/>
              <a:gd name="connsiteX38" fmla="*/ 2187807 w 2275119"/>
              <a:gd name="connsiteY38" fmla="*/ 1714500 h 6858000"/>
              <a:gd name="connsiteX39" fmla="*/ 2206857 w 2275119"/>
              <a:gd name="connsiteY39" fmla="*/ 1752600 h 6858000"/>
              <a:gd name="connsiteX40" fmla="*/ 2222732 w 2275119"/>
              <a:gd name="connsiteY40" fmla="*/ 1789113 h 6858000"/>
              <a:gd name="connsiteX41" fmla="*/ 2238607 w 2275119"/>
              <a:gd name="connsiteY41" fmla="*/ 1830388 h 6858000"/>
              <a:gd name="connsiteX42" fmla="*/ 2254482 w 2275119"/>
              <a:gd name="connsiteY42" fmla="*/ 1876425 h 6858000"/>
              <a:gd name="connsiteX43" fmla="*/ 2265594 w 2275119"/>
              <a:gd name="connsiteY43" fmla="*/ 1928813 h 6858000"/>
              <a:gd name="connsiteX44" fmla="*/ 2271944 w 2275119"/>
              <a:gd name="connsiteY44" fmla="*/ 1989138 h 6858000"/>
              <a:gd name="connsiteX45" fmla="*/ 2275119 w 2275119"/>
              <a:gd name="connsiteY45" fmla="*/ 2057400 h 6858000"/>
              <a:gd name="connsiteX46" fmla="*/ 2271944 w 2275119"/>
              <a:gd name="connsiteY46" fmla="*/ 2125663 h 6858000"/>
              <a:gd name="connsiteX47" fmla="*/ 2265594 w 2275119"/>
              <a:gd name="connsiteY47" fmla="*/ 2185988 h 6858000"/>
              <a:gd name="connsiteX48" fmla="*/ 2254482 w 2275119"/>
              <a:gd name="connsiteY48" fmla="*/ 2238375 h 6858000"/>
              <a:gd name="connsiteX49" fmla="*/ 2238607 w 2275119"/>
              <a:gd name="connsiteY49" fmla="*/ 2284413 h 6858000"/>
              <a:gd name="connsiteX50" fmla="*/ 2222732 w 2275119"/>
              <a:gd name="connsiteY50" fmla="*/ 2325688 h 6858000"/>
              <a:gd name="connsiteX51" fmla="*/ 2206857 w 2275119"/>
              <a:gd name="connsiteY51" fmla="*/ 2362200 h 6858000"/>
              <a:gd name="connsiteX52" fmla="*/ 2187807 w 2275119"/>
              <a:gd name="connsiteY52" fmla="*/ 2400300 h 6858000"/>
              <a:gd name="connsiteX53" fmla="*/ 2168757 w 2275119"/>
              <a:gd name="connsiteY53" fmla="*/ 2438400 h 6858000"/>
              <a:gd name="connsiteX54" fmla="*/ 2149707 w 2275119"/>
              <a:gd name="connsiteY54" fmla="*/ 2474913 h 6858000"/>
              <a:gd name="connsiteX55" fmla="*/ 2133832 w 2275119"/>
              <a:gd name="connsiteY55" fmla="*/ 2516188 h 6858000"/>
              <a:gd name="connsiteX56" fmla="*/ 2119544 w 2275119"/>
              <a:gd name="connsiteY56" fmla="*/ 2562225 h 6858000"/>
              <a:gd name="connsiteX57" fmla="*/ 2108432 w 2275119"/>
              <a:gd name="connsiteY57" fmla="*/ 2614613 h 6858000"/>
              <a:gd name="connsiteX58" fmla="*/ 2100494 w 2275119"/>
              <a:gd name="connsiteY58" fmla="*/ 2674938 h 6858000"/>
              <a:gd name="connsiteX59" fmla="*/ 2098907 w 2275119"/>
              <a:gd name="connsiteY59" fmla="*/ 2743200 h 6858000"/>
              <a:gd name="connsiteX60" fmla="*/ 2100494 w 2275119"/>
              <a:gd name="connsiteY60" fmla="*/ 2811463 h 6858000"/>
              <a:gd name="connsiteX61" fmla="*/ 2108432 w 2275119"/>
              <a:gd name="connsiteY61" fmla="*/ 2871788 h 6858000"/>
              <a:gd name="connsiteX62" fmla="*/ 2119544 w 2275119"/>
              <a:gd name="connsiteY62" fmla="*/ 2924175 h 6858000"/>
              <a:gd name="connsiteX63" fmla="*/ 2133832 w 2275119"/>
              <a:gd name="connsiteY63" fmla="*/ 2970213 h 6858000"/>
              <a:gd name="connsiteX64" fmla="*/ 2149707 w 2275119"/>
              <a:gd name="connsiteY64" fmla="*/ 3011488 h 6858000"/>
              <a:gd name="connsiteX65" fmla="*/ 2168757 w 2275119"/>
              <a:gd name="connsiteY65" fmla="*/ 3048000 h 6858000"/>
              <a:gd name="connsiteX66" fmla="*/ 2187807 w 2275119"/>
              <a:gd name="connsiteY66" fmla="*/ 3086100 h 6858000"/>
              <a:gd name="connsiteX67" fmla="*/ 2206857 w 2275119"/>
              <a:gd name="connsiteY67" fmla="*/ 3124200 h 6858000"/>
              <a:gd name="connsiteX68" fmla="*/ 2222732 w 2275119"/>
              <a:gd name="connsiteY68" fmla="*/ 3160713 h 6858000"/>
              <a:gd name="connsiteX69" fmla="*/ 2238607 w 2275119"/>
              <a:gd name="connsiteY69" fmla="*/ 3201988 h 6858000"/>
              <a:gd name="connsiteX70" fmla="*/ 2254482 w 2275119"/>
              <a:gd name="connsiteY70" fmla="*/ 3248025 h 6858000"/>
              <a:gd name="connsiteX71" fmla="*/ 2265594 w 2275119"/>
              <a:gd name="connsiteY71" fmla="*/ 3300413 h 6858000"/>
              <a:gd name="connsiteX72" fmla="*/ 2271944 w 2275119"/>
              <a:gd name="connsiteY72" fmla="*/ 3360738 h 6858000"/>
              <a:gd name="connsiteX73" fmla="*/ 2275119 w 2275119"/>
              <a:gd name="connsiteY73" fmla="*/ 3427413 h 6858000"/>
              <a:gd name="connsiteX74" fmla="*/ 2271944 w 2275119"/>
              <a:gd name="connsiteY74" fmla="*/ 3497263 h 6858000"/>
              <a:gd name="connsiteX75" fmla="*/ 2265594 w 2275119"/>
              <a:gd name="connsiteY75" fmla="*/ 3557588 h 6858000"/>
              <a:gd name="connsiteX76" fmla="*/ 2254482 w 2275119"/>
              <a:gd name="connsiteY76" fmla="*/ 3609975 h 6858000"/>
              <a:gd name="connsiteX77" fmla="*/ 2238607 w 2275119"/>
              <a:gd name="connsiteY77" fmla="*/ 3656013 h 6858000"/>
              <a:gd name="connsiteX78" fmla="*/ 2222732 w 2275119"/>
              <a:gd name="connsiteY78" fmla="*/ 3697288 h 6858000"/>
              <a:gd name="connsiteX79" fmla="*/ 2206857 w 2275119"/>
              <a:gd name="connsiteY79" fmla="*/ 3733800 h 6858000"/>
              <a:gd name="connsiteX80" fmla="*/ 2187807 w 2275119"/>
              <a:gd name="connsiteY80" fmla="*/ 3771900 h 6858000"/>
              <a:gd name="connsiteX81" fmla="*/ 2168757 w 2275119"/>
              <a:gd name="connsiteY81" fmla="*/ 3810000 h 6858000"/>
              <a:gd name="connsiteX82" fmla="*/ 2149707 w 2275119"/>
              <a:gd name="connsiteY82" fmla="*/ 3846513 h 6858000"/>
              <a:gd name="connsiteX83" fmla="*/ 2133832 w 2275119"/>
              <a:gd name="connsiteY83" fmla="*/ 3887788 h 6858000"/>
              <a:gd name="connsiteX84" fmla="*/ 2119544 w 2275119"/>
              <a:gd name="connsiteY84" fmla="*/ 3933825 h 6858000"/>
              <a:gd name="connsiteX85" fmla="*/ 2108432 w 2275119"/>
              <a:gd name="connsiteY85" fmla="*/ 3986213 h 6858000"/>
              <a:gd name="connsiteX86" fmla="*/ 2100494 w 2275119"/>
              <a:gd name="connsiteY86" fmla="*/ 4046538 h 6858000"/>
              <a:gd name="connsiteX87" fmla="*/ 2098907 w 2275119"/>
              <a:gd name="connsiteY87" fmla="*/ 4114800 h 6858000"/>
              <a:gd name="connsiteX88" fmla="*/ 2100494 w 2275119"/>
              <a:gd name="connsiteY88" fmla="*/ 4183063 h 6858000"/>
              <a:gd name="connsiteX89" fmla="*/ 2108432 w 2275119"/>
              <a:gd name="connsiteY89" fmla="*/ 4243388 h 6858000"/>
              <a:gd name="connsiteX90" fmla="*/ 2119544 w 2275119"/>
              <a:gd name="connsiteY90" fmla="*/ 4295775 h 6858000"/>
              <a:gd name="connsiteX91" fmla="*/ 2133832 w 2275119"/>
              <a:gd name="connsiteY91" fmla="*/ 4341813 h 6858000"/>
              <a:gd name="connsiteX92" fmla="*/ 2149707 w 2275119"/>
              <a:gd name="connsiteY92" fmla="*/ 4383088 h 6858000"/>
              <a:gd name="connsiteX93" fmla="*/ 2168757 w 2275119"/>
              <a:gd name="connsiteY93" fmla="*/ 4419600 h 6858000"/>
              <a:gd name="connsiteX94" fmla="*/ 2206857 w 2275119"/>
              <a:gd name="connsiteY94" fmla="*/ 4495800 h 6858000"/>
              <a:gd name="connsiteX95" fmla="*/ 2222732 w 2275119"/>
              <a:gd name="connsiteY95" fmla="*/ 4532313 h 6858000"/>
              <a:gd name="connsiteX96" fmla="*/ 2238607 w 2275119"/>
              <a:gd name="connsiteY96" fmla="*/ 4573588 h 6858000"/>
              <a:gd name="connsiteX97" fmla="*/ 2254482 w 2275119"/>
              <a:gd name="connsiteY97" fmla="*/ 4619625 h 6858000"/>
              <a:gd name="connsiteX98" fmla="*/ 2265594 w 2275119"/>
              <a:gd name="connsiteY98" fmla="*/ 4672013 h 6858000"/>
              <a:gd name="connsiteX99" fmla="*/ 2271944 w 2275119"/>
              <a:gd name="connsiteY99" fmla="*/ 4732338 h 6858000"/>
              <a:gd name="connsiteX100" fmla="*/ 2275119 w 2275119"/>
              <a:gd name="connsiteY100" fmla="*/ 4800600 h 6858000"/>
              <a:gd name="connsiteX101" fmla="*/ 2271944 w 2275119"/>
              <a:gd name="connsiteY101" fmla="*/ 4868863 h 6858000"/>
              <a:gd name="connsiteX102" fmla="*/ 2265594 w 2275119"/>
              <a:gd name="connsiteY102" fmla="*/ 4929188 h 6858000"/>
              <a:gd name="connsiteX103" fmla="*/ 2254482 w 2275119"/>
              <a:gd name="connsiteY103" fmla="*/ 4981575 h 6858000"/>
              <a:gd name="connsiteX104" fmla="*/ 2238607 w 2275119"/>
              <a:gd name="connsiteY104" fmla="*/ 5027613 h 6858000"/>
              <a:gd name="connsiteX105" fmla="*/ 2222732 w 2275119"/>
              <a:gd name="connsiteY105" fmla="*/ 5068888 h 6858000"/>
              <a:gd name="connsiteX106" fmla="*/ 2206857 w 2275119"/>
              <a:gd name="connsiteY106" fmla="*/ 5105400 h 6858000"/>
              <a:gd name="connsiteX107" fmla="*/ 2187807 w 2275119"/>
              <a:gd name="connsiteY107" fmla="*/ 5143500 h 6858000"/>
              <a:gd name="connsiteX108" fmla="*/ 2168757 w 2275119"/>
              <a:gd name="connsiteY108" fmla="*/ 5181600 h 6858000"/>
              <a:gd name="connsiteX109" fmla="*/ 2149707 w 2275119"/>
              <a:gd name="connsiteY109" fmla="*/ 5218113 h 6858000"/>
              <a:gd name="connsiteX110" fmla="*/ 2133832 w 2275119"/>
              <a:gd name="connsiteY110" fmla="*/ 5259388 h 6858000"/>
              <a:gd name="connsiteX111" fmla="*/ 2119544 w 2275119"/>
              <a:gd name="connsiteY111" fmla="*/ 5305425 h 6858000"/>
              <a:gd name="connsiteX112" fmla="*/ 2108432 w 2275119"/>
              <a:gd name="connsiteY112" fmla="*/ 5357813 h 6858000"/>
              <a:gd name="connsiteX113" fmla="*/ 2100494 w 2275119"/>
              <a:gd name="connsiteY113" fmla="*/ 5418138 h 6858000"/>
              <a:gd name="connsiteX114" fmla="*/ 2098907 w 2275119"/>
              <a:gd name="connsiteY114" fmla="*/ 5486400 h 6858000"/>
              <a:gd name="connsiteX115" fmla="*/ 2100494 w 2275119"/>
              <a:gd name="connsiteY115" fmla="*/ 5554663 h 6858000"/>
              <a:gd name="connsiteX116" fmla="*/ 2108432 w 2275119"/>
              <a:gd name="connsiteY116" fmla="*/ 5614988 h 6858000"/>
              <a:gd name="connsiteX117" fmla="*/ 2119544 w 2275119"/>
              <a:gd name="connsiteY117" fmla="*/ 5667375 h 6858000"/>
              <a:gd name="connsiteX118" fmla="*/ 2133832 w 2275119"/>
              <a:gd name="connsiteY118" fmla="*/ 5713413 h 6858000"/>
              <a:gd name="connsiteX119" fmla="*/ 2149707 w 2275119"/>
              <a:gd name="connsiteY119" fmla="*/ 5754688 h 6858000"/>
              <a:gd name="connsiteX120" fmla="*/ 2168757 w 2275119"/>
              <a:gd name="connsiteY120" fmla="*/ 5791200 h 6858000"/>
              <a:gd name="connsiteX121" fmla="*/ 2187807 w 2275119"/>
              <a:gd name="connsiteY121" fmla="*/ 5829300 h 6858000"/>
              <a:gd name="connsiteX122" fmla="*/ 2206857 w 2275119"/>
              <a:gd name="connsiteY122" fmla="*/ 5867400 h 6858000"/>
              <a:gd name="connsiteX123" fmla="*/ 2222732 w 2275119"/>
              <a:gd name="connsiteY123" fmla="*/ 5903913 h 6858000"/>
              <a:gd name="connsiteX124" fmla="*/ 2238607 w 2275119"/>
              <a:gd name="connsiteY124" fmla="*/ 5945188 h 6858000"/>
              <a:gd name="connsiteX125" fmla="*/ 2254482 w 2275119"/>
              <a:gd name="connsiteY125" fmla="*/ 5991225 h 6858000"/>
              <a:gd name="connsiteX126" fmla="*/ 2265594 w 2275119"/>
              <a:gd name="connsiteY126" fmla="*/ 6043613 h 6858000"/>
              <a:gd name="connsiteX127" fmla="*/ 2271944 w 2275119"/>
              <a:gd name="connsiteY127" fmla="*/ 6103938 h 6858000"/>
              <a:gd name="connsiteX128" fmla="*/ 2275119 w 2275119"/>
              <a:gd name="connsiteY128" fmla="*/ 6172200 h 6858000"/>
              <a:gd name="connsiteX129" fmla="*/ 2271944 w 2275119"/>
              <a:gd name="connsiteY129" fmla="*/ 6240463 h 6858000"/>
              <a:gd name="connsiteX130" fmla="*/ 2265594 w 2275119"/>
              <a:gd name="connsiteY130" fmla="*/ 6300788 h 6858000"/>
              <a:gd name="connsiteX131" fmla="*/ 2254482 w 2275119"/>
              <a:gd name="connsiteY131" fmla="*/ 6353175 h 6858000"/>
              <a:gd name="connsiteX132" fmla="*/ 2238607 w 2275119"/>
              <a:gd name="connsiteY132" fmla="*/ 6399213 h 6858000"/>
              <a:gd name="connsiteX133" fmla="*/ 2222732 w 2275119"/>
              <a:gd name="connsiteY133" fmla="*/ 6440488 h 6858000"/>
              <a:gd name="connsiteX134" fmla="*/ 2206857 w 2275119"/>
              <a:gd name="connsiteY134" fmla="*/ 6477000 h 6858000"/>
              <a:gd name="connsiteX135" fmla="*/ 2187807 w 2275119"/>
              <a:gd name="connsiteY135" fmla="*/ 6515100 h 6858000"/>
              <a:gd name="connsiteX136" fmla="*/ 2168757 w 2275119"/>
              <a:gd name="connsiteY136" fmla="*/ 6553200 h 6858000"/>
              <a:gd name="connsiteX137" fmla="*/ 2149707 w 2275119"/>
              <a:gd name="connsiteY137" fmla="*/ 6589713 h 6858000"/>
              <a:gd name="connsiteX138" fmla="*/ 2133832 w 2275119"/>
              <a:gd name="connsiteY138" fmla="*/ 6630988 h 6858000"/>
              <a:gd name="connsiteX139" fmla="*/ 2119544 w 2275119"/>
              <a:gd name="connsiteY139" fmla="*/ 6677025 h 6858000"/>
              <a:gd name="connsiteX140" fmla="*/ 2108432 w 2275119"/>
              <a:gd name="connsiteY140" fmla="*/ 6729413 h 6858000"/>
              <a:gd name="connsiteX141" fmla="*/ 2100494 w 2275119"/>
              <a:gd name="connsiteY141" fmla="*/ 6789738 h 6858000"/>
              <a:gd name="connsiteX142" fmla="*/ 2098907 w 2275119"/>
              <a:gd name="connsiteY142" fmla="*/ 6858000 h 6858000"/>
              <a:gd name="connsiteX143" fmla="*/ 1556068 w 2275119"/>
              <a:gd name="connsiteY143" fmla="*/ 6858000 h 6858000"/>
              <a:gd name="connsiteX144" fmla="*/ 1389294 w 2275119"/>
              <a:gd name="connsiteY144" fmla="*/ 6858000 h 6858000"/>
              <a:gd name="connsiteX145" fmla="*/ 0 w 2275119"/>
              <a:gd name="connsiteY1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2275119" h="6858000">
                <a:moveTo>
                  <a:pt x="0" y="0"/>
                </a:moveTo>
                <a:lnTo>
                  <a:pt x="1389294" y="0"/>
                </a:lnTo>
                <a:lnTo>
                  <a:pt x="1556068" y="0"/>
                </a:lnTo>
                <a:lnTo>
                  <a:pt x="2098907" y="0"/>
                </a:lnTo>
                <a:lnTo>
                  <a:pt x="2100494" y="68263"/>
                </a:lnTo>
                <a:lnTo>
                  <a:pt x="2108432" y="128588"/>
                </a:lnTo>
                <a:lnTo>
                  <a:pt x="2119544" y="180975"/>
                </a:lnTo>
                <a:lnTo>
                  <a:pt x="2133832" y="227013"/>
                </a:lnTo>
                <a:lnTo>
                  <a:pt x="2149707" y="268288"/>
                </a:lnTo>
                <a:lnTo>
                  <a:pt x="2168757" y="304800"/>
                </a:lnTo>
                <a:lnTo>
                  <a:pt x="2187807" y="342900"/>
                </a:lnTo>
                <a:lnTo>
                  <a:pt x="2206857" y="381000"/>
                </a:lnTo>
                <a:lnTo>
                  <a:pt x="2222732" y="417513"/>
                </a:lnTo>
                <a:lnTo>
                  <a:pt x="2238607" y="458788"/>
                </a:lnTo>
                <a:lnTo>
                  <a:pt x="2254482" y="504825"/>
                </a:lnTo>
                <a:lnTo>
                  <a:pt x="2265594" y="557213"/>
                </a:lnTo>
                <a:lnTo>
                  <a:pt x="2271944" y="617538"/>
                </a:lnTo>
                <a:lnTo>
                  <a:pt x="2275119" y="685800"/>
                </a:lnTo>
                <a:lnTo>
                  <a:pt x="2271944" y="754063"/>
                </a:lnTo>
                <a:lnTo>
                  <a:pt x="2265594" y="814388"/>
                </a:lnTo>
                <a:lnTo>
                  <a:pt x="2254482" y="866775"/>
                </a:lnTo>
                <a:lnTo>
                  <a:pt x="2238607" y="912813"/>
                </a:lnTo>
                <a:lnTo>
                  <a:pt x="2222732" y="954088"/>
                </a:lnTo>
                <a:lnTo>
                  <a:pt x="2206857" y="990600"/>
                </a:lnTo>
                <a:lnTo>
                  <a:pt x="2187807" y="1028700"/>
                </a:lnTo>
                <a:lnTo>
                  <a:pt x="2168757" y="1066800"/>
                </a:lnTo>
                <a:lnTo>
                  <a:pt x="2149707" y="1103313"/>
                </a:lnTo>
                <a:lnTo>
                  <a:pt x="2133832" y="1144588"/>
                </a:lnTo>
                <a:lnTo>
                  <a:pt x="2119544" y="1190625"/>
                </a:lnTo>
                <a:lnTo>
                  <a:pt x="2108432" y="1243013"/>
                </a:lnTo>
                <a:lnTo>
                  <a:pt x="2100494" y="1303338"/>
                </a:lnTo>
                <a:lnTo>
                  <a:pt x="2098907" y="1371600"/>
                </a:lnTo>
                <a:lnTo>
                  <a:pt x="2100494" y="1439863"/>
                </a:lnTo>
                <a:lnTo>
                  <a:pt x="2108432" y="1500188"/>
                </a:lnTo>
                <a:lnTo>
                  <a:pt x="2119544" y="1552575"/>
                </a:lnTo>
                <a:lnTo>
                  <a:pt x="2133832" y="1598613"/>
                </a:lnTo>
                <a:lnTo>
                  <a:pt x="2149707" y="1639888"/>
                </a:lnTo>
                <a:lnTo>
                  <a:pt x="2168757" y="1676400"/>
                </a:lnTo>
                <a:lnTo>
                  <a:pt x="2187807" y="1714500"/>
                </a:lnTo>
                <a:lnTo>
                  <a:pt x="2206857" y="1752600"/>
                </a:lnTo>
                <a:lnTo>
                  <a:pt x="2222732" y="1789113"/>
                </a:lnTo>
                <a:lnTo>
                  <a:pt x="2238607" y="1830388"/>
                </a:lnTo>
                <a:lnTo>
                  <a:pt x="2254482" y="1876425"/>
                </a:lnTo>
                <a:lnTo>
                  <a:pt x="2265594" y="1928813"/>
                </a:lnTo>
                <a:lnTo>
                  <a:pt x="2271944" y="1989138"/>
                </a:lnTo>
                <a:lnTo>
                  <a:pt x="2275119" y="2057400"/>
                </a:lnTo>
                <a:lnTo>
                  <a:pt x="2271944" y="2125663"/>
                </a:lnTo>
                <a:lnTo>
                  <a:pt x="2265594" y="2185988"/>
                </a:lnTo>
                <a:lnTo>
                  <a:pt x="2254482" y="2238375"/>
                </a:lnTo>
                <a:lnTo>
                  <a:pt x="2238607" y="2284413"/>
                </a:lnTo>
                <a:lnTo>
                  <a:pt x="2222732" y="2325688"/>
                </a:lnTo>
                <a:lnTo>
                  <a:pt x="2206857" y="2362200"/>
                </a:lnTo>
                <a:lnTo>
                  <a:pt x="2187807" y="2400300"/>
                </a:lnTo>
                <a:lnTo>
                  <a:pt x="2168757" y="2438400"/>
                </a:lnTo>
                <a:lnTo>
                  <a:pt x="2149707" y="2474913"/>
                </a:lnTo>
                <a:lnTo>
                  <a:pt x="2133832" y="2516188"/>
                </a:lnTo>
                <a:lnTo>
                  <a:pt x="2119544" y="2562225"/>
                </a:lnTo>
                <a:lnTo>
                  <a:pt x="2108432" y="2614613"/>
                </a:lnTo>
                <a:lnTo>
                  <a:pt x="2100494" y="2674938"/>
                </a:lnTo>
                <a:lnTo>
                  <a:pt x="2098907" y="2743200"/>
                </a:lnTo>
                <a:lnTo>
                  <a:pt x="2100494" y="2811463"/>
                </a:lnTo>
                <a:lnTo>
                  <a:pt x="2108432" y="2871788"/>
                </a:lnTo>
                <a:lnTo>
                  <a:pt x="2119544" y="2924175"/>
                </a:lnTo>
                <a:lnTo>
                  <a:pt x="2133832" y="2970213"/>
                </a:lnTo>
                <a:lnTo>
                  <a:pt x="2149707" y="3011488"/>
                </a:lnTo>
                <a:lnTo>
                  <a:pt x="2168757" y="3048000"/>
                </a:lnTo>
                <a:lnTo>
                  <a:pt x="2187807" y="3086100"/>
                </a:lnTo>
                <a:lnTo>
                  <a:pt x="2206857" y="3124200"/>
                </a:lnTo>
                <a:lnTo>
                  <a:pt x="2222732" y="3160713"/>
                </a:lnTo>
                <a:lnTo>
                  <a:pt x="2238607" y="3201988"/>
                </a:lnTo>
                <a:lnTo>
                  <a:pt x="2254482" y="3248025"/>
                </a:lnTo>
                <a:lnTo>
                  <a:pt x="2265594" y="3300413"/>
                </a:lnTo>
                <a:lnTo>
                  <a:pt x="2271944" y="3360738"/>
                </a:lnTo>
                <a:lnTo>
                  <a:pt x="2275119" y="3427413"/>
                </a:lnTo>
                <a:lnTo>
                  <a:pt x="2271944" y="3497263"/>
                </a:lnTo>
                <a:lnTo>
                  <a:pt x="2265594" y="3557588"/>
                </a:lnTo>
                <a:lnTo>
                  <a:pt x="2254482" y="3609975"/>
                </a:lnTo>
                <a:lnTo>
                  <a:pt x="2238607" y="3656013"/>
                </a:lnTo>
                <a:lnTo>
                  <a:pt x="2222732" y="3697288"/>
                </a:lnTo>
                <a:lnTo>
                  <a:pt x="2206857" y="3733800"/>
                </a:lnTo>
                <a:lnTo>
                  <a:pt x="2187807" y="3771900"/>
                </a:lnTo>
                <a:lnTo>
                  <a:pt x="2168757" y="3810000"/>
                </a:lnTo>
                <a:lnTo>
                  <a:pt x="2149707" y="3846513"/>
                </a:lnTo>
                <a:lnTo>
                  <a:pt x="2133832" y="3887788"/>
                </a:lnTo>
                <a:lnTo>
                  <a:pt x="2119544" y="3933825"/>
                </a:lnTo>
                <a:lnTo>
                  <a:pt x="2108432" y="3986213"/>
                </a:lnTo>
                <a:lnTo>
                  <a:pt x="2100494" y="4046538"/>
                </a:lnTo>
                <a:lnTo>
                  <a:pt x="2098907" y="4114800"/>
                </a:lnTo>
                <a:lnTo>
                  <a:pt x="2100494" y="4183063"/>
                </a:lnTo>
                <a:lnTo>
                  <a:pt x="2108432" y="4243388"/>
                </a:lnTo>
                <a:lnTo>
                  <a:pt x="2119544" y="4295775"/>
                </a:lnTo>
                <a:lnTo>
                  <a:pt x="2133832" y="4341813"/>
                </a:lnTo>
                <a:lnTo>
                  <a:pt x="2149707" y="4383088"/>
                </a:lnTo>
                <a:lnTo>
                  <a:pt x="2168757" y="4419600"/>
                </a:lnTo>
                <a:lnTo>
                  <a:pt x="2206857" y="4495800"/>
                </a:lnTo>
                <a:lnTo>
                  <a:pt x="2222732" y="4532313"/>
                </a:lnTo>
                <a:lnTo>
                  <a:pt x="2238607" y="4573588"/>
                </a:lnTo>
                <a:lnTo>
                  <a:pt x="2254482" y="4619625"/>
                </a:lnTo>
                <a:lnTo>
                  <a:pt x="2265594" y="4672013"/>
                </a:lnTo>
                <a:lnTo>
                  <a:pt x="2271944" y="4732338"/>
                </a:lnTo>
                <a:lnTo>
                  <a:pt x="2275119" y="4800600"/>
                </a:lnTo>
                <a:lnTo>
                  <a:pt x="2271944" y="4868863"/>
                </a:lnTo>
                <a:lnTo>
                  <a:pt x="2265594" y="4929188"/>
                </a:lnTo>
                <a:lnTo>
                  <a:pt x="2254482" y="4981575"/>
                </a:lnTo>
                <a:lnTo>
                  <a:pt x="2238607" y="5027613"/>
                </a:lnTo>
                <a:lnTo>
                  <a:pt x="2222732" y="5068888"/>
                </a:lnTo>
                <a:lnTo>
                  <a:pt x="2206857" y="5105400"/>
                </a:lnTo>
                <a:lnTo>
                  <a:pt x="2187807" y="5143500"/>
                </a:lnTo>
                <a:lnTo>
                  <a:pt x="2168757" y="5181600"/>
                </a:lnTo>
                <a:lnTo>
                  <a:pt x="2149707" y="5218113"/>
                </a:lnTo>
                <a:lnTo>
                  <a:pt x="2133832" y="5259388"/>
                </a:lnTo>
                <a:lnTo>
                  <a:pt x="2119544" y="5305425"/>
                </a:lnTo>
                <a:lnTo>
                  <a:pt x="2108432" y="5357813"/>
                </a:lnTo>
                <a:lnTo>
                  <a:pt x="2100494" y="5418138"/>
                </a:lnTo>
                <a:lnTo>
                  <a:pt x="2098907" y="5486400"/>
                </a:lnTo>
                <a:lnTo>
                  <a:pt x="2100494" y="5554663"/>
                </a:lnTo>
                <a:lnTo>
                  <a:pt x="2108432" y="5614988"/>
                </a:lnTo>
                <a:lnTo>
                  <a:pt x="2119544" y="5667375"/>
                </a:lnTo>
                <a:lnTo>
                  <a:pt x="2133832" y="5713413"/>
                </a:lnTo>
                <a:lnTo>
                  <a:pt x="2149707" y="5754688"/>
                </a:lnTo>
                <a:lnTo>
                  <a:pt x="2168757" y="5791200"/>
                </a:lnTo>
                <a:lnTo>
                  <a:pt x="2187807" y="5829300"/>
                </a:lnTo>
                <a:lnTo>
                  <a:pt x="2206857" y="5867400"/>
                </a:lnTo>
                <a:lnTo>
                  <a:pt x="2222732" y="5903913"/>
                </a:lnTo>
                <a:lnTo>
                  <a:pt x="2238607" y="5945188"/>
                </a:lnTo>
                <a:lnTo>
                  <a:pt x="2254482" y="5991225"/>
                </a:lnTo>
                <a:lnTo>
                  <a:pt x="2265594" y="6043613"/>
                </a:lnTo>
                <a:lnTo>
                  <a:pt x="2271944" y="6103938"/>
                </a:lnTo>
                <a:lnTo>
                  <a:pt x="2275119" y="6172200"/>
                </a:lnTo>
                <a:lnTo>
                  <a:pt x="2271944" y="6240463"/>
                </a:lnTo>
                <a:lnTo>
                  <a:pt x="2265594" y="6300788"/>
                </a:lnTo>
                <a:lnTo>
                  <a:pt x="2254482" y="6353175"/>
                </a:lnTo>
                <a:lnTo>
                  <a:pt x="2238607" y="6399213"/>
                </a:lnTo>
                <a:lnTo>
                  <a:pt x="2222732" y="6440488"/>
                </a:lnTo>
                <a:lnTo>
                  <a:pt x="2206857" y="6477000"/>
                </a:lnTo>
                <a:lnTo>
                  <a:pt x="2187807" y="6515100"/>
                </a:lnTo>
                <a:lnTo>
                  <a:pt x="2168757" y="6553200"/>
                </a:lnTo>
                <a:lnTo>
                  <a:pt x="2149707" y="6589713"/>
                </a:lnTo>
                <a:lnTo>
                  <a:pt x="2133832" y="6630988"/>
                </a:lnTo>
                <a:lnTo>
                  <a:pt x="2119544" y="6677025"/>
                </a:lnTo>
                <a:lnTo>
                  <a:pt x="2108432" y="6729413"/>
                </a:lnTo>
                <a:lnTo>
                  <a:pt x="2100494" y="6789738"/>
                </a:lnTo>
                <a:lnTo>
                  <a:pt x="2098907" y="6858000"/>
                </a:lnTo>
                <a:lnTo>
                  <a:pt x="1556068" y="6858000"/>
                </a:lnTo>
                <a:lnTo>
                  <a:pt x="1389294" y="6858000"/>
                </a:lnTo>
                <a:lnTo>
                  <a:pt x="0" y="6858000"/>
                </a:lnTo>
                <a:close/>
              </a:path>
            </a:pathLst>
          </a:custGeom>
          <a:solidFill>
            <a:schemeClr val="accent1"/>
          </a:solidFill>
          <a:ln w="0">
            <a:noFill/>
            <a:prstDash val="solid"/>
            <a:round/>
            <a:headEnd/>
            <a:tailEnd/>
          </a:ln>
        </p:spPr>
        <p:txBody>
          <a:bodyPr/>
          <a:lstStyle/>
          <a:p>
            <a:endParaRPr lang="en-US"/>
          </a:p>
        </p:txBody>
      </p:sp>
      <p:sp>
        <p:nvSpPr>
          <p:cNvPr id="12" name="Rectangle 11">
            <a:extLst>
              <a:ext uri="{FF2B5EF4-FFF2-40B4-BE49-F238E27FC236}">
                <a16:creationId xmlns:a16="http://schemas.microsoft.com/office/drawing/2014/main" id="{A3AE1F77-1EC8-47BA-A381-B6618A2F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B70CB06-5E94-1220-FC83-814FB3048E71}"/>
              </a:ext>
            </a:extLst>
          </p:cNvPr>
          <p:cNvSpPr>
            <a:spLocks noGrp="1"/>
          </p:cNvSpPr>
          <p:nvPr>
            <p:ph idx="1"/>
          </p:nvPr>
        </p:nvSpPr>
        <p:spPr>
          <a:xfrm>
            <a:off x="2895600" y="2178528"/>
            <a:ext cx="8534400" cy="3701065"/>
          </a:xfrm>
        </p:spPr>
        <p:txBody>
          <a:bodyPr>
            <a:noAutofit/>
          </a:bodyPr>
          <a:lstStyle/>
          <a:p>
            <a:pPr marL="0" indent="0">
              <a:buNone/>
            </a:pPr>
            <a:r>
              <a:rPr lang="en-US" sz="2400" dirty="0">
                <a:solidFill>
                  <a:schemeClr val="tx1"/>
                </a:solidFill>
                <a:latin typeface="Avenir Book" panose="02000503020000020003" pitchFamily="2" charset="0"/>
              </a:rPr>
              <a:t>A person X knows that P if and only if…</a:t>
            </a:r>
          </a:p>
          <a:p>
            <a:endParaRPr lang="en-US" sz="2400" dirty="0">
              <a:solidFill>
                <a:schemeClr val="tx1"/>
              </a:solidFill>
              <a:latin typeface="Avenir Book" panose="02000503020000020003" pitchFamily="2" charset="0"/>
            </a:endParaRPr>
          </a:p>
          <a:p>
            <a:pPr marL="514350" indent="-514350">
              <a:buAutoNum type="arabicParenBoth"/>
            </a:pPr>
            <a:r>
              <a:rPr lang="en-US" sz="2400" dirty="0">
                <a:solidFill>
                  <a:schemeClr val="tx1"/>
                </a:solidFill>
                <a:latin typeface="Avenir Book" panose="02000503020000020003" pitchFamily="2" charset="0"/>
              </a:rPr>
              <a:t>P is believed.</a:t>
            </a:r>
          </a:p>
          <a:p>
            <a:pPr marL="514350" indent="-514350">
              <a:buAutoNum type="arabicParenBoth"/>
            </a:pPr>
            <a:r>
              <a:rPr lang="en-US" sz="2400" dirty="0">
                <a:solidFill>
                  <a:schemeClr val="tx1"/>
                </a:solidFill>
                <a:latin typeface="Avenir Book" panose="02000503020000020003" pitchFamily="2" charset="0"/>
              </a:rPr>
              <a:t>P is true.</a:t>
            </a:r>
          </a:p>
          <a:p>
            <a:pPr marL="0" indent="0">
              <a:buNone/>
            </a:pPr>
            <a:r>
              <a:rPr lang="en-US" sz="2400" dirty="0">
                <a:solidFill>
                  <a:schemeClr val="tx1"/>
                </a:solidFill>
                <a:latin typeface="Avenir Book" panose="02000503020000020003" pitchFamily="2" charset="0"/>
              </a:rPr>
              <a:t>(3) P is justified</a:t>
            </a:r>
          </a:p>
          <a:p>
            <a:pPr marL="0" indent="0">
              <a:buNone/>
            </a:pPr>
            <a:r>
              <a:rPr lang="en-US" sz="2400" dirty="0">
                <a:solidFill>
                  <a:schemeClr val="tx1"/>
                </a:solidFill>
                <a:latin typeface="Avenir Book" panose="02000503020000020003" pitchFamily="2" charset="0"/>
              </a:rPr>
              <a:t>AND (4) </a:t>
            </a:r>
            <a:r>
              <a:rPr lang="en-US" sz="2400" i="1" dirty="0">
                <a:solidFill>
                  <a:schemeClr val="tx1"/>
                </a:solidFill>
                <a:latin typeface="Avenir Book" panose="02000503020000020003" pitchFamily="2" charset="0"/>
              </a:rPr>
              <a:t>P is not inferred from any false proposition. </a:t>
            </a:r>
          </a:p>
        </p:txBody>
      </p:sp>
    </p:spTree>
    <p:extLst>
      <p:ext uri="{BB962C8B-B14F-4D97-AF65-F5344CB8AC3E}">
        <p14:creationId xmlns:p14="http://schemas.microsoft.com/office/powerpoint/2010/main" val="1325865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1F8F-D8CF-001E-496B-94F6BBD1E91A}"/>
              </a:ext>
            </a:extLst>
          </p:cNvPr>
          <p:cNvSpPr>
            <a:spLocks noGrp="1"/>
          </p:cNvSpPr>
          <p:nvPr>
            <p:ph type="title"/>
          </p:nvPr>
        </p:nvSpPr>
        <p:spPr>
          <a:xfrm>
            <a:off x="1251678" y="382385"/>
            <a:ext cx="10178322" cy="874915"/>
          </a:xfrm>
        </p:spPr>
        <p:txBody>
          <a:bodyPr>
            <a:noAutofit/>
          </a:bodyPr>
          <a:lstStyle/>
          <a:p>
            <a:r>
              <a:rPr lang="en-US" sz="3200" dirty="0">
                <a:latin typeface="Avenir Book" panose="02000503020000020003" pitchFamily="2" charset="0"/>
              </a:rPr>
              <a:t>However, it does not work: Consider  The Henry in Barn country example!!!!!</a:t>
            </a:r>
          </a:p>
        </p:txBody>
      </p:sp>
      <p:pic>
        <p:nvPicPr>
          <p:cNvPr id="5" name="Content Placeholder 4">
            <a:extLst>
              <a:ext uri="{FF2B5EF4-FFF2-40B4-BE49-F238E27FC236}">
                <a16:creationId xmlns:a16="http://schemas.microsoft.com/office/drawing/2014/main" id="{3AC7EF11-6A2E-7AB0-0B06-428E82136642}"/>
              </a:ext>
            </a:extLst>
          </p:cNvPr>
          <p:cNvPicPr>
            <a:picLocks noGrp="1" noChangeAspect="1"/>
          </p:cNvPicPr>
          <p:nvPr>
            <p:ph idx="1"/>
          </p:nvPr>
        </p:nvPicPr>
        <p:blipFill>
          <a:blip r:embed="rId2"/>
          <a:stretch>
            <a:fillRect/>
          </a:stretch>
        </p:blipFill>
        <p:spPr>
          <a:xfrm>
            <a:off x="7793665" y="2008274"/>
            <a:ext cx="3636335" cy="3636335"/>
          </a:xfrm>
        </p:spPr>
      </p:pic>
      <p:sp>
        <p:nvSpPr>
          <p:cNvPr id="6" name="TextBox 5">
            <a:extLst>
              <a:ext uri="{FF2B5EF4-FFF2-40B4-BE49-F238E27FC236}">
                <a16:creationId xmlns:a16="http://schemas.microsoft.com/office/drawing/2014/main" id="{D9FF6BEA-91E9-BF83-5C45-B43DB0512790}"/>
              </a:ext>
            </a:extLst>
          </p:cNvPr>
          <p:cNvSpPr txBox="1"/>
          <p:nvPr/>
        </p:nvSpPr>
        <p:spPr>
          <a:xfrm>
            <a:off x="1251678" y="1744788"/>
            <a:ext cx="5756866" cy="3922420"/>
          </a:xfrm>
          <a:prstGeom prst="rect">
            <a:avLst/>
          </a:prstGeom>
          <a:noFill/>
        </p:spPr>
        <p:txBody>
          <a:bodyPr wrap="square" rtlCol="0">
            <a:spAutoFit/>
          </a:bodyPr>
          <a:lstStyle/>
          <a:p>
            <a:pPr>
              <a:lnSpc>
                <a:spcPct val="150000"/>
              </a:lnSpc>
            </a:pPr>
            <a:r>
              <a:rPr lang="en-US" sz="2400" dirty="0">
                <a:latin typeface="Avenir Book" panose="02000503020000020003" pitchFamily="2" charset="0"/>
              </a:rPr>
              <a:t>So, Henry</a:t>
            </a:r>
          </a:p>
          <a:p>
            <a:pPr>
              <a:lnSpc>
                <a:spcPct val="150000"/>
              </a:lnSpc>
            </a:pPr>
            <a:endParaRPr lang="en-US" sz="2400" dirty="0">
              <a:latin typeface="Avenir Book" panose="02000503020000020003" pitchFamily="2" charset="0"/>
            </a:endParaRPr>
          </a:p>
          <a:p>
            <a:pPr marL="742950" indent="-742950">
              <a:lnSpc>
                <a:spcPct val="150000"/>
              </a:lnSpc>
              <a:buAutoNum type="arabicParenBoth"/>
            </a:pPr>
            <a:r>
              <a:rPr lang="en-US" sz="2400" dirty="0">
                <a:latin typeface="Avenir Book" panose="02000503020000020003" pitchFamily="2" charset="0"/>
              </a:rPr>
              <a:t>Believes he sees a Barn.</a:t>
            </a:r>
          </a:p>
          <a:p>
            <a:pPr marL="742950" indent="-742950">
              <a:lnSpc>
                <a:spcPct val="150000"/>
              </a:lnSpc>
              <a:buAutoNum type="arabicParenBoth"/>
            </a:pPr>
            <a:r>
              <a:rPr lang="en-US" sz="2400" dirty="0">
                <a:latin typeface="Avenir Book" panose="02000503020000020003" pitchFamily="2" charset="0"/>
              </a:rPr>
              <a:t>It is true he sees a barn.</a:t>
            </a:r>
          </a:p>
          <a:p>
            <a:pPr marL="742950" indent="-742950">
              <a:lnSpc>
                <a:spcPct val="150000"/>
              </a:lnSpc>
              <a:buAutoNum type="arabicParenBoth"/>
            </a:pPr>
            <a:r>
              <a:rPr lang="en-US" sz="2400" dirty="0">
                <a:latin typeface="Avenir Book" panose="02000503020000020003" pitchFamily="2" charset="0"/>
              </a:rPr>
              <a:t>He has justification he sees a barn.</a:t>
            </a:r>
          </a:p>
          <a:p>
            <a:pPr marL="742950" indent="-742950">
              <a:lnSpc>
                <a:spcPct val="150000"/>
              </a:lnSpc>
              <a:buAutoNum type="arabicParenBoth"/>
            </a:pPr>
            <a:r>
              <a:rPr lang="en-US" sz="2400" dirty="0">
                <a:latin typeface="Avenir Book" panose="02000503020000020003" pitchFamily="2" charset="0"/>
              </a:rPr>
              <a:t>He has not got it from a false proposition. </a:t>
            </a:r>
          </a:p>
        </p:txBody>
      </p:sp>
    </p:spTree>
    <p:extLst>
      <p:ext uri="{BB962C8B-B14F-4D97-AF65-F5344CB8AC3E}">
        <p14:creationId xmlns:p14="http://schemas.microsoft.com/office/powerpoint/2010/main" val="29177259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 calcmode="lin" valueType="num">
                                      <p:cBhvr additive="base">
                                        <p:cTn id="25"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374ED80-45FF-4F86-B49C-1306F7061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D5847CD-959D-4EEF-A551-65942EBC3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92592255-932E-6BC4-D0F9-91E512BA88F0}"/>
              </a:ext>
            </a:extLst>
          </p:cNvPr>
          <p:cNvSpPr>
            <a:spLocks noGrp="1"/>
          </p:cNvSpPr>
          <p:nvPr>
            <p:ph type="title"/>
          </p:nvPr>
        </p:nvSpPr>
        <p:spPr>
          <a:xfrm>
            <a:off x="754144" y="484631"/>
            <a:ext cx="6340519" cy="1638469"/>
          </a:xfrm>
        </p:spPr>
        <p:txBody>
          <a:bodyPr>
            <a:normAutofit fontScale="90000"/>
          </a:bodyPr>
          <a:lstStyle/>
          <a:p>
            <a:r>
              <a:rPr lang="en-US" sz="4300">
                <a:latin typeface="Avenir Book" panose="02000503020000020003" pitchFamily="2" charset="0"/>
              </a:rPr>
              <a:t>What about Adding another condition?</a:t>
            </a:r>
          </a:p>
        </p:txBody>
      </p:sp>
      <p:sp>
        <p:nvSpPr>
          <p:cNvPr id="13" name="Rectangle 12">
            <a:extLst>
              <a:ext uri="{FF2B5EF4-FFF2-40B4-BE49-F238E27FC236}">
                <a16:creationId xmlns:a16="http://schemas.microsoft.com/office/drawing/2014/main" id="{1CC0B614-29D2-4FBD-9F99-0F394A803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84C6299-1F2C-1D85-C069-650D663DB8AB}"/>
              </a:ext>
            </a:extLst>
          </p:cNvPr>
          <p:cNvSpPr>
            <a:spLocks noGrp="1"/>
          </p:cNvSpPr>
          <p:nvPr>
            <p:ph idx="1"/>
          </p:nvPr>
        </p:nvSpPr>
        <p:spPr>
          <a:xfrm>
            <a:off x="765051" y="1945758"/>
            <a:ext cx="6306309" cy="4427609"/>
          </a:xfrm>
        </p:spPr>
        <p:txBody>
          <a:bodyPr>
            <a:normAutofit/>
          </a:bodyPr>
          <a:lstStyle/>
          <a:p>
            <a:pPr marL="0" indent="0">
              <a:lnSpc>
                <a:spcPct val="150000"/>
              </a:lnSpc>
              <a:buNone/>
            </a:pPr>
            <a:r>
              <a:rPr lang="en-US" dirty="0">
                <a:solidFill>
                  <a:srgbClr val="000000"/>
                </a:solidFill>
                <a:latin typeface="Avenir Book" panose="02000503020000020003" pitchFamily="2" charset="0"/>
              </a:rPr>
              <a:t>We could try and add another condition: it says that if we are in a strange situation (like barn country) we need to know we are in that situation? </a:t>
            </a:r>
          </a:p>
          <a:p>
            <a:pPr marL="0" indent="0">
              <a:lnSpc>
                <a:spcPct val="150000"/>
              </a:lnSpc>
              <a:buNone/>
            </a:pPr>
            <a:endParaRPr lang="en-US" dirty="0">
              <a:solidFill>
                <a:srgbClr val="000000"/>
              </a:solidFill>
              <a:latin typeface="Avenir Book" panose="02000503020000020003" pitchFamily="2" charset="0"/>
            </a:endParaRPr>
          </a:p>
          <a:p>
            <a:pPr marL="0" indent="0">
              <a:lnSpc>
                <a:spcPct val="150000"/>
              </a:lnSpc>
              <a:buNone/>
            </a:pPr>
            <a:r>
              <a:rPr lang="en-US" dirty="0">
                <a:solidFill>
                  <a:srgbClr val="000000"/>
                </a:solidFill>
                <a:latin typeface="Avenir Book" panose="02000503020000020003" pitchFamily="2" charset="0"/>
              </a:rPr>
              <a:t>(5) That if someone is in a strange context they need to know it. (For example, Henry would need to know he is in barn country). </a:t>
            </a:r>
          </a:p>
        </p:txBody>
      </p:sp>
      <p:pic>
        <p:nvPicPr>
          <p:cNvPr id="4" name="Content Placeholder 4" descr="A person standing in front of a farm&#10;&#10;Description automatically generated">
            <a:extLst>
              <a:ext uri="{FF2B5EF4-FFF2-40B4-BE49-F238E27FC236}">
                <a16:creationId xmlns:a16="http://schemas.microsoft.com/office/drawing/2014/main" id="{8FF39849-93E8-477C-1D8A-1646E3967FB8}"/>
              </a:ext>
            </a:extLst>
          </p:cNvPr>
          <p:cNvPicPr>
            <a:picLocks noChangeAspect="1"/>
          </p:cNvPicPr>
          <p:nvPr/>
        </p:nvPicPr>
        <p:blipFill>
          <a:blip r:embed="rId3"/>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319865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50A50-35B6-F43C-6600-9938ADBE10C8}"/>
              </a:ext>
            </a:extLst>
          </p:cNvPr>
          <p:cNvSpPr>
            <a:spLocks noGrp="1"/>
          </p:cNvSpPr>
          <p:nvPr>
            <p:ph type="title"/>
          </p:nvPr>
        </p:nvSpPr>
        <p:spPr>
          <a:xfrm>
            <a:off x="1251678" y="528639"/>
            <a:ext cx="10178322" cy="957262"/>
          </a:xfrm>
        </p:spPr>
        <p:txBody>
          <a:bodyPr>
            <a:normAutofit/>
          </a:bodyPr>
          <a:lstStyle/>
          <a:p>
            <a:r>
              <a:rPr lang="en-US" sz="4000" dirty="0">
                <a:latin typeface="Avenir Book" panose="02000503020000020003" pitchFamily="2" charset="0"/>
              </a:rPr>
              <a:t>The improved definition</a:t>
            </a:r>
          </a:p>
        </p:txBody>
      </p:sp>
      <p:sp>
        <p:nvSpPr>
          <p:cNvPr id="3" name="Content Placeholder 2">
            <a:extLst>
              <a:ext uri="{FF2B5EF4-FFF2-40B4-BE49-F238E27FC236}">
                <a16:creationId xmlns:a16="http://schemas.microsoft.com/office/drawing/2014/main" id="{5C5E6804-A7FE-8DCA-E362-018ECEE24AFF}"/>
              </a:ext>
            </a:extLst>
          </p:cNvPr>
          <p:cNvSpPr>
            <a:spLocks noGrp="1"/>
          </p:cNvSpPr>
          <p:nvPr>
            <p:ph idx="1"/>
          </p:nvPr>
        </p:nvSpPr>
        <p:spPr>
          <a:xfrm>
            <a:off x="1251678" y="1685925"/>
            <a:ext cx="10178322" cy="4193667"/>
          </a:xfrm>
        </p:spPr>
        <p:txBody>
          <a:bodyPr>
            <a:noAutofit/>
          </a:bodyPr>
          <a:lstStyle/>
          <a:p>
            <a:pPr marL="0" indent="0">
              <a:buNone/>
            </a:pPr>
            <a:r>
              <a:rPr lang="en-US" sz="2800" dirty="0">
                <a:solidFill>
                  <a:schemeClr val="tx1"/>
                </a:solidFill>
                <a:latin typeface="Avenir Book" panose="02000503020000020003" pitchFamily="2" charset="0"/>
              </a:rPr>
              <a:t>For a person S to know P they should</a:t>
            </a:r>
          </a:p>
          <a:p>
            <a:pPr marL="0" indent="0">
              <a:buNone/>
            </a:pPr>
            <a:endParaRPr lang="en-US" sz="2800" dirty="0">
              <a:solidFill>
                <a:schemeClr val="tx1"/>
              </a:solidFill>
              <a:latin typeface="Avenir Book" panose="02000503020000020003" pitchFamily="2" charset="0"/>
            </a:endParaRPr>
          </a:p>
          <a:p>
            <a:pPr marL="0" indent="0">
              <a:buNone/>
            </a:pPr>
            <a:r>
              <a:rPr lang="en-US" sz="2800" dirty="0">
                <a:solidFill>
                  <a:schemeClr val="tx1"/>
                </a:solidFill>
                <a:latin typeface="Avenir Book" panose="02000503020000020003" pitchFamily="2" charset="0"/>
              </a:rPr>
              <a:t>(1) S should believe P</a:t>
            </a:r>
          </a:p>
          <a:p>
            <a:pPr marL="0" indent="0">
              <a:buNone/>
            </a:pPr>
            <a:r>
              <a:rPr lang="en-US" sz="2800" dirty="0">
                <a:solidFill>
                  <a:schemeClr val="tx1"/>
                </a:solidFill>
                <a:latin typeface="Avenir Book" panose="02000503020000020003" pitchFamily="2" charset="0"/>
              </a:rPr>
              <a:t>(2) P should be true</a:t>
            </a:r>
          </a:p>
          <a:p>
            <a:pPr marL="0" indent="0">
              <a:buNone/>
            </a:pPr>
            <a:r>
              <a:rPr lang="en-US" sz="2800" dirty="0">
                <a:solidFill>
                  <a:schemeClr val="tx1"/>
                </a:solidFill>
                <a:latin typeface="Avenir Book" panose="02000503020000020003" pitchFamily="2" charset="0"/>
              </a:rPr>
              <a:t>(3) S should have evidence for P.</a:t>
            </a:r>
          </a:p>
          <a:p>
            <a:pPr marL="0" indent="0">
              <a:buNone/>
            </a:pPr>
            <a:r>
              <a:rPr lang="en-US" sz="2800" dirty="0">
                <a:solidFill>
                  <a:schemeClr val="tx1"/>
                </a:solidFill>
                <a:latin typeface="Avenir Book" panose="02000503020000020003" pitchFamily="2" charset="0"/>
              </a:rPr>
              <a:t>(4) It should not be justified by a false proposition.</a:t>
            </a:r>
          </a:p>
          <a:p>
            <a:pPr marL="0" indent="0">
              <a:buNone/>
            </a:pPr>
            <a:r>
              <a:rPr lang="en-US" sz="2800" dirty="0">
                <a:solidFill>
                  <a:schemeClr val="tx1"/>
                </a:solidFill>
                <a:latin typeface="Avenir Book" panose="02000503020000020003" pitchFamily="2" charset="0"/>
              </a:rPr>
              <a:t>(5) S should know need to know that they are not in a strange context. </a:t>
            </a:r>
          </a:p>
        </p:txBody>
      </p:sp>
    </p:spTree>
    <p:extLst>
      <p:ext uri="{BB962C8B-B14F-4D97-AF65-F5344CB8AC3E}">
        <p14:creationId xmlns:p14="http://schemas.microsoft.com/office/powerpoint/2010/main" val="171544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Content Placeholder 4" descr="A brain in a glass container&#10;&#10;Description automatically generated">
            <a:extLst>
              <a:ext uri="{FF2B5EF4-FFF2-40B4-BE49-F238E27FC236}">
                <a16:creationId xmlns:a16="http://schemas.microsoft.com/office/drawing/2014/main" id="{971B1BFD-9230-C88D-1179-F7EC0F8C4D27}"/>
              </a:ext>
            </a:extLst>
          </p:cNvPr>
          <p:cNvPicPr>
            <a:picLocks noChangeAspect="1"/>
          </p:cNvPicPr>
          <p:nvPr/>
        </p:nvPicPr>
        <p:blipFill>
          <a:blip r:embed="rId2"/>
          <a:srcRect l="19820" r="9410"/>
          <a:stretch/>
        </p:blipFill>
        <p:spPr>
          <a:xfrm>
            <a:off x="7338646" y="10"/>
            <a:ext cx="4853354" cy="6857990"/>
          </a:xfrm>
          <a:prstGeom prst="rect">
            <a:avLst/>
          </a:prstGeom>
        </p:spPr>
      </p:pic>
      <p:sp>
        <p:nvSpPr>
          <p:cNvPr id="12" name="Freeform 10">
            <a:extLst>
              <a:ext uri="{FF2B5EF4-FFF2-40B4-BE49-F238E27FC236}">
                <a16:creationId xmlns:a16="http://schemas.microsoft.com/office/drawing/2014/main" id="{DC52EE39-EEEF-49AA-9F99-8C3F6AA1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10CE0AFA-44FA-2341-72C4-885D40C69E38}"/>
              </a:ext>
            </a:extLst>
          </p:cNvPr>
          <p:cNvSpPr>
            <a:spLocks noGrp="1"/>
          </p:cNvSpPr>
          <p:nvPr>
            <p:ph type="title"/>
          </p:nvPr>
        </p:nvSpPr>
        <p:spPr>
          <a:xfrm>
            <a:off x="765051" y="382385"/>
            <a:ext cx="6015897" cy="1492132"/>
          </a:xfrm>
        </p:spPr>
        <p:txBody>
          <a:bodyPr>
            <a:normAutofit/>
          </a:bodyPr>
          <a:lstStyle/>
          <a:p>
            <a:r>
              <a:rPr lang="en-US" sz="3200" dirty="0">
                <a:latin typeface="Avenir Book" panose="02000503020000020003" pitchFamily="2" charset="0"/>
              </a:rPr>
              <a:t>But you can’t know that you are not in a strange context. </a:t>
            </a:r>
          </a:p>
        </p:txBody>
      </p:sp>
      <p:sp>
        <p:nvSpPr>
          <p:cNvPr id="14" name="Rectangle 13">
            <a:extLst>
              <a:ext uri="{FF2B5EF4-FFF2-40B4-BE49-F238E27FC236}">
                <a16:creationId xmlns:a16="http://schemas.microsoft.com/office/drawing/2014/main" id="{A8EBF079-674B-49EB-B295-57AAB9339E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Content Placeholder 8">
            <a:extLst>
              <a:ext uri="{FF2B5EF4-FFF2-40B4-BE49-F238E27FC236}">
                <a16:creationId xmlns:a16="http://schemas.microsoft.com/office/drawing/2014/main" id="{1139BA74-7264-0F6B-72F7-41E3C40BDAF6}"/>
              </a:ext>
            </a:extLst>
          </p:cNvPr>
          <p:cNvSpPr>
            <a:spLocks noGrp="1"/>
          </p:cNvSpPr>
          <p:nvPr>
            <p:ph idx="1"/>
          </p:nvPr>
        </p:nvSpPr>
        <p:spPr>
          <a:xfrm>
            <a:off x="765051" y="2286001"/>
            <a:ext cx="6015897" cy="3593591"/>
          </a:xfrm>
        </p:spPr>
        <p:txBody>
          <a:bodyPr>
            <a:normAutofit fontScale="85000" lnSpcReduction="10000"/>
          </a:bodyPr>
          <a:lstStyle/>
          <a:p>
            <a:pPr marL="0" indent="0">
              <a:lnSpc>
                <a:spcPct val="150000"/>
              </a:lnSpc>
              <a:buNone/>
            </a:pPr>
            <a:r>
              <a:rPr lang="en-US" sz="2800" dirty="0">
                <a:solidFill>
                  <a:schemeClr val="tx1"/>
                </a:solidFill>
                <a:latin typeface="Avenir Book" panose="02000503020000020003" pitchFamily="2" charset="0"/>
              </a:rPr>
              <a:t>The problem with the 5</a:t>
            </a:r>
            <a:r>
              <a:rPr lang="en-US" sz="2800" baseline="30000" dirty="0">
                <a:solidFill>
                  <a:schemeClr val="tx1"/>
                </a:solidFill>
                <a:latin typeface="Avenir Book" panose="02000503020000020003" pitchFamily="2" charset="0"/>
              </a:rPr>
              <a:t>th</a:t>
            </a:r>
            <a:r>
              <a:rPr lang="en-US" sz="2800" dirty="0">
                <a:solidFill>
                  <a:schemeClr val="tx1"/>
                </a:solidFill>
                <a:latin typeface="Avenir Book" panose="02000503020000020003" pitchFamily="2" charset="0"/>
              </a:rPr>
              <a:t> condition is that we could never know we are not in a strange situation. For example, if someone is a brain in a vat being given a digital simulation of a real life you could never know you were in that situation. </a:t>
            </a:r>
          </a:p>
        </p:txBody>
      </p:sp>
    </p:spTree>
    <p:extLst>
      <p:ext uri="{BB962C8B-B14F-4D97-AF65-F5344CB8AC3E}">
        <p14:creationId xmlns:p14="http://schemas.microsoft.com/office/powerpoint/2010/main" val="17936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325E-4415-729A-719C-0C9E3D15C486}"/>
              </a:ext>
            </a:extLst>
          </p:cNvPr>
          <p:cNvSpPr>
            <a:spLocks noGrp="1"/>
          </p:cNvSpPr>
          <p:nvPr>
            <p:ph type="title"/>
          </p:nvPr>
        </p:nvSpPr>
        <p:spPr/>
        <p:txBody>
          <a:bodyPr>
            <a:normAutofit/>
          </a:bodyPr>
          <a:lstStyle/>
          <a:p>
            <a:r>
              <a:rPr lang="en-US" sz="4000" dirty="0">
                <a:latin typeface="Avenir Book" panose="02000503020000020003" pitchFamily="2" charset="0"/>
              </a:rPr>
              <a:t>Explain the no false lemma solution to the JTB (5)</a:t>
            </a:r>
          </a:p>
        </p:txBody>
      </p:sp>
      <p:sp>
        <p:nvSpPr>
          <p:cNvPr id="3" name="Content Placeholder 2">
            <a:extLst>
              <a:ext uri="{FF2B5EF4-FFF2-40B4-BE49-F238E27FC236}">
                <a16:creationId xmlns:a16="http://schemas.microsoft.com/office/drawing/2014/main" id="{0140D7AF-424C-EBD9-5B88-92A8054D37A7}"/>
              </a:ext>
            </a:extLst>
          </p:cNvPr>
          <p:cNvSpPr>
            <a:spLocks noGrp="1"/>
          </p:cNvSpPr>
          <p:nvPr>
            <p:ph idx="1"/>
          </p:nvPr>
        </p:nvSpPr>
        <p:spPr>
          <a:xfrm>
            <a:off x="1251678" y="1874517"/>
            <a:ext cx="10178322" cy="4601098"/>
          </a:xfrm>
        </p:spPr>
        <p:txBody>
          <a:bodyPr>
            <a:normAutofit fontScale="85000" lnSpcReduction="20000"/>
          </a:bodyPr>
          <a:lstStyle/>
          <a:p>
            <a:pPr marL="0" indent="0" algn="just">
              <a:lnSpc>
                <a:spcPct val="160000"/>
              </a:lnSpc>
              <a:buNone/>
            </a:pPr>
            <a:r>
              <a:rPr lang="en-US" sz="2400" dirty="0">
                <a:solidFill>
                  <a:schemeClr val="tx1"/>
                </a:solidFill>
                <a:latin typeface="Avenir Book" panose="02000503020000020003" pitchFamily="2" charset="0"/>
              </a:rPr>
              <a:t>The no false lemma condition is an attempt to find the necessary and sufficient conditions for knowledge, that improves in the tripartite definition. The no false lemma solution to the Gettier problem aims to add an extra condition to tripartite definition of knowledge, which can overcome the Gettier puzzle. It seeks to support the idea that we cannot know something if part of our justification for our conclusion comes from a false proposition. It claims that in order to have knowledge we need to have J,T, B, </a:t>
            </a:r>
            <a:r>
              <a:rPr lang="en-US" sz="2400" i="1" dirty="0">
                <a:solidFill>
                  <a:schemeClr val="tx1"/>
                </a:solidFill>
                <a:latin typeface="Avenir Book" panose="02000503020000020003" pitchFamily="2" charset="0"/>
              </a:rPr>
              <a:t>where the justification has not come from a false proposition</a:t>
            </a:r>
            <a:r>
              <a:rPr lang="en-US" sz="2400" dirty="0">
                <a:solidFill>
                  <a:schemeClr val="tx1"/>
                </a:solidFill>
                <a:latin typeface="Avenir Book" panose="02000503020000020003" pitchFamily="2" charset="0"/>
              </a:rPr>
              <a:t>. In the case of Smith and Jones, Smith wrongly believes that Jones will get the job and uses that proposition to justify his conclusion that ‘the man who will get he job has ten coins in his pocket’. Because of this false lemma he cannot be considered to have knowledge of that proposition. </a:t>
            </a:r>
          </a:p>
        </p:txBody>
      </p:sp>
    </p:spTree>
    <p:extLst>
      <p:ext uri="{BB962C8B-B14F-4D97-AF65-F5344CB8AC3E}">
        <p14:creationId xmlns:p14="http://schemas.microsoft.com/office/powerpoint/2010/main" val="3456851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9931E-070B-56B6-F33E-F2198FE7DE42}"/>
              </a:ext>
            </a:extLst>
          </p:cNvPr>
          <p:cNvSpPr>
            <a:spLocks noGrp="1"/>
          </p:cNvSpPr>
          <p:nvPr>
            <p:ph type="title"/>
          </p:nvPr>
        </p:nvSpPr>
        <p:spPr>
          <a:xfrm>
            <a:off x="1251678" y="745957"/>
            <a:ext cx="10178322" cy="1128559"/>
          </a:xfrm>
        </p:spPr>
        <p:txBody>
          <a:bodyPr>
            <a:normAutofit/>
          </a:bodyPr>
          <a:lstStyle/>
          <a:p>
            <a:r>
              <a:rPr lang="en-US" sz="4000" dirty="0">
                <a:latin typeface="Avenir Book" panose="02000503020000020003" pitchFamily="2" charset="0"/>
              </a:rPr>
              <a:t>Questions</a:t>
            </a:r>
          </a:p>
        </p:txBody>
      </p:sp>
      <p:sp>
        <p:nvSpPr>
          <p:cNvPr id="3" name="Content Placeholder 2">
            <a:extLst>
              <a:ext uri="{FF2B5EF4-FFF2-40B4-BE49-F238E27FC236}">
                <a16:creationId xmlns:a16="http://schemas.microsoft.com/office/drawing/2014/main" id="{6F8AB47C-0A2B-0C07-7742-0611984ED1E4}"/>
              </a:ext>
            </a:extLst>
          </p:cNvPr>
          <p:cNvSpPr>
            <a:spLocks noGrp="1"/>
          </p:cNvSpPr>
          <p:nvPr>
            <p:ph idx="1"/>
          </p:nvPr>
        </p:nvSpPr>
        <p:spPr/>
        <p:txBody>
          <a:bodyPr/>
          <a:lstStyle/>
          <a:p>
            <a:pPr marL="0" indent="0">
              <a:buNone/>
            </a:pPr>
            <a:r>
              <a:rPr lang="en-US" sz="2800" dirty="0">
                <a:solidFill>
                  <a:schemeClr val="tx1"/>
                </a:solidFill>
                <a:latin typeface="Avenir Book" panose="02000503020000020003" pitchFamily="2" charset="0"/>
              </a:rPr>
              <a:t>1. Outline and explain the tripartite theory of knowledge (12). </a:t>
            </a:r>
          </a:p>
          <a:p>
            <a:pPr marL="0" indent="0">
              <a:buNone/>
            </a:pPr>
            <a:endParaRPr lang="en-US" sz="2800" dirty="0">
              <a:solidFill>
                <a:schemeClr val="tx1"/>
              </a:solidFill>
              <a:latin typeface="Avenir Book" panose="02000503020000020003" pitchFamily="2" charset="0"/>
            </a:endParaRPr>
          </a:p>
          <a:p>
            <a:pPr marL="0" indent="0">
              <a:buNone/>
            </a:pPr>
            <a:r>
              <a:rPr lang="en-US" sz="2800" dirty="0">
                <a:solidFill>
                  <a:schemeClr val="tx1"/>
                </a:solidFill>
                <a:latin typeface="Avenir Book" panose="02000503020000020003" pitchFamily="2" charset="0"/>
              </a:rPr>
              <a:t>2. Outline and explain how the ‘Henry in Barn county’ thought experiment can undermine the no false lemma definition. (12)</a:t>
            </a:r>
          </a:p>
          <a:p>
            <a:pPr marL="0" indent="0">
              <a:buNone/>
            </a:pPr>
            <a:endParaRPr lang="en-US" dirty="0"/>
          </a:p>
        </p:txBody>
      </p:sp>
    </p:spTree>
    <p:extLst>
      <p:ext uri="{BB962C8B-B14F-4D97-AF65-F5344CB8AC3E}">
        <p14:creationId xmlns:p14="http://schemas.microsoft.com/office/powerpoint/2010/main" val="1538739164"/>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B2F36"/>
      </a:dk2>
      <a:lt2>
        <a:srgbClr val="F3F3F2"/>
      </a:lt2>
      <a:accent1>
        <a:srgbClr val="A38D51"/>
      </a:accent1>
      <a:accent2>
        <a:srgbClr val="5A3D40"/>
      </a:accent2>
      <a:accent3>
        <a:srgbClr val="5D988C"/>
      </a:accent3>
      <a:accent4>
        <a:srgbClr val="A85752"/>
      </a:accent4>
      <a:accent5>
        <a:srgbClr val="809A67"/>
      </a:accent5>
      <a:accent6>
        <a:srgbClr val="67645A"/>
      </a:accent6>
      <a:hlink>
        <a:srgbClr val="5D988C"/>
      </a:hlink>
      <a:folHlink>
        <a:srgbClr val="8467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9E77EDF1-0821-4215-BD6E-A2D49F0255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289</TotalTime>
  <Words>913</Words>
  <Application>Microsoft Macintosh PowerPoint</Application>
  <PresentationFormat>Widescreen</PresentationFormat>
  <Paragraphs>62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Avenir Book</vt:lpstr>
      <vt:lpstr>Gill Sans MT</vt:lpstr>
      <vt:lpstr>Impact</vt:lpstr>
      <vt:lpstr>Badge</vt:lpstr>
      <vt:lpstr>The Gettier puzzle And no false lemma</vt:lpstr>
      <vt:lpstr>What is the Gettier puzzle?</vt:lpstr>
      <vt:lpstr>Two important assumptions</vt:lpstr>
      <vt:lpstr>The thought experiment </vt:lpstr>
      <vt:lpstr>Remember the principle of closure</vt:lpstr>
      <vt:lpstr>Other examples</vt:lpstr>
      <vt:lpstr>No false lemma solution </vt:lpstr>
      <vt:lpstr>The no false lemma definition</vt:lpstr>
      <vt:lpstr>However, it does not work: Consider  The Henry in Barn country example!!!!!</vt:lpstr>
      <vt:lpstr>What about Adding another condition?</vt:lpstr>
      <vt:lpstr>The improved definition</vt:lpstr>
      <vt:lpstr>But you can’t know that you are not in a strange context. </vt:lpstr>
      <vt:lpstr>Explain the no false lemma solution to the JTB (5)</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26</cp:revision>
  <dcterms:created xsi:type="dcterms:W3CDTF">2024-06-01T10:31:25Z</dcterms:created>
  <dcterms:modified xsi:type="dcterms:W3CDTF">2024-09-24T08:44:57Z</dcterms:modified>
</cp:coreProperties>
</file>