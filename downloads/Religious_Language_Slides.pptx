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5" r:id="rId7"/>
    <p:sldId id="261" r:id="rId8"/>
    <p:sldId id="262" r:id="rId9"/>
    <p:sldId id="263" r:id="rId10"/>
    <p:sldId id="266" r:id="rId11"/>
    <p:sldId id="264" r:id="rId12"/>
    <p:sldId id="270" r:id="rId13"/>
    <p:sldId id="271" r:id="rId14"/>
    <p:sldId id="272" r:id="rId15"/>
    <p:sldId id="273" r:id="rId16"/>
    <p:sldId id="275"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50"/>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2/11/26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36880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732378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2/11/26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03699124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2/11/26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8011428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2/11/26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77213726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2/11/26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280097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2/11/26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06289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2/11/26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564826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2/11/26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562852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67496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2/11/26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949299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2/11/26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56214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5A43-8F77-ACE8-8827-088480EC38AF}"/>
              </a:ext>
            </a:extLst>
          </p:cNvPr>
          <p:cNvSpPr>
            <a:spLocks noGrp="1"/>
          </p:cNvSpPr>
          <p:nvPr>
            <p:ph type="ctrTitle"/>
          </p:nvPr>
        </p:nvSpPr>
        <p:spPr/>
        <p:txBody>
          <a:bodyPr/>
          <a:lstStyle/>
          <a:p>
            <a:r>
              <a:rPr lang="en-US" sz="6000" dirty="0">
                <a:latin typeface="Avenir Book" panose="02000503020000020003" pitchFamily="2" charset="0"/>
              </a:rPr>
              <a:t>Religious </a:t>
            </a:r>
            <a:br>
              <a:rPr lang="en-US" sz="6000" dirty="0">
                <a:latin typeface="Avenir Book" panose="02000503020000020003" pitchFamily="2" charset="0"/>
              </a:rPr>
            </a:br>
            <a:r>
              <a:rPr lang="en-US" sz="6000" dirty="0">
                <a:latin typeface="Avenir Book" panose="02000503020000020003" pitchFamily="2" charset="0"/>
              </a:rPr>
              <a:t>Language</a:t>
            </a:r>
          </a:p>
        </p:txBody>
      </p:sp>
      <p:sp>
        <p:nvSpPr>
          <p:cNvPr id="3" name="Subtitle 2">
            <a:extLst>
              <a:ext uri="{FF2B5EF4-FFF2-40B4-BE49-F238E27FC236}">
                <a16:creationId xmlns:a16="http://schemas.microsoft.com/office/drawing/2014/main" id="{CED4D541-9A29-8F26-0866-36FE38E16C4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37383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5B3E-BFAB-98C4-5AA3-89082EDE8A9E}"/>
              </a:ext>
            </a:extLst>
          </p:cNvPr>
          <p:cNvSpPr>
            <a:spLocks noGrp="1"/>
          </p:cNvSpPr>
          <p:nvPr>
            <p:ph type="title"/>
          </p:nvPr>
        </p:nvSpPr>
        <p:spPr>
          <a:xfrm>
            <a:off x="1251678" y="893135"/>
            <a:ext cx="10178322" cy="981382"/>
          </a:xfrm>
        </p:spPr>
        <p:txBody>
          <a:bodyPr>
            <a:normAutofit/>
          </a:bodyPr>
          <a:lstStyle/>
          <a:p>
            <a:r>
              <a:rPr lang="en-US" sz="3200" dirty="0">
                <a:latin typeface="Avenir Book" panose="02000503020000020003" pitchFamily="2" charset="0"/>
              </a:rPr>
              <a:t>The question of religious language</a:t>
            </a:r>
          </a:p>
        </p:txBody>
      </p:sp>
      <p:sp>
        <p:nvSpPr>
          <p:cNvPr id="3" name="Content Placeholder 2">
            <a:extLst>
              <a:ext uri="{FF2B5EF4-FFF2-40B4-BE49-F238E27FC236}">
                <a16:creationId xmlns:a16="http://schemas.microsoft.com/office/drawing/2014/main" id="{A3201DE5-EE9B-D9D8-1FF3-D3809388622C}"/>
              </a:ext>
            </a:extLst>
          </p:cNvPr>
          <p:cNvSpPr>
            <a:spLocks noGrp="1"/>
          </p:cNvSpPr>
          <p:nvPr>
            <p:ph idx="1"/>
          </p:nvPr>
        </p:nvSpPr>
        <p:spPr/>
        <p:txBody>
          <a:bodyPr/>
          <a:lstStyle/>
          <a:p>
            <a:pPr algn="just">
              <a:lnSpc>
                <a:spcPct val="150000"/>
              </a:lnSpc>
            </a:pPr>
            <a:r>
              <a:rPr lang="en-US" dirty="0">
                <a:solidFill>
                  <a:schemeClr val="tx1"/>
                </a:solidFill>
                <a:latin typeface="Avenir Book" panose="02000503020000020003" pitchFamily="2" charset="0"/>
              </a:rPr>
              <a:t>This unit is concerned with the question of whether religious language and propositions makes, or attempts to make, objective claims about the world. In other words whether it attempts to express truths about state of affairs, and is therefore cognitive. </a:t>
            </a:r>
          </a:p>
          <a:p>
            <a:pPr algn="just">
              <a:lnSpc>
                <a:spcPct val="150000"/>
              </a:lnSpc>
            </a:pPr>
            <a:r>
              <a:rPr lang="en-US" dirty="0">
                <a:solidFill>
                  <a:schemeClr val="tx1"/>
                </a:solidFill>
                <a:latin typeface="Avenir Book" panose="02000503020000020003" pitchFamily="2" charset="0"/>
              </a:rPr>
              <a:t>OR</a:t>
            </a:r>
          </a:p>
          <a:p>
            <a:pPr algn="just">
              <a:lnSpc>
                <a:spcPct val="150000"/>
              </a:lnSpc>
            </a:pPr>
            <a:r>
              <a:rPr lang="en-US" dirty="0">
                <a:solidFill>
                  <a:schemeClr val="tx1"/>
                </a:solidFill>
                <a:latin typeface="Avenir Book" panose="02000503020000020003" pitchFamily="2" charset="0"/>
              </a:rPr>
              <a:t>Whether religious language is not trying to express objective truths about the world, and is therefore an expression of attitude or worldview, that is non-cognitive. </a:t>
            </a:r>
          </a:p>
        </p:txBody>
      </p:sp>
    </p:spTree>
    <p:extLst>
      <p:ext uri="{BB962C8B-B14F-4D97-AF65-F5344CB8AC3E}">
        <p14:creationId xmlns:p14="http://schemas.microsoft.com/office/powerpoint/2010/main" val="23824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3F58A-3805-DE25-9CD2-534E85E03451}"/>
              </a:ext>
            </a:extLst>
          </p:cNvPr>
          <p:cNvSpPr>
            <a:spLocks noGrp="1"/>
          </p:cNvSpPr>
          <p:nvPr>
            <p:ph type="title"/>
          </p:nvPr>
        </p:nvSpPr>
        <p:spPr>
          <a:xfrm>
            <a:off x="1251678" y="829339"/>
            <a:ext cx="10178322" cy="1045177"/>
          </a:xfrm>
        </p:spPr>
        <p:txBody>
          <a:bodyPr>
            <a:normAutofit/>
          </a:bodyPr>
          <a:lstStyle/>
          <a:p>
            <a:pPr algn="ctr"/>
            <a:r>
              <a:rPr lang="en-US" sz="4000" dirty="0">
                <a:latin typeface="Avenir Book" panose="02000503020000020003" pitchFamily="2" charset="0"/>
              </a:rPr>
              <a:t>Table of theories</a:t>
            </a:r>
          </a:p>
        </p:txBody>
      </p:sp>
      <p:graphicFrame>
        <p:nvGraphicFramePr>
          <p:cNvPr id="4" name="Content Placeholder 3">
            <a:extLst>
              <a:ext uri="{FF2B5EF4-FFF2-40B4-BE49-F238E27FC236}">
                <a16:creationId xmlns:a16="http://schemas.microsoft.com/office/drawing/2014/main" id="{2BD7E5DD-E4C2-4ED1-7A4B-F6466C6321AB}"/>
              </a:ext>
            </a:extLst>
          </p:cNvPr>
          <p:cNvGraphicFramePr>
            <a:graphicFrameLocks noGrp="1"/>
          </p:cNvGraphicFramePr>
          <p:nvPr>
            <p:ph idx="1"/>
            <p:extLst>
              <p:ext uri="{D42A27DB-BD31-4B8C-83A1-F6EECF244321}">
                <p14:modId xmlns:p14="http://schemas.microsoft.com/office/powerpoint/2010/main" val="248465305"/>
              </p:ext>
            </p:extLst>
          </p:nvPr>
        </p:nvGraphicFramePr>
        <p:xfrm>
          <a:off x="1250950" y="1733107"/>
          <a:ext cx="10179050" cy="4684705"/>
        </p:xfrm>
        <a:graphic>
          <a:graphicData uri="http://schemas.openxmlformats.org/drawingml/2006/table">
            <a:tbl>
              <a:tblPr firstRow="1" bandRow="1">
                <a:tableStyleId>{21E4AEA4-8DFA-4A89-87EB-49C32662AFE0}</a:tableStyleId>
              </a:tblPr>
              <a:tblGrid>
                <a:gridCol w="5089525">
                  <a:extLst>
                    <a:ext uri="{9D8B030D-6E8A-4147-A177-3AD203B41FA5}">
                      <a16:colId xmlns:a16="http://schemas.microsoft.com/office/drawing/2014/main" val="3812679125"/>
                    </a:ext>
                  </a:extLst>
                </a:gridCol>
                <a:gridCol w="5089525">
                  <a:extLst>
                    <a:ext uri="{9D8B030D-6E8A-4147-A177-3AD203B41FA5}">
                      <a16:colId xmlns:a16="http://schemas.microsoft.com/office/drawing/2014/main" val="1392481543"/>
                    </a:ext>
                  </a:extLst>
                </a:gridCol>
              </a:tblGrid>
              <a:tr h="478465">
                <a:tc>
                  <a:txBody>
                    <a:bodyPr/>
                    <a:lstStyle/>
                    <a:p>
                      <a:r>
                        <a:rPr lang="en-US" dirty="0">
                          <a:latin typeface="Avenir Book" panose="02000503020000020003" pitchFamily="2" charset="0"/>
                        </a:rPr>
                        <a:t>Non-cognitive Theories</a:t>
                      </a:r>
                    </a:p>
                  </a:txBody>
                  <a:tcPr/>
                </a:tc>
                <a:tc>
                  <a:txBody>
                    <a:bodyPr/>
                    <a:lstStyle/>
                    <a:p>
                      <a:r>
                        <a:rPr lang="en-US" dirty="0">
                          <a:latin typeface="Avenir Book" panose="02000503020000020003" pitchFamily="2" charset="0"/>
                        </a:rPr>
                        <a:t>Cognitive Theories</a:t>
                      </a:r>
                    </a:p>
                  </a:txBody>
                  <a:tcPr/>
                </a:tc>
                <a:extLst>
                  <a:ext uri="{0D108BD9-81ED-4DB2-BD59-A6C34878D82A}">
                    <a16:rowId xmlns:a16="http://schemas.microsoft.com/office/drawing/2014/main" val="125647622"/>
                  </a:ext>
                </a:extLst>
              </a:tr>
              <a:tr h="2195623">
                <a:tc>
                  <a:txBody>
                    <a:bodyPr/>
                    <a:lstStyle/>
                    <a:p>
                      <a:endParaRPr lang="en-US" dirty="0"/>
                    </a:p>
                    <a:p>
                      <a:r>
                        <a:rPr lang="en-US" dirty="0">
                          <a:solidFill>
                            <a:schemeClr val="tx1"/>
                          </a:solidFill>
                          <a:latin typeface="Avenir Book" panose="02000503020000020003" pitchFamily="2" charset="0"/>
                        </a:rPr>
                        <a:t>Logical Positivism – </a:t>
                      </a:r>
                      <a:r>
                        <a:rPr lang="en-US" dirty="0" err="1">
                          <a:solidFill>
                            <a:schemeClr val="tx1"/>
                          </a:solidFill>
                          <a:latin typeface="Avenir Book" panose="02000503020000020003" pitchFamily="2" charset="0"/>
                        </a:rPr>
                        <a:t>A.J.Ayer</a:t>
                      </a:r>
                      <a:endParaRPr lang="en-US" dirty="0">
                        <a:solidFill>
                          <a:schemeClr val="tx1"/>
                        </a:solidFill>
                        <a:latin typeface="Avenir Book" panose="02000503020000020003" pitchFamily="2" charset="0"/>
                      </a:endParaRPr>
                    </a:p>
                    <a:p>
                      <a:endParaRPr lang="en-US" dirty="0"/>
                    </a:p>
                    <a:p>
                      <a:r>
                        <a:rPr lang="en-US" dirty="0">
                          <a:latin typeface="Avenir Book" panose="02000503020000020003" pitchFamily="2" charset="0"/>
                        </a:rPr>
                        <a:t>Falsification – Karl Popper- Anthony Flew</a:t>
                      </a:r>
                    </a:p>
                    <a:p>
                      <a:endParaRPr lang="en-US" dirty="0"/>
                    </a:p>
                    <a:p>
                      <a:r>
                        <a:rPr lang="en-US" dirty="0" err="1">
                          <a:latin typeface="Avenir Book" panose="02000503020000020003" pitchFamily="2" charset="0"/>
                        </a:rPr>
                        <a:t>R.M.Hare</a:t>
                      </a:r>
                      <a:endParaRPr lang="en-US" dirty="0">
                        <a:latin typeface="Avenir Book" panose="02000503020000020003" pitchFamily="2"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p>
                      <a:r>
                        <a:rPr lang="en-US" dirty="0">
                          <a:latin typeface="Avenir Book" panose="02000503020000020003" pitchFamily="2" charset="0"/>
                        </a:rPr>
                        <a:t>Basil Mitchell</a:t>
                      </a:r>
                    </a:p>
                    <a:p>
                      <a:endParaRPr lang="en-US" dirty="0">
                        <a:latin typeface="Avenir Book" panose="02000503020000020003" pitchFamily="2" charset="0"/>
                      </a:endParaRPr>
                    </a:p>
                    <a:p>
                      <a:endParaRPr lang="en-US" dirty="0">
                        <a:latin typeface="Avenir Book" panose="02000503020000020003" pitchFamily="2" charset="0"/>
                      </a:endParaRPr>
                    </a:p>
                  </a:txBody>
                  <a:tcPr/>
                </a:tc>
                <a:extLst>
                  <a:ext uri="{0D108BD9-81ED-4DB2-BD59-A6C34878D82A}">
                    <a16:rowId xmlns:a16="http://schemas.microsoft.com/office/drawing/2014/main" val="3313966019"/>
                  </a:ext>
                </a:extLst>
              </a:tr>
            </a:tbl>
          </a:graphicData>
        </a:graphic>
      </p:graphicFrame>
    </p:spTree>
    <p:extLst>
      <p:ext uri="{BB962C8B-B14F-4D97-AF65-F5344CB8AC3E}">
        <p14:creationId xmlns:p14="http://schemas.microsoft.com/office/powerpoint/2010/main" val="1532251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FE716-C301-88F6-91B0-A036B9EFBF0F}"/>
              </a:ext>
            </a:extLst>
          </p:cNvPr>
          <p:cNvSpPr>
            <a:spLocks noGrp="1"/>
          </p:cNvSpPr>
          <p:nvPr>
            <p:ph type="title"/>
          </p:nvPr>
        </p:nvSpPr>
        <p:spPr>
          <a:xfrm>
            <a:off x="1251678" y="723013"/>
            <a:ext cx="10178322" cy="1151503"/>
          </a:xfrm>
        </p:spPr>
        <p:txBody>
          <a:bodyPr>
            <a:normAutofit/>
          </a:bodyPr>
          <a:lstStyle/>
          <a:p>
            <a:pPr algn="ctr"/>
            <a:r>
              <a:rPr lang="en-US" sz="4000" dirty="0">
                <a:latin typeface="Avenir Book" panose="02000503020000020003" pitchFamily="2" charset="0"/>
              </a:rPr>
              <a:t>Logical positivism (1)</a:t>
            </a:r>
          </a:p>
        </p:txBody>
      </p:sp>
      <p:sp>
        <p:nvSpPr>
          <p:cNvPr id="3" name="Content Placeholder 2">
            <a:extLst>
              <a:ext uri="{FF2B5EF4-FFF2-40B4-BE49-F238E27FC236}">
                <a16:creationId xmlns:a16="http://schemas.microsoft.com/office/drawing/2014/main" id="{4DF9C703-76ED-A792-0446-0C630B7247E1}"/>
              </a:ext>
            </a:extLst>
          </p:cNvPr>
          <p:cNvSpPr>
            <a:spLocks noGrp="1"/>
          </p:cNvSpPr>
          <p:nvPr>
            <p:ph idx="1"/>
          </p:nvPr>
        </p:nvSpPr>
        <p:spPr>
          <a:xfrm>
            <a:off x="1251678" y="1733107"/>
            <a:ext cx="10178322" cy="4146486"/>
          </a:xfrm>
        </p:spPr>
        <p:txBody>
          <a:bodyPr>
            <a:normAutofit/>
          </a:bodyPr>
          <a:lstStyle/>
          <a:p>
            <a:pPr algn="just">
              <a:lnSpc>
                <a:spcPct val="150000"/>
              </a:lnSpc>
            </a:pPr>
            <a:r>
              <a:rPr lang="en-US" dirty="0">
                <a:solidFill>
                  <a:schemeClr val="tx1"/>
                </a:solidFill>
                <a:latin typeface="Avenir Book" panose="02000503020000020003" pitchFamily="2" charset="0"/>
              </a:rPr>
              <a:t>Key Thesis: Logical positivism is a non-cognitivist theory of religious language. Logical positivism is the theory that claims that a proposition must pass the principle of verification, in order to count as cognitive. If a proposition does not pass the principle of verification then it is non-cognitive. According to Ayer, non-cognitive propositions are not significant. </a:t>
            </a:r>
          </a:p>
          <a:p>
            <a:pPr algn="just">
              <a:lnSpc>
                <a:spcPct val="150000"/>
              </a:lnSpc>
            </a:pPr>
            <a:endParaRPr lang="en-US" dirty="0">
              <a:solidFill>
                <a:schemeClr val="tx1"/>
              </a:solidFill>
              <a:latin typeface="Avenir Book" panose="02000503020000020003" pitchFamily="2" charset="0"/>
            </a:endParaRPr>
          </a:p>
          <a:p>
            <a:pPr algn="just">
              <a:lnSpc>
                <a:spcPct val="150000"/>
              </a:lnSpc>
            </a:pPr>
            <a:r>
              <a:rPr lang="en-US" dirty="0">
                <a:solidFill>
                  <a:schemeClr val="tx1"/>
                </a:solidFill>
                <a:latin typeface="Avenir Book" panose="02000503020000020003" pitchFamily="2" charset="0"/>
              </a:rPr>
              <a:t>The principle of verification claims that there are only two categories of propositions that count as cognitive, </a:t>
            </a:r>
            <a:r>
              <a:rPr lang="en-US" dirty="0" err="1">
                <a:solidFill>
                  <a:schemeClr val="tx1"/>
                </a:solidFill>
                <a:latin typeface="Avenir Book" panose="02000503020000020003" pitchFamily="2" charset="0"/>
              </a:rPr>
              <a:t>i.e</a:t>
            </a:r>
            <a:r>
              <a:rPr lang="en-US" dirty="0">
                <a:solidFill>
                  <a:schemeClr val="tx1"/>
                </a:solidFill>
                <a:latin typeface="Avenir Book" panose="02000503020000020003" pitchFamily="2" charset="0"/>
              </a:rPr>
              <a:t> that make claims about the objective world. </a:t>
            </a:r>
          </a:p>
          <a:p>
            <a:pPr algn="just"/>
            <a:endParaRPr lang="en-US"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2308943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A1A3-1DED-39A3-5B11-F2064C8FD989}"/>
              </a:ext>
            </a:extLst>
          </p:cNvPr>
          <p:cNvSpPr>
            <a:spLocks noGrp="1"/>
          </p:cNvSpPr>
          <p:nvPr>
            <p:ph type="title"/>
          </p:nvPr>
        </p:nvSpPr>
        <p:spPr>
          <a:xfrm>
            <a:off x="1251678" y="723013"/>
            <a:ext cx="10178322" cy="1151503"/>
          </a:xfrm>
        </p:spPr>
        <p:txBody>
          <a:bodyPr>
            <a:normAutofit/>
          </a:bodyPr>
          <a:lstStyle/>
          <a:p>
            <a:pPr algn="ctr"/>
            <a:r>
              <a:rPr lang="en-US" sz="4000" dirty="0">
                <a:latin typeface="Avenir Book" panose="02000503020000020003" pitchFamily="2" charset="0"/>
              </a:rPr>
              <a:t>Logical positivism (2)</a:t>
            </a:r>
          </a:p>
        </p:txBody>
      </p:sp>
      <p:sp>
        <p:nvSpPr>
          <p:cNvPr id="3" name="Content Placeholder 2">
            <a:extLst>
              <a:ext uri="{FF2B5EF4-FFF2-40B4-BE49-F238E27FC236}">
                <a16:creationId xmlns:a16="http://schemas.microsoft.com/office/drawing/2014/main" id="{9E056A7C-9E24-BCEE-1CA1-F4BF1AA75B23}"/>
              </a:ext>
            </a:extLst>
          </p:cNvPr>
          <p:cNvSpPr>
            <a:spLocks noGrp="1"/>
          </p:cNvSpPr>
          <p:nvPr>
            <p:ph idx="1"/>
          </p:nvPr>
        </p:nvSpPr>
        <p:spPr>
          <a:xfrm>
            <a:off x="1251678" y="1967023"/>
            <a:ext cx="10178322" cy="4391247"/>
          </a:xfrm>
        </p:spPr>
        <p:txBody>
          <a:bodyPr>
            <a:normAutofit fontScale="70000" lnSpcReduction="20000"/>
          </a:bodyPr>
          <a:lstStyle/>
          <a:p>
            <a:pPr marL="0" indent="0" algn="just">
              <a:lnSpc>
                <a:spcPct val="150000"/>
              </a:lnSpc>
              <a:buNone/>
            </a:pPr>
            <a:r>
              <a:rPr lang="en-US" sz="3300" dirty="0">
                <a:solidFill>
                  <a:schemeClr val="tx1"/>
                </a:solidFill>
                <a:latin typeface="Avenir Book" panose="02000503020000020003" pitchFamily="2" charset="0"/>
              </a:rPr>
              <a:t>The principle of verification claims that there are only two categories of propositions that count as cognitive, </a:t>
            </a:r>
            <a:r>
              <a:rPr lang="en-US" sz="3300" dirty="0" err="1">
                <a:solidFill>
                  <a:schemeClr val="tx1"/>
                </a:solidFill>
                <a:latin typeface="Avenir Book" panose="02000503020000020003" pitchFamily="2" charset="0"/>
              </a:rPr>
              <a:t>i.e</a:t>
            </a:r>
            <a:r>
              <a:rPr lang="en-US" sz="3300" dirty="0">
                <a:solidFill>
                  <a:schemeClr val="tx1"/>
                </a:solidFill>
                <a:latin typeface="Avenir Book" panose="02000503020000020003" pitchFamily="2" charset="0"/>
              </a:rPr>
              <a:t> that make claims about the objective world. </a:t>
            </a:r>
          </a:p>
          <a:p>
            <a:pPr marL="0" indent="0" algn="just">
              <a:buNone/>
            </a:pPr>
            <a:endParaRPr lang="en-US" sz="3300" dirty="0">
              <a:solidFill>
                <a:schemeClr val="tx1"/>
              </a:solidFill>
              <a:latin typeface="Avenir Book" panose="02000503020000020003" pitchFamily="2" charset="0"/>
            </a:endParaRPr>
          </a:p>
          <a:p>
            <a:pPr marL="0" indent="0" algn="just">
              <a:buNone/>
            </a:pPr>
            <a:r>
              <a:rPr lang="en-US" sz="3300" dirty="0">
                <a:solidFill>
                  <a:schemeClr val="tx1"/>
                </a:solidFill>
                <a:latin typeface="Avenir Book" panose="02000503020000020003" pitchFamily="2" charset="0"/>
              </a:rPr>
              <a:t>1. Empirical claims – these are claims about the world, that can be verified or not. </a:t>
            </a:r>
          </a:p>
          <a:p>
            <a:pPr marL="514350" indent="-514350" algn="just">
              <a:buAutoNum type="arabicPeriod"/>
            </a:pPr>
            <a:endParaRPr lang="en-US" sz="3300" dirty="0">
              <a:solidFill>
                <a:schemeClr val="tx1"/>
              </a:solidFill>
              <a:latin typeface="Avenir Book" panose="02000503020000020003" pitchFamily="2" charset="0"/>
            </a:endParaRPr>
          </a:p>
          <a:p>
            <a:pPr marL="0" indent="0" algn="just">
              <a:buNone/>
            </a:pPr>
            <a:r>
              <a:rPr lang="en-US" sz="3300" dirty="0">
                <a:solidFill>
                  <a:schemeClr val="tx1"/>
                </a:solidFill>
                <a:latin typeface="Avenir Book" panose="02000503020000020003" pitchFamily="2" charset="0"/>
              </a:rPr>
              <a:t>2. Analytic claims – These are claims about the ideas and how they are related to each other. They can be verified or not, without recourse to sense experience. </a:t>
            </a:r>
          </a:p>
          <a:p>
            <a:endParaRPr lang="en-US" dirty="0"/>
          </a:p>
        </p:txBody>
      </p:sp>
    </p:spTree>
    <p:extLst>
      <p:ext uri="{BB962C8B-B14F-4D97-AF65-F5344CB8AC3E}">
        <p14:creationId xmlns:p14="http://schemas.microsoft.com/office/powerpoint/2010/main" val="3827685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788A-B445-7F91-4AC0-E61CF098E8E9}"/>
              </a:ext>
            </a:extLst>
          </p:cNvPr>
          <p:cNvSpPr>
            <a:spLocks noGrp="1"/>
          </p:cNvSpPr>
          <p:nvPr>
            <p:ph type="title"/>
          </p:nvPr>
        </p:nvSpPr>
        <p:spPr>
          <a:xfrm>
            <a:off x="1251678" y="797441"/>
            <a:ext cx="10178322" cy="1077075"/>
          </a:xfrm>
        </p:spPr>
        <p:txBody>
          <a:bodyPr>
            <a:normAutofit/>
          </a:bodyPr>
          <a:lstStyle/>
          <a:p>
            <a:pPr algn="ctr"/>
            <a:r>
              <a:rPr lang="en-US" sz="4000" dirty="0">
                <a:latin typeface="Avenir Book" panose="02000503020000020003" pitchFamily="2" charset="0"/>
              </a:rPr>
              <a:t>Logical positivism (2) </a:t>
            </a:r>
          </a:p>
        </p:txBody>
      </p:sp>
      <p:sp>
        <p:nvSpPr>
          <p:cNvPr id="3" name="Content Placeholder 2">
            <a:extLst>
              <a:ext uri="{FF2B5EF4-FFF2-40B4-BE49-F238E27FC236}">
                <a16:creationId xmlns:a16="http://schemas.microsoft.com/office/drawing/2014/main" id="{7EEBFB80-0658-3558-21AB-D77EA4ABDB89}"/>
              </a:ext>
            </a:extLst>
          </p:cNvPr>
          <p:cNvSpPr>
            <a:spLocks noGrp="1"/>
          </p:cNvSpPr>
          <p:nvPr>
            <p:ph idx="1"/>
          </p:nvPr>
        </p:nvSpPr>
        <p:spPr>
          <a:xfrm>
            <a:off x="1251678" y="2020187"/>
            <a:ext cx="10178322" cy="3859406"/>
          </a:xfrm>
        </p:spPr>
        <p:txBody>
          <a:bodyPr/>
          <a:lstStyle/>
          <a:p>
            <a:pPr marL="0" indent="0" algn="just">
              <a:buNone/>
            </a:pPr>
            <a:r>
              <a:rPr lang="en-US" dirty="0">
                <a:solidFill>
                  <a:schemeClr val="tx1"/>
                </a:solidFill>
                <a:latin typeface="Avenir Book" panose="02000503020000020003" pitchFamily="2" charset="0"/>
              </a:rPr>
              <a:t>‘The criterion which we use to test the genuineness of apparent statements of fact is the criterion of verifiability. We say that a criterion of factually significant to any given person, if and only if, he knows how to verify the proposition he purports to express – that is, if he knows what observations would lead him, under certain conditions, to accept the proposition as being true, or rejecting it as being false. If on the other hand, the putative proposition is of such a character that the assumption of its truth, or falsehood is consistent with any assumptions whatsoever concerning the nature of future experiences…it is a mere pseudo-proposition. The sentence expressing it may be emotionally significant to him; but it is not literally significant. And with regard to the question the procedure is the same.’ </a:t>
            </a:r>
          </a:p>
          <a:p>
            <a:pPr marL="0" indent="0" algn="just">
              <a:buNone/>
            </a:pPr>
            <a:r>
              <a:rPr lang="en-US" dirty="0" err="1">
                <a:solidFill>
                  <a:schemeClr val="tx1"/>
                </a:solidFill>
                <a:latin typeface="Avenir Book" panose="02000503020000020003" pitchFamily="2" charset="0"/>
              </a:rPr>
              <a:t>A.J.Ayer</a:t>
            </a:r>
            <a:r>
              <a:rPr lang="en-US" dirty="0">
                <a:solidFill>
                  <a:schemeClr val="tx1"/>
                </a:solidFill>
                <a:latin typeface="Avenir Book" panose="02000503020000020003" pitchFamily="2" charset="0"/>
              </a:rPr>
              <a:t> ‘Language, Truth and Logic.’ 1936</a:t>
            </a:r>
          </a:p>
        </p:txBody>
      </p:sp>
    </p:spTree>
    <p:extLst>
      <p:ext uri="{BB962C8B-B14F-4D97-AF65-F5344CB8AC3E}">
        <p14:creationId xmlns:p14="http://schemas.microsoft.com/office/powerpoint/2010/main" val="76096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7B36-FC14-BC1D-87C3-5577C304C86E}"/>
              </a:ext>
            </a:extLst>
          </p:cNvPr>
          <p:cNvSpPr>
            <a:spLocks noGrp="1"/>
          </p:cNvSpPr>
          <p:nvPr>
            <p:ph type="title"/>
          </p:nvPr>
        </p:nvSpPr>
        <p:spPr>
          <a:xfrm>
            <a:off x="1251678" y="861237"/>
            <a:ext cx="10178322" cy="1013280"/>
          </a:xfrm>
        </p:spPr>
        <p:txBody>
          <a:bodyPr>
            <a:normAutofit/>
          </a:bodyPr>
          <a:lstStyle/>
          <a:p>
            <a:r>
              <a:rPr lang="en-US" sz="3600" dirty="0">
                <a:latin typeface="Avenir Book" panose="02000503020000020003" pitchFamily="2" charset="0"/>
              </a:rPr>
              <a:t>The argument of logical positivism </a:t>
            </a:r>
          </a:p>
        </p:txBody>
      </p:sp>
      <p:sp>
        <p:nvSpPr>
          <p:cNvPr id="3" name="Content Placeholder 2">
            <a:extLst>
              <a:ext uri="{FF2B5EF4-FFF2-40B4-BE49-F238E27FC236}">
                <a16:creationId xmlns:a16="http://schemas.microsoft.com/office/drawing/2014/main" id="{5699E337-4774-8B03-E851-2C3CD7DA5092}"/>
              </a:ext>
            </a:extLst>
          </p:cNvPr>
          <p:cNvSpPr>
            <a:spLocks noGrp="1"/>
          </p:cNvSpPr>
          <p:nvPr>
            <p:ph idx="1"/>
          </p:nvPr>
        </p:nvSpPr>
        <p:spPr/>
        <p:txBody>
          <a:bodyPr>
            <a:normAutofit/>
          </a:bodyPr>
          <a:lstStyle/>
          <a:p>
            <a:pPr marL="0" indent="0">
              <a:buNone/>
            </a:pPr>
            <a:r>
              <a:rPr lang="en-US" sz="2400" dirty="0">
                <a:solidFill>
                  <a:schemeClr val="tx1"/>
                </a:solidFill>
                <a:latin typeface="Avenir Book" panose="02000503020000020003" pitchFamily="2" charset="0"/>
              </a:rPr>
              <a:t>1. The principle of verification limits cognitive propositions to those that are either empirical or analytic. </a:t>
            </a:r>
          </a:p>
          <a:p>
            <a:pPr marL="0" indent="0">
              <a:buNone/>
            </a:pPr>
            <a:r>
              <a:rPr lang="en-US" sz="2400" dirty="0">
                <a:solidFill>
                  <a:schemeClr val="tx1"/>
                </a:solidFill>
                <a:latin typeface="Avenir Book" panose="02000503020000020003" pitchFamily="2" charset="0"/>
              </a:rPr>
              <a:t>2. ‘God exists’ is not an analytic proposition.</a:t>
            </a:r>
          </a:p>
          <a:p>
            <a:pPr marL="0" indent="0">
              <a:buNone/>
            </a:pPr>
            <a:r>
              <a:rPr lang="en-US" sz="2400" dirty="0">
                <a:solidFill>
                  <a:schemeClr val="tx1"/>
                </a:solidFill>
                <a:latin typeface="Avenir Book" panose="02000503020000020003" pitchFamily="2" charset="0"/>
              </a:rPr>
              <a:t>3. ‘God exists’ is not an empirical proposition. </a:t>
            </a:r>
          </a:p>
          <a:p>
            <a:pPr marL="0" indent="0">
              <a:buNone/>
            </a:pPr>
            <a:r>
              <a:rPr lang="en-US" sz="2400" dirty="0">
                <a:solidFill>
                  <a:schemeClr val="tx1"/>
                </a:solidFill>
                <a:latin typeface="Avenir Book" panose="02000503020000020003" pitchFamily="2" charset="0"/>
              </a:rPr>
              <a:t>4. Therefore, the proposition that ‘God exists’ is not cognitive. </a:t>
            </a:r>
          </a:p>
        </p:txBody>
      </p:sp>
    </p:spTree>
    <p:extLst>
      <p:ext uri="{BB962C8B-B14F-4D97-AF65-F5344CB8AC3E}">
        <p14:creationId xmlns:p14="http://schemas.microsoft.com/office/powerpoint/2010/main" val="15191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FC7D-54C3-1CCC-A68C-7E1C23ECCC66}"/>
              </a:ext>
            </a:extLst>
          </p:cNvPr>
          <p:cNvSpPr>
            <a:spLocks noGrp="1"/>
          </p:cNvSpPr>
          <p:nvPr>
            <p:ph type="title"/>
          </p:nvPr>
        </p:nvSpPr>
        <p:spPr>
          <a:xfrm>
            <a:off x="1251678" y="723013"/>
            <a:ext cx="10178322" cy="1151503"/>
          </a:xfrm>
        </p:spPr>
        <p:txBody>
          <a:bodyPr>
            <a:normAutofit/>
          </a:bodyPr>
          <a:lstStyle/>
          <a:p>
            <a:pPr algn="just"/>
            <a:r>
              <a:rPr lang="en-US" sz="3200" dirty="0">
                <a:latin typeface="Avenir Book" panose="02000503020000020003" pitchFamily="2" charset="0"/>
              </a:rPr>
              <a:t>The objections to the principle of verification. </a:t>
            </a:r>
          </a:p>
        </p:txBody>
      </p:sp>
      <p:sp>
        <p:nvSpPr>
          <p:cNvPr id="3" name="Content Placeholder 2">
            <a:extLst>
              <a:ext uri="{FF2B5EF4-FFF2-40B4-BE49-F238E27FC236}">
                <a16:creationId xmlns:a16="http://schemas.microsoft.com/office/drawing/2014/main" id="{5BEA8447-55E7-2F27-7525-4D134EE8592C}"/>
              </a:ext>
            </a:extLst>
          </p:cNvPr>
          <p:cNvSpPr>
            <a:spLocks noGrp="1"/>
          </p:cNvSpPr>
          <p:nvPr>
            <p:ph idx="1"/>
          </p:nvPr>
        </p:nvSpPr>
        <p:spPr/>
        <p:txBody>
          <a:bodyPr>
            <a:normAutofit/>
          </a:bodyPr>
          <a:lstStyle/>
          <a:p>
            <a:pPr algn="just"/>
            <a:r>
              <a:rPr lang="en-US" sz="2400" dirty="0">
                <a:solidFill>
                  <a:schemeClr val="tx1"/>
                </a:solidFill>
                <a:latin typeface="Avenir Book" panose="02000503020000020003" pitchFamily="2" charset="0"/>
              </a:rPr>
              <a:t>1. The principle of verification means that we would need to abandon not only religious language, but historical and moral language also. </a:t>
            </a:r>
          </a:p>
          <a:p>
            <a:pPr algn="just"/>
            <a:r>
              <a:rPr lang="en-US" sz="2400" dirty="0">
                <a:solidFill>
                  <a:schemeClr val="tx1"/>
                </a:solidFill>
                <a:latin typeface="Avenir Book" panose="02000503020000020003" pitchFamily="2" charset="0"/>
              </a:rPr>
              <a:t>2. The broader principle allows religion in through the back door. </a:t>
            </a:r>
          </a:p>
          <a:p>
            <a:pPr algn="just"/>
            <a:r>
              <a:rPr lang="en-US" sz="2400" dirty="0">
                <a:solidFill>
                  <a:schemeClr val="tx1"/>
                </a:solidFill>
                <a:latin typeface="Avenir Book" panose="02000503020000020003" pitchFamily="2" charset="0"/>
              </a:rPr>
              <a:t>3. ‘Eschatological verification’ might make religious language meaningful, consistent with logical positivism. </a:t>
            </a:r>
          </a:p>
          <a:p>
            <a:pPr algn="just"/>
            <a:r>
              <a:rPr lang="en-US" sz="2400" dirty="0">
                <a:solidFill>
                  <a:schemeClr val="tx1"/>
                </a:solidFill>
                <a:latin typeface="Avenir Book" panose="02000503020000020003" pitchFamily="2" charset="0"/>
              </a:rPr>
              <a:t>4. The principle of verification does not pass its own test of verification. </a:t>
            </a:r>
          </a:p>
        </p:txBody>
      </p:sp>
    </p:spTree>
    <p:extLst>
      <p:ext uri="{BB962C8B-B14F-4D97-AF65-F5344CB8AC3E}">
        <p14:creationId xmlns:p14="http://schemas.microsoft.com/office/powerpoint/2010/main" val="2162658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F0E8-7671-99B0-4AFB-5E0E4798D855}"/>
              </a:ext>
            </a:extLst>
          </p:cNvPr>
          <p:cNvSpPr>
            <a:spLocks noGrp="1"/>
          </p:cNvSpPr>
          <p:nvPr>
            <p:ph type="title"/>
          </p:nvPr>
        </p:nvSpPr>
        <p:spPr>
          <a:xfrm>
            <a:off x="1251678" y="754911"/>
            <a:ext cx="10178322" cy="1119605"/>
          </a:xfrm>
        </p:spPr>
        <p:txBody>
          <a:bodyPr>
            <a:normAutofit/>
          </a:bodyPr>
          <a:lstStyle/>
          <a:p>
            <a:pPr algn="ctr"/>
            <a:r>
              <a:rPr lang="en-US" sz="4000" dirty="0">
                <a:latin typeface="Avenir Book" panose="02000503020000020003" pitchFamily="2" charset="0"/>
              </a:rPr>
              <a:t>Problem (1)</a:t>
            </a:r>
          </a:p>
        </p:txBody>
      </p:sp>
      <p:sp>
        <p:nvSpPr>
          <p:cNvPr id="3" name="Content Placeholder 2">
            <a:extLst>
              <a:ext uri="{FF2B5EF4-FFF2-40B4-BE49-F238E27FC236}">
                <a16:creationId xmlns:a16="http://schemas.microsoft.com/office/drawing/2014/main" id="{988C4982-3DD3-797B-8862-B3DB9CCAA4CA}"/>
              </a:ext>
            </a:extLst>
          </p:cNvPr>
          <p:cNvSpPr>
            <a:spLocks noGrp="1"/>
          </p:cNvSpPr>
          <p:nvPr>
            <p:ph idx="1"/>
          </p:nvPr>
        </p:nvSpPr>
        <p:spPr>
          <a:xfrm>
            <a:off x="1251678" y="1711843"/>
            <a:ext cx="10178322" cy="4167750"/>
          </a:xfrm>
        </p:spPr>
        <p:txBody>
          <a:bodyPr>
            <a:normAutofit/>
          </a:bodyPr>
          <a:lstStyle/>
          <a:p>
            <a:pPr marL="0" indent="0" algn="just">
              <a:buNone/>
            </a:pPr>
            <a:r>
              <a:rPr lang="en-US" dirty="0">
                <a:solidFill>
                  <a:schemeClr val="tx1"/>
                </a:solidFill>
                <a:latin typeface="Avenir Book" panose="02000503020000020003" pitchFamily="2" charset="0"/>
              </a:rPr>
              <a:t>As the principle of verification stands it would not consider the following statement cognitive and therefore it would render it not significant. </a:t>
            </a:r>
          </a:p>
          <a:p>
            <a:pPr algn="just"/>
            <a:endParaRPr lang="en-US" dirty="0">
              <a:solidFill>
                <a:schemeClr val="tx1"/>
              </a:solidFill>
              <a:latin typeface="Avenir Book" panose="02000503020000020003" pitchFamily="2" charset="0"/>
            </a:endParaRPr>
          </a:p>
          <a:p>
            <a:pPr marL="0" indent="0" algn="just">
              <a:buNone/>
            </a:pPr>
            <a:r>
              <a:rPr lang="en-US" i="1" dirty="0">
                <a:solidFill>
                  <a:schemeClr val="tx1"/>
                </a:solidFill>
                <a:latin typeface="Avenir Book" panose="02000503020000020003" pitchFamily="2" charset="0"/>
              </a:rPr>
              <a:t>‘King Harold was killed with an arrow to the eye in the battle of Hastings’</a:t>
            </a:r>
          </a:p>
          <a:p>
            <a:pPr marL="0" indent="0" algn="just">
              <a:buNone/>
            </a:pPr>
            <a:endParaRPr lang="en-US" dirty="0">
              <a:solidFill>
                <a:schemeClr val="tx1"/>
              </a:solidFill>
              <a:latin typeface="Avenir Book" panose="02000503020000020003" pitchFamily="2" charset="0"/>
            </a:endParaRPr>
          </a:p>
          <a:p>
            <a:pPr marL="0" indent="0" algn="just">
              <a:buNone/>
            </a:pPr>
            <a:r>
              <a:rPr lang="en-US" dirty="0">
                <a:solidFill>
                  <a:schemeClr val="tx1"/>
                </a:solidFill>
                <a:latin typeface="Avenir Book" panose="02000503020000020003" pitchFamily="2" charset="0"/>
              </a:rPr>
              <a:t>This proposition is disputed and there is no way we could now see the battle, or know analytically whether it is true. Therefore it is not meaningful. </a:t>
            </a:r>
          </a:p>
          <a:p>
            <a:pPr marL="0" indent="0" algn="just">
              <a:buNone/>
            </a:pPr>
            <a:r>
              <a:rPr lang="en-US" dirty="0">
                <a:solidFill>
                  <a:schemeClr val="tx1"/>
                </a:solidFill>
                <a:latin typeface="Avenir Book" panose="02000503020000020003" pitchFamily="2" charset="0"/>
              </a:rPr>
              <a:t>This is clearly an absurd conclusion, because we know, precisely what it means. We would be forced to abandon study of history and many other areas of knowledge if we kept to the principle of verification as it was formulated by Ayer. </a:t>
            </a:r>
          </a:p>
          <a:p>
            <a:pPr algn="just"/>
            <a:endParaRPr lang="en-US" dirty="0">
              <a:solidFill>
                <a:schemeClr val="tx1"/>
              </a:solidFill>
              <a:latin typeface="Avenir Book" panose="02000503020000020003" pitchFamily="2" charset="0"/>
            </a:endParaRPr>
          </a:p>
          <a:p>
            <a:pPr algn="just"/>
            <a:endParaRPr lang="en-US"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4053169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6F818-E914-ADDC-AF45-FD865205B384}"/>
              </a:ext>
            </a:extLst>
          </p:cNvPr>
          <p:cNvSpPr>
            <a:spLocks noGrp="1"/>
          </p:cNvSpPr>
          <p:nvPr>
            <p:ph type="title"/>
          </p:nvPr>
        </p:nvSpPr>
        <p:spPr>
          <a:xfrm>
            <a:off x="1251678" y="797441"/>
            <a:ext cx="10178322" cy="1077075"/>
          </a:xfrm>
        </p:spPr>
        <p:txBody>
          <a:bodyPr>
            <a:normAutofit/>
          </a:bodyPr>
          <a:lstStyle/>
          <a:p>
            <a:pPr algn="ctr"/>
            <a:r>
              <a:rPr lang="en-US" sz="4000" dirty="0">
                <a:latin typeface="Avenir Book" panose="02000503020000020003" pitchFamily="2" charset="0"/>
              </a:rPr>
              <a:t>Problem (1) continued</a:t>
            </a:r>
          </a:p>
        </p:txBody>
      </p:sp>
      <p:sp>
        <p:nvSpPr>
          <p:cNvPr id="3" name="Content Placeholder 2">
            <a:extLst>
              <a:ext uri="{FF2B5EF4-FFF2-40B4-BE49-F238E27FC236}">
                <a16:creationId xmlns:a16="http://schemas.microsoft.com/office/drawing/2014/main" id="{717A784A-F356-D6E1-8941-3E2E1A84F130}"/>
              </a:ext>
            </a:extLst>
          </p:cNvPr>
          <p:cNvSpPr>
            <a:spLocks noGrp="1"/>
          </p:cNvSpPr>
          <p:nvPr>
            <p:ph idx="1"/>
          </p:nvPr>
        </p:nvSpPr>
        <p:spPr>
          <a:xfrm>
            <a:off x="1251678" y="1874517"/>
            <a:ext cx="10178322" cy="4005076"/>
          </a:xfrm>
        </p:spPr>
        <p:txBody>
          <a:bodyPr/>
          <a:lstStyle/>
          <a:p>
            <a:pPr marL="0" indent="0" algn="just">
              <a:lnSpc>
                <a:spcPct val="150000"/>
              </a:lnSpc>
              <a:buNone/>
            </a:pPr>
            <a:r>
              <a:rPr lang="en-US" dirty="0">
                <a:solidFill>
                  <a:schemeClr val="tx1"/>
                </a:solidFill>
                <a:latin typeface="Avenir Book" panose="02000503020000020003" pitchFamily="2" charset="0"/>
              </a:rPr>
              <a:t>‘Accordingly, we fall back to the weaker principle of verification. We say that the question that must be asked about any putative statement of fact is not, ‘Would any observations make its truth or falsehood logically certain?’ But simply, ‘would any observations be relevant to the determination of its truth or falsehood? And it is only is a negative answer is given to this second question that we conclude that the statement under consideration is nonsensical’. </a:t>
            </a:r>
            <a:r>
              <a:rPr lang="en-US" dirty="0" err="1">
                <a:solidFill>
                  <a:schemeClr val="tx1"/>
                </a:solidFill>
                <a:latin typeface="Avenir Book" panose="02000503020000020003" pitchFamily="2" charset="0"/>
              </a:rPr>
              <a:t>A.J.Ayer</a:t>
            </a:r>
            <a:r>
              <a:rPr lang="en-US" dirty="0">
                <a:solidFill>
                  <a:schemeClr val="tx1"/>
                </a:solidFill>
                <a:latin typeface="Avenir Book" panose="02000503020000020003" pitchFamily="2" charset="0"/>
              </a:rPr>
              <a:t> 1936</a:t>
            </a:r>
          </a:p>
        </p:txBody>
      </p:sp>
    </p:spTree>
    <p:extLst>
      <p:ext uri="{BB962C8B-B14F-4D97-AF65-F5344CB8AC3E}">
        <p14:creationId xmlns:p14="http://schemas.microsoft.com/office/powerpoint/2010/main" val="3111835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ADEB-3D11-5413-FF18-DE544AE6BD8A}"/>
              </a:ext>
            </a:extLst>
          </p:cNvPr>
          <p:cNvSpPr>
            <a:spLocks noGrp="1"/>
          </p:cNvSpPr>
          <p:nvPr>
            <p:ph type="title"/>
          </p:nvPr>
        </p:nvSpPr>
        <p:spPr>
          <a:xfrm>
            <a:off x="1251678" y="765543"/>
            <a:ext cx="10178322" cy="1108973"/>
          </a:xfrm>
        </p:spPr>
        <p:txBody>
          <a:bodyPr>
            <a:normAutofit/>
          </a:bodyPr>
          <a:lstStyle/>
          <a:p>
            <a:pPr algn="ctr"/>
            <a:r>
              <a:rPr lang="en-US" sz="3600" dirty="0">
                <a:latin typeface="Avenir Book" panose="02000503020000020003" pitchFamily="2" charset="0"/>
              </a:rPr>
              <a:t>Problem (2) </a:t>
            </a:r>
          </a:p>
        </p:txBody>
      </p:sp>
      <p:sp>
        <p:nvSpPr>
          <p:cNvPr id="3" name="Content Placeholder 2">
            <a:extLst>
              <a:ext uri="{FF2B5EF4-FFF2-40B4-BE49-F238E27FC236}">
                <a16:creationId xmlns:a16="http://schemas.microsoft.com/office/drawing/2014/main" id="{0C6C78CC-F6DD-5016-15B2-58EC7C181A9B}"/>
              </a:ext>
            </a:extLst>
          </p:cNvPr>
          <p:cNvSpPr>
            <a:spLocks noGrp="1"/>
          </p:cNvSpPr>
          <p:nvPr>
            <p:ph idx="1"/>
          </p:nvPr>
        </p:nvSpPr>
        <p:spPr>
          <a:xfrm>
            <a:off x="1251678" y="1786271"/>
            <a:ext cx="10178322" cy="4093322"/>
          </a:xfrm>
        </p:spPr>
        <p:txBody>
          <a:bodyPr>
            <a:normAutofit fontScale="92500" lnSpcReduction="10000"/>
          </a:bodyPr>
          <a:lstStyle/>
          <a:p>
            <a:pPr algn="just">
              <a:lnSpc>
                <a:spcPct val="150000"/>
              </a:lnSpc>
            </a:pPr>
            <a:r>
              <a:rPr lang="en-US" dirty="0">
                <a:solidFill>
                  <a:schemeClr val="tx1"/>
                </a:solidFill>
                <a:latin typeface="Avenir Book" panose="02000503020000020003" pitchFamily="2" charset="0"/>
              </a:rPr>
              <a:t>The weaker principle of verification claims that we should be able to verify in principle a particular proposition. So for example, even if we cannot travel back in time to know how Harold was killed, if we found his body, and had DNA evidence that it was him, and that he died with an arrow to the eye, that would mean, that the best evidence available to use is that he died with an arrow to the eye. </a:t>
            </a:r>
          </a:p>
          <a:p>
            <a:pPr algn="just">
              <a:lnSpc>
                <a:spcPct val="150000"/>
              </a:lnSpc>
            </a:pPr>
            <a:endParaRPr lang="en-US" dirty="0">
              <a:solidFill>
                <a:schemeClr val="tx1"/>
              </a:solidFill>
              <a:latin typeface="Avenir Book" panose="02000503020000020003" pitchFamily="2" charset="0"/>
            </a:endParaRPr>
          </a:p>
          <a:p>
            <a:pPr algn="just">
              <a:lnSpc>
                <a:spcPct val="150000"/>
              </a:lnSpc>
            </a:pPr>
            <a:r>
              <a:rPr lang="en-US" dirty="0">
                <a:solidFill>
                  <a:schemeClr val="tx1"/>
                </a:solidFill>
                <a:latin typeface="Avenir Book" panose="02000503020000020003" pitchFamily="2" charset="0"/>
              </a:rPr>
              <a:t>The problem with this weaker principle is that it allows once religious claims to pass the principle of verification. There is every reason to count the design argument as evidence for the existence of an intelligent being. </a:t>
            </a:r>
          </a:p>
          <a:p>
            <a:pPr algn="just"/>
            <a:endParaRPr lang="en-US"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4011595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33BF-319E-0E63-78EB-782AA2B6578C}"/>
              </a:ext>
            </a:extLst>
          </p:cNvPr>
          <p:cNvSpPr>
            <a:spLocks noGrp="1"/>
          </p:cNvSpPr>
          <p:nvPr>
            <p:ph type="title"/>
          </p:nvPr>
        </p:nvSpPr>
        <p:spPr>
          <a:xfrm>
            <a:off x="1251678" y="659219"/>
            <a:ext cx="10178322" cy="648587"/>
          </a:xfrm>
        </p:spPr>
        <p:txBody>
          <a:bodyPr>
            <a:normAutofit/>
          </a:bodyPr>
          <a:lstStyle/>
          <a:p>
            <a:pPr algn="ctr"/>
            <a:r>
              <a:rPr lang="en-US" sz="3600" dirty="0">
                <a:latin typeface="Avenir Book" panose="02000503020000020003" pitchFamily="2" charset="0"/>
              </a:rPr>
              <a:t>Problem (3) </a:t>
            </a:r>
          </a:p>
        </p:txBody>
      </p:sp>
      <p:sp>
        <p:nvSpPr>
          <p:cNvPr id="3" name="Content Placeholder 2">
            <a:extLst>
              <a:ext uri="{FF2B5EF4-FFF2-40B4-BE49-F238E27FC236}">
                <a16:creationId xmlns:a16="http://schemas.microsoft.com/office/drawing/2014/main" id="{E0D8963B-1AA3-AE4B-55DF-2B5CE1741361}"/>
              </a:ext>
            </a:extLst>
          </p:cNvPr>
          <p:cNvSpPr>
            <a:spLocks noGrp="1"/>
          </p:cNvSpPr>
          <p:nvPr>
            <p:ph idx="1"/>
          </p:nvPr>
        </p:nvSpPr>
        <p:spPr>
          <a:xfrm>
            <a:off x="1251678" y="1648047"/>
            <a:ext cx="10178322" cy="4231545"/>
          </a:xfrm>
        </p:spPr>
        <p:txBody>
          <a:bodyPr>
            <a:normAutofit lnSpcReduction="10000"/>
          </a:bodyPr>
          <a:lstStyle/>
          <a:p>
            <a:pPr algn="just">
              <a:lnSpc>
                <a:spcPct val="150000"/>
              </a:lnSpc>
            </a:pPr>
            <a:r>
              <a:rPr lang="en-US" dirty="0">
                <a:solidFill>
                  <a:schemeClr val="tx1"/>
                </a:solidFill>
                <a:latin typeface="Avenir Book" panose="02000503020000020003" pitchFamily="2" charset="0"/>
              </a:rPr>
              <a:t>John Hick claims that we can make sense of the idea of eschatological verification. This is verification that would happen at the end of one’s life, in the resurrection or at the end of time. </a:t>
            </a:r>
          </a:p>
          <a:p>
            <a:pPr algn="just">
              <a:lnSpc>
                <a:spcPct val="150000"/>
              </a:lnSpc>
            </a:pPr>
            <a:r>
              <a:rPr lang="en-US" dirty="0">
                <a:solidFill>
                  <a:schemeClr val="tx1"/>
                </a:solidFill>
                <a:latin typeface="Avenir Book" panose="02000503020000020003" pitchFamily="2" charset="0"/>
              </a:rPr>
              <a:t>Hick’s theory makes the claim that although some propositions cannot be verified now, they can be verified at some future date, and if this is so, those propositions can be rendered meaningful. For example, I cannot know now, that there is a city, at the end of a long desert road, but that can be verified in the future. </a:t>
            </a:r>
          </a:p>
          <a:p>
            <a:pPr algn="just">
              <a:lnSpc>
                <a:spcPct val="150000"/>
              </a:lnSpc>
            </a:pPr>
            <a:r>
              <a:rPr lang="en-US" dirty="0">
                <a:solidFill>
                  <a:schemeClr val="tx1"/>
                </a:solidFill>
                <a:latin typeface="Avenir Book" panose="02000503020000020003" pitchFamily="2" charset="0"/>
              </a:rPr>
              <a:t>This could allow for the idea of the verification of the existence of God in the future, leaving open the idea that claims about God’s existence are in fact meaningful. </a:t>
            </a:r>
          </a:p>
        </p:txBody>
      </p:sp>
    </p:spTree>
    <p:extLst>
      <p:ext uri="{BB962C8B-B14F-4D97-AF65-F5344CB8AC3E}">
        <p14:creationId xmlns:p14="http://schemas.microsoft.com/office/powerpoint/2010/main" val="627315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AABD-DD03-94DF-F480-0F984EDA6669}"/>
              </a:ext>
            </a:extLst>
          </p:cNvPr>
          <p:cNvSpPr>
            <a:spLocks noGrp="1"/>
          </p:cNvSpPr>
          <p:nvPr>
            <p:ph type="title"/>
          </p:nvPr>
        </p:nvSpPr>
        <p:spPr>
          <a:xfrm>
            <a:off x="1251678" y="733647"/>
            <a:ext cx="10178322" cy="1140870"/>
          </a:xfrm>
        </p:spPr>
        <p:txBody>
          <a:bodyPr>
            <a:normAutofit/>
          </a:bodyPr>
          <a:lstStyle/>
          <a:p>
            <a:pPr algn="ctr"/>
            <a:r>
              <a:rPr lang="en-US" sz="4000" dirty="0">
                <a:latin typeface="Avenir Book" panose="02000503020000020003" pitchFamily="2" charset="0"/>
              </a:rPr>
              <a:t>Problem 4</a:t>
            </a:r>
          </a:p>
        </p:txBody>
      </p:sp>
      <p:sp>
        <p:nvSpPr>
          <p:cNvPr id="3" name="Content Placeholder 2">
            <a:extLst>
              <a:ext uri="{FF2B5EF4-FFF2-40B4-BE49-F238E27FC236}">
                <a16:creationId xmlns:a16="http://schemas.microsoft.com/office/drawing/2014/main" id="{33DCC054-2E8D-4F46-B143-401E0539A6E5}"/>
              </a:ext>
            </a:extLst>
          </p:cNvPr>
          <p:cNvSpPr>
            <a:spLocks noGrp="1"/>
          </p:cNvSpPr>
          <p:nvPr>
            <p:ph idx="1"/>
          </p:nvPr>
        </p:nvSpPr>
        <p:spPr>
          <a:xfrm>
            <a:off x="1251678" y="1690577"/>
            <a:ext cx="10178322" cy="4189015"/>
          </a:xfrm>
        </p:spPr>
        <p:txBody>
          <a:bodyPr>
            <a:noAutofit/>
          </a:bodyPr>
          <a:lstStyle/>
          <a:p>
            <a:pPr algn="just"/>
            <a:r>
              <a:rPr lang="en-US" sz="2400" dirty="0">
                <a:solidFill>
                  <a:schemeClr val="tx1"/>
                </a:solidFill>
                <a:latin typeface="Avenir Book" panose="02000503020000020003" pitchFamily="2" charset="0"/>
              </a:rPr>
              <a:t>The key problem for the logical positivists is that the principle of verification is not itself an analytic or a synthetic claim. If that is the case, then it does not pass its own test of verifiability and so is not significant. </a:t>
            </a:r>
          </a:p>
          <a:p>
            <a:pPr algn="just"/>
            <a:r>
              <a:rPr lang="en-US" sz="2400" dirty="0">
                <a:solidFill>
                  <a:schemeClr val="tx1"/>
                </a:solidFill>
                <a:latin typeface="Avenir Book" panose="02000503020000020003" pitchFamily="2" charset="0"/>
              </a:rPr>
              <a:t>Ayer responds that he wants the principle of verification to act as his criterion of meaningful, and not as a hypothesis of what is meaningful. </a:t>
            </a:r>
          </a:p>
          <a:p>
            <a:pPr algn="just"/>
            <a:r>
              <a:rPr lang="en-US" sz="2400" i="1" dirty="0">
                <a:solidFill>
                  <a:schemeClr val="tx1"/>
                </a:solidFill>
                <a:latin typeface="Avenir Book" panose="02000503020000020003" pitchFamily="2" charset="0"/>
              </a:rPr>
              <a:t>’Thus, while I wish the principle of verification itself to be regarded, not as an empirical hypothesis, but as a definition, it is not entirely arbitrary</a:t>
            </a:r>
            <a:r>
              <a:rPr lang="en-US" sz="2400" dirty="0">
                <a:solidFill>
                  <a:schemeClr val="tx1"/>
                </a:solidFill>
                <a:latin typeface="Avenir Book" panose="02000503020000020003" pitchFamily="2" charset="0"/>
              </a:rPr>
              <a:t>’. </a:t>
            </a:r>
          </a:p>
        </p:txBody>
      </p:sp>
    </p:spTree>
    <p:extLst>
      <p:ext uri="{BB962C8B-B14F-4D97-AF65-F5344CB8AC3E}">
        <p14:creationId xmlns:p14="http://schemas.microsoft.com/office/powerpoint/2010/main" val="2723877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7AC49-64C0-1601-A468-4DC0CDFC5588}"/>
              </a:ext>
            </a:extLst>
          </p:cNvPr>
          <p:cNvSpPr>
            <a:spLocks noGrp="1"/>
          </p:cNvSpPr>
          <p:nvPr>
            <p:ph type="title"/>
          </p:nvPr>
        </p:nvSpPr>
        <p:spPr>
          <a:xfrm>
            <a:off x="1251678" y="903767"/>
            <a:ext cx="10178322" cy="970750"/>
          </a:xfrm>
        </p:spPr>
        <p:txBody>
          <a:bodyPr>
            <a:normAutofit/>
          </a:bodyPr>
          <a:lstStyle/>
          <a:p>
            <a:pPr algn="ctr"/>
            <a:r>
              <a:rPr lang="en-US" sz="3600" dirty="0">
                <a:latin typeface="Avenir Book" panose="02000503020000020003" pitchFamily="2" charset="0"/>
              </a:rPr>
              <a:t>Problem (4) continued</a:t>
            </a:r>
          </a:p>
        </p:txBody>
      </p:sp>
      <p:sp>
        <p:nvSpPr>
          <p:cNvPr id="3" name="Content Placeholder 2">
            <a:extLst>
              <a:ext uri="{FF2B5EF4-FFF2-40B4-BE49-F238E27FC236}">
                <a16:creationId xmlns:a16="http://schemas.microsoft.com/office/drawing/2014/main" id="{F9D1F7CA-187E-8E5D-9B2B-A1A76B9353A3}"/>
              </a:ext>
            </a:extLst>
          </p:cNvPr>
          <p:cNvSpPr>
            <a:spLocks noGrp="1"/>
          </p:cNvSpPr>
          <p:nvPr>
            <p:ph idx="1"/>
          </p:nvPr>
        </p:nvSpPr>
        <p:spPr/>
        <p:txBody>
          <a:bodyPr>
            <a:normAutofit/>
          </a:bodyPr>
          <a:lstStyle/>
          <a:p>
            <a:pPr algn="just"/>
            <a:r>
              <a:rPr lang="en-US" sz="2400" dirty="0">
                <a:solidFill>
                  <a:schemeClr val="tx1"/>
                </a:solidFill>
                <a:latin typeface="Avenir Book" panose="02000503020000020003" pitchFamily="2" charset="0"/>
              </a:rPr>
              <a:t>The problem is that we are under no obligation to accept this definition of meaningful, and we can reject it in order to adopt a number of other definitions of meaningful. </a:t>
            </a:r>
          </a:p>
        </p:txBody>
      </p:sp>
    </p:spTree>
    <p:extLst>
      <p:ext uri="{BB962C8B-B14F-4D97-AF65-F5344CB8AC3E}">
        <p14:creationId xmlns:p14="http://schemas.microsoft.com/office/powerpoint/2010/main" val="3449650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EFFC-2B19-08B3-609E-46A718FDB17A}"/>
              </a:ext>
            </a:extLst>
          </p:cNvPr>
          <p:cNvSpPr>
            <a:spLocks noGrp="1"/>
          </p:cNvSpPr>
          <p:nvPr>
            <p:ph type="title"/>
          </p:nvPr>
        </p:nvSpPr>
        <p:spPr>
          <a:xfrm>
            <a:off x="1251678" y="851337"/>
            <a:ext cx="10178322" cy="1023179"/>
          </a:xfrm>
        </p:spPr>
        <p:txBody>
          <a:bodyPr>
            <a:normAutofit/>
          </a:bodyPr>
          <a:lstStyle/>
          <a:p>
            <a:r>
              <a:rPr lang="en-US" sz="3200" dirty="0">
                <a:latin typeface="Avenir Book" panose="02000503020000020003" pitchFamily="2" charset="0"/>
              </a:rPr>
              <a:t>The falsification principle</a:t>
            </a:r>
          </a:p>
        </p:txBody>
      </p:sp>
      <p:sp>
        <p:nvSpPr>
          <p:cNvPr id="3" name="Content Placeholder 2">
            <a:extLst>
              <a:ext uri="{FF2B5EF4-FFF2-40B4-BE49-F238E27FC236}">
                <a16:creationId xmlns:a16="http://schemas.microsoft.com/office/drawing/2014/main" id="{00AE59CB-A6E0-FBAA-1E93-4941B91BB2DC}"/>
              </a:ext>
            </a:extLst>
          </p:cNvPr>
          <p:cNvSpPr>
            <a:spLocks noGrp="1"/>
          </p:cNvSpPr>
          <p:nvPr>
            <p:ph idx="1"/>
          </p:nvPr>
        </p:nvSpPr>
        <p:spPr>
          <a:xfrm>
            <a:off x="1251678" y="2060029"/>
            <a:ext cx="10178322" cy="3819564"/>
          </a:xfrm>
        </p:spPr>
        <p:txBody>
          <a:bodyPr>
            <a:normAutofit/>
          </a:bodyPr>
          <a:lstStyle/>
          <a:p>
            <a:pPr marL="0" indent="0" algn="just">
              <a:lnSpc>
                <a:spcPct val="150000"/>
              </a:lnSpc>
              <a:buNone/>
            </a:pPr>
            <a:r>
              <a:rPr lang="en-US" sz="2400" dirty="0">
                <a:solidFill>
                  <a:schemeClr val="tx1"/>
                </a:solidFill>
                <a:latin typeface="Avenir Book" panose="02000503020000020003" pitchFamily="2" charset="0"/>
              </a:rPr>
              <a:t>The thesis of falsification: This thesis claims that a proposition is falsifiable if there is a set of other propositions with which it was inconsistent. It makes the very basic claim, that for a proposition to have import, i.e. to be a proposition, it must logically rule out certain possibilities. </a:t>
            </a:r>
          </a:p>
        </p:txBody>
      </p:sp>
    </p:spTree>
    <p:extLst>
      <p:ext uri="{BB962C8B-B14F-4D97-AF65-F5344CB8AC3E}">
        <p14:creationId xmlns:p14="http://schemas.microsoft.com/office/powerpoint/2010/main" val="1013999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D559-4A2A-78E7-F562-6B47EBE93203}"/>
              </a:ext>
            </a:extLst>
          </p:cNvPr>
          <p:cNvSpPr>
            <a:spLocks noGrp="1"/>
          </p:cNvSpPr>
          <p:nvPr>
            <p:ph type="title"/>
          </p:nvPr>
        </p:nvSpPr>
        <p:spPr>
          <a:xfrm>
            <a:off x="1251678" y="1142999"/>
            <a:ext cx="10178322" cy="731517"/>
          </a:xfrm>
        </p:spPr>
        <p:txBody>
          <a:bodyPr>
            <a:normAutofit/>
          </a:bodyPr>
          <a:lstStyle/>
          <a:p>
            <a:pPr algn="ctr"/>
            <a:r>
              <a:rPr lang="en-US" sz="2800" dirty="0">
                <a:latin typeface="Avenir Book" panose="02000503020000020003" pitchFamily="2" charset="0"/>
              </a:rPr>
              <a:t>Questions</a:t>
            </a:r>
          </a:p>
        </p:txBody>
      </p:sp>
      <p:sp>
        <p:nvSpPr>
          <p:cNvPr id="3" name="Content Placeholder 2">
            <a:extLst>
              <a:ext uri="{FF2B5EF4-FFF2-40B4-BE49-F238E27FC236}">
                <a16:creationId xmlns:a16="http://schemas.microsoft.com/office/drawing/2014/main" id="{444AFEE8-8D30-A27C-A576-19BF079C6972}"/>
              </a:ext>
            </a:extLst>
          </p:cNvPr>
          <p:cNvSpPr>
            <a:spLocks noGrp="1"/>
          </p:cNvSpPr>
          <p:nvPr>
            <p:ph idx="1"/>
          </p:nvPr>
        </p:nvSpPr>
        <p:spPr/>
        <p:txBody>
          <a:bodyPr>
            <a:normAutofit fontScale="92500" lnSpcReduction="20000"/>
          </a:bodyPr>
          <a:lstStyle/>
          <a:p>
            <a:r>
              <a:rPr lang="en-US" sz="2400" dirty="0">
                <a:solidFill>
                  <a:schemeClr val="tx2"/>
                </a:solidFill>
              </a:rPr>
              <a:t>1. What is logical positivism (3)  </a:t>
            </a:r>
          </a:p>
          <a:p>
            <a:r>
              <a:rPr lang="en-US" sz="2400" dirty="0">
                <a:solidFill>
                  <a:schemeClr val="tx2"/>
                </a:solidFill>
              </a:rPr>
              <a:t>2. Explain the principle of verification (5)</a:t>
            </a:r>
          </a:p>
          <a:p>
            <a:r>
              <a:rPr lang="en-US" sz="2400" dirty="0">
                <a:solidFill>
                  <a:schemeClr val="tx2"/>
                </a:solidFill>
              </a:rPr>
              <a:t>3. Explain the argument that religious language does not pass the principle of verification (5)</a:t>
            </a:r>
          </a:p>
          <a:p>
            <a:r>
              <a:rPr lang="en-US" sz="2400" dirty="0">
                <a:solidFill>
                  <a:schemeClr val="tx2"/>
                </a:solidFill>
              </a:rPr>
              <a:t>4. Explain the objection from history to logical positivism (5)</a:t>
            </a:r>
          </a:p>
          <a:p>
            <a:r>
              <a:rPr lang="en-US" sz="2400" dirty="0">
                <a:solidFill>
                  <a:schemeClr val="tx2"/>
                </a:solidFill>
              </a:rPr>
              <a:t>5. Explain the weaker principle of verification and why it fails to solve the objection (5).</a:t>
            </a:r>
          </a:p>
          <a:p>
            <a:r>
              <a:rPr lang="en-US" sz="2400" dirty="0">
                <a:solidFill>
                  <a:schemeClr val="tx2"/>
                </a:solidFill>
              </a:rPr>
              <a:t>6. Explain eschatological verification (5). </a:t>
            </a:r>
          </a:p>
          <a:p>
            <a:r>
              <a:rPr lang="en-US" sz="2400" dirty="0">
                <a:solidFill>
                  <a:schemeClr val="tx2"/>
                </a:solidFill>
              </a:rPr>
              <a:t>7. Explain the fact that the principle does not pass its own test (5) </a:t>
            </a:r>
          </a:p>
        </p:txBody>
      </p:sp>
    </p:spTree>
    <p:extLst>
      <p:ext uri="{BB962C8B-B14F-4D97-AF65-F5344CB8AC3E}">
        <p14:creationId xmlns:p14="http://schemas.microsoft.com/office/powerpoint/2010/main" val="3710105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6C982-44AC-D38B-BBA4-8FEF15EA383A}"/>
              </a:ext>
            </a:extLst>
          </p:cNvPr>
          <p:cNvSpPr>
            <a:spLocks noGrp="1"/>
          </p:cNvSpPr>
          <p:nvPr>
            <p:ph type="title"/>
          </p:nvPr>
        </p:nvSpPr>
        <p:spPr>
          <a:xfrm>
            <a:off x="1251678" y="903889"/>
            <a:ext cx="10178322" cy="970627"/>
          </a:xfrm>
        </p:spPr>
        <p:txBody>
          <a:bodyPr>
            <a:normAutofit/>
          </a:bodyPr>
          <a:lstStyle/>
          <a:p>
            <a:r>
              <a:rPr lang="en-US" sz="3600" dirty="0">
                <a:latin typeface="Avenir Book" panose="02000503020000020003" pitchFamily="2" charset="0"/>
              </a:rPr>
              <a:t>Falsification continued </a:t>
            </a:r>
          </a:p>
        </p:txBody>
      </p:sp>
      <p:sp>
        <p:nvSpPr>
          <p:cNvPr id="3" name="Content Placeholder 2">
            <a:extLst>
              <a:ext uri="{FF2B5EF4-FFF2-40B4-BE49-F238E27FC236}">
                <a16:creationId xmlns:a16="http://schemas.microsoft.com/office/drawing/2014/main" id="{00219FB7-2E0C-AD6C-32E8-4FA9DC2EC91A}"/>
              </a:ext>
            </a:extLst>
          </p:cNvPr>
          <p:cNvSpPr>
            <a:spLocks noGrp="1"/>
          </p:cNvSpPr>
          <p:nvPr>
            <p:ph idx="1"/>
          </p:nvPr>
        </p:nvSpPr>
        <p:spPr/>
        <p:txBody>
          <a:bodyPr>
            <a:normAutofit/>
          </a:bodyPr>
          <a:lstStyle/>
          <a:p>
            <a:pPr algn="just"/>
            <a:r>
              <a:rPr lang="en-US" sz="2400" dirty="0">
                <a:solidFill>
                  <a:schemeClr val="tx1"/>
                </a:solidFill>
                <a:latin typeface="Avenir Book" panose="02000503020000020003" pitchFamily="2" charset="0"/>
              </a:rPr>
              <a:t>For example, if we consider the claim that ‘planets move around the sun in an elliptical orbit’, then we are saying that ‘planets do not move around the sun, in a rectilinear orbit.’ In other words, we are ruling out a set of possible experiences. This is what means that the proposition has import, it is significant and thus expresses a hypothesis. If there was no thing that ruled it out, it would not be a scientific proposition. </a:t>
            </a:r>
          </a:p>
        </p:txBody>
      </p:sp>
    </p:spTree>
    <p:extLst>
      <p:ext uri="{BB962C8B-B14F-4D97-AF65-F5344CB8AC3E}">
        <p14:creationId xmlns:p14="http://schemas.microsoft.com/office/powerpoint/2010/main" val="2773884264"/>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382</TotalTime>
  <Words>1484</Words>
  <Application>Microsoft Macintosh PowerPoint</Application>
  <PresentationFormat>Widescreen</PresentationFormat>
  <Paragraphs>81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Avenir Book</vt:lpstr>
      <vt:lpstr>Gill Sans MT</vt:lpstr>
      <vt:lpstr>Impact</vt:lpstr>
      <vt:lpstr>Badge</vt:lpstr>
      <vt:lpstr>Religious  Language</vt:lpstr>
      <vt:lpstr>The question of religious language</vt:lpstr>
      <vt:lpstr>Table of theories</vt:lpstr>
      <vt:lpstr>Logical positivism (1)</vt:lpstr>
      <vt:lpstr>Logical positivism (2)</vt:lpstr>
      <vt:lpstr>Logical positivism (2) </vt:lpstr>
      <vt:lpstr>The argument of logical positivism </vt:lpstr>
      <vt:lpstr>The objections to the principle of verification. </vt:lpstr>
      <vt:lpstr>Problem (1)</vt:lpstr>
      <vt:lpstr>Problem (1) continued</vt:lpstr>
      <vt:lpstr>Problem (2) </vt:lpstr>
      <vt:lpstr>Problem (3) </vt:lpstr>
      <vt:lpstr>Problem 4</vt:lpstr>
      <vt:lpstr>Problem (4) continued</vt:lpstr>
      <vt:lpstr>The falsification principle</vt:lpstr>
      <vt:lpstr>Questions</vt:lpstr>
      <vt:lpstr>Falsification continued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9</cp:revision>
  <dcterms:created xsi:type="dcterms:W3CDTF">2024-10-28T12:07:21Z</dcterms:created>
  <dcterms:modified xsi:type="dcterms:W3CDTF">2026-02-11T16:16:09Z</dcterms:modified>
</cp:coreProperties>
</file>