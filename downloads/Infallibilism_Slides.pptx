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66" r:id="rId2"/>
    <p:sldId id="267" r:id="rId3"/>
    <p:sldId id="268" r:id="rId4"/>
    <p:sldId id="269" r:id="rId5"/>
    <p:sldId id="270" r:id="rId6"/>
    <p:sldId id="271" r:id="rId7"/>
    <p:sldId id="272" r:id="rId8"/>
    <p:sldId id="276" r:id="rId9"/>
    <p:sldId id="273" r:id="rId10"/>
    <p:sldId id="274" r:id="rId11"/>
    <p:sldId id="275" r:id="rId12"/>
    <p:sldId id="290" r:id="rId13"/>
    <p:sldId id="291" r:id="rId14"/>
    <p:sldId id="292" r:id="rId15"/>
    <p:sldId id="28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32"/>
    <p:restoredTop sz="94651"/>
  </p:normalViewPr>
  <p:slideViewPr>
    <p:cSldViewPr snapToGrid="0">
      <p:cViewPr varScale="1">
        <p:scale>
          <a:sx n="110" d="100"/>
          <a:sy n="110" d="100"/>
        </p:scale>
        <p:origin x="560"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10/5/26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3150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609086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10/5/26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2687485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10/5/26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1424716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10/5/26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00029869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10/5/26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29159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10/5/26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39472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10/5/26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59352095"/>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10/5/26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554088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131984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10/5/26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537094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10/5/26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103395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113A-9972-51C9-AE54-D6EB8BD7A3E7}"/>
              </a:ext>
            </a:extLst>
          </p:cNvPr>
          <p:cNvSpPr>
            <a:spLocks noGrp="1"/>
          </p:cNvSpPr>
          <p:nvPr>
            <p:ph type="ctrTitle"/>
          </p:nvPr>
        </p:nvSpPr>
        <p:spPr/>
        <p:txBody>
          <a:bodyPr/>
          <a:lstStyle/>
          <a:p>
            <a:r>
              <a:rPr lang="en-US" sz="6000" dirty="0">
                <a:latin typeface="Avenir Book" panose="02000503020000020003" pitchFamily="2" charset="0"/>
              </a:rPr>
              <a:t>Infallibilism</a:t>
            </a:r>
          </a:p>
        </p:txBody>
      </p:sp>
      <p:sp>
        <p:nvSpPr>
          <p:cNvPr id="3" name="Subtitle 2">
            <a:extLst>
              <a:ext uri="{FF2B5EF4-FFF2-40B4-BE49-F238E27FC236}">
                <a16:creationId xmlns:a16="http://schemas.microsoft.com/office/drawing/2014/main" id="{A966D1E2-AB70-EF4D-BC5B-28E015C2B30F}"/>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6290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0263B-34BC-0183-FF6E-A10ADB6268F0}"/>
              </a:ext>
            </a:extLst>
          </p:cNvPr>
          <p:cNvSpPr>
            <a:spLocks noGrp="1"/>
          </p:cNvSpPr>
          <p:nvPr>
            <p:ph type="title"/>
          </p:nvPr>
        </p:nvSpPr>
        <p:spPr>
          <a:xfrm>
            <a:off x="5195727" y="709863"/>
            <a:ext cx="6335338" cy="1164654"/>
          </a:xfrm>
        </p:spPr>
        <p:txBody>
          <a:bodyPr>
            <a:normAutofit/>
          </a:bodyPr>
          <a:lstStyle/>
          <a:p>
            <a:r>
              <a:rPr lang="en-US" dirty="0">
                <a:latin typeface="Avenir Book" panose="02000503020000020003" pitchFamily="2" charset="0"/>
              </a:rPr>
              <a:t>infallibilism</a:t>
            </a:r>
          </a:p>
        </p:txBody>
      </p:sp>
      <p:pic>
        <p:nvPicPr>
          <p:cNvPr id="5" name="Picture 4" descr="A portrait of a person with long hair&#10;&#10;Description automatically generated">
            <a:extLst>
              <a:ext uri="{FF2B5EF4-FFF2-40B4-BE49-F238E27FC236}">
                <a16:creationId xmlns:a16="http://schemas.microsoft.com/office/drawing/2014/main" id="{DC310D46-4E59-7205-8116-C107138B2F9A}"/>
              </a:ext>
            </a:extLst>
          </p:cNvPr>
          <p:cNvPicPr>
            <a:picLocks noChangeAspect="1"/>
          </p:cNvPicPr>
          <p:nvPr/>
        </p:nvPicPr>
        <p:blipFill>
          <a:blip r:embed="rId2"/>
          <a:srcRect l="28682" r="11183" b="1"/>
          <a:stretch/>
        </p:blipFill>
        <p:spPr>
          <a:xfrm>
            <a:off x="688434" y="-9525"/>
            <a:ext cx="4129822" cy="6867525"/>
          </a:xfrm>
          <a:prstGeom prst="rect">
            <a:avLst/>
          </a:prstGeom>
        </p:spPr>
      </p:pic>
      <p:sp>
        <p:nvSpPr>
          <p:cNvPr id="10" name="Freeform 6">
            <a:extLst>
              <a:ext uri="{FF2B5EF4-FFF2-40B4-BE49-F238E27FC236}">
                <a16:creationId xmlns:a16="http://schemas.microsoft.com/office/drawing/2014/main" id="{18E8C5BB-A90A-496B-A745-79A49F350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 name="Content Placeholder 2">
            <a:extLst>
              <a:ext uri="{FF2B5EF4-FFF2-40B4-BE49-F238E27FC236}">
                <a16:creationId xmlns:a16="http://schemas.microsoft.com/office/drawing/2014/main" id="{70FD4635-C20B-73DA-9DA7-783AC366A7B4}"/>
              </a:ext>
            </a:extLst>
          </p:cNvPr>
          <p:cNvSpPr>
            <a:spLocks noGrp="1"/>
          </p:cNvSpPr>
          <p:nvPr>
            <p:ph idx="1"/>
          </p:nvPr>
        </p:nvSpPr>
        <p:spPr>
          <a:xfrm>
            <a:off x="5195727" y="2286001"/>
            <a:ext cx="6335338" cy="3593591"/>
          </a:xfrm>
        </p:spPr>
        <p:txBody>
          <a:bodyPr>
            <a:normAutofit/>
          </a:bodyPr>
          <a:lstStyle/>
          <a:p>
            <a:pPr marL="0" indent="0">
              <a:lnSpc>
                <a:spcPct val="150000"/>
              </a:lnSpc>
              <a:buNone/>
            </a:pPr>
            <a:r>
              <a:rPr lang="en-US" dirty="0">
                <a:solidFill>
                  <a:schemeClr val="tx1"/>
                </a:solidFill>
                <a:latin typeface="Avenir Book" panose="02000503020000020003" pitchFamily="2" charset="0"/>
              </a:rPr>
              <a:t>Key thesis: To be knowledge a belief must be certain, if we can doubt a belief then it is not certain, and so it is not knowledge. </a:t>
            </a:r>
          </a:p>
          <a:p>
            <a:pPr marL="0" indent="0">
              <a:lnSpc>
                <a:spcPct val="150000"/>
              </a:lnSpc>
              <a:buNone/>
            </a:pPr>
            <a:endParaRPr lang="en-US" dirty="0">
              <a:solidFill>
                <a:schemeClr val="tx1"/>
              </a:solidFill>
              <a:latin typeface="Avenir Book" panose="02000503020000020003" pitchFamily="2" charset="0"/>
            </a:endParaRPr>
          </a:p>
          <a:p>
            <a:pPr marL="0" indent="0">
              <a:lnSpc>
                <a:spcPct val="150000"/>
              </a:lnSpc>
              <a:buNone/>
            </a:pPr>
            <a:r>
              <a:rPr lang="en-US" dirty="0">
                <a:solidFill>
                  <a:schemeClr val="tx1"/>
                </a:solidFill>
                <a:latin typeface="Avenir Book" panose="02000503020000020003" pitchFamily="2" charset="0"/>
              </a:rPr>
              <a:t>We could perhaps put it like this, to know, </a:t>
            </a:r>
            <a:r>
              <a:rPr lang="en-US" i="1" dirty="0">
                <a:solidFill>
                  <a:schemeClr val="tx1"/>
                </a:solidFill>
                <a:latin typeface="Avenir Book" panose="02000503020000020003" pitchFamily="2" charset="0"/>
              </a:rPr>
              <a:t>you must know that you know. </a:t>
            </a:r>
          </a:p>
        </p:txBody>
      </p:sp>
      <p:sp>
        <p:nvSpPr>
          <p:cNvPr id="12" name="Rectangle 11">
            <a:extLst>
              <a:ext uri="{FF2B5EF4-FFF2-40B4-BE49-F238E27FC236}">
                <a16:creationId xmlns:a16="http://schemas.microsoft.com/office/drawing/2014/main" id="{BCD63B47-914A-418A-BA06-1B760F27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49315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ADD0-1C8A-DC8E-D8AE-32F998276F50}"/>
              </a:ext>
            </a:extLst>
          </p:cNvPr>
          <p:cNvSpPr>
            <a:spLocks noGrp="1"/>
          </p:cNvSpPr>
          <p:nvPr>
            <p:ph type="title"/>
          </p:nvPr>
        </p:nvSpPr>
        <p:spPr>
          <a:xfrm>
            <a:off x="1251678" y="606055"/>
            <a:ext cx="10178322" cy="733647"/>
          </a:xfrm>
        </p:spPr>
        <p:txBody>
          <a:bodyPr>
            <a:normAutofit/>
          </a:bodyPr>
          <a:lstStyle/>
          <a:p>
            <a:r>
              <a:rPr lang="en-US" sz="3600" dirty="0">
                <a:latin typeface="Avenir Book" panose="02000503020000020003" pitchFamily="2" charset="0"/>
              </a:rPr>
              <a:t>Infallibilism is about justification </a:t>
            </a:r>
          </a:p>
        </p:txBody>
      </p:sp>
      <p:sp>
        <p:nvSpPr>
          <p:cNvPr id="3" name="Content Placeholder 2">
            <a:extLst>
              <a:ext uri="{FF2B5EF4-FFF2-40B4-BE49-F238E27FC236}">
                <a16:creationId xmlns:a16="http://schemas.microsoft.com/office/drawing/2014/main" id="{02ED27C7-376B-1331-54AB-84015DBD5B0B}"/>
              </a:ext>
            </a:extLst>
          </p:cNvPr>
          <p:cNvSpPr>
            <a:spLocks noGrp="1"/>
          </p:cNvSpPr>
          <p:nvPr>
            <p:ph idx="1"/>
          </p:nvPr>
        </p:nvSpPr>
        <p:spPr>
          <a:xfrm>
            <a:off x="1251678" y="1754373"/>
            <a:ext cx="10178322" cy="4125220"/>
          </a:xfrm>
        </p:spPr>
        <p:txBody>
          <a:bodyPr>
            <a:normAutofit lnSpcReduction="10000"/>
          </a:bodyPr>
          <a:lstStyle/>
          <a:p>
            <a:pPr marL="0" indent="0" algn="just">
              <a:buNone/>
            </a:pPr>
            <a:r>
              <a:rPr lang="en-US" sz="2400" dirty="0">
                <a:solidFill>
                  <a:schemeClr val="tx1"/>
                </a:solidFill>
                <a:latin typeface="Avenir Book" panose="02000503020000020003" pitchFamily="2" charset="0"/>
              </a:rPr>
              <a:t>The tripartite view of knowledge claims that for your knowledge to count as belief, you need justification, however, it is not clear on what we mean by justification (other then the fact it is some evidence that counts towards the belief). </a:t>
            </a:r>
          </a:p>
          <a:p>
            <a:endParaRPr lang="en-US" dirty="0">
              <a:latin typeface="Avenir Book" panose="02000503020000020003" pitchFamily="2" charset="0"/>
            </a:endParaRPr>
          </a:p>
          <a:p>
            <a:endParaRPr lang="en-US" dirty="0">
              <a:solidFill>
                <a:schemeClr val="tx1"/>
              </a:solidFill>
              <a:latin typeface="Avenir Book" panose="02000503020000020003" pitchFamily="2" charset="0"/>
            </a:endParaRPr>
          </a:p>
          <a:p>
            <a:pPr marL="0" indent="0">
              <a:buNone/>
            </a:pPr>
            <a:r>
              <a:rPr lang="en-US" sz="2400" dirty="0">
                <a:solidFill>
                  <a:schemeClr val="tx1"/>
                </a:solidFill>
                <a:latin typeface="Avenir Book" panose="02000503020000020003" pitchFamily="2" charset="0"/>
              </a:rPr>
              <a:t>For infallibilism justification requires certainty, that is </a:t>
            </a:r>
            <a:r>
              <a:rPr lang="en-US" sz="2400" i="1" dirty="0">
                <a:solidFill>
                  <a:schemeClr val="tx1"/>
                </a:solidFill>
                <a:latin typeface="Avenir Book" panose="02000503020000020003" pitchFamily="2" charset="0"/>
              </a:rPr>
              <a:t>actual justification </a:t>
            </a:r>
            <a:r>
              <a:rPr lang="en-US" sz="2400" dirty="0">
                <a:solidFill>
                  <a:schemeClr val="tx1"/>
                </a:solidFill>
                <a:latin typeface="Avenir Book" panose="02000503020000020003" pitchFamily="2" charset="0"/>
              </a:rPr>
              <a:t>makes one certain. We could say that if a belief is not held with certainty by a person, it is a stretch to count it as knowledge. Which means that beliefs are rarely if every fully justified. </a:t>
            </a:r>
          </a:p>
        </p:txBody>
      </p:sp>
    </p:spTree>
    <p:extLst>
      <p:ext uri="{BB962C8B-B14F-4D97-AF65-F5344CB8AC3E}">
        <p14:creationId xmlns:p14="http://schemas.microsoft.com/office/powerpoint/2010/main" val="1827907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4DB0D-CDD6-6A3D-9407-EC6A690E4CA8}"/>
              </a:ext>
            </a:extLst>
          </p:cNvPr>
          <p:cNvSpPr>
            <a:spLocks noGrp="1"/>
          </p:cNvSpPr>
          <p:nvPr>
            <p:ph type="title"/>
          </p:nvPr>
        </p:nvSpPr>
        <p:spPr>
          <a:xfrm>
            <a:off x="1251678" y="382385"/>
            <a:ext cx="10178322" cy="691503"/>
          </a:xfrm>
        </p:spPr>
        <p:txBody>
          <a:bodyPr>
            <a:normAutofit/>
          </a:bodyPr>
          <a:lstStyle/>
          <a:p>
            <a:r>
              <a:rPr lang="en-US" sz="4000" dirty="0">
                <a:latin typeface="Avenir Book" panose="02000503020000020003" pitchFamily="2" charset="0"/>
              </a:rPr>
              <a:t>Infallibilism </a:t>
            </a:r>
          </a:p>
        </p:txBody>
      </p:sp>
      <p:sp>
        <p:nvSpPr>
          <p:cNvPr id="3" name="Content Placeholder 2">
            <a:extLst>
              <a:ext uri="{FF2B5EF4-FFF2-40B4-BE49-F238E27FC236}">
                <a16:creationId xmlns:a16="http://schemas.microsoft.com/office/drawing/2014/main" id="{3BE8401C-3B9B-567F-10A5-5F92837091C0}"/>
              </a:ext>
            </a:extLst>
          </p:cNvPr>
          <p:cNvSpPr>
            <a:spLocks noGrp="1"/>
          </p:cNvSpPr>
          <p:nvPr>
            <p:ph idx="1"/>
          </p:nvPr>
        </p:nvSpPr>
        <p:spPr>
          <a:xfrm>
            <a:off x="1251678" y="1424763"/>
            <a:ext cx="10178322" cy="4699590"/>
          </a:xfrm>
        </p:spPr>
        <p:txBody>
          <a:bodyPr>
            <a:normAutofit lnSpcReduction="10000"/>
          </a:bodyPr>
          <a:lstStyle/>
          <a:p>
            <a:pPr marL="0" indent="0" algn="just">
              <a:buNone/>
            </a:pPr>
            <a:r>
              <a:rPr lang="en-US" sz="2400" dirty="0">
                <a:solidFill>
                  <a:schemeClr val="tx1"/>
                </a:solidFill>
                <a:latin typeface="Avenir Book" panose="02000503020000020003" pitchFamily="2" charset="0"/>
              </a:rPr>
              <a:t>The problem that any definition of truth has, is </a:t>
            </a:r>
            <a:r>
              <a:rPr lang="en-US" sz="2400" i="1" dirty="0">
                <a:solidFill>
                  <a:schemeClr val="tx1"/>
                </a:solidFill>
                <a:latin typeface="Avenir Book" panose="02000503020000020003" pitchFamily="2" charset="0"/>
              </a:rPr>
              <a:t>how to ensure </a:t>
            </a:r>
            <a:r>
              <a:rPr lang="en-US" sz="2400" dirty="0">
                <a:solidFill>
                  <a:schemeClr val="tx1"/>
                </a:solidFill>
                <a:latin typeface="Avenir Book" panose="02000503020000020003" pitchFamily="2" charset="0"/>
              </a:rPr>
              <a:t>that justification can guarantee knowledge. The fact is that we can think of justification as something that raises our evidence for knowledge, or we can think of justification as coming from the knowledge. The first does not guarantee truth, while the second cannot be known in advance.</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The concept certainty can work in different ways.</a:t>
            </a:r>
          </a:p>
          <a:p>
            <a:pPr marL="0" indent="0" algn="just">
              <a:buNone/>
            </a:pPr>
            <a:endParaRPr lang="en-US" sz="2400" dirty="0">
              <a:solidFill>
                <a:schemeClr val="tx1"/>
              </a:solidFill>
              <a:latin typeface="Avenir Book" panose="02000503020000020003" pitchFamily="2" charset="0"/>
            </a:endParaRPr>
          </a:p>
          <a:p>
            <a:pPr marL="457200" indent="-457200" algn="just">
              <a:buAutoNum type="arabicParenBoth"/>
            </a:pPr>
            <a:r>
              <a:rPr lang="en-US" sz="2400" dirty="0">
                <a:solidFill>
                  <a:schemeClr val="tx1"/>
                </a:solidFill>
                <a:latin typeface="Avenir Book" panose="02000503020000020003" pitchFamily="2" charset="0"/>
              </a:rPr>
              <a:t>I can feel certain.</a:t>
            </a:r>
          </a:p>
          <a:p>
            <a:pPr marL="0" indent="0" algn="just">
              <a:buNone/>
            </a:pPr>
            <a:r>
              <a:rPr lang="en-US" sz="2400" dirty="0">
                <a:solidFill>
                  <a:schemeClr val="tx1"/>
                </a:solidFill>
                <a:latin typeface="Avenir Book" panose="02000503020000020003" pitchFamily="2" charset="0"/>
              </a:rPr>
              <a:t>or</a:t>
            </a:r>
          </a:p>
          <a:p>
            <a:pPr marL="0" indent="0" algn="just">
              <a:buNone/>
            </a:pPr>
            <a:r>
              <a:rPr lang="en-US" sz="2400" dirty="0">
                <a:solidFill>
                  <a:schemeClr val="tx1"/>
                </a:solidFill>
                <a:latin typeface="Avenir Book" panose="02000503020000020003" pitchFamily="2" charset="0"/>
              </a:rPr>
              <a:t>(2) </a:t>
            </a:r>
            <a:r>
              <a:rPr lang="en-US" sz="2400" i="1" dirty="0">
                <a:solidFill>
                  <a:schemeClr val="tx1"/>
                </a:solidFill>
                <a:latin typeface="Avenir Book" panose="02000503020000020003" pitchFamily="2" charset="0"/>
              </a:rPr>
              <a:t>The belief itself can be impossible to doubt.  </a:t>
            </a:r>
          </a:p>
        </p:txBody>
      </p:sp>
    </p:spTree>
    <p:extLst>
      <p:ext uri="{BB962C8B-B14F-4D97-AF65-F5344CB8AC3E}">
        <p14:creationId xmlns:p14="http://schemas.microsoft.com/office/powerpoint/2010/main" val="247742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child with her hands on her hips&#10;&#10;Description automatically generated">
            <a:extLst>
              <a:ext uri="{FF2B5EF4-FFF2-40B4-BE49-F238E27FC236}">
                <a16:creationId xmlns:a16="http://schemas.microsoft.com/office/drawing/2014/main" id="{C7D9C5C8-3866-C82F-39CF-039C52500066}"/>
              </a:ext>
            </a:extLst>
          </p:cNvPr>
          <p:cNvPicPr>
            <a:picLocks noChangeAspect="1"/>
          </p:cNvPicPr>
          <p:nvPr/>
        </p:nvPicPr>
        <p:blipFill>
          <a:blip r:embed="rId2"/>
          <a:srcRect l="17241" r="11990"/>
          <a:stretch/>
        </p:blipFill>
        <p:spPr>
          <a:xfrm>
            <a:off x="7338646" y="10"/>
            <a:ext cx="4853354" cy="6857990"/>
          </a:xfrm>
          <a:prstGeom prst="rect">
            <a:avLst/>
          </a:prstGeom>
        </p:spPr>
      </p:pic>
      <p:sp>
        <p:nvSpPr>
          <p:cNvPr id="10" name="Freeform 10">
            <a:extLst>
              <a:ext uri="{FF2B5EF4-FFF2-40B4-BE49-F238E27FC236}">
                <a16:creationId xmlns:a16="http://schemas.microsoft.com/office/drawing/2014/main" id="{FF606621-EDD0-4CB0-B5A0-2BD458842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47B2E704-8D56-6A78-1841-19DC86FA642B}"/>
              </a:ext>
            </a:extLst>
          </p:cNvPr>
          <p:cNvSpPr>
            <a:spLocks noGrp="1"/>
          </p:cNvSpPr>
          <p:nvPr>
            <p:ph type="title"/>
          </p:nvPr>
        </p:nvSpPr>
        <p:spPr>
          <a:xfrm>
            <a:off x="765051" y="382385"/>
            <a:ext cx="6015897" cy="1492132"/>
          </a:xfrm>
        </p:spPr>
        <p:txBody>
          <a:bodyPr>
            <a:normAutofit/>
          </a:bodyPr>
          <a:lstStyle/>
          <a:p>
            <a:r>
              <a:rPr lang="en-US" sz="3200" dirty="0">
                <a:latin typeface="Avenir Book" panose="02000503020000020003" pitchFamily="2" charset="0"/>
              </a:rPr>
              <a:t>(1) The feeling of certainty does not equate to knowledge.</a:t>
            </a:r>
          </a:p>
        </p:txBody>
      </p:sp>
      <p:sp>
        <p:nvSpPr>
          <p:cNvPr id="12" name="Rectangle 11">
            <a:extLst>
              <a:ext uri="{FF2B5EF4-FFF2-40B4-BE49-F238E27FC236}">
                <a16:creationId xmlns:a16="http://schemas.microsoft.com/office/drawing/2014/main" id="{F7E0AF57-42C6-4312-BEDF-A384DC8E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22A8C24-7AB2-E8B2-4C12-FD5A73743520}"/>
              </a:ext>
            </a:extLst>
          </p:cNvPr>
          <p:cNvSpPr>
            <a:spLocks noGrp="1"/>
          </p:cNvSpPr>
          <p:nvPr>
            <p:ph idx="1"/>
          </p:nvPr>
        </p:nvSpPr>
        <p:spPr>
          <a:xfrm>
            <a:off x="765051" y="2286001"/>
            <a:ext cx="6015897" cy="3681662"/>
          </a:xfrm>
        </p:spPr>
        <p:txBody>
          <a:bodyPr>
            <a:normAutofit lnSpcReduction="10000"/>
          </a:bodyPr>
          <a:lstStyle/>
          <a:p>
            <a:pPr marL="0" indent="0">
              <a:lnSpc>
                <a:spcPct val="150000"/>
              </a:lnSpc>
              <a:buNone/>
            </a:pPr>
            <a:r>
              <a:rPr lang="en-US" dirty="0">
                <a:solidFill>
                  <a:schemeClr val="tx1"/>
                </a:solidFill>
                <a:latin typeface="Avenir Book" panose="02000503020000020003" pitchFamily="2" charset="0"/>
              </a:rPr>
              <a:t>The feeling of certainty clearly will not count as a form of justification. This is because one can feel certain and most certainly be wrong about that which you feel certain. For example, I may believe that the earth is flat and yet it is, was and always will be round. Just because there is a psychological or subjective feeling that attends a belief does not make it true. </a:t>
            </a:r>
          </a:p>
          <a:p>
            <a:pPr marL="0" indent="0">
              <a:buNone/>
            </a:pPr>
            <a:endParaRPr lang="en-US" dirty="0">
              <a:latin typeface="Avenir Book" panose="02000503020000020003" pitchFamily="2" charset="0"/>
            </a:endParaRPr>
          </a:p>
          <a:p>
            <a:pPr marL="0" indent="0">
              <a:buNone/>
            </a:pPr>
            <a:endParaRPr lang="en-US" dirty="0">
              <a:latin typeface="Avenir Book" panose="02000503020000020003" pitchFamily="2" charset="0"/>
            </a:endParaRPr>
          </a:p>
        </p:txBody>
      </p:sp>
    </p:spTree>
    <p:extLst>
      <p:ext uri="{BB962C8B-B14F-4D97-AF65-F5344CB8AC3E}">
        <p14:creationId xmlns:p14="http://schemas.microsoft.com/office/powerpoint/2010/main" val="264593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6B219-B5F5-878E-974D-46718EF89A33}"/>
              </a:ext>
            </a:extLst>
          </p:cNvPr>
          <p:cNvSpPr>
            <a:spLocks noGrp="1"/>
          </p:cNvSpPr>
          <p:nvPr>
            <p:ph type="title"/>
          </p:nvPr>
        </p:nvSpPr>
        <p:spPr/>
        <p:txBody>
          <a:bodyPr>
            <a:normAutofit/>
          </a:bodyPr>
          <a:lstStyle/>
          <a:p>
            <a:r>
              <a:rPr lang="en-US" sz="4000" dirty="0">
                <a:latin typeface="Avenir Book" panose="02000503020000020003" pitchFamily="2" charset="0"/>
              </a:rPr>
              <a:t>(2) The belief can be impossible to doubt when considered. </a:t>
            </a:r>
          </a:p>
        </p:txBody>
      </p:sp>
      <p:sp>
        <p:nvSpPr>
          <p:cNvPr id="3" name="Content Placeholder 2">
            <a:extLst>
              <a:ext uri="{FF2B5EF4-FFF2-40B4-BE49-F238E27FC236}">
                <a16:creationId xmlns:a16="http://schemas.microsoft.com/office/drawing/2014/main" id="{AC4B4AC5-AC1B-A63F-1989-C4C6D2BBF3A3}"/>
              </a:ext>
            </a:extLst>
          </p:cNvPr>
          <p:cNvSpPr>
            <a:spLocks noGrp="1"/>
          </p:cNvSpPr>
          <p:nvPr>
            <p:ph idx="1"/>
          </p:nvPr>
        </p:nvSpPr>
        <p:spPr>
          <a:xfrm>
            <a:off x="1251678" y="2052085"/>
            <a:ext cx="10178322" cy="3827508"/>
          </a:xfrm>
        </p:spPr>
        <p:txBody>
          <a:bodyPr>
            <a:normAutofit fontScale="92500" lnSpcReduction="20000"/>
          </a:bodyPr>
          <a:lstStyle/>
          <a:p>
            <a:pPr marL="0" indent="0" algn="just">
              <a:buNone/>
            </a:pPr>
            <a:r>
              <a:rPr lang="en-US" sz="2400" dirty="0">
                <a:solidFill>
                  <a:schemeClr val="tx1"/>
                </a:solidFill>
                <a:latin typeface="Avenir Book" panose="02000503020000020003" pitchFamily="2" charset="0"/>
              </a:rPr>
              <a:t>This version of certainty is </a:t>
            </a:r>
            <a:r>
              <a:rPr lang="en-US" sz="2400" i="1" dirty="0">
                <a:solidFill>
                  <a:schemeClr val="tx1"/>
                </a:solidFill>
                <a:latin typeface="Avenir Book" panose="02000503020000020003" pitchFamily="2" charset="0"/>
              </a:rPr>
              <a:t>caused </a:t>
            </a:r>
            <a:r>
              <a:rPr lang="en-US" sz="2400" dirty="0">
                <a:solidFill>
                  <a:schemeClr val="tx1"/>
                </a:solidFill>
                <a:latin typeface="Avenir Book" panose="02000503020000020003" pitchFamily="2" charset="0"/>
              </a:rPr>
              <a:t>by the belief not supportive of the belief. In other words when one is considering the belief, the belief authenticates itself. This is why the cogito, is a good example of certainty, because entertaining the belief is what causes the certainty in it. </a:t>
            </a:r>
          </a:p>
          <a:p>
            <a:pPr marL="0" indent="0" algn="just">
              <a:buNone/>
            </a:pPr>
            <a:endParaRPr lang="en-US" sz="2400" dirty="0">
              <a:solidFill>
                <a:schemeClr val="tx1"/>
              </a:solidFill>
              <a:latin typeface="Avenir Book" panose="02000503020000020003" pitchFamily="2" charset="0"/>
            </a:endParaRPr>
          </a:p>
          <a:p>
            <a:pPr marL="457200" indent="-457200" algn="just">
              <a:buAutoNum type="arabicPeriod"/>
            </a:pPr>
            <a:r>
              <a:rPr lang="en-US" dirty="0">
                <a:solidFill>
                  <a:schemeClr val="tx1"/>
                </a:solidFill>
                <a:latin typeface="Avenir Book" panose="02000503020000020003" pitchFamily="2" charset="0"/>
              </a:rPr>
              <a:t>No one can know what is false.</a:t>
            </a:r>
          </a:p>
          <a:p>
            <a:pPr marL="457200" indent="-457200" algn="just">
              <a:buAutoNum type="arabicPeriod"/>
            </a:pPr>
            <a:r>
              <a:rPr lang="en-US" dirty="0">
                <a:solidFill>
                  <a:schemeClr val="tx1"/>
                </a:solidFill>
                <a:latin typeface="Avenir Book" panose="02000503020000020003" pitchFamily="2" charset="0"/>
              </a:rPr>
              <a:t>Ergo, if I know P, I can’t be mistaken about P.</a:t>
            </a:r>
          </a:p>
          <a:p>
            <a:pPr marL="457200" indent="-457200" algn="just">
              <a:buAutoNum type="arabicPeriod"/>
            </a:pPr>
            <a:r>
              <a:rPr lang="en-US" dirty="0">
                <a:solidFill>
                  <a:schemeClr val="tx1"/>
                </a:solidFill>
                <a:latin typeface="Avenir Book" panose="02000503020000020003" pitchFamily="2" charset="0"/>
              </a:rPr>
              <a:t>Therefore, justification must guarantee truth. </a:t>
            </a:r>
          </a:p>
          <a:p>
            <a:pPr marL="457200" indent="-457200" algn="just">
              <a:buAutoNum type="arabicPeriod"/>
            </a:pPr>
            <a:r>
              <a:rPr lang="en-US" dirty="0">
                <a:solidFill>
                  <a:schemeClr val="tx1"/>
                </a:solidFill>
                <a:latin typeface="Avenir Book" panose="02000503020000020003" pitchFamily="2" charset="0"/>
              </a:rPr>
              <a:t>If I am justified in believing that P, I can’t possibly be mistaken. </a:t>
            </a:r>
          </a:p>
          <a:p>
            <a:pPr marL="457200" indent="-457200" algn="just">
              <a:buAutoNum type="arabicPeriod"/>
            </a:pPr>
            <a:r>
              <a:rPr lang="en-US" dirty="0">
                <a:solidFill>
                  <a:schemeClr val="tx1"/>
                </a:solidFill>
                <a:latin typeface="Avenir Book" panose="02000503020000020003" pitchFamily="2" charset="0"/>
              </a:rPr>
              <a:t>Therefore, if it is possible that I am mistaken, then I can’t be justified in believing that P.</a:t>
            </a:r>
          </a:p>
          <a:p>
            <a:pPr marL="457200" indent="-457200" algn="just">
              <a:buAutoNum type="arabicPeriod"/>
            </a:pPr>
            <a:r>
              <a:rPr lang="en-US" dirty="0">
                <a:solidFill>
                  <a:schemeClr val="tx1"/>
                </a:solidFill>
                <a:latin typeface="Avenir Book" panose="02000503020000020003" pitchFamily="2" charset="0"/>
              </a:rPr>
              <a:t>Therefore, infallibilism is true. </a:t>
            </a:r>
          </a:p>
          <a:p>
            <a:pPr marL="457200" indent="-457200" algn="just">
              <a:buAutoNum type="arabicPeriod"/>
            </a:pPr>
            <a:endParaRPr lang="en-US" sz="24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168388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09D0784C-D5D2-13C3-5038-8D34FFB7BEDE}"/>
              </a:ext>
            </a:extLst>
          </p:cNvPr>
          <p:cNvSpPr>
            <a:spLocks noGrp="1"/>
          </p:cNvSpPr>
          <p:nvPr>
            <p:ph type="title"/>
          </p:nvPr>
        </p:nvSpPr>
        <p:spPr>
          <a:xfrm>
            <a:off x="754144" y="484631"/>
            <a:ext cx="6340519" cy="1638469"/>
          </a:xfrm>
        </p:spPr>
        <p:txBody>
          <a:bodyPr>
            <a:normAutofit/>
          </a:bodyPr>
          <a:lstStyle/>
          <a:p>
            <a:r>
              <a:rPr lang="en-US">
                <a:latin typeface="Avenir Book" panose="02000503020000020003" pitchFamily="2" charset="0"/>
              </a:rPr>
              <a:t>Infallibilism</a:t>
            </a:r>
            <a:r>
              <a:rPr lang="en-US" dirty="0"/>
              <a:t> </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74B23E9-AE78-B436-4E69-2CC129824669}"/>
              </a:ext>
            </a:extLst>
          </p:cNvPr>
          <p:cNvSpPr>
            <a:spLocks noGrp="1"/>
          </p:cNvSpPr>
          <p:nvPr>
            <p:ph idx="1"/>
          </p:nvPr>
        </p:nvSpPr>
        <p:spPr>
          <a:xfrm>
            <a:off x="765051" y="1600710"/>
            <a:ext cx="6306309" cy="4772658"/>
          </a:xfrm>
        </p:spPr>
        <p:txBody>
          <a:bodyPr>
            <a:normAutofit/>
          </a:bodyPr>
          <a:lstStyle/>
          <a:p>
            <a:pPr marL="0" indent="0">
              <a:lnSpc>
                <a:spcPct val="150000"/>
              </a:lnSpc>
              <a:buNone/>
            </a:pPr>
            <a:r>
              <a:rPr lang="en-US" sz="2400" dirty="0">
                <a:solidFill>
                  <a:schemeClr val="tx1"/>
                </a:solidFill>
                <a:latin typeface="Avenir Book" panose="02000503020000020003" pitchFamily="2" charset="0"/>
              </a:rPr>
              <a:t>So infallibilism is a form of the tripartite definition of truth. It claims that the reason Jones does not know the proposition that ‘The man who will get the job has 10 coins in his pocket’ is that Jones is </a:t>
            </a:r>
            <a:r>
              <a:rPr lang="en-US" sz="2400" i="1" dirty="0">
                <a:solidFill>
                  <a:schemeClr val="tx1"/>
                </a:solidFill>
                <a:latin typeface="Avenir Book" panose="02000503020000020003" pitchFamily="2" charset="0"/>
              </a:rPr>
              <a:t>not justified </a:t>
            </a:r>
            <a:r>
              <a:rPr lang="en-US" sz="2400" dirty="0">
                <a:solidFill>
                  <a:schemeClr val="tx1"/>
                </a:solidFill>
                <a:latin typeface="Avenir Book" panose="02000503020000020003" pitchFamily="2" charset="0"/>
              </a:rPr>
              <a:t>in that belief. </a:t>
            </a:r>
          </a:p>
        </p:txBody>
      </p:sp>
      <p:pic>
        <p:nvPicPr>
          <p:cNvPr id="4" name="Picture 3" descr="A poster of different types of human heads&#10;&#10;Description automatically generated">
            <a:extLst>
              <a:ext uri="{FF2B5EF4-FFF2-40B4-BE49-F238E27FC236}">
                <a16:creationId xmlns:a16="http://schemas.microsoft.com/office/drawing/2014/main" id="{21417D26-54BD-ADE0-3C8F-48F3F9387334}"/>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2549902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2723-2E9C-8CF5-903E-A7C99B9314ED}"/>
              </a:ext>
            </a:extLst>
          </p:cNvPr>
          <p:cNvSpPr>
            <a:spLocks noGrp="1"/>
          </p:cNvSpPr>
          <p:nvPr>
            <p:ph type="title"/>
          </p:nvPr>
        </p:nvSpPr>
        <p:spPr>
          <a:xfrm>
            <a:off x="1251678" y="861847"/>
            <a:ext cx="10178322" cy="1012669"/>
          </a:xfrm>
        </p:spPr>
        <p:txBody>
          <a:bodyPr/>
          <a:lstStyle/>
          <a:p>
            <a:r>
              <a:rPr lang="en-US" dirty="0">
                <a:latin typeface="Avenir Book" panose="02000503020000020003" pitchFamily="2" charset="0"/>
              </a:rPr>
              <a:t>Infallibilism claims that…</a:t>
            </a:r>
          </a:p>
        </p:txBody>
      </p:sp>
      <p:sp>
        <p:nvSpPr>
          <p:cNvPr id="3" name="Content Placeholder 2">
            <a:extLst>
              <a:ext uri="{FF2B5EF4-FFF2-40B4-BE49-F238E27FC236}">
                <a16:creationId xmlns:a16="http://schemas.microsoft.com/office/drawing/2014/main" id="{5B740E5E-9B0A-5E9B-E880-1197F65F308E}"/>
              </a:ext>
            </a:extLst>
          </p:cNvPr>
          <p:cNvSpPr>
            <a:spLocks noGrp="1"/>
          </p:cNvSpPr>
          <p:nvPr>
            <p:ph idx="1"/>
          </p:nvPr>
        </p:nvSpPr>
        <p:spPr/>
        <p:txBody>
          <a:bodyPr>
            <a:normAutofit/>
          </a:bodyPr>
          <a:lstStyle/>
          <a:p>
            <a:r>
              <a:rPr lang="en-US" sz="2800" dirty="0">
                <a:solidFill>
                  <a:schemeClr val="tx1"/>
                </a:solidFill>
                <a:latin typeface="Avenir Book" panose="02000503020000020003" pitchFamily="2" charset="0"/>
              </a:rPr>
              <a:t>To know P, it must be impossible to doubt P.</a:t>
            </a:r>
          </a:p>
          <a:p>
            <a:endParaRPr lang="en-US" sz="2800" dirty="0">
              <a:solidFill>
                <a:schemeClr val="tx1"/>
              </a:solidFill>
              <a:latin typeface="Avenir Book" panose="02000503020000020003" pitchFamily="2" charset="0"/>
            </a:endParaRPr>
          </a:p>
          <a:p>
            <a:r>
              <a:rPr lang="en-US" sz="2800" dirty="0">
                <a:solidFill>
                  <a:schemeClr val="tx1"/>
                </a:solidFill>
                <a:latin typeface="Avenir Book" panose="02000503020000020003" pitchFamily="2" charset="0"/>
              </a:rPr>
              <a:t>1: It must be true.</a:t>
            </a:r>
          </a:p>
          <a:p>
            <a:r>
              <a:rPr lang="en-US" sz="2800" dirty="0">
                <a:solidFill>
                  <a:schemeClr val="tx1"/>
                </a:solidFill>
                <a:latin typeface="Avenir Book" panose="02000503020000020003" pitchFamily="2" charset="0"/>
              </a:rPr>
              <a:t>2: it is believed because it is impossible to doubt.</a:t>
            </a:r>
          </a:p>
          <a:p>
            <a:r>
              <a:rPr lang="en-US" sz="2800" dirty="0">
                <a:solidFill>
                  <a:schemeClr val="tx1"/>
                </a:solidFill>
                <a:latin typeface="Avenir Book" panose="02000503020000020003" pitchFamily="2" charset="0"/>
              </a:rPr>
              <a:t>3. It is justified because of 2.  </a:t>
            </a:r>
          </a:p>
        </p:txBody>
      </p:sp>
    </p:spTree>
    <p:extLst>
      <p:ext uri="{BB962C8B-B14F-4D97-AF65-F5344CB8AC3E}">
        <p14:creationId xmlns:p14="http://schemas.microsoft.com/office/powerpoint/2010/main" val="13529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5"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p:cTn id="15" dur="500" decel="50000" fill="hold">
                                          <p:stCondLst>
                                            <p:cond delay="0"/>
                                          </p:stCondLst>
                                        </p:cTn>
                                        <p:tgtEl>
                                          <p:spTgt spid="3">
                                            <p:txEl>
                                              <p:pRg st="2" end="2"/>
                                            </p:txEl>
                                          </p:spTgt>
                                        </p:tgtEl>
                                        <p:attrNameLst>
                                          <p:attrName>style.rotation</p:attrName>
                                        </p:attrNameLst>
                                      </p:cBhvr>
                                      <p:tavLst>
                                        <p:tav tm="0">
                                          <p:val>
                                            <p:fltVal val="-90"/>
                                          </p:val>
                                        </p:tav>
                                        <p:tav tm="100000">
                                          <p:val>
                                            <p:fltVal val="0"/>
                                          </p:val>
                                        </p:tav>
                                      </p:tavLst>
                                    </p:anim>
                                    <p:anim calcmode="lin" valueType="num">
                                      <p:cBhvr>
                                        <p:cTn id="16" dur="500" decel="50000" fill="hold">
                                          <p:stCondLst>
                                            <p:cond delay="0"/>
                                          </p:stCondLst>
                                        </p:cTn>
                                        <p:tgtEl>
                                          <p:spTgt spid="3">
                                            <p:txEl>
                                              <p:pRg st="2" end="2"/>
                                            </p:txEl>
                                          </p:spTgt>
                                        </p:tgtEl>
                                        <p:attrNameLst>
                                          <p:attrName>ppt_w</p:attrName>
                                        </p:attrNameLst>
                                      </p:cBhvr>
                                      <p:tavLst>
                                        <p:tav tm="0">
                                          <p:val>
                                            <p:strVal val="#ppt_w"/>
                                          </p:val>
                                        </p:tav>
                                        <p:tav tm="100000">
                                          <p:val>
                                            <p:strVal val="#ppt_w*.05"/>
                                          </p:val>
                                        </p:tav>
                                      </p:tavLst>
                                    </p:anim>
                                    <p:anim calcmode="lin" valueType="num">
                                      <p:cBhvr>
                                        <p:cTn id="17" dur="500" accel="50000" fill="hold">
                                          <p:stCondLst>
                                            <p:cond delay="500"/>
                                          </p:stCondLst>
                                        </p:cTn>
                                        <p:tgtEl>
                                          <p:spTgt spid="3">
                                            <p:txEl>
                                              <p:pRg st="2" end="2"/>
                                            </p:txEl>
                                          </p:spTgt>
                                        </p:tgtEl>
                                        <p:attrNameLst>
                                          <p:attrName>ppt_w</p:attrName>
                                        </p:attrNameLst>
                                      </p:cBhvr>
                                      <p:tavLst>
                                        <p:tav tm="0">
                                          <p:val>
                                            <p:strVal val="#ppt_w*.05"/>
                                          </p:val>
                                        </p:tav>
                                        <p:tav tm="100000">
                                          <p:val>
                                            <p:strVal val="#ppt_w"/>
                                          </p:val>
                                        </p:tav>
                                      </p:tavLst>
                                    </p:anim>
                                    <p:anim calcmode="lin" valueType="num">
                                      <p:cBhvr>
                                        <p:cTn id="18" dur="1000" fill="hold"/>
                                        <p:tgtEl>
                                          <p:spTgt spid="3">
                                            <p:txEl>
                                              <p:pRg st="2" end="2"/>
                                            </p:txEl>
                                          </p:spTgt>
                                        </p:tgtEl>
                                        <p:attrNameLst>
                                          <p:attrName>ppt_h</p:attrName>
                                        </p:attrNameLst>
                                      </p:cBhvr>
                                      <p:tavLst>
                                        <p:tav tm="0">
                                          <p:val>
                                            <p:strVal val="#ppt_h"/>
                                          </p:val>
                                        </p:tav>
                                        <p:tav tm="100000">
                                          <p:val>
                                            <p:strVal val="#ppt_h"/>
                                          </p:val>
                                        </p:tav>
                                      </p:tavLst>
                                    </p:anim>
                                    <p:anim calcmode="lin" valueType="num">
                                      <p:cBhvr>
                                        <p:cTn id="19" dur="500" decel="50000" fill="hold">
                                          <p:stCondLst>
                                            <p:cond delay="0"/>
                                          </p:stCondLst>
                                        </p:cTn>
                                        <p:tgtEl>
                                          <p:spTgt spid="3">
                                            <p:txEl>
                                              <p:pRg st="2" end="2"/>
                                            </p:txEl>
                                          </p:spTgt>
                                        </p:tgtEl>
                                        <p:attrNameLst>
                                          <p:attrName>ppt_x</p:attrName>
                                        </p:attrNameLst>
                                      </p:cBhvr>
                                      <p:tavLst>
                                        <p:tav tm="0">
                                          <p:val>
                                            <p:strVal val="#ppt_x+.4"/>
                                          </p:val>
                                        </p:tav>
                                        <p:tav tm="100000">
                                          <p:val>
                                            <p:strVal val="#ppt_x"/>
                                          </p:val>
                                        </p:tav>
                                      </p:tavLst>
                                    </p:anim>
                                    <p:anim calcmode="lin" valueType="num">
                                      <p:cBhvr>
                                        <p:cTn id="20" dur="500" decel="50000" fill="hold">
                                          <p:stCondLst>
                                            <p:cond delay="0"/>
                                          </p:stCondLst>
                                        </p:cTn>
                                        <p:tgtEl>
                                          <p:spTgt spid="3">
                                            <p:txEl>
                                              <p:pRg st="2" end="2"/>
                                            </p:txEl>
                                          </p:spTgt>
                                        </p:tgtEl>
                                        <p:attrNameLst>
                                          <p:attrName>ppt_y</p:attrName>
                                        </p:attrNameLst>
                                      </p:cBhvr>
                                      <p:tavLst>
                                        <p:tav tm="0">
                                          <p:val>
                                            <p:strVal val="#ppt_y-.2"/>
                                          </p:val>
                                        </p:tav>
                                        <p:tav tm="100000">
                                          <p:val>
                                            <p:strVal val="#ppt_y+.1"/>
                                          </p:val>
                                        </p:tav>
                                      </p:tavLst>
                                    </p:anim>
                                    <p:anim calcmode="lin" valueType="num">
                                      <p:cBhvr>
                                        <p:cTn id="21" dur="500" accel="50000" fill="hold">
                                          <p:stCondLst>
                                            <p:cond delay="500"/>
                                          </p:stCondLst>
                                        </p:cTn>
                                        <p:tgtEl>
                                          <p:spTgt spid="3">
                                            <p:txEl>
                                              <p:pRg st="2" end="2"/>
                                            </p:txEl>
                                          </p:spTgt>
                                        </p:tgtEl>
                                        <p:attrNameLst>
                                          <p:attrName>ppt_y</p:attrName>
                                        </p:attrNameLst>
                                      </p:cBhvr>
                                      <p:tavLst>
                                        <p:tav tm="0">
                                          <p:val>
                                            <p:strVal val="#ppt_y+.1"/>
                                          </p:val>
                                        </p:tav>
                                        <p:tav tm="100000">
                                          <p:val>
                                            <p:strVal val="#ppt_y"/>
                                          </p:val>
                                        </p:tav>
                                      </p:tavLst>
                                    </p:anim>
                                    <p:animEffect transition="in" filter="fade">
                                      <p:cBhvr>
                                        <p:cTn id="22" dur="1000" decel="50000">
                                          <p:stCondLst>
                                            <p:cond delay="0"/>
                                          </p:stCondLst>
                                        </p:cTn>
                                        <p:tgtEl>
                                          <p:spTgt spid="3">
                                            <p:txEl>
                                              <p:pRg st="2" end="2"/>
                                            </p:txEl>
                                          </p:spTgt>
                                        </p:tgtEl>
                                      </p:cBhvr>
                                    </p:animEffect>
                                  </p:childTnLst>
                                </p:cTn>
                              </p:par>
                              <p:par>
                                <p:cTn id="23" presetID="25"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decel="50000" fill="hold">
                                          <p:stCondLst>
                                            <p:cond delay="0"/>
                                          </p:stCondLst>
                                        </p:cTn>
                                        <p:tgtEl>
                                          <p:spTgt spid="3">
                                            <p:txEl>
                                              <p:pRg st="3" end="3"/>
                                            </p:txEl>
                                          </p:spTgt>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3">
                                            <p:txEl>
                                              <p:pRg st="3" end="3"/>
                                            </p:txEl>
                                          </p:spTgt>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3">
                                            <p:txEl>
                                              <p:pRg st="3" end="3"/>
                                            </p:txEl>
                                          </p:spTgt>
                                        </p:tgtEl>
                                        <p:attrNameLst>
                                          <p:attrName>ppt_w</p:attrName>
                                        </p:attrNameLst>
                                      </p:cBhvr>
                                      <p:tavLst>
                                        <p:tav tm="0">
                                          <p:val>
                                            <p:strVal val="#ppt_w*.05"/>
                                          </p:val>
                                        </p:tav>
                                        <p:tav tm="100000">
                                          <p:val>
                                            <p:strVal val="#ppt_w"/>
                                          </p:val>
                                        </p:tav>
                                      </p:tavLst>
                                    </p:anim>
                                    <p:anim calcmode="lin" valueType="num">
                                      <p:cBhvr>
                                        <p:cTn id="28" dur="1000" fill="hold"/>
                                        <p:tgtEl>
                                          <p:spTgt spid="3">
                                            <p:txEl>
                                              <p:pRg st="3" end="3"/>
                                            </p:txEl>
                                          </p:spTgt>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3">
                                            <p:txEl>
                                              <p:pRg st="3" end="3"/>
                                            </p:txEl>
                                          </p:spTgt>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3">
                                            <p:txEl>
                                              <p:pRg st="3" end="3"/>
                                            </p:txEl>
                                          </p:spTgt>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3">
                                            <p:txEl>
                                              <p:pRg st="3" end="3"/>
                                            </p:txEl>
                                          </p:spTgt>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3">
                                            <p:txEl>
                                              <p:pRg st="3" end="3"/>
                                            </p:txEl>
                                          </p:spTgt>
                                        </p:tgtEl>
                                      </p:cBhvr>
                                    </p:animEffect>
                                  </p:childTnLst>
                                </p:cTn>
                              </p:par>
                              <p:par>
                                <p:cTn id="33" presetID="25" presetClass="entr" presetSubtype="0"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decel="50000" fill="hold">
                                          <p:stCondLst>
                                            <p:cond delay="0"/>
                                          </p:stCondLst>
                                        </p:cTn>
                                        <p:tgtEl>
                                          <p:spTgt spid="3">
                                            <p:txEl>
                                              <p:pRg st="4" end="4"/>
                                            </p:txEl>
                                          </p:spTgt>
                                        </p:tgtEl>
                                        <p:attrNameLst>
                                          <p:attrName>style.rotation</p:attrName>
                                        </p:attrNameLst>
                                      </p:cBhvr>
                                      <p:tavLst>
                                        <p:tav tm="0">
                                          <p:val>
                                            <p:fltVal val="-90"/>
                                          </p:val>
                                        </p:tav>
                                        <p:tav tm="100000">
                                          <p:val>
                                            <p:fltVal val="0"/>
                                          </p:val>
                                        </p:tav>
                                      </p:tavLst>
                                    </p:anim>
                                    <p:anim calcmode="lin" valueType="num">
                                      <p:cBhvr>
                                        <p:cTn id="36" dur="500" decel="50000" fill="hold">
                                          <p:stCondLst>
                                            <p:cond delay="0"/>
                                          </p:stCondLst>
                                        </p:cTn>
                                        <p:tgtEl>
                                          <p:spTgt spid="3">
                                            <p:txEl>
                                              <p:pRg st="4" end="4"/>
                                            </p:txEl>
                                          </p:spTgt>
                                        </p:tgtEl>
                                        <p:attrNameLst>
                                          <p:attrName>ppt_w</p:attrName>
                                        </p:attrNameLst>
                                      </p:cBhvr>
                                      <p:tavLst>
                                        <p:tav tm="0">
                                          <p:val>
                                            <p:strVal val="#ppt_w"/>
                                          </p:val>
                                        </p:tav>
                                        <p:tav tm="100000">
                                          <p:val>
                                            <p:strVal val="#ppt_w*.05"/>
                                          </p:val>
                                        </p:tav>
                                      </p:tavLst>
                                    </p:anim>
                                    <p:anim calcmode="lin" valueType="num">
                                      <p:cBhvr>
                                        <p:cTn id="37" dur="500" accel="50000" fill="hold">
                                          <p:stCondLst>
                                            <p:cond delay="500"/>
                                          </p:stCondLst>
                                        </p:cTn>
                                        <p:tgtEl>
                                          <p:spTgt spid="3">
                                            <p:txEl>
                                              <p:pRg st="4" end="4"/>
                                            </p:txEl>
                                          </p:spTgt>
                                        </p:tgtEl>
                                        <p:attrNameLst>
                                          <p:attrName>ppt_w</p:attrName>
                                        </p:attrNameLst>
                                      </p:cBhvr>
                                      <p:tavLst>
                                        <p:tav tm="0">
                                          <p:val>
                                            <p:strVal val="#ppt_w*.05"/>
                                          </p:val>
                                        </p:tav>
                                        <p:tav tm="100000">
                                          <p:val>
                                            <p:strVal val="#ppt_w"/>
                                          </p:val>
                                        </p:tav>
                                      </p:tavLst>
                                    </p:anim>
                                    <p:anim calcmode="lin" valueType="num">
                                      <p:cBhvr>
                                        <p:cTn id="38" dur="1000" fill="hold"/>
                                        <p:tgtEl>
                                          <p:spTgt spid="3">
                                            <p:txEl>
                                              <p:pRg st="4" end="4"/>
                                            </p:txEl>
                                          </p:spTgt>
                                        </p:tgtEl>
                                        <p:attrNameLst>
                                          <p:attrName>ppt_h</p:attrName>
                                        </p:attrNameLst>
                                      </p:cBhvr>
                                      <p:tavLst>
                                        <p:tav tm="0">
                                          <p:val>
                                            <p:strVal val="#ppt_h"/>
                                          </p:val>
                                        </p:tav>
                                        <p:tav tm="100000">
                                          <p:val>
                                            <p:strVal val="#ppt_h"/>
                                          </p:val>
                                        </p:tav>
                                      </p:tavLst>
                                    </p:anim>
                                    <p:anim calcmode="lin" valueType="num">
                                      <p:cBhvr>
                                        <p:cTn id="39" dur="500" decel="50000" fill="hold">
                                          <p:stCondLst>
                                            <p:cond delay="0"/>
                                          </p:stCondLst>
                                        </p:cTn>
                                        <p:tgtEl>
                                          <p:spTgt spid="3">
                                            <p:txEl>
                                              <p:pRg st="4" end="4"/>
                                            </p:txEl>
                                          </p:spTgt>
                                        </p:tgtEl>
                                        <p:attrNameLst>
                                          <p:attrName>ppt_x</p:attrName>
                                        </p:attrNameLst>
                                      </p:cBhvr>
                                      <p:tavLst>
                                        <p:tav tm="0">
                                          <p:val>
                                            <p:strVal val="#ppt_x+.4"/>
                                          </p:val>
                                        </p:tav>
                                        <p:tav tm="100000">
                                          <p:val>
                                            <p:strVal val="#ppt_x"/>
                                          </p:val>
                                        </p:tav>
                                      </p:tavLst>
                                    </p:anim>
                                    <p:anim calcmode="lin" valueType="num">
                                      <p:cBhvr>
                                        <p:cTn id="40" dur="500" decel="50000" fill="hold">
                                          <p:stCondLst>
                                            <p:cond delay="0"/>
                                          </p:stCondLst>
                                        </p:cTn>
                                        <p:tgtEl>
                                          <p:spTgt spid="3">
                                            <p:txEl>
                                              <p:pRg st="4" end="4"/>
                                            </p:txEl>
                                          </p:spTgt>
                                        </p:tgtEl>
                                        <p:attrNameLst>
                                          <p:attrName>ppt_y</p:attrName>
                                        </p:attrNameLst>
                                      </p:cBhvr>
                                      <p:tavLst>
                                        <p:tav tm="0">
                                          <p:val>
                                            <p:strVal val="#ppt_y-.2"/>
                                          </p:val>
                                        </p:tav>
                                        <p:tav tm="100000">
                                          <p:val>
                                            <p:strVal val="#ppt_y+.1"/>
                                          </p:val>
                                        </p:tav>
                                      </p:tavLst>
                                    </p:anim>
                                    <p:anim calcmode="lin" valueType="num">
                                      <p:cBhvr>
                                        <p:cTn id="41" dur="500" accel="50000" fill="hold">
                                          <p:stCondLst>
                                            <p:cond delay="500"/>
                                          </p:stCondLst>
                                        </p:cTn>
                                        <p:tgtEl>
                                          <p:spTgt spid="3">
                                            <p:txEl>
                                              <p:pRg st="4" end="4"/>
                                            </p:txEl>
                                          </p:spTgt>
                                        </p:tgtEl>
                                        <p:attrNameLst>
                                          <p:attrName>ppt_y</p:attrName>
                                        </p:attrNameLst>
                                      </p:cBhvr>
                                      <p:tavLst>
                                        <p:tav tm="0">
                                          <p:val>
                                            <p:strVal val="#ppt_y+.1"/>
                                          </p:val>
                                        </p:tav>
                                        <p:tav tm="100000">
                                          <p:val>
                                            <p:strVal val="#ppt_y"/>
                                          </p:val>
                                        </p:tav>
                                      </p:tavLst>
                                    </p:anim>
                                    <p:animEffect transition="in" filter="fade">
                                      <p:cBhvr>
                                        <p:cTn id="42" dur="1000" decel="50000">
                                          <p:stCondLst>
                                            <p:cond delay="0"/>
                                          </p:stCondLst>
                                        </p:cTn>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89CD1-29D8-9E06-F646-81EEE518454C}"/>
              </a:ext>
            </a:extLst>
          </p:cNvPr>
          <p:cNvSpPr>
            <a:spLocks noGrp="1"/>
          </p:cNvSpPr>
          <p:nvPr>
            <p:ph type="title"/>
          </p:nvPr>
        </p:nvSpPr>
        <p:spPr>
          <a:xfrm>
            <a:off x="1251678" y="382385"/>
            <a:ext cx="10178322" cy="702136"/>
          </a:xfrm>
        </p:spPr>
        <p:txBody>
          <a:bodyPr>
            <a:normAutofit/>
          </a:bodyPr>
          <a:lstStyle/>
          <a:p>
            <a:r>
              <a:rPr lang="en-US" sz="4000" dirty="0">
                <a:latin typeface="Avenir Book" panose="02000503020000020003" pitchFamily="2" charset="0"/>
              </a:rPr>
              <a:t>Infallibilism </a:t>
            </a:r>
          </a:p>
        </p:txBody>
      </p:sp>
      <p:sp>
        <p:nvSpPr>
          <p:cNvPr id="3" name="Content Placeholder 2">
            <a:extLst>
              <a:ext uri="{FF2B5EF4-FFF2-40B4-BE49-F238E27FC236}">
                <a16:creationId xmlns:a16="http://schemas.microsoft.com/office/drawing/2014/main" id="{681D8B0A-D29F-4D4B-D598-7ADD5351E9BB}"/>
              </a:ext>
            </a:extLst>
          </p:cNvPr>
          <p:cNvSpPr>
            <a:spLocks noGrp="1"/>
          </p:cNvSpPr>
          <p:nvPr>
            <p:ph idx="1"/>
          </p:nvPr>
        </p:nvSpPr>
        <p:spPr>
          <a:xfrm>
            <a:off x="1251678" y="1371600"/>
            <a:ext cx="10178322" cy="4731487"/>
          </a:xfrm>
        </p:spPr>
        <p:txBody>
          <a:bodyPr/>
          <a:lstStyle/>
          <a:p>
            <a:pPr marL="0" indent="0">
              <a:buNone/>
            </a:pPr>
            <a:r>
              <a:rPr lang="en-US" sz="2400" dirty="0">
                <a:solidFill>
                  <a:schemeClr val="tx1"/>
                </a:solidFill>
                <a:latin typeface="Avenir Book" panose="02000503020000020003" pitchFamily="2" charset="0"/>
              </a:rPr>
              <a:t>Two problems with infallibilism </a:t>
            </a:r>
          </a:p>
          <a:p>
            <a:endParaRPr lang="en-US" dirty="0">
              <a:latin typeface="Avenir Book" panose="02000503020000020003" pitchFamily="2" charset="0"/>
            </a:endParaRPr>
          </a:p>
          <a:p>
            <a:pPr marL="457200" indent="-457200" algn="just">
              <a:buAutoNum type="arabicParenBoth"/>
            </a:pPr>
            <a:r>
              <a:rPr lang="en-US" sz="2400" dirty="0">
                <a:solidFill>
                  <a:schemeClr val="tx1"/>
                </a:solidFill>
                <a:latin typeface="Avenir Book" panose="02000503020000020003" pitchFamily="2" charset="0"/>
              </a:rPr>
              <a:t>if infallibilism is true then we have very little knowledge. This is because the level of justification we would need for knowledge would be too high. </a:t>
            </a:r>
          </a:p>
          <a:p>
            <a:pPr marL="457200" indent="-457200" algn="just">
              <a:buAutoNum type="arabicParenBoth"/>
            </a:pPr>
            <a:endParaRPr lang="en-US" sz="2400" dirty="0">
              <a:solidFill>
                <a:schemeClr val="tx1"/>
              </a:solidFill>
              <a:latin typeface="Avenir Book" panose="02000503020000020003" pitchFamily="2" charset="0"/>
            </a:endParaRPr>
          </a:p>
          <a:p>
            <a:pPr marL="457200" indent="-457200" algn="just">
              <a:buAutoNum type="arabicParenBoth"/>
            </a:pPr>
            <a:r>
              <a:rPr lang="en-US" sz="2400" dirty="0">
                <a:solidFill>
                  <a:schemeClr val="tx1"/>
                </a:solidFill>
                <a:latin typeface="Avenir Book" panose="02000503020000020003" pitchFamily="2" charset="0"/>
              </a:rPr>
              <a:t>Might infallibility be a vice rather than a virtue, which does not allow us to have a definition of knowledge that is broader?</a:t>
            </a:r>
          </a:p>
        </p:txBody>
      </p:sp>
    </p:spTree>
    <p:extLst>
      <p:ext uri="{BB962C8B-B14F-4D97-AF65-F5344CB8AC3E}">
        <p14:creationId xmlns:p14="http://schemas.microsoft.com/office/powerpoint/2010/main" val="132950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D876A-7EEA-F74D-F347-A583335DE9AD}"/>
              </a:ext>
            </a:extLst>
          </p:cNvPr>
          <p:cNvSpPr>
            <a:spLocks noGrp="1"/>
          </p:cNvSpPr>
          <p:nvPr>
            <p:ph type="title"/>
          </p:nvPr>
        </p:nvSpPr>
        <p:spPr>
          <a:xfrm>
            <a:off x="1251678" y="520995"/>
            <a:ext cx="10178322" cy="669852"/>
          </a:xfrm>
        </p:spPr>
        <p:txBody>
          <a:bodyPr>
            <a:normAutofit/>
          </a:bodyPr>
          <a:lstStyle/>
          <a:p>
            <a:r>
              <a:rPr lang="en-US" sz="4000" dirty="0">
                <a:latin typeface="Avenir Book" panose="02000503020000020003" pitchFamily="2" charset="0"/>
              </a:rPr>
              <a:t>Ambiguity of infallibilism</a:t>
            </a:r>
          </a:p>
        </p:txBody>
      </p:sp>
      <p:sp>
        <p:nvSpPr>
          <p:cNvPr id="3" name="Content Placeholder 2">
            <a:extLst>
              <a:ext uri="{FF2B5EF4-FFF2-40B4-BE49-F238E27FC236}">
                <a16:creationId xmlns:a16="http://schemas.microsoft.com/office/drawing/2014/main" id="{30DE8829-C66D-C046-F830-1B5E0905A536}"/>
              </a:ext>
            </a:extLst>
          </p:cNvPr>
          <p:cNvSpPr>
            <a:spLocks noGrp="1"/>
          </p:cNvSpPr>
          <p:nvPr>
            <p:ph idx="1"/>
          </p:nvPr>
        </p:nvSpPr>
        <p:spPr>
          <a:xfrm>
            <a:off x="1251678" y="1871331"/>
            <a:ext cx="10178322" cy="4008262"/>
          </a:xfrm>
        </p:spPr>
        <p:txBody>
          <a:bodyPr>
            <a:normAutofit/>
          </a:bodyPr>
          <a:lstStyle/>
          <a:p>
            <a:pPr algn="just"/>
            <a:r>
              <a:rPr lang="en-US" sz="2800" dirty="0">
                <a:solidFill>
                  <a:schemeClr val="tx1"/>
                </a:solidFill>
                <a:latin typeface="Avenir Book" panose="02000503020000020003" pitchFamily="2" charset="0"/>
              </a:rPr>
              <a:t>There is a difference between the following to propositions.  </a:t>
            </a:r>
          </a:p>
          <a:p>
            <a:pPr algn="just"/>
            <a:endParaRPr lang="en-US" sz="2800" dirty="0">
              <a:solidFill>
                <a:schemeClr val="tx1"/>
              </a:solidFill>
              <a:latin typeface="Avenir Book" panose="02000503020000020003" pitchFamily="2" charset="0"/>
            </a:endParaRPr>
          </a:p>
          <a:p>
            <a:pPr algn="just"/>
            <a:r>
              <a:rPr lang="en-US" sz="2800" dirty="0">
                <a:solidFill>
                  <a:schemeClr val="tx1"/>
                </a:solidFill>
                <a:latin typeface="Avenir Book" panose="02000503020000020003" pitchFamily="2" charset="0"/>
              </a:rPr>
              <a:t>(1) I can’t know what is false. – This is correct. </a:t>
            </a:r>
          </a:p>
          <a:p>
            <a:pPr algn="just"/>
            <a:r>
              <a:rPr lang="en-US" sz="2800" dirty="0">
                <a:solidFill>
                  <a:schemeClr val="tx1"/>
                </a:solidFill>
                <a:latin typeface="Avenir Book" panose="02000503020000020003" pitchFamily="2" charset="0"/>
              </a:rPr>
              <a:t>(2) If I know I can’t possibly have been mistaken. – This is not correct, because even when we know, from sense-perception, that does not mean we were guaranteed to know. </a:t>
            </a:r>
            <a:r>
              <a:rPr lang="en-US" sz="2800" i="1" dirty="0">
                <a:solidFill>
                  <a:schemeClr val="tx1"/>
                </a:solidFill>
                <a:latin typeface="Avenir Book" panose="02000503020000020003" pitchFamily="2" charset="0"/>
              </a:rPr>
              <a:t>Infallibilism seems to go with this stronger claim. </a:t>
            </a:r>
          </a:p>
        </p:txBody>
      </p:sp>
    </p:spTree>
    <p:extLst>
      <p:ext uri="{BB962C8B-B14F-4D97-AF65-F5344CB8AC3E}">
        <p14:creationId xmlns:p14="http://schemas.microsoft.com/office/powerpoint/2010/main" val="9011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F492B-E35A-EBDC-5475-C146F0A3041A}"/>
              </a:ext>
            </a:extLst>
          </p:cNvPr>
          <p:cNvSpPr>
            <a:spLocks noGrp="1"/>
          </p:cNvSpPr>
          <p:nvPr>
            <p:ph type="title"/>
          </p:nvPr>
        </p:nvSpPr>
        <p:spPr>
          <a:xfrm>
            <a:off x="1251678" y="382385"/>
            <a:ext cx="10178322" cy="723401"/>
          </a:xfrm>
        </p:spPr>
        <p:txBody>
          <a:bodyPr>
            <a:normAutofit/>
          </a:bodyPr>
          <a:lstStyle/>
          <a:p>
            <a:r>
              <a:rPr lang="en-US" sz="4000" dirty="0">
                <a:latin typeface="Avenir Book" panose="02000503020000020003" pitchFamily="2" charset="0"/>
              </a:rPr>
              <a:t>Questions</a:t>
            </a:r>
          </a:p>
        </p:txBody>
      </p:sp>
      <p:sp>
        <p:nvSpPr>
          <p:cNvPr id="3" name="Content Placeholder 2">
            <a:extLst>
              <a:ext uri="{FF2B5EF4-FFF2-40B4-BE49-F238E27FC236}">
                <a16:creationId xmlns:a16="http://schemas.microsoft.com/office/drawing/2014/main" id="{7471774D-4DAA-46C4-0D47-41ECFD0B3F98}"/>
              </a:ext>
            </a:extLst>
          </p:cNvPr>
          <p:cNvSpPr>
            <a:spLocks noGrp="1"/>
          </p:cNvSpPr>
          <p:nvPr>
            <p:ph idx="1"/>
          </p:nvPr>
        </p:nvSpPr>
        <p:spPr>
          <a:xfrm>
            <a:off x="1251678" y="1424763"/>
            <a:ext cx="10178322" cy="4454829"/>
          </a:xfrm>
        </p:spPr>
        <p:txBody>
          <a:bodyPr>
            <a:normAutofit lnSpcReduction="10000"/>
          </a:bodyPr>
          <a:lstStyle/>
          <a:p>
            <a:r>
              <a:rPr lang="en-US" sz="2800" dirty="0">
                <a:solidFill>
                  <a:schemeClr val="tx1"/>
                </a:solidFill>
                <a:latin typeface="Avenir Book" panose="02000503020000020003" pitchFamily="2" charset="0"/>
              </a:rPr>
              <a:t>1. What is infallibilism? (3)</a:t>
            </a:r>
          </a:p>
          <a:p>
            <a:r>
              <a:rPr lang="en-US" sz="2800" dirty="0">
                <a:solidFill>
                  <a:schemeClr val="tx1"/>
                </a:solidFill>
                <a:latin typeface="Avenir Book" panose="02000503020000020003" pitchFamily="2" charset="0"/>
              </a:rPr>
              <a:t>2. Explain the difference between feeling certain about a belief and being certain because you have entertained the belief. (5)</a:t>
            </a:r>
          </a:p>
          <a:p>
            <a:r>
              <a:rPr lang="en-US" sz="2800" dirty="0">
                <a:solidFill>
                  <a:schemeClr val="tx1"/>
                </a:solidFill>
                <a:latin typeface="Avenir Book" panose="02000503020000020003" pitchFamily="2" charset="0"/>
              </a:rPr>
              <a:t>3. Explain what the difference between the claim, that ‘You cannot know what is false’ and the claim that ’when you know you could not possibly have been wrong’. (5)</a:t>
            </a:r>
          </a:p>
          <a:p>
            <a:r>
              <a:rPr lang="en-US" sz="2800" dirty="0">
                <a:solidFill>
                  <a:schemeClr val="tx1"/>
                </a:solidFill>
                <a:latin typeface="Avenir Book" panose="02000503020000020003" pitchFamily="2" charset="0"/>
              </a:rPr>
              <a:t>4. Outline and explain how infallibilism tries to solve with the Gettier problem. (12)</a:t>
            </a:r>
          </a:p>
        </p:txBody>
      </p:sp>
    </p:spTree>
    <p:extLst>
      <p:ext uri="{BB962C8B-B14F-4D97-AF65-F5344CB8AC3E}">
        <p14:creationId xmlns:p14="http://schemas.microsoft.com/office/powerpoint/2010/main" val="2684352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F492B-E35A-EBDC-5475-C146F0A3041A}"/>
              </a:ext>
            </a:extLst>
          </p:cNvPr>
          <p:cNvSpPr>
            <a:spLocks noGrp="1"/>
          </p:cNvSpPr>
          <p:nvPr>
            <p:ph type="title"/>
          </p:nvPr>
        </p:nvSpPr>
        <p:spPr>
          <a:xfrm>
            <a:off x="1251678" y="382385"/>
            <a:ext cx="10178322" cy="723401"/>
          </a:xfrm>
        </p:spPr>
        <p:txBody>
          <a:bodyPr>
            <a:normAutofit/>
          </a:bodyPr>
          <a:lstStyle/>
          <a:p>
            <a:r>
              <a:rPr lang="en-US" sz="4000" dirty="0">
                <a:latin typeface="Avenir Book" panose="02000503020000020003" pitchFamily="2" charset="0"/>
              </a:rPr>
              <a:t>Question 1: answer plan</a:t>
            </a:r>
          </a:p>
        </p:txBody>
      </p:sp>
      <p:sp>
        <p:nvSpPr>
          <p:cNvPr id="3" name="Content Placeholder 2">
            <a:extLst>
              <a:ext uri="{FF2B5EF4-FFF2-40B4-BE49-F238E27FC236}">
                <a16:creationId xmlns:a16="http://schemas.microsoft.com/office/drawing/2014/main" id="{7471774D-4DAA-46C4-0D47-41ECFD0B3F98}"/>
              </a:ext>
            </a:extLst>
          </p:cNvPr>
          <p:cNvSpPr>
            <a:spLocks noGrp="1"/>
          </p:cNvSpPr>
          <p:nvPr>
            <p:ph idx="1"/>
          </p:nvPr>
        </p:nvSpPr>
        <p:spPr>
          <a:xfrm>
            <a:off x="1251678" y="1424763"/>
            <a:ext cx="10178322" cy="4454829"/>
          </a:xfrm>
        </p:spPr>
        <p:txBody>
          <a:bodyPr>
            <a:normAutofit/>
          </a:bodyPr>
          <a:lstStyle/>
          <a:p>
            <a:pPr marL="0" indent="0">
              <a:spcBef>
                <a:spcPts val="1400"/>
              </a:spcBef>
              <a:buNone/>
            </a:pPr>
            <a:r>
              <a:rPr lang="en-GB" sz="2000" b="1" dirty="0">
                <a:solidFill>
                  <a:schemeClr val="tx1"/>
                </a:solidFill>
                <a:latin typeface="Avenir Book" panose="02000503020000020003" pitchFamily="2" charset="0"/>
              </a:rPr>
              <a:t>Aim:</a:t>
            </a:r>
            <a:r>
              <a:rPr lang="en-GB" sz="2000" dirty="0">
                <a:solidFill>
                  <a:schemeClr val="tx1"/>
                </a:solidFill>
                <a:latin typeface="Avenir Book" panose="02000503020000020003" pitchFamily="2" charset="0"/>
              </a:rPr>
              <a:t> a precise definition in two or three sentences. No examples needed.</a:t>
            </a:r>
          </a:p>
          <a:p>
            <a:pPr>
              <a:spcBef>
                <a:spcPts val="1400"/>
              </a:spcBef>
            </a:pPr>
            <a:r>
              <a:rPr lang="en-GB" sz="2000" dirty="0">
                <a:solidFill>
                  <a:schemeClr val="tx1"/>
                </a:solidFill>
                <a:latin typeface="Avenir Book" panose="02000503020000020003" pitchFamily="2" charset="0"/>
              </a:rPr>
              <a:t>Infallibilism is a theory of </a:t>
            </a:r>
            <a:r>
              <a:rPr lang="en-GB" sz="2000" b="1" dirty="0">
                <a:solidFill>
                  <a:schemeClr val="tx1"/>
                </a:solidFill>
                <a:latin typeface="Avenir Book" panose="02000503020000020003" pitchFamily="2" charset="0"/>
              </a:rPr>
              <a:t>justification</a:t>
            </a:r>
            <a:r>
              <a:rPr lang="en-GB" sz="2000" dirty="0">
                <a:solidFill>
                  <a:schemeClr val="tx1"/>
                </a:solidFill>
                <a:latin typeface="Avenir Book" panose="02000503020000020003" pitchFamily="2" charset="0"/>
              </a:rPr>
              <a:t>: a belief is only knowledge if its justification </a:t>
            </a:r>
            <a:r>
              <a:rPr lang="en-GB" sz="2000" b="1" dirty="0">
                <a:solidFill>
                  <a:schemeClr val="tx1"/>
                </a:solidFill>
                <a:latin typeface="Avenir Book" panose="02000503020000020003" pitchFamily="2" charset="0"/>
              </a:rPr>
              <a:t>guarantees</a:t>
            </a:r>
            <a:r>
              <a:rPr lang="en-GB" sz="2000" dirty="0">
                <a:solidFill>
                  <a:schemeClr val="tx1"/>
                </a:solidFill>
                <a:latin typeface="Avenir Book" panose="02000503020000020003" pitchFamily="2" charset="0"/>
              </a:rPr>
              <a:t> that it is true.</a:t>
            </a:r>
          </a:p>
          <a:p>
            <a:pPr>
              <a:spcBef>
                <a:spcPts val="1400"/>
              </a:spcBef>
            </a:pPr>
            <a:r>
              <a:rPr lang="en-GB" sz="2000" dirty="0">
                <a:solidFill>
                  <a:schemeClr val="tx1"/>
                </a:solidFill>
                <a:latin typeface="Avenir Book" panose="02000503020000020003" pitchFamily="2" charset="0"/>
              </a:rPr>
              <a:t>So knowledge requires </a:t>
            </a:r>
            <a:r>
              <a:rPr lang="en-GB" sz="2000" b="1" dirty="0">
                <a:solidFill>
                  <a:schemeClr val="tx1"/>
                </a:solidFill>
                <a:latin typeface="Avenir Book" panose="02000503020000020003" pitchFamily="2" charset="0"/>
              </a:rPr>
              <a:t>certainty</a:t>
            </a:r>
            <a:r>
              <a:rPr lang="en-GB" sz="2000" dirty="0">
                <a:solidFill>
                  <a:schemeClr val="tx1"/>
                </a:solidFill>
                <a:latin typeface="Avenir Book" panose="02000503020000020003" pitchFamily="2" charset="0"/>
              </a:rPr>
              <a:t>: if it is possible to doubt P, then you do not know P.</a:t>
            </a:r>
          </a:p>
          <a:p>
            <a:pPr>
              <a:spcBef>
                <a:spcPts val="1400"/>
              </a:spcBef>
            </a:pPr>
            <a:r>
              <a:rPr lang="en-GB" sz="2000" dirty="0">
                <a:solidFill>
                  <a:schemeClr val="tx1"/>
                </a:solidFill>
                <a:latin typeface="Avenir Book" panose="02000503020000020003" pitchFamily="2" charset="0"/>
              </a:rPr>
              <a:t>It keeps the </a:t>
            </a:r>
            <a:r>
              <a:rPr lang="en-GB" sz="2000" b="1" dirty="0">
                <a:solidFill>
                  <a:schemeClr val="tx1"/>
                </a:solidFill>
                <a:latin typeface="Avenir Book" panose="02000503020000020003" pitchFamily="2" charset="0"/>
              </a:rPr>
              <a:t>tripartite (JTB) definition</a:t>
            </a:r>
            <a:r>
              <a:rPr lang="en-GB" sz="2000" dirty="0">
                <a:solidFill>
                  <a:schemeClr val="tx1"/>
                </a:solidFill>
                <a:latin typeface="Avenir Book" panose="02000503020000020003" pitchFamily="2" charset="0"/>
              </a:rPr>
              <a:t> but raises the standard for the justification condition.</a:t>
            </a:r>
          </a:p>
        </p:txBody>
      </p:sp>
    </p:spTree>
    <p:extLst>
      <p:ext uri="{BB962C8B-B14F-4D97-AF65-F5344CB8AC3E}">
        <p14:creationId xmlns:p14="http://schemas.microsoft.com/office/powerpoint/2010/main" val="3149305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F492B-E35A-EBDC-5475-C146F0A3041A}"/>
              </a:ext>
            </a:extLst>
          </p:cNvPr>
          <p:cNvSpPr>
            <a:spLocks noGrp="1"/>
          </p:cNvSpPr>
          <p:nvPr>
            <p:ph type="title"/>
          </p:nvPr>
        </p:nvSpPr>
        <p:spPr>
          <a:xfrm>
            <a:off x="1251678" y="382385"/>
            <a:ext cx="10178322" cy="723401"/>
          </a:xfrm>
        </p:spPr>
        <p:txBody>
          <a:bodyPr>
            <a:normAutofit/>
          </a:bodyPr>
          <a:lstStyle/>
          <a:p>
            <a:r>
              <a:rPr lang="en-US" sz="4000" dirty="0">
                <a:latin typeface="Avenir Book" panose="02000503020000020003" pitchFamily="2" charset="0"/>
              </a:rPr>
              <a:t>Question 2: answer plan</a:t>
            </a:r>
          </a:p>
        </p:txBody>
      </p:sp>
      <p:sp>
        <p:nvSpPr>
          <p:cNvPr id="3" name="Content Placeholder 2">
            <a:extLst>
              <a:ext uri="{FF2B5EF4-FFF2-40B4-BE49-F238E27FC236}">
                <a16:creationId xmlns:a16="http://schemas.microsoft.com/office/drawing/2014/main" id="{7471774D-4DAA-46C4-0D47-41ECFD0B3F98}"/>
              </a:ext>
            </a:extLst>
          </p:cNvPr>
          <p:cNvSpPr>
            <a:spLocks noGrp="1"/>
          </p:cNvSpPr>
          <p:nvPr>
            <p:ph idx="1"/>
          </p:nvPr>
        </p:nvSpPr>
        <p:spPr>
          <a:xfrm>
            <a:off x="1251678" y="1424763"/>
            <a:ext cx="10178322" cy="4454829"/>
          </a:xfrm>
        </p:spPr>
        <p:txBody>
          <a:bodyPr>
            <a:normAutofit/>
          </a:bodyPr>
          <a:lstStyle/>
          <a:p>
            <a:pPr marL="0" indent="0">
              <a:spcBef>
                <a:spcPts val="900"/>
              </a:spcBef>
              <a:buNone/>
            </a:pPr>
            <a:r>
              <a:rPr lang="en-GB" sz="2000" b="1" dirty="0">
                <a:solidFill>
                  <a:schemeClr val="tx1"/>
                </a:solidFill>
                <a:latin typeface="Avenir Book" panose="02000503020000020003" pitchFamily="2" charset="0"/>
              </a:rPr>
              <a:t>Plan:</a:t>
            </a:r>
            <a:r>
              <a:rPr lang="en-GB" sz="2000" dirty="0">
                <a:solidFill>
                  <a:schemeClr val="tx1"/>
                </a:solidFill>
                <a:latin typeface="Avenir Book" panose="02000503020000020003" pitchFamily="2" charset="0"/>
              </a:rPr>
              <a:t> define each kind, give one example of each, then state the difference.</a:t>
            </a:r>
          </a:p>
          <a:p>
            <a:pPr>
              <a:spcBef>
                <a:spcPts val="900"/>
              </a:spcBef>
            </a:pPr>
            <a:r>
              <a:rPr lang="en-GB" sz="2000" b="1" dirty="0">
                <a:solidFill>
                  <a:schemeClr val="tx1"/>
                </a:solidFill>
                <a:latin typeface="Avenir Book" panose="02000503020000020003" pitchFamily="2" charset="0"/>
              </a:rPr>
              <a:t>Feeling certain</a:t>
            </a:r>
            <a:r>
              <a:rPr lang="en-GB" sz="2000" dirty="0">
                <a:solidFill>
                  <a:schemeClr val="tx1"/>
                </a:solidFill>
                <a:latin typeface="Avenir Book" panose="02000503020000020003" pitchFamily="2" charset="0"/>
              </a:rPr>
              <a:t> is a </a:t>
            </a:r>
            <a:r>
              <a:rPr lang="en-GB" sz="2000" b="1" dirty="0">
                <a:solidFill>
                  <a:schemeClr val="tx1"/>
                </a:solidFill>
                <a:latin typeface="Avenir Book" panose="02000503020000020003" pitchFamily="2" charset="0"/>
              </a:rPr>
              <a:t>psychological</a:t>
            </a:r>
            <a:r>
              <a:rPr lang="en-GB" sz="2000" dirty="0">
                <a:solidFill>
                  <a:schemeClr val="tx1"/>
                </a:solidFill>
                <a:latin typeface="Avenir Book" panose="02000503020000020003" pitchFamily="2" charset="0"/>
              </a:rPr>
              <a:t> state: strong confidence in a belief. Someone can feel certain the earth is flat and still be wrong, so the feeling is not justification.</a:t>
            </a:r>
          </a:p>
          <a:p>
            <a:pPr>
              <a:spcBef>
                <a:spcPts val="900"/>
              </a:spcBef>
            </a:pPr>
            <a:r>
              <a:rPr lang="en-GB" sz="2000" b="1" dirty="0">
                <a:solidFill>
                  <a:schemeClr val="tx1"/>
                </a:solidFill>
                <a:latin typeface="Avenir Book" panose="02000503020000020003" pitchFamily="2" charset="0"/>
              </a:rPr>
              <a:t>Certainty from entertaining a belief</a:t>
            </a:r>
            <a:r>
              <a:rPr lang="en-GB" sz="2000" dirty="0">
                <a:solidFill>
                  <a:schemeClr val="tx1"/>
                </a:solidFill>
                <a:latin typeface="Avenir Book" panose="02000503020000020003" pitchFamily="2" charset="0"/>
              </a:rPr>
              <a:t> means the belief is </a:t>
            </a:r>
            <a:r>
              <a:rPr lang="en-GB" sz="2000" b="1" dirty="0">
                <a:solidFill>
                  <a:schemeClr val="tx1"/>
                </a:solidFill>
                <a:latin typeface="Avenir Book" panose="02000503020000020003" pitchFamily="2" charset="0"/>
              </a:rPr>
              <a:t>impossible to doubt</a:t>
            </a:r>
            <a:r>
              <a:rPr lang="en-GB" sz="2000" dirty="0">
                <a:solidFill>
                  <a:schemeClr val="tx1"/>
                </a:solidFill>
                <a:latin typeface="Avenir Book" panose="02000503020000020003" pitchFamily="2" charset="0"/>
              </a:rPr>
              <a:t> while you consider it, because considering it confirms it.</a:t>
            </a:r>
          </a:p>
          <a:p>
            <a:pPr>
              <a:spcBef>
                <a:spcPts val="900"/>
              </a:spcBef>
            </a:pPr>
            <a:r>
              <a:rPr lang="en-GB" sz="2000" dirty="0">
                <a:solidFill>
                  <a:schemeClr val="tx1"/>
                </a:solidFill>
                <a:latin typeface="Avenir Book" panose="02000503020000020003" pitchFamily="2" charset="0"/>
              </a:rPr>
              <a:t>Example: Descartes’ </a:t>
            </a:r>
            <a:r>
              <a:rPr lang="en-GB" sz="2000" b="1" dirty="0">
                <a:solidFill>
                  <a:schemeClr val="tx1"/>
                </a:solidFill>
                <a:latin typeface="Avenir Book" panose="02000503020000020003" pitchFamily="2" charset="0"/>
              </a:rPr>
              <a:t>cogito</a:t>
            </a:r>
            <a:r>
              <a:rPr lang="en-GB" sz="2000" dirty="0">
                <a:solidFill>
                  <a:schemeClr val="tx1"/>
                </a:solidFill>
                <a:latin typeface="Avenir Book" panose="02000503020000020003" pitchFamily="2" charset="0"/>
              </a:rPr>
              <a:t>. Doubting that I am thinking is itself thinking, so the belief cannot be false while I hold it.</a:t>
            </a:r>
          </a:p>
          <a:p>
            <a:pPr>
              <a:spcBef>
                <a:spcPts val="900"/>
              </a:spcBef>
            </a:pPr>
            <a:r>
              <a:rPr lang="en-GB" sz="2000" b="1" dirty="0">
                <a:solidFill>
                  <a:schemeClr val="tx1"/>
                </a:solidFill>
                <a:latin typeface="Avenir Book" panose="02000503020000020003" pitchFamily="2" charset="0"/>
              </a:rPr>
              <a:t>The difference:</a:t>
            </a:r>
            <a:r>
              <a:rPr lang="en-GB" sz="2000" dirty="0">
                <a:solidFill>
                  <a:schemeClr val="tx1"/>
                </a:solidFill>
                <a:latin typeface="Avenir Book" panose="02000503020000020003" pitchFamily="2" charset="0"/>
              </a:rPr>
              <a:t> the first is about the </a:t>
            </a:r>
            <a:r>
              <a:rPr lang="en-GB" sz="2000" b="1" dirty="0">
                <a:solidFill>
                  <a:schemeClr val="tx1"/>
                </a:solidFill>
                <a:latin typeface="Avenir Book" panose="02000503020000020003" pitchFamily="2" charset="0"/>
              </a:rPr>
              <a:t>believer</a:t>
            </a:r>
            <a:r>
              <a:rPr lang="en-GB" sz="2000" dirty="0">
                <a:solidFill>
                  <a:schemeClr val="tx1"/>
                </a:solidFill>
                <a:latin typeface="Avenir Book" panose="02000503020000020003" pitchFamily="2" charset="0"/>
              </a:rPr>
              <a:t> (subjective, can be mistaken); the second is about the </a:t>
            </a:r>
            <a:r>
              <a:rPr lang="en-GB" sz="2000" b="1" dirty="0">
                <a:solidFill>
                  <a:schemeClr val="tx1"/>
                </a:solidFill>
                <a:latin typeface="Avenir Book" panose="02000503020000020003" pitchFamily="2" charset="0"/>
              </a:rPr>
              <a:t>belief</a:t>
            </a:r>
            <a:r>
              <a:rPr lang="en-GB" sz="2000" dirty="0">
                <a:solidFill>
                  <a:schemeClr val="tx1"/>
                </a:solidFill>
                <a:latin typeface="Avenir Book" panose="02000503020000020003" pitchFamily="2" charset="0"/>
              </a:rPr>
              <a:t> (self-confirming, cannot be false). Only the second could meet the infallibilist standard.</a:t>
            </a:r>
          </a:p>
        </p:txBody>
      </p:sp>
    </p:spTree>
    <p:extLst>
      <p:ext uri="{BB962C8B-B14F-4D97-AF65-F5344CB8AC3E}">
        <p14:creationId xmlns:p14="http://schemas.microsoft.com/office/powerpoint/2010/main" val="277052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F492B-E35A-EBDC-5475-C146F0A3041A}"/>
              </a:ext>
            </a:extLst>
          </p:cNvPr>
          <p:cNvSpPr>
            <a:spLocks noGrp="1"/>
          </p:cNvSpPr>
          <p:nvPr>
            <p:ph type="title"/>
          </p:nvPr>
        </p:nvSpPr>
        <p:spPr>
          <a:xfrm>
            <a:off x="1251678" y="382385"/>
            <a:ext cx="10178322" cy="723401"/>
          </a:xfrm>
        </p:spPr>
        <p:txBody>
          <a:bodyPr>
            <a:normAutofit/>
          </a:bodyPr>
          <a:lstStyle/>
          <a:p>
            <a:r>
              <a:rPr lang="en-US" sz="4000" dirty="0">
                <a:latin typeface="Avenir Book" panose="02000503020000020003" pitchFamily="2" charset="0"/>
              </a:rPr>
              <a:t>Question 3: answer plan</a:t>
            </a:r>
          </a:p>
        </p:txBody>
      </p:sp>
      <p:sp>
        <p:nvSpPr>
          <p:cNvPr id="3" name="Content Placeholder 2">
            <a:extLst>
              <a:ext uri="{FF2B5EF4-FFF2-40B4-BE49-F238E27FC236}">
                <a16:creationId xmlns:a16="http://schemas.microsoft.com/office/drawing/2014/main" id="{7471774D-4DAA-46C4-0D47-41ECFD0B3F98}"/>
              </a:ext>
            </a:extLst>
          </p:cNvPr>
          <p:cNvSpPr>
            <a:spLocks noGrp="1"/>
          </p:cNvSpPr>
          <p:nvPr>
            <p:ph idx="1"/>
          </p:nvPr>
        </p:nvSpPr>
        <p:spPr>
          <a:xfrm>
            <a:off x="1251678" y="1424763"/>
            <a:ext cx="10178322" cy="4454829"/>
          </a:xfrm>
        </p:spPr>
        <p:txBody>
          <a:bodyPr>
            <a:normAutofit/>
          </a:bodyPr>
          <a:lstStyle/>
          <a:p>
            <a:pPr marL="0" indent="0">
              <a:spcBef>
                <a:spcPts val="900"/>
              </a:spcBef>
              <a:buNone/>
            </a:pPr>
            <a:r>
              <a:rPr lang="en-GB" sz="2000" b="1" dirty="0">
                <a:solidFill>
                  <a:schemeClr val="tx1"/>
                </a:solidFill>
                <a:latin typeface="Avenir Book" panose="02000503020000020003" pitchFamily="2" charset="0"/>
              </a:rPr>
              <a:t>Plan:</a:t>
            </a:r>
            <a:r>
              <a:rPr lang="en-GB" sz="2000" dirty="0">
                <a:solidFill>
                  <a:schemeClr val="tx1"/>
                </a:solidFill>
                <a:latin typeface="Avenir Book" panose="02000503020000020003" pitchFamily="2" charset="0"/>
              </a:rPr>
              <a:t> explain claim 1, explain claim 2, give an example that separates them, conclude.</a:t>
            </a:r>
          </a:p>
          <a:p>
            <a:pPr>
              <a:spcBef>
                <a:spcPts val="900"/>
              </a:spcBef>
            </a:pPr>
            <a:r>
              <a:rPr lang="en-GB" sz="2000" b="1" dirty="0">
                <a:solidFill>
                  <a:schemeClr val="tx1"/>
                </a:solidFill>
                <a:latin typeface="Avenir Book" panose="02000503020000020003" pitchFamily="2" charset="0"/>
              </a:rPr>
              <a:t>“You cannot know what is false”</a:t>
            </a:r>
            <a:r>
              <a:rPr lang="en-GB" sz="2000" dirty="0">
                <a:solidFill>
                  <a:schemeClr val="tx1"/>
                </a:solidFill>
                <a:latin typeface="Avenir Book" panose="02000503020000020003" pitchFamily="2" charset="0"/>
              </a:rPr>
              <a:t> is true by definition: knowledge requires truth, so if I know P, P is true. It describes what knowledge </a:t>
            </a:r>
            <a:r>
              <a:rPr lang="en-GB" sz="2000" b="1" dirty="0">
                <a:solidFill>
                  <a:schemeClr val="tx1"/>
                </a:solidFill>
                <a:latin typeface="Avenir Book" panose="02000503020000020003" pitchFamily="2" charset="0"/>
              </a:rPr>
              <a:t>is</a:t>
            </a:r>
            <a:r>
              <a:rPr lang="en-GB" sz="2000" dirty="0">
                <a:solidFill>
                  <a:schemeClr val="tx1"/>
                </a:solidFill>
                <a:latin typeface="Avenir Book" panose="02000503020000020003" pitchFamily="2" charset="0"/>
              </a:rPr>
              <a:t>.</a:t>
            </a:r>
          </a:p>
          <a:p>
            <a:pPr>
              <a:spcBef>
                <a:spcPts val="900"/>
              </a:spcBef>
            </a:pPr>
            <a:r>
              <a:rPr lang="en-GB" sz="2000" b="1" dirty="0">
                <a:solidFill>
                  <a:schemeClr val="tx1"/>
                </a:solidFill>
                <a:latin typeface="Avenir Book" panose="02000503020000020003" pitchFamily="2" charset="0"/>
              </a:rPr>
              <a:t>“If you know, you could not possibly have been wrong”</a:t>
            </a:r>
            <a:r>
              <a:rPr lang="en-GB" sz="2000" dirty="0">
                <a:solidFill>
                  <a:schemeClr val="tx1"/>
                </a:solidFill>
                <a:latin typeface="Avenir Book" panose="02000503020000020003" pitchFamily="2" charset="0"/>
              </a:rPr>
              <a:t> is a much stronger claim about </a:t>
            </a:r>
            <a:r>
              <a:rPr lang="en-GB" sz="2000" b="1" dirty="0">
                <a:solidFill>
                  <a:schemeClr val="tx1"/>
                </a:solidFill>
                <a:latin typeface="Avenir Book" panose="02000503020000020003" pitchFamily="2" charset="0"/>
              </a:rPr>
              <a:t>justification</a:t>
            </a:r>
            <a:r>
              <a:rPr lang="en-GB" sz="2000" dirty="0">
                <a:solidFill>
                  <a:schemeClr val="tx1"/>
                </a:solidFill>
                <a:latin typeface="Avenir Book" panose="02000503020000020003" pitchFamily="2" charset="0"/>
              </a:rPr>
              <a:t>: my evidence must rule out every possibility of error.</a:t>
            </a:r>
          </a:p>
          <a:p>
            <a:pPr>
              <a:spcBef>
                <a:spcPts val="900"/>
              </a:spcBef>
            </a:pPr>
            <a:r>
              <a:rPr lang="en-GB" sz="2000" b="1" dirty="0">
                <a:solidFill>
                  <a:schemeClr val="tx1"/>
                </a:solidFill>
                <a:latin typeface="Avenir Book" panose="02000503020000020003" pitchFamily="2" charset="0"/>
              </a:rPr>
              <a:t>Example:</a:t>
            </a:r>
            <a:r>
              <a:rPr lang="en-GB" sz="2000" dirty="0">
                <a:solidFill>
                  <a:schemeClr val="tx1"/>
                </a:solidFill>
                <a:latin typeface="Avenir Book" panose="02000503020000020003" pitchFamily="2" charset="0"/>
              </a:rPr>
              <a:t> I see my keys on the table and know they are there. P is true, so claim 1 is met. But my eyes could have misled me, so claim 2 fails, yet we still call it knowledge.</a:t>
            </a:r>
          </a:p>
          <a:p>
            <a:pPr>
              <a:spcBef>
                <a:spcPts val="900"/>
              </a:spcBef>
            </a:pPr>
            <a:r>
              <a:rPr lang="en-GB" sz="2000" b="1" dirty="0">
                <a:solidFill>
                  <a:schemeClr val="tx1"/>
                </a:solidFill>
                <a:latin typeface="Avenir Book" panose="02000503020000020003" pitchFamily="2" charset="0"/>
              </a:rPr>
              <a:t>Conclusion:</a:t>
            </a:r>
            <a:r>
              <a:rPr lang="en-GB" sz="2000" dirty="0">
                <a:solidFill>
                  <a:schemeClr val="tx1"/>
                </a:solidFill>
                <a:latin typeface="Avenir Book" panose="02000503020000020003" pitchFamily="2" charset="0"/>
              </a:rPr>
              <a:t> infallibilism moves from the true claim 1 to the stronger claim 2, but claim 2 does not follow from claim 1.</a:t>
            </a:r>
          </a:p>
        </p:txBody>
      </p:sp>
    </p:spTree>
    <p:extLst>
      <p:ext uri="{BB962C8B-B14F-4D97-AF65-F5344CB8AC3E}">
        <p14:creationId xmlns:p14="http://schemas.microsoft.com/office/powerpoint/2010/main" val="145832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F492B-E35A-EBDC-5475-C146F0A3041A}"/>
              </a:ext>
            </a:extLst>
          </p:cNvPr>
          <p:cNvSpPr>
            <a:spLocks noGrp="1"/>
          </p:cNvSpPr>
          <p:nvPr>
            <p:ph type="title"/>
          </p:nvPr>
        </p:nvSpPr>
        <p:spPr>
          <a:xfrm>
            <a:off x="1251678" y="382385"/>
            <a:ext cx="10178322" cy="723401"/>
          </a:xfrm>
        </p:spPr>
        <p:txBody>
          <a:bodyPr>
            <a:normAutofit/>
          </a:bodyPr>
          <a:lstStyle/>
          <a:p>
            <a:r>
              <a:rPr lang="en-US" sz="4000" dirty="0">
                <a:latin typeface="Avenir Book" panose="02000503020000020003" pitchFamily="2" charset="0"/>
              </a:rPr>
              <a:t>Question 4: answer plan</a:t>
            </a:r>
          </a:p>
        </p:txBody>
      </p:sp>
      <p:sp>
        <p:nvSpPr>
          <p:cNvPr id="3" name="Content Placeholder 2">
            <a:extLst>
              <a:ext uri="{FF2B5EF4-FFF2-40B4-BE49-F238E27FC236}">
                <a16:creationId xmlns:a16="http://schemas.microsoft.com/office/drawing/2014/main" id="{7471774D-4DAA-46C4-0D47-41ECFD0B3F98}"/>
              </a:ext>
            </a:extLst>
          </p:cNvPr>
          <p:cNvSpPr>
            <a:spLocks noGrp="1"/>
          </p:cNvSpPr>
          <p:nvPr>
            <p:ph idx="1"/>
          </p:nvPr>
        </p:nvSpPr>
        <p:spPr>
          <a:xfrm>
            <a:off x="1251678" y="1424763"/>
            <a:ext cx="10178322" cy="4454829"/>
          </a:xfrm>
        </p:spPr>
        <p:txBody>
          <a:bodyPr>
            <a:normAutofit lnSpcReduction="10000"/>
          </a:bodyPr>
          <a:lstStyle/>
          <a:p>
            <a:pPr marL="0" indent="0">
              <a:spcBef>
                <a:spcPts val="600"/>
              </a:spcBef>
              <a:buNone/>
            </a:pPr>
            <a:r>
              <a:rPr lang="en-GB" sz="1800" b="1" dirty="0">
                <a:solidFill>
                  <a:schemeClr val="tx1"/>
                </a:solidFill>
                <a:latin typeface="Avenir Book" panose="02000503020000020003" pitchFamily="2" charset="0"/>
              </a:rPr>
              <a:t>No evaluation needed:</a:t>
            </a:r>
            <a:r>
              <a:rPr lang="en-GB" sz="1800" dirty="0">
                <a:solidFill>
                  <a:schemeClr val="tx1"/>
                </a:solidFill>
                <a:latin typeface="Avenir Book" panose="02000503020000020003" pitchFamily="2" charset="0"/>
              </a:rPr>
              <a:t> marks come from precise terms and each step following from the last.</a:t>
            </a:r>
          </a:p>
          <a:p>
            <a:pPr>
              <a:spcBef>
                <a:spcPts val="600"/>
              </a:spcBef>
            </a:pPr>
            <a:r>
              <a:rPr lang="en-GB" sz="1800" b="1" dirty="0">
                <a:solidFill>
                  <a:schemeClr val="tx1"/>
                </a:solidFill>
                <a:latin typeface="Avenir Book" panose="02000503020000020003" pitchFamily="2" charset="0"/>
              </a:rPr>
              <a:t>1. Tripartite view:</a:t>
            </a:r>
            <a:r>
              <a:rPr lang="en-GB" sz="1800" dirty="0">
                <a:solidFill>
                  <a:schemeClr val="tx1"/>
                </a:solidFill>
                <a:latin typeface="Avenir Book" panose="02000503020000020003" pitchFamily="2" charset="0"/>
              </a:rPr>
              <a:t> S knows P if and only if P is true, S believes P, and S is justified in believing P.</a:t>
            </a:r>
          </a:p>
          <a:p>
            <a:pPr>
              <a:spcBef>
                <a:spcPts val="600"/>
              </a:spcBef>
            </a:pPr>
            <a:r>
              <a:rPr lang="en-GB" sz="1800" b="1" dirty="0">
                <a:solidFill>
                  <a:schemeClr val="tx1"/>
                </a:solidFill>
                <a:latin typeface="Avenir Book" panose="02000503020000020003" pitchFamily="2" charset="0"/>
              </a:rPr>
              <a:t>2. Gettier’s job case:</a:t>
            </a:r>
            <a:r>
              <a:rPr lang="en-GB" sz="1800" dirty="0">
                <a:solidFill>
                  <a:schemeClr val="tx1"/>
                </a:solidFill>
                <a:latin typeface="Avenir Book" panose="02000503020000020003" pitchFamily="2" charset="0"/>
              </a:rPr>
              <a:t> Smith has strong evidence that Jones will get the job and has 10 coins, so infers “the man who will get the job has 10 coins”. In fact Smith gets the job, and he also has 10 coins.</a:t>
            </a:r>
          </a:p>
          <a:p>
            <a:pPr>
              <a:spcBef>
                <a:spcPts val="600"/>
              </a:spcBef>
            </a:pPr>
            <a:r>
              <a:rPr lang="en-GB" sz="1800" b="1" dirty="0">
                <a:solidFill>
                  <a:schemeClr val="tx1"/>
                </a:solidFill>
                <a:latin typeface="Avenir Book" panose="02000503020000020003" pitchFamily="2" charset="0"/>
              </a:rPr>
              <a:t>3. The problem:</a:t>
            </a:r>
            <a:r>
              <a:rPr lang="en-GB" sz="1800" dirty="0">
                <a:solidFill>
                  <a:schemeClr val="tx1"/>
                </a:solidFill>
                <a:latin typeface="Avenir Book" panose="02000503020000020003" pitchFamily="2" charset="0"/>
              </a:rPr>
              <a:t> Smith’s belief is true, believed and justified, but true by </a:t>
            </a:r>
            <a:r>
              <a:rPr lang="en-GB" sz="1800" b="1" dirty="0">
                <a:solidFill>
                  <a:schemeClr val="tx1"/>
                </a:solidFill>
                <a:latin typeface="Avenir Book" panose="02000503020000020003" pitchFamily="2" charset="0"/>
              </a:rPr>
              <a:t>luck</a:t>
            </a:r>
            <a:r>
              <a:rPr lang="en-GB" sz="1800" dirty="0">
                <a:solidFill>
                  <a:schemeClr val="tx1"/>
                </a:solidFill>
                <a:latin typeface="Avenir Book" panose="02000503020000020003" pitchFamily="2" charset="0"/>
              </a:rPr>
              <a:t>, so it is not knowledge. JTB is not sufficient.</a:t>
            </a:r>
          </a:p>
          <a:p>
            <a:pPr>
              <a:spcBef>
                <a:spcPts val="600"/>
              </a:spcBef>
            </a:pPr>
            <a:r>
              <a:rPr lang="en-GB" sz="1800" b="1" dirty="0">
                <a:solidFill>
                  <a:schemeClr val="tx1"/>
                </a:solidFill>
                <a:latin typeface="Avenir Book" panose="02000503020000020003" pitchFamily="2" charset="0"/>
              </a:rPr>
              <a:t>4. Diagnosis:</a:t>
            </a:r>
            <a:r>
              <a:rPr lang="en-GB" sz="1800" dirty="0">
                <a:solidFill>
                  <a:schemeClr val="tx1"/>
                </a:solidFill>
                <a:latin typeface="Avenir Book" panose="02000503020000020003" pitchFamily="2" charset="0"/>
              </a:rPr>
              <a:t> the case only works because Gettier assumes justification can be </a:t>
            </a:r>
            <a:r>
              <a:rPr lang="en-GB" sz="1800" b="1" dirty="0">
                <a:solidFill>
                  <a:schemeClr val="tx1"/>
                </a:solidFill>
                <a:latin typeface="Avenir Book" panose="02000503020000020003" pitchFamily="2" charset="0"/>
              </a:rPr>
              <a:t>fallible</a:t>
            </a:r>
            <a:r>
              <a:rPr lang="en-GB" sz="1800" dirty="0">
                <a:solidFill>
                  <a:schemeClr val="tx1"/>
                </a:solidFill>
                <a:latin typeface="Avenir Book" panose="02000503020000020003" pitchFamily="2" charset="0"/>
              </a:rPr>
              <a:t>: Smith is justified in a false belief (that Jones gets the job).</a:t>
            </a:r>
          </a:p>
          <a:p>
            <a:pPr>
              <a:spcBef>
                <a:spcPts val="600"/>
              </a:spcBef>
            </a:pPr>
            <a:r>
              <a:rPr lang="en-GB" sz="1800" b="1" dirty="0">
                <a:solidFill>
                  <a:schemeClr val="tx1"/>
                </a:solidFill>
                <a:latin typeface="Avenir Book" panose="02000503020000020003" pitchFamily="2" charset="0"/>
              </a:rPr>
              <a:t>5. Infallibilist response:</a:t>
            </a:r>
            <a:r>
              <a:rPr lang="en-GB" sz="1800" dirty="0">
                <a:solidFill>
                  <a:schemeClr val="tx1"/>
                </a:solidFill>
                <a:latin typeface="Avenir Book" panose="02000503020000020003" pitchFamily="2" charset="0"/>
              </a:rPr>
              <a:t> justification must </a:t>
            </a:r>
            <a:r>
              <a:rPr lang="en-GB" sz="1800" b="1" dirty="0">
                <a:solidFill>
                  <a:schemeClr val="tx1"/>
                </a:solidFill>
                <a:latin typeface="Avenir Book" panose="02000503020000020003" pitchFamily="2" charset="0"/>
              </a:rPr>
              <a:t>guarantee truth</a:t>
            </a:r>
            <a:r>
              <a:rPr lang="en-GB" sz="1800" dirty="0">
                <a:solidFill>
                  <a:schemeClr val="tx1"/>
                </a:solidFill>
                <a:latin typeface="Avenir Book" panose="02000503020000020003" pitchFamily="2" charset="0"/>
              </a:rPr>
              <a:t>. Smith’s evidence could be doubted and led him to a falsehood, so he was </a:t>
            </a:r>
            <a:r>
              <a:rPr lang="en-GB" sz="1800" b="1" dirty="0">
                <a:solidFill>
                  <a:schemeClr val="tx1"/>
                </a:solidFill>
                <a:latin typeface="Avenir Book" panose="02000503020000020003" pitchFamily="2" charset="0"/>
              </a:rPr>
              <a:t>never justified</a:t>
            </a:r>
            <a:r>
              <a:rPr lang="en-GB" sz="1800" dirty="0">
                <a:solidFill>
                  <a:schemeClr val="tx1"/>
                </a:solidFill>
                <a:latin typeface="Avenir Book" panose="02000503020000020003" pitchFamily="2" charset="0"/>
              </a:rPr>
              <a:t>. The J condition fails, so it is not a counterexample.</a:t>
            </a:r>
          </a:p>
          <a:p>
            <a:pPr>
              <a:spcBef>
                <a:spcPts val="600"/>
              </a:spcBef>
            </a:pPr>
            <a:r>
              <a:rPr lang="en-GB" sz="1800" b="1" dirty="0">
                <a:solidFill>
                  <a:schemeClr val="tx1"/>
                </a:solidFill>
                <a:latin typeface="Avenir Book" panose="02000503020000020003" pitchFamily="2" charset="0"/>
              </a:rPr>
              <a:t>6. Conclusion:</a:t>
            </a:r>
            <a:r>
              <a:rPr lang="en-GB" sz="1800" dirty="0">
                <a:solidFill>
                  <a:schemeClr val="tx1"/>
                </a:solidFill>
                <a:latin typeface="Avenir Book" panose="02000503020000020003" pitchFamily="2" charset="0"/>
              </a:rPr>
              <a:t> a guaranteed belief cannot be true by accident, so infallibilism removes the luck and keeps the tripartite definition, at the cost of a much stricter J condition.</a:t>
            </a:r>
          </a:p>
        </p:txBody>
      </p:sp>
    </p:spTree>
    <p:extLst>
      <p:ext uri="{BB962C8B-B14F-4D97-AF65-F5344CB8AC3E}">
        <p14:creationId xmlns:p14="http://schemas.microsoft.com/office/powerpoint/2010/main" val="108529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E396BBA-888E-4646-BAE9-2CEED33A2E0D}">
  <we:reference id="wa200010001" version="1.0.0.1" store="en-US" storeType="OMEX"/>
  <we:alternateReferences>
    <we:reference id="WA200010001" version="1.0.0.1" store="" storeType="OMEX"/>
  </we:alternateReferences>
  <we:properties>
    <we:property name="claude.fileId" value="&quot;043a2f22-cfe3-477b-ae72-b5eda50d7cb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Badge</Template>
  <TotalTime>502</TotalTime>
  <Words>1399</Words>
  <Application>Microsoft Macintosh PowerPoint</Application>
  <PresentationFormat>Widescreen</PresentationFormat>
  <Paragraphs>78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Avenir Book</vt:lpstr>
      <vt:lpstr>Gill Sans MT</vt:lpstr>
      <vt:lpstr>Impact</vt:lpstr>
      <vt:lpstr>Badge</vt:lpstr>
      <vt:lpstr>Infallibilism</vt:lpstr>
      <vt:lpstr>infallibilism</vt:lpstr>
      <vt:lpstr>Infallibilism is about justification </vt:lpstr>
      <vt:lpstr>Infallibilism </vt:lpstr>
      <vt:lpstr>(1) The feeling of certainty does not equate to knowledge.</vt:lpstr>
      <vt:lpstr>(2) The belief can be impossible to doubt when considered. </vt:lpstr>
      <vt:lpstr>Infallibilism </vt:lpstr>
      <vt:lpstr>Infallibilism claims that…</vt:lpstr>
      <vt:lpstr>Infallibilism </vt:lpstr>
      <vt:lpstr>Ambiguity of infallibilism</vt:lpstr>
      <vt:lpstr>Questions</vt:lpstr>
      <vt:lpstr>Question 1: answer plan</vt:lpstr>
      <vt:lpstr>Question 2: answer plan</vt:lpstr>
      <vt:lpstr>Question 3: answer plan</vt:lpstr>
      <vt:lpstr>Question 4: answer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8</cp:revision>
  <dcterms:created xsi:type="dcterms:W3CDTF">2024-08-13T12:04:38Z</dcterms:created>
  <dcterms:modified xsi:type="dcterms:W3CDTF">2026-10-05T14:40:12Z</dcterms:modified>
</cp:coreProperties>
</file>