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 id="264" r:id="rId9"/>
    <p:sldId id="266" r:id="rId10"/>
    <p:sldId id="267" r:id="rId11"/>
    <p:sldId id="25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20"/>
  </p:normalViewPr>
  <p:slideViewPr>
    <p:cSldViewPr snapToGrid="0">
      <p:cViewPr varScale="1">
        <p:scale>
          <a:sx n="105" d="100"/>
          <a:sy n="105" d="100"/>
        </p:scale>
        <p:origin x="8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s>
</file>

<file path=ppt/diagrams/_rels/drawing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1C666A-0B4C-4047-8C6D-E51832F6A4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6A6F03C-E851-4FD1-884E-C7A1DA6AE5E6}">
      <dgm:prSet/>
      <dgm:spPr/>
      <dgm:t>
        <a:bodyPr/>
        <a:lstStyle/>
        <a:p>
          <a:r>
            <a:rPr lang="en-GB"/>
            <a:t>1: It is ‘counter-intuitive’.</a:t>
          </a:r>
          <a:endParaRPr lang="en-US"/>
        </a:p>
      </dgm:t>
    </dgm:pt>
    <dgm:pt modelId="{24BC0E87-D7CE-4028-80B9-2CBDBB737C13}" type="parTrans" cxnId="{CDD82400-B633-43B8-8B33-6F62C28593A4}">
      <dgm:prSet/>
      <dgm:spPr/>
      <dgm:t>
        <a:bodyPr/>
        <a:lstStyle/>
        <a:p>
          <a:endParaRPr lang="en-US"/>
        </a:p>
      </dgm:t>
    </dgm:pt>
    <dgm:pt modelId="{31B36D07-485D-464D-86BB-2E62B93921D9}" type="sibTrans" cxnId="{CDD82400-B633-43B8-8B33-6F62C28593A4}">
      <dgm:prSet/>
      <dgm:spPr/>
      <dgm:t>
        <a:bodyPr/>
        <a:lstStyle/>
        <a:p>
          <a:endParaRPr lang="en-US"/>
        </a:p>
      </dgm:t>
    </dgm:pt>
    <dgm:pt modelId="{D9C039AF-15EA-4CDA-8940-5A679753E6C7}">
      <dgm:prSet/>
      <dgm:spPr/>
      <dgm:t>
        <a:bodyPr/>
        <a:lstStyle/>
        <a:p>
          <a:r>
            <a:rPr lang="en-GB"/>
            <a:t>2: Folk psychology is good at explanation and prediction. </a:t>
          </a:r>
          <a:endParaRPr lang="en-US"/>
        </a:p>
      </dgm:t>
    </dgm:pt>
    <dgm:pt modelId="{72C4E74A-6873-49DF-9E1C-4A9FF1537D37}" type="parTrans" cxnId="{4BD3B46B-F640-4871-8DE6-43ACEA3FCD1D}">
      <dgm:prSet/>
      <dgm:spPr/>
      <dgm:t>
        <a:bodyPr/>
        <a:lstStyle/>
        <a:p>
          <a:endParaRPr lang="en-US"/>
        </a:p>
      </dgm:t>
    </dgm:pt>
    <dgm:pt modelId="{4A36315F-4026-4C80-A5E4-C89DAEFA28A4}" type="sibTrans" cxnId="{4BD3B46B-F640-4871-8DE6-43ACEA3FCD1D}">
      <dgm:prSet/>
      <dgm:spPr/>
      <dgm:t>
        <a:bodyPr/>
        <a:lstStyle/>
        <a:p>
          <a:endParaRPr lang="en-US"/>
        </a:p>
      </dgm:t>
    </dgm:pt>
    <dgm:pt modelId="{8492FDBF-8BBE-4C6C-96CE-D6AEC1B3D5DA}">
      <dgm:prSet/>
      <dgm:spPr/>
      <dgm:t>
        <a:bodyPr/>
        <a:lstStyle/>
        <a:p>
          <a:r>
            <a:rPr lang="en-GB"/>
            <a:t>3. Eliminative Materialism is incoherent.</a:t>
          </a:r>
          <a:endParaRPr lang="en-US"/>
        </a:p>
      </dgm:t>
    </dgm:pt>
    <dgm:pt modelId="{F724BDA2-C745-41B5-88A0-FFCBE05EAD78}" type="parTrans" cxnId="{EE0573B2-6B82-40E9-9293-DD4D8E4BEFCD}">
      <dgm:prSet/>
      <dgm:spPr/>
      <dgm:t>
        <a:bodyPr/>
        <a:lstStyle/>
        <a:p>
          <a:endParaRPr lang="en-US"/>
        </a:p>
      </dgm:t>
    </dgm:pt>
    <dgm:pt modelId="{B4779F98-A6F2-4588-9488-16B5D11812F7}" type="sibTrans" cxnId="{EE0573B2-6B82-40E9-9293-DD4D8E4BEFCD}">
      <dgm:prSet/>
      <dgm:spPr/>
      <dgm:t>
        <a:bodyPr/>
        <a:lstStyle/>
        <a:p>
          <a:endParaRPr lang="en-US"/>
        </a:p>
      </dgm:t>
    </dgm:pt>
    <dgm:pt modelId="{21FBDAE8-7789-4A5C-94B3-D5199046713A}" type="pres">
      <dgm:prSet presAssocID="{2F1C666A-0B4C-4047-8C6D-E51832F6A4A9}" presName="root" presStyleCnt="0">
        <dgm:presLayoutVars>
          <dgm:dir/>
          <dgm:resizeHandles val="exact"/>
        </dgm:presLayoutVars>
      </dgm:prSet>
      <dgm:spPr/>
    </dgm:pt>
    <dgm:pt modelId="{D9AFE43E-1A72-499A-A357-4C3804B58915}" type="pres">
      <dgm:prSet presAssocID="{56A6F03C-E851-4FD1-884E-C7A1DA6AE5E6}" presName="compNode" presStyleCnt="0"/>
      <dgm:spPr/>
    </dgm:pt>
    <dgm:pt modelId="{A0CD41C5-4D37-48E1-8478-61285B966822}" type="pres">
      <dgm:prSet presAssocID="{56A6F03C-E851-4FD1-884E-C7A1DA6AE5E6}" presName="bgRect" presStyleLbl="bgShp" presStyleIdx="0" presStyleCnt="3"/>
      <dgm:spPr/>
    </dgm:pt>
    <dgm:pt modelId="{A8B25D10-6677-4A2F-A181-0816BED4FCE1}" type="pres">
      <dgm:prSet presAssocID="{56A6F03C-E851-4FD1-884E-C7A1DA6AE5E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fused Person"/>
        </a:ext>
      </dgm:extLst>
    </dgm:pt>
    <dgm:pt modelId="{1CD264D6-D441-4C26-8CA0-3C849D598AC0}" type="pres">
      <dgm:prSet presAssocID="{56A6F03C-E851-4FD1-884E-C7A1DA6AE5E6}" presName="spaceRect" presStyleCnt="0"/>
      <dgm:spPr/>
    </dgm:pt>
    <dgm:pt modelId="{39E4A0A4-BB30-4128-BDA7-B76A8E1E2B3A}" type="pres">
      <dgm:prSet presAssocID="{56A6F03C-E851-4FD1-884E-C7A1DA6AE5E6}" presName="parTx" presStyleLbl="revTx" presStyleIdx="0" presStyleCnt="3">
        <dgm:presLayoutVars>
          <dgm:chMax val="0"/>
          <dgm:chPref val="0"/>
        </dgm:presLayoutVars>
      </dgm:prSet>
      <dgm:spPr/>
    </dgm:pt>
    <dgm:pt modelId="{670B1C00-3FED-436F-A7A3-3B28F22E8318}" type="pres">
      <dgm:prSet presAssocID="{31B36D07-485D-464D-86BB-2E62B93921D9}" presName="sibTrans" presStyleCnt="0"/>
      <dgm:spPr/>
    </dgm:pt>
    <dgm:pt modelId="{38B5D912-DA26-4621-89F6-D0439E6B087B}" type="pres">
      <dgm:prSet presAssocID="{D9C039AF-15EA-4CDA-8940-5A679753E6C7}" presName="compNode" presStyleCnt="0"/>
      <dgm:spPr/>
    </dgm:pt>
    <dgm:pt modelId="{AED2AC54-9C9D-458F-8C23-A1C698257B70}" type="pres">
      <dgm:prSet presAssocID="{D9C039AF-15EA-4CDA-8940-5A679753E6C7}" presName="bgRect" presStyleLbl="bgShp" presStyleIdx="1" presStyleCnt="3"/>
      <dgm:spPr/>
    </dgm:pt>
    <dgm:pt modelId="{0B25A350-EB48-4D99-A920-AC632FD69E64}" type="pres">
      <dgm:prSet presAssocID="{D9C039AF-15EA-4CDA-8940-5A679753E6C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in in head"/>
        </a:ext>
      </dgm:extLst>
    </dgm:pt>
    <dgm:pt modelId="{0714C8DC-F32F-4C95-A45D-11F1EF7FAA7E}" type="pres">
      <dgm:prSet presAssocID="{D9C039AF-15EA-4CDA-8940-5A679753E6C7}" presName="spaceRect" presStyleCnt="0"/>
      <dgm:spPr/>
    </dgm:pt>
    <dgm:pt modelId="{8C6A8055-6526-4897-B806-794B0E6C7015}" type="pres">
      <dgm:prSet presAssocID="{D9C039AF-15EA-4CDA-8940-5A679753E6C7}" presName="parTx" presStyleLbl="revTx" presStyleIdx="1" presStyleCnt="3">
        <dgm:presLayoutVars>
          <dgm:chMax val="0"/>
          <dgm:chPref val="0"/>
        </dgm:presLayoutVars>
      </dgm:prSet>
      <dgm:spPr/>
    </dgm:pt>
    <dgm:pt modelId="{A5FE099B-7EEA-4803-9051-388C92437D5E}" type="pres">
      <dgm:prSet presAssocID="{4A36315F-4026-4C80-A5E4-C89DAEFA28A4}" presName="sibTrans" presStyleCnt="0"/>
      <dgm:spPr/>
    </dgm:pt>
    <dgm:pt modelId="{740C4208-5E7F-45DD-9D93-0FDD6E2D27CE}" type="pres">
      <dgm:prSet presAssocID="{8492FDBF-8BBE-4C6C-96CE-D6AEC1B3D5DA}" presName="compNode" presStyleCnt="0"/>
      <dgm:spPr/>
    </dgm:pt>
    <dgm:pt modelId="{3BF2B7C3-0542-4F14-9038-D3A7FC0D6905}" type="pres">
      <dgm:prSet presAssocID="{8492FDBF-8BBE-4C6C-96CE-D6AEC1B3D5DA}" presName="bgRect" presStyleLbl="bgShp" presStyleIdx="2" presStyleCnt="3"/>
      <dgm:spPr/>
    </dgm:pt>
    <dgm:pt modelId="{AD978363-5C58-448D-BC1C-835712E7AD90}" type="pres">
      <dgm:prSet presAssocID="{8492FDBF-8BBE-4C6C-96CE-D6AEC1B3D5D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estions"/>
        </a:ext>
      </dgm:extLst>
    </dgm:pt>
    <dgm:pt modelId="{F2631E59-4A9E-498D-B4D2-2E72279DD70C}" type="pres">
      <dgm:prSet presAssocID="{8492FDBF-8BBE-4C6C-96CE-D6AEC1B3D5DA}" presName="spaceRect" presStyleCnt="0"/>
      <dgm:spPr/>
    </dgm:pt>
    <dgm:pt modelId="{5ABAD9F2-3657-451C-A6AC-01A6DE509500}" type="pres">
      <dgm:prSet presAssocID="{8492FDBF-8BBE-4C6C-96CE-D6AEC1B3D5DA}" presName="parTx" presStyleLbl="revTx" presStyleIdx="2" presStyleCnt="3">
        <dgm:presLayoutVars>
          <dgm:chMax val="0"/>
          <dgm:chPref val="0"/>
        </dgm:presLayoutVars>
      </dgm:prSet>
      <dgm:spPr/>
    </dgm:pt>
  </dgm:ptLst>
  <dgm:cxnLst>
    <dgm:cxn modelId="{CDD82400-B633-43B8-8B33-6F62C28593A4}" srcId="{2F1C666A-0B4C-4047-8C6D-E51832F6A4A9}" destId="{56A6F03C-E851-4FD1-884E-C7A1DA6AE5E6}" srcOrd="0" destOrd="0" parTransId="{24BC0E87-D7CE-4028-80B9-2CBDBB737C13}" sibTransId="{31B36D07-485D-464D-86BB-2E62B93921D9}"/>
    <dgm:cxn modelId="{4E80A826-AF90-4CB5-BA25-8B87DBFFB9EB}" type="presOf" srcId="{2F1C666A-0B4C-4047-8C6D-E51832F6A4A9}" destId="{21FBDAE8-7789-4A5C-94B3-D5199046713A}" srcOrd="0" destOrd="0" presId="urn:microsoft.com/office/officeart/2018/2/layout/IconVerticalSolidList"/>
    <dgm:cxn modelId="{431EFF5A-AE83-4AA9-8961-06EEE7EE49A5}" type="presOf" srcId="{56A6F03C-E851-4FD1-884E-C7A1DA6AE5E6}" destId="{39E4A0A4-BB30-4128-BDA7-B76A8E1E2B3A}" srcOrd="0" destOrd="0" presId="urn:microsoft.com/office/officeart/2018/2/layout/IconVerticalSolidList"/>
    <dgm:cxn modelId="{4BD3B46B-F640-4871-8DE6-43ACEA3FCD1D}" srcId="{2F1C666A-0B4C-4047-8C6D-E51832F6A4A9}" destId="{D9C039AF-15EA-4CDA-8940-5A679753E6C7}" srcOrd="1" destOrd="0" parTransId="{72C4E74A-6873-49DF-9E1C-4A9FF1537D37}" sibTransId="{4A36315F-4026-4C80-A5E4-C89DAEFA28A4}"/>
    <dgm:cxn modelId="{F4154F78-278D-4C41-BB7A-F8078B9CF7CA}" type="presOf" srcId="{D9C039AF-15EA-4CDA-8940-5A679753E6C7}" destId="{8C6A8055-6526-4897-B806-794B0E6C7015}" srcOrd="0" destOrd="0" presId="urn:microsoft.com/office/officeart/2018/2/layout/IconVerticalSolidList"/>
    <dgm:cxn modelId="{F7E20988-6768-4BE3-950F-FD5D7B9D7569}" type="presOf" srcId="{8492FDBF-8BBE-4C6C-96CE-D6AEC1B3D5DA}" destId="{5ABAD9F2-3657-451C-A6AC-01A6DE509500}" srcOrd="0" destOrd="0" presId="urn:microsoft.com/office/officeart/2018/2/layout/IconVerticalSolidList"/>
    <dgm:cxn modelId="{EE0573B2-6B82-40E9-9293-DD4D8E4BEFCD}" srcId="{2F1C666A-0B4C-4047-8C6D-E51832F6A4A9}" destId="{8492FDBF-8BBE-4C6C-96CE-D6AEC1B3D5DA}" srcOrd="2" destOrd="0" parTransId="{F724BDA2-C745-41B5-88A0-FFCBE05EAD78}" sibTransId="{B4779F98-A6F2-4588-9488-16B5D11812F7}"/>
    <dgm:cxn modelId="{F2FE96E3-7692-4C49-821D-7B50542925B2}" type="presParOf" srcId="{21FBDAE8-7789-4A5C-94B3-D5199046713A}" destId="{D9AFE43E-1A72-499A-A357-4C3804B58915}" srcOrd="0" destOrd="0" presId="urn:microsoft.com/office/officeart/2018/2/layout/IconVerticalSolidList"/>
    <dgm:cxn modelId="{B98B986F-AA79-4A37-8493-792611433A10}" type="presParOf" srcId="{D9AFE43E-1A72-499A-A357-4C3804B58915}" destId="{A0CD41C5-4D37-48E1-8478-61285B966822}" srcOrd="0" destOrd="0" presId="urn:microsoft.com/office/officeart/2018/2/layout/IconVerticalSolidList"/>
    <dgm:cxn modelId="{CED6837A-659F-4316-8C61-4F4BC66E569E}" type="presParOf" srcId="{D9AFE43E-1A72-499A-A357-4C3804B58915}" destId="{A8B25D10-6677-4A2F-A181-0816BED4FCE1}" srcOrd="1" destOrd="0" presId="urn:microsoft.com/office/officeart/2018/2/layout/IconVerticalSolidList"/>
    <dgm:cxn modelId="{1E0CC3D1-809D-473B-B2E1-5A3D76648CB9}" type="presParOf" srcId="{D9AFE43E-1A72-499A-A357-4C3804B58915}" destId="{1CD264D6-D441-4C26-8CA0-3C849D598AC0}" srcOrd="2" destOrd="0" presId="urn:microsoft.com/office/officeart/2018/2/layout/IconVerticalSolidList"/>
    <dgm:cxn modelId="{26BECB67-AF10-4D9E-8623-B493E79F1E4A}" type="presParOf" srcId="{D9AFE43E-1A72-499A-A357-4C3804B58915}" destId="{39E4A0A4-BB30-4128-BDA7-B76A8E1E2B3A}" srcOrd="3" destOrd="0" presId="urn:microsoft.com/office/officeart/2018/2/layout/IconVerticalSolidList"/>
    <dgm:cxn modelId="{AF1EB1F5-A185-4E7B-AAFB-6FC939C45F62}" type="presParOf" srcId="{21FBDAE8-7789-4A5C-94B3-D5199046713A}" destId="{670B1C00-3FED-436F-A7A3-3B28F22E8318}" srcOrd="1" destOrd="0" presId="urn:microsoft.com/office/officeart/2018/2/layout/IconVerticalSolidList"/>
    <dgm:cxn modelId="{541D2193-5529-4480-BB75-865B36AEFABD}" type="presParOf" srcId="{21FBDAE8-7789-4A5C-94B3-D5199046713A}" destId="{38B5D912-DA26-4621-89F6-D0439E6B087B}" srcOrd="2" destOrd="0" presId="urn:microsoft.com/office/officeart/2018/2/layout/IconVerticalSolidList"/>
    <dgm:cxn modelId="{BBC0CE0F-26B9-49EE-BFE7-02956BC9848D}" type="presParOf" srcId="{38B5D912-DA26-4621-89F6-D0439E6B087B}" destId="{AED2AC54-9C9D-458F-8C23-A1C698257B70}" srcOrd="0" destOrd="0" presId="urn:microsoft.com/office/officeart/2018/2/layout/IconVerticalSolidList"/>
    <dgm:cxn modelId="{3845DE60-E63F-4C4B-ACBF-42944A3A21CE}" type="presParOf" srcId="{38B5D912-DA26-4621-89F6-D0439E6B087B}" destId="{0B25A350-EB48-4D99-A920-AC632FD69E64}" srcOrd="1" destOrd="0" presId="urn:microsoft.com/office/officeart/2018/2/layout/IconVerticalSolidList"/>
    <dgm:cxn modelId="{835DF80D-D2D9-47DF-97BC-34955C98AD15}" type="presParOf" srcId="{38B5D912-DA26-4621-89F6-D0439E6B087B}" destId="{0714C8DC-F32F-4C95-A45D-11F1EF7FAA7E}" srcOrd="2" destOrd="0" presId="urn:microsoft.com/office/officeart/2018/2/layout/IconVerticalSolidList"/>
    <dgm:cxn modelId="{604A3A66-648D-493E-8979-2B4CB58E5A75}" type="presParOf" srcId="{38B5D912-DA26-4621-89F6-D0439E6B087B}" destId="{8C6A8055-6526-4897-B806-794B0E6C7015}" srcOrd="3" destOrd="0" presId="urn:microsoft.com/office/officeart/2018/2/layout/IconVerticalSolidList"/>
    <dgm:cxn modelId="{1A3D80A3-D548-444F-ABD4-3697E5D33A93}" type="presParOf" srcId="{21FBDAE8-7789-4A5C-94B3-D5199046713A}" destId="{A5FE099B-7EEA-4803-9051-388C92437D5E}" srcOrd="3" destOrd="0" presId="urn:microsoft.com/office/officeart/2018/2/layout/IconVerticalSolidList"/>
    <dgm:cxn modelId="{D94EBF10-4E51-494D-8A13-03964592E110}" type="presParOf" srcId="{21FBDAE8-7789-4A5C-94B3-D5199046713A}" destId="{740C4208-5E7F-45DD-9D93-0FDD6E2D27CE}" srcOrd="4" destOrd="0" presId="urn:microsoft.com/office/officeart/2018/2/layout/IconVerticalSolidList"/>
    <dgm:cxn modelId="{AB2E1CAA-1A99-42F0-99A4-0E65C0146DEB}" type="presParOf" srcId="{740C4208-5E7F-45DD-9D93-0FDD6E2D27CE}" destId="{3BF2B7C3-0542-4F14-9038-D3A7FC0D6905}" srcOrd="0" destOrd="0" presId="urn:microsoft.com/office/officeart/2018/2/layout/IconVerticalSolidList"/>
    <dgm:cxn modelId="{F288D4BB-BED3-4D7E-999C-ADA47D1507DE}" type="presParOf" srcId="{740C4208-5E7F-45DD-9D93-0FDD6E2D27CE}" destId="{AD978363-5C58-448D-BC1C-835712E7AD90}" srcOrd="1" destOrd="0" presId="urn:microsoft.com/office/officeart/2018/2/layout/IconVerticalSolidList"/>
    <dgm:cxn modelId="{DEB13B8B-4180-48C2-8B4F-717D270F080D}" type="presParOf" srcId="{740C4208-5E7F-45DD-9D93-0FDD6E2D27CE}" destId="{F2631E59-4A9E-498D-B4D2-2E72279DD70C}" srcOrd="2" destOrd="0" presId="urn:microsoft.com/office/officeart/2018/2/layout/IconVerticalSolidList"/>
    <dgm:cxn modelId="{870E26D6-1E8B-449A-B2B2-E265A1D3EE38}" type="presParOf" srcId="{740C4208-5E7F-45DD-9D93-0FDD6E2D27CE}" destId="{5ABAD9F2-3657-451C-A6AC-01A6DE50950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CD41C5-4D37-48E1-8478-61285B966822}">
      <dsp:nvSpPr>
        <dsp:cNvPr id="0" name=""/>
        <dsp:cNvSpPr/>
      </dsp:nvSpPr>
      <dsp:spPr>
        <a:xfrm>
          <a:off x="0" y="660"/>
          <a:ext cx="6254749" cy="15450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B25D10-6677-4A2F-A181-0816BED4FCE1}">
      <dsp:nvSpPr>
        <dsp:cNvPr id="0" name=""/>
        <dsp:cNvSpPr/>
      </dsp:nvSpPr>
      <dsp:spPr>
        <a:xfrm>
          <a:off x="467366" y="348288"/>
          <a:ext cx="849756" cy="8497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39E4A0A4-BB30-4128-BDA7-B76A8E1E2B3A}">
      <dsp:nvSpPr>
        <dsp:cNvPr id="0" name=""/>
        <dsp:cNvSpPr/>
      </dsp:nvSpPr>
      <dsp:spPr>
        <a:xfrm>
          <a:off x="1784489" y="660"/>
          <a:ext cx="4470260" cy="1545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14" tIns="163514" rIns="163514" bIns="163514" numCol="1" spcCol="1270" anchor="ctr" anchorCtr="0">
          <a:noAutofit/>
        </a:bodyPr>
        <a:lstStyle/>
        <a:p>
          <a:pPr marL="0" lvl="0" indent="0" algn="l" defTabSz="1111250">
            <a:lnSpc>
              <a:spcPct val="90000"/>
            </a:lnSpc>
            <a:spcBef>
              <a:spcPct val="0"/>
            </a:spcBef>
            <a:spcAft>
              <a:spcPct val="35000"/>
            </a:spcAft>
            <a:buNone/>
          </a:pPr>
          <a:r>
            <a:rPr lang="en-GB" sz="2500" kern="1200"/>
            <a:t>1: It is ‘counter-intuitive’.</a:t>
          </a:r>
          <a:endParaRPr lang="en-US" sz="2500" kern="1200"/>
        </a:p>
      </dsp:txBody>
      <dsp:txXfrm>
        <a:off x="1784489" y="660"/>
        <a:ext cx="4470260" cy="1545012"/>
      </dsp:txXfrm>
    </dsp:sp>
    <dsp:sp modelId="{AED2AC54-9C9D-458F-8C23-A1C698257B70}">
      <dsp:nvSpPr>
        <dsp:cNvPr id="0" name=""/>
        <dsp:cNvSpPr/>
      </dsp:nvSpPr>
      <dsp:spPr>
        <a:xfrm>
          <a:off x="0" y="1931926"/>
          <a:ext cx="6254749" cy="15450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25A350-EB48-4D99-A920-AC632FD69E64}">
      <dsp:nvSpPr>
        <dsp:cNvPr id="0" name=""/>
        <dsp:cNvSpPr/>
      </dsp:nvSpPr>
      <dsp:spPr>
        <a:xfrm>
          <a:off x="467366" y="2279554"/>
          <a:ext cx="849756" cy="8497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8C6A8055-6526-4897-B806-794B0E6C7015}">
      <dsp:nvSpPr>
        <dsp:cNvPr id="0" name=""/>
        <dsp:cNvSpPr/>
      </dsp:nvSpPr>
      <dsp:spPr>
        <a:xfrm>
          <a:off x="1784489" y="1931926"/>
          <a:ext cx="4470260" cy="1545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14" tIns="163514" rIns="163514" bIns="163514" numCol="1" spcCol="1270" anchor="ctr" anchorCtr="0">
          <a:noAutofit/>
        </a:bodyPr>
        <a:lstStyle/>
        <a:p>
          <a:pPr marL="0" lvl="0" indent="0" algn="l" defTabSz="1111250">
            <a:lnSpc>
              <a:spcPct val="90000"/>
            </a:lnSpc>
            <a:spcBef>
              <a:spcPct val="0"/>
            </a:spcBef>
            <a:spcAft>
              <a:spcPct val="35000"/>
            </a:spcAft>
            <a:buNone/>
          </a:pPr>
          <a:r>
            <a:rPr lang="en-GB" sz="2500" kern="1200"/>
            <a:t>2: Folk psychology is good at explanation and prediction. </a:t>
          </a:r>
          <a:endParaRPr lang="en-US" sz="2500" kern="1200"/>
        </a:p>
      </dsp:txBody>
      <dsp:txXfrm>
        <a:off x="1784489" y="1931926"/>
        <a:ext cx="4470260" cy="1545012"/>
      </dsp:txXfrm>
    </dsp:sp>
    <dsp:sp modelId="{3BF2B7C3-0542-4F14-9038-D3A7FC0D6905}">
      <dsp:nvSpPr>
        <dsp:cNvPr id="0" name=""/>
        <dsp:cNvSpPr/>
      </dsp:nvSpPr>
      <dsp:spPr>
        <a:xfrm>
          <a:off x="0" y="3863192"/>
          <a:ext cx="6254749" cy="154501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978363-5C58-448D-BC1C-835712E7AD90}">
      <dsp:nvSpPr>
        <dsp:cNvPr id="0" name=""/>
        <dsp:cNvSpPr/>
      </dsp:nvSpPr>
      <dsp:spPr>
        <a:xfrm>
          <a:off x="467366" y="4210819"/>
          <a:ext cx="849756" cy="8497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noFill/>
          <a:prstDash val="solid"/>
        </a:ln>
        <a:effectLst/>
      </dsp:spPr>
      <dsp:style>
        <a:lnRef idx="2">
          <a:scrgbClr r="0" g="0" b="0"/>
        </a:lnRef>
        <a:fillRef idx="1">
          <a:scrgbClr r="0" g="0" b="0"/>
        </a:fillRef>
        <a:effectRef idx="0">
          <a:scrgbClr r="0" g="0" b="0"/>
        </a:effectRef>
        <a:fontRef idx="minor">
          <a:schemeClr val="lt1"/>
        </a:fontRef>
      </dsp:style>
    </dsp:sp>
    <dsp:sp modelId="{5ABAD9F2-3657-451C-A6AC-01A6DE509500}">
      <dsp:nvSpPr>
        <dsp:cNvPr id="0" name=""/>
        <dsp:cNvSpPr/>
      </dsp:nvSpPr>
      <dsp:spPr>
        <a:xfrm>
          <a:off x="1784489" y="3863192"/>
          <a:ext cx="4470260" cy="1545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14" tIns="163514" rIns="163514" bIns="163514" numCol="1" spcCol="1270" anchor="ctr" anchorCtr="0">
          <a:noAutofit/>
        </a:bodyPr>
        <a:lstStyle/>
        <a:p>
          <a:pPr marL="0" lvl="0" indent="0" algn="l" defTabSz="1111250">
            <a:lnSpc>
              <a:spcPct val="90000"/>
            </a:lnSpc>
            <a:spcBef>
              <a:spcPct val="0"/>
            </a:spcBef>
            <a:spcAft>
              <a:spcPct val="35000"/>
            </a:spcAft>
            <a:buNone/>
          </a:pPr>
          <a:r>
            <a:rPr lang="en-GB" sz="2500" kern="1200"/>
            <a:t>3. Eliminative Materialism is incoherent.</a:t>
          </a:r>
          <a:endParaRPr lang="en-US" sz="2500" kern="1200"/>
        </a:p>
      </dsp:txBody>
      <dsp:txXfrm>
        <a:off x="1784489" y="3863192"/>
        <a:ext cx="4470260" cy="154501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8/10/24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8/10/24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8/10/24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8/10/24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8/10/24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8/10/24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8/10/24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8/10/24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8/10/24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8C7D9-8FC9-D878-5C6E-BDFEFEFD94AF}"/>
              </a:ext>
            </a:extLst>
          </p:cNvPr>
          <p:cNvSpPr>
            <a:spLocks noGrp="1"/>
          </p:cNvSpPr>
          <p:nvPr>
            <p:ph type="ctrTitle"/>
          </p:nvPr>
        </p:nvSpPr>
        <p:spPr>
          <a:xfrm>
            <a:off x="1078523" y="573024"/>
            <a:ext cx="10318418" cy="4608576"/>
          </a:xfrm>
        </p:spPr>
        <p:txBody>
          <a:bodyPr/>
          <a:lstStyle/>
          <a:p>
            <a:br>
              <a:rPr lang="en-US" sz="6000" dirty="0"/>
            </a:br>
            <a:r>
              <a:rPr lang="en-US" sz="6000" dirty="0">
                <a:latin typeface="Avenir Book" panose="02000503020000020003" pitchFamily="2" charset="0"/>
              </a:rPr>
              <a:t>Eliminative materialism</a:t>
            </a:r>
          </a:p>
        </p:txBody>
      </p:sp>
      <p:sp>
        <p:nvSpPr>
          <p:cNvPr id="3" name="Subtitle 2">
            <a:extLst>
              <a:ext uri="{FF2B5EF4-FFF2-40B4-BE49-F238E27FC236}">
                <a16:creationId xmlns:a16="http://schemas.microsoft.com/office/drawing/2014/main" id="{3C785F02-2979-689A-D9E6-BAF7B65469B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46413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F081D-AFCE-A80D-D488-9C7AC0A46521}"/>
              </a:ext>
            </a:extLst>
          </p:cNvPr>
          <p:cNvSpPr>
            <a:spLocks noGrp="1"/>
          </p:cNvSpPr>
          <p:nvPr>
            <p:ph type="title"/>
          </p:nvPr>
        </p:nvSpPr>
        <p:spPr>
          <a:xfrm>
            <a:off x="1251678" y="658367"/>
            <a:ext cx="10178322" cy="1216149"/>
          </a:xfrm>
        </p:spPr>
        <p:txBody>
          <a:bodyPr/>
          <a:lstStyle/>
          <a:p>
            <a:r>
              <a:rPr lang="en-US" dirty="0">
                <a:latin typeface="Avenir Book" panose="02000503020000020003" pitchFamily="2" charset="0"/>
              </a:rPr>
              <a:t>Introduction</a:t>
            </a:r>
          </a:p>
        </p:txBody>
      </p:sp>
      <p:sp>
        <p:nvSpPr>
          <p:cNvPr id="3" name="Content Placeholder 2">
            <a:extLst>
              <a:ext uri="{FF2B5EF4-FFF2-40B4-BE49-F238E27FC236}">
                <a16:creationId xmlns:a16="http://schemas.microsoft.com/office/drawing/2014/main" id="{884E8B22-7E07-A0E9-9FE0-6C37400CAD49}"/>
              </a:ext>
            </a:extLst>
          </p:cNvPr>
          <p:cNvSpPr>
            <a:spLocks noGrp="1"/>
          </p:cNvSpPr>
          <p:nvPr>
            <p:ph idx="1"/>
          </p:nvPr>
        </p:nvSpPr>
        <p:spPr>
          <a:xfrm>
            <a:off x="1251678" y="1874517"/>
            <a:ext cx="10178322" cy="4325116"/>
          </a:xfrm>
        </p:spPr>
        <p:txBody>
          <a:bodyPr>
            <a:normAutofit/>
          </a:bodyPr>
          <a:lstStyle/>
          <a:p>
            <a:pPr marL="0" indent="0" algn="just">
              <a:lnSpc>
                <a:spcPct val="150000"/>
              </a:lnSpc>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This is the doctrine that it would be best to eliminate the idea of consciousness, qualia or intentionality from the philosophy of mind. This is because these ideas are fundamentally based on a misconception about reality. Eliminative materialism claims that as our knowledge of the brain progresses, we will understand that these ideas do not represent anything real, but are the product of ‘folk psychology’ which is a naïve and scientifically inaccurate empirical theory of the mind. </a:t>
            </a:r>
          </a:p>
          <a:p>
            <a:endParaRPr lang="en-US" dirty="0"/>
          </a:p>
        </p:txBody>
      </p:sp>
    </p:spTree>
    <p:extLst>
      <p:ext uri="{BB962C8B-B14F-4D97-AF65-F5344CB8AC3E}">
        <p14:creationId xmlns:p14="http://schemas.microsoft.com/office/powerpoint/2010/main" val="347458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D4933-9C78-E4F4-1BF9-2B6BA04CFBAD}"/>
              </a:ext>
            </a:extLst>
          </p:cNvPr>
          <p:cNvSpPr>
            <a:spLocks noGrp="1"/>
          </p:cNvSpPr>
          <p:nvPr>
            <p:ph type="title"/>
          </p:nvPr>
        </p:nvSpPr>
        <p:spPr>
          <a:xfrm>
            <a:off x="1251677" y="645105"/>
            <a:ext cx="4357499" cy="1320855"/>
          </a:xfrm>
        </p:spPr>
        <p:txBody>
          <a:bodyPr>
            <a:normAutofit/>
          </a:bodyPr>
          <a:lstStyle/>
          <a:p>
            <a:r>
              <a:rPr lang="en-US" sz="4400">
                <a:latin typeface="Optima" panose="02000503060000020004" pitchFamily="2" charset="0"/>
              </a:rPr>
              <a:t>Folk Psychology</a:t>
            </a:r>
          </a:p>
        </p:txBody>
      </p:sp>
      <p:sp>
        <p:nvSpPr>
          <p:cNvPr id="3" name="Content Placeholder 2">
            <a:extLst>
              <a:ext uri="{FF2B5EF4-FFF2-40B4-BE49-F238E27FC236}">
                <a16:creationId xmlns:a16="http://schemas.microsoft.com/office/drawing/2014/main" id="{C4322124-17B9-AD25-951B-5D40D47C643D}"/>
              </a:ext>
            </a:extLst>
          </p:cNvPr>
          <p:cNvSpPr>
            <a:spLocks noGrp="1"/>
          </p:cNvSpPr>
          <p:nvPr>
            <p:ph idx="1"/>
          </p:nvPr>
        </p:nvSpPr>
        <p:spPr>
          <a:xfrm>
            <a:off x="1251678" y="2286001"/>
            <a:ext cx="5417346" cy="3926894"/>
          </a:xfrm>
        </p:spPr>
        <p:txBody>
          <a:bodyPr>
            <a:normAutofit lnSpcReduction="10000"/>
          </a:bodyPr>
          <a:lstStyle/>
          <a:p>
            <a:pPr marL="0" marR="180340" indent="0">
              <a:lnSpc>
                <a:spcPct val="100000"/>
              </a:lnSpc>
              <a:spcAft>
                <a:spcPts val="0"/>
              </a:spcAft>
              <a:buNone/>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‘It is a really striking fact about human beings that we think. Just this morning, for example, I deliberated about what to have for breakfast, wondered if I should let my husband sleep in…vowed to write a letter to the editor…remembered I had to prepare for the seminar today, and wished I didn’t have to prepare for my seminar today. That was all before 9am…</a:t>
            </a:r>
          </a:p>
          <a:p>
            <a:pPr marL="0" marR="180340" indent="0">
              <a:lnSpc>
                <a:spcPct val="100000"/>
              </a:lnSpc>
              <a:spcAft>
                <a:spcPts val="0"/>
              </a:spcAft>
              <a:buNone/>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We think that other people think. Thinking this works out really well. By attributing thought to other people, we are able to predict and explain their behaviour in myriad and immensely useful ways.’</a:t>
            </a:r>
          </a:p>
          <a:p>
            <a:pPr>
              <a:lnSpc>
                <a:spcPct val="100000"/>
              </a:lnSpc>
            </a:pPr>
            <a:endParaRPr lang="en-US" sz="1400" dirty="0"/>
          </a:p>
        </p:txBody>
      </p:sp>
      <p:pic>
        <p:nvPicPr>
          <p:cNvPr id="5" name="Picture 4" descr="A group of people sitting on a bench&#10;&#10;Description automatically generated">
            <a:extLst>
              <a:ext uri="{FF2B5EF4-FFF2-40B4-BE49-F238E27FC236}">
                <a16:creationId xmlns:a16="http://schemas.microsoft.com/office/drawing/2014/main" id="{CFDD85E8-0830-14BA-DB99-CED5BBC4DF03}"/>
              </a:ext>
            </a:extLst>
          </p:cNvPr>
          <p:cNvPicPr>
            <a:picLocks noChangeAspect="1"/>
          </p:cNvPicPr>
          <p:nvPr/>
        </p:nvPicPr>
        <p:blipFill rotWithShape="1">
          <a:blip r:embed="rId2"/>
          <a:srcRect l="16078" r="26603" b="2"/>
          <a:stretch/>
        </p:blipFill>
        <p:spPr>
          <a:xfrm>
            <a:off x="6931415" y="1197612"/>
            <a:ext cx="4468194" cy="4462775"/>
          </a:xfrm>
          <a:custGeom>
            <a:avLst/>
            <a:gdLst/>
            <a:ahLst/>
            <a:cxnLst/>
            <a:rect l="l" t="t" r="r" b="b"/>
            <a:pathLst>
              <a:path w="3860171" h="3855489">
                <a:moveTo>
                  <a:pt x="1930086" y="0"/>
                </a:moveTo>
                <a:lnTo>
                  <a:pt x="1967540" y="3511"/>
                </a:lnTo>
                <a:lnTo>
                  <a:pt x="2003824" y="12875"/>
                </a:lnTo>
                <a:lnTo>
                  <a:pt x="2038938" y="26920"/>
                </a:lnTo>
                <a:lnTo>
                  <a:pt x="2075222" y="44477"/>
                </a:lnTo>
                <a:lnTo>
                  <a:pt x="2109166" y="64375"/>
                </a:lnTo>
                <a:lnTo>
                  <a:pt x="2144279" y="85443"/>
                </a:lnTo>
                <a:lnTo>
                  <a:pt x="2179393" y="104171"/>
                </a:lnTo>
                <a:lnTo>
                  <a:pt x="2214507" y="122898"/>
                </a:lnTo>
                <a:lnTo>
                  <a:pt x="2248450" y="136943"/>
                </a:lnTo>
                <a:lnTo>
                  <a:pt x="2285905" y="146307"/>
                </a:lnTo>
                <a:lnTo>
                  <a:pt x="2322189" y="150989"/>
                </a:lnTo>
                <a:lnTo>
                  <a:pt x="2360814" y="150989"/>
                </a:lnTo>
                <a:lnTo>
                  <a:pt x="2400610" y="148648"/>
                </a:lnTo>
                <a:lnTo>
                  <a:pt x="2440405" y="143966"/>
                </a:lnTo>
                <a:lnTo>
                  <a:pt x="2480201" y="138114"/>
                </a:lnTo>
                <a:lnTo>
                  <a:pt x="2519996" y="133432"/>
                </a:lnTo>
                <a:lnTo>
                  <a:pt x="2559792" y="129921"/>
                </a:lnTo>
                <a:lnTo>
                  <a:pt x="2597247" y="131091"/>
                </a:lnTo>
                <a:lnTo>
                  <a:pt x="2633531" y="135773"/>
                </a:lnTo>
                <a:lnTo>
                  <a:pt x="2668644" y="146307"/>
                </a:lnTo>
                <a:lnTo>
                  <a:pt x="2697906" y="161523"/>
                </a:lnTo>
                <a:lnTo>
                  <a:pt x="2725997" y="181421"/>
                </a:lnTo>
                <a:lnTo>
                  <a:pt x="2750577" y="204830"/>
                </a:lnTo>
                <a:lnTo>
                  <a:pt x="2775156" y="231750"/>
                </a:lnTo>
                <a:lnTo>
                  <a:pt x="2797395" y="259841"/>
                </a:lnTo>
                <a:lnTo>
                  <a:pt x="2819634" y="289103"/>
                </a:lnTo>
                <a:lnTo>
                  <a:pt x="2841872" y="318364"/>
                </a:lnTo>
                <a:lnTo>
                  <a:pt x="2864111" y="346455"/>
                </a:lnTo>
                <a:lnTo>
                  <a:pt x="2887520" y="373376"/>
                </a:lnTo>
                <a:lnTo>
                  <a:pt x="2914441" y="396785"/>
                </a:lnTo>
                <a:lnTo>
                  <a:pt x="2940191" y="417853"/>
                </a:lnTo>
                <a:lnTo>
                  <a:pt x="2969452" y="434240"/>
                </a:lnTo>
                <a:lnTo>
                  <a:pt x="3001055" y="448285"/>
                </a:lnTo>
                <a:lnTo>
                  <a:pt x="3034998" y="459990"/>
                </a:lnTo>
                <a:lnTo>
                  <a:pt x="3070112" y="470524"/>
                </a:lnTo>
                <a:lnTo>
                  <a:pt x="3105226" y="479888"/>
                </a:lnTo>
                <a:lnTo>
                  <a:pt x="3141510" y="489251"/>
                </a:lnTo>
                <a:lnTo>
                  <a:pt x="3175453" y="499785"/>
                </a:lnTo>
                <a:lnTo>
                  <a:pt x="3209396" y="511490"/>
                </a:lnTo>
                <a:lnTo>
                  <a:pt x="3240999" y="525535"/>
                </a:lnTo>
                <a:lnTo>
                  <a:pt x="3269090" y="543092"/>
                </a:lnTo>
                <a:lnTo>
                  <a:pt x="3294840" y="564161"/>
                </a:lnTo>
                <a:lnTo>
                  <a:pt x="3315908" y="589911"/>
                </a:lnTo>
                <a:lnTo>
                  <a:pt x="3333465" y="618002"/>
                </a:lnTo>
                <a:lnTo>
                  <a:pt x="3347510" y="649604"/>
                </a:lnTo>
                <a:lnTo>
                  <a:pt x="3359215" y="683547"/>
                </a:lnTo>
                <a:lnTo>
                  <a:pt x="3369749" y="717491"/>
                </a:lnTo>
                <a:lnTo>
                  <a:pt x="3379113" y="753775"/>
                </a:lnTo>
                <a:lnTo>
                  <a:pt x="3388476" y="788889"/>
                </a:lnTo>
                <a:lnTo>
                  <a:pt x="3399010" y="824002"/>
                </a:lnTo>
                <a:lnTo>
                  <a:pt x="3410715" y="857946"/>
                </a:lnTo>
                <a:lnTo>
                  <a:pt x="3424760" y="889548"/>
                </a:lnTo>
                <a:lnTo>
                  <a:pt x="3441147" y="918809"/>
                </a:lnTo>
                <a:lnTo>
                  <a:pt x="3462215" y="944560"/>
                </a:lnTo>
                <a:lnTo>
                  <a:pt x="3485624" y="971480"/>
                </a:lnTo>
                <a:lnTo>
                  <a:pt x="3512545" y="994889"/>
                </a:lnTo>
                <a:lnTo>
                  <a:pt x="3540636" y="1017128"/>
                </a:lnTo>
                <a:lnTo>
                  <a:pt x="3571068" y="1039367"/>
                </a:lnTo>
                <a:lnTo>
                  <a:pt x="3600329" y="1061605"/>
                </a:lnTo>
                <a:lnTo>
                  <a:pt x="3628420" y="1083844"/>
                </a:lnTo>
                <a:lnTo>
                  <a:pt x="3655341" y="1108424"/>
                </a:lnTo>
                <a:lnTo>
                  <a:pt x="3678750" y="1133003"/>
                </a:lnTo>
                <a:lnTo>
                  <a:pt x="3698648" y="1161094"/>
                </a:lnTo>
                <a:lnTo>
                  <a:pt x="3713864" y="1190356"/>
                </a:lnTo>
                <a:lnTo>
                  <a:pt x="3724398" y="1225469"/>
                </a:lnTo>
                <a:lnTo>
                  <a:pt x="3729080" y="1261754"/>
                </a:lnTo>
                <a:lnTo>
                  <a:pt x="3730250" y="1299208"/>
                </a:lnTo>
                <a:lnTo>
                  <a:pt x="3726739" y="1339004"/>
                </a:lnTo>
                <a:lnTo>
                  <a:pt x="3722057" y="1378799"/>
                </a:lnTo>
                <a:lnTo>
                  <a:pt x="3716205" y="1418595"/>
                </a:lnTo>
                <a:lnTo>
                  <a:pt x="3711523" y="1458391"/>
                </a:lnTo>
                <a:lnTo>
                  <a:pt x="3709182" y="1498186"/>
                </a:lnTo>
                <a:lnTo>
                  <a:pt x="3709182" y="1536811"/>
                </a:lnTo>
                <a:lnTo>
                  <a:pt x="3713864" y="1573096"/>
                </a:lnTo>
                <a:lnTo>
                  <a:pt x="3723228" y="1609380"/>
                </a:lnTo>
                <a:lnTo>
                  <a:pt x="3737273" y="1643323"/>
                </a:lnTo>
                <a:lnTo>
                  <a:pt x="3756000" y="1678437"/>
                </a:lnTo>
                <a:lnTo>
                  <a:pt x="3774728" y="1713550"/>
                </a:lnTo>
                <a:lnTo>
                  <a:pt x="3795796" y="1748664"/>
                </a:lnTo>
                <a:lnTo>
                  <a:pt x="3815694" y="1782608"/>
                </a:lnTo>
                <a:lnTo>
                  <a:pt x="3833250" y="1818892"/>
                </a:lnTo>
                <a:lnTo>
                  <a:pt x="3847296" y="1854005"/>
                </a:lnTo>
                <a:lnTo>
                  <a:pt x="3856660" y="1890290"/>
                </a:lnTo>
                <a:lnTo>
                  <a:pt x="3860171" y="1927744"/>
                </a:lnTo>
                <a:lnTo>
                  <a:pt x="3856660" y="1965199"/>
                </a:lnTo>
                <a:lnTo>
                  <a:pt x="3847296" y="2001483"/>
                </a:lnTo>
                <a:lnTo>
                  <a:pt x="3833250" y="2036597"/>
                </a:lnTo>
                <a:lnTo>
                  <a:pt x="3815694" y="2072881"/>
                </a:lnTo>
                <a:lnTo>
                  <a:pt x="3795796" y="2106824"/>
                </a:lnTo>
                <a:lnTo>
                  <a:pt x="3774728" y="2141938"/>
                </a:lnTo>
                <a:lnTo>
                  <a:pt x="3756000" y="2177052"/>
                </a:lnTo>
                <a:lnTo>
                  <a:pt x="3737273" y="2212166"/>
                </a:lnTo>
                <a:lnTo>
                  <a:pt x="3723228" y="2246109"/>
                </a:lnTo>
                <a:lnTo>
                  <a:pt x="3713864" y="2282393"/>
                </a:lnTo>
                <a:lnTo>
                  <a:pt x="3709182" y="2318677"/>
                </a:lnTo>
                <a:lnTo>
                  <a:pt x="3709182" y="2357302"/>
                </a:lnTo>
                <a:lnTo>
                  <a:pt x="3711523" y="2397098"/>
                </a:lnTo>
                <a:lnTo>
                  <a:pt x="3716205" y="2436894"/>
                </a:lnTo>
                <a:lnTo>
                  <a:pt x="3722057" y="2476689"/>
                </a:lnTo>
                <a:lnTo>
                  <a:pt x="3726739" y="2516485"/>
                </a:lnTo>
                <a:lnTo>
                  <a:pt x="3730250" y="2556280"/>
                </a:lnTo>
                <a:lnTo>
                  <a:pt x="3729080" y="2593735"/>
                </a:lnTo>
                <a:lnTo>
                  <a:pt x="3724398" y="2630019"/>
                </a:lnTo>
                <a:lnTo>
                  <a:pt x="3713864" y="2665133"/>
                </a:lnTo>
                <a:lnTo>
                  <a:pt x="3698648" y="2694394"/>
                </a:lnTo>
                <a:lnTo>
                  <a:pt x="3678750" y="2722485"/>
                </a:lnTo>
                <a:lnTo>
                  <a:pt x="3655341" y="2747065"/>
                </a:lnTo>
                <a:lnTo>
                  <a:pt x="3628420" y="2771645"/>
                </a:lnTo>
                <a:lnTo>
                  <a:pt x="3600329" y="2793883"/>
                </a:lnTo>
                <a:lnTo>
                  <a:pt x="3571068" y="2816122"/>
                </a:lnTo>
                <a:lnTo>
                  <a:pt x="3540636" y="2838361"/>
                </a:lnTo>
                <a:lnTo>
                  <a:pt x="3512545" y="2860599"/>
                </a:lnTo>
                <a:lnTo>
                  <a:pt x="3485624" y="2884009"/>
                </a:lnTo>
                <a:lnTo>
                  <a:pt x="3462215" y="2910929"/>
                </a:lnTo>
                <a:lnTo>
                  <a:pt x="3441147" y="2936679"/>
                </a:lnTo>
                <a:lnTo>
                  <a:pt x="3424760" y="2965941"/>
                </a:lnTo>
                <a:lnTo>
                  <a:pt x="3410715" y="2997543"/>
                </a:lnTo>
                <a:lnTo>
                  <a:pt x="3399010" y="3031486"/>
                </a:lnTo>
                <a:lnTo>
                  <a:pt x="3388476" y="3066600"/>
                </a:lnTo>
                <a:lnTo>
                  <a:pt x="3379113" y="3101714"/>
                </a:lnTo>
                <a:lnTo>
                  <a:pt x="3369749" y="3137998"/>
                </a:lnTo>
                <a:lnTo>
                  <a:pt x="3359215" y="3171941"/>
                </a:lnTo>
                <a:lnTo>
                  <a:pt x="3347510" y="3205885"/>
                </a:lnTo>
                <a:lnTo>
                  <a:pt x="3333465" y="3237487"/>
                </a:lnTo>
                <a:lnTo>
                  <a:pt x="3315908" y="3265578"/>
                </a:lnTo>
                <a:lnTo>
                  <a:pt x="3294840" y="3291328"/>
                </a:lnTo>
                <a:lnTo>
                  <a:pt x="3269090" y="3312396"/>
                </a:lnTo>
                <a:lnTo>
                  <a:pt x="3240999" y="3329953"/>
                </a:lnTo>
                <a:lnTo>
                  <a:pt x="3209396" y="3343999"/>
                </a:lnTo>
                <a:lnTo>
                  <a:pt x="3175453" y="3355703"/>
                </a:lnTo>
                <a:lnTo>
                  <a:pt x="3141510" y="3366237"/>
                </a:lnTo>
                <a:lnTo>
                  <a:pt x="3105226" y="3375601"/>
                </a:lnTo>
                <a:lnTo>
                  <a:pt x="3070112" y="3384965"/>
                </a:lnTo>
                <a:lnTo>
                  <a:pt x="3034998" y="3395499"/>
                </a:lnTo>
                <a:lnTo>
                  <a:pt x="3001055" y="3407203"/>
                </a:lnTo>
                <a:lnTo>
                  <a:pt x="2969452" y="3421249"/>
                </a:lnTo>
                <a:lnTo>
                  <a:pt x="2940191" y="3437635"/>
                </a:lnTo>
                <a:lnTo>
                  <a:pt x="2914441" y="3458704"/>
                </a:lnTo>
                <a:lnTo>
                  <a:pt x="2887520" y="3482113"/>
                </a:lnTo>
                <a:lnTo>
                  <a:pt x="2864111" y="3509033"/>
                </a:lnTo>
                <a:lnTo>
                  <a:pt x="2841872" y="3537124"/>
                </a:lnTo>
                <a:lnTo>
                  <a:pt x="2819634" y="3566386"/>
                </a:lnTo>
                <a:lnTo>
                  <a:pt x="2797395" y="3595647"/>
                </a:lnTo>
                <a:lnTo>
                  <a:pt x="2775156" y="3623738"/>
                </a:lnTo>
                <a:lnTo>
                  <a:pt x="2750577" y="3650659"/>
                </a:lnTo>
                <a:lnTo>
                  <a:pt x="2725997" y="3674068"/>
                </a:lnTo>
                <a:lnTo>
                  <a:pt x="2697906" y="3693966"/>
                </a:lnTo>
                <a:lnTo>
                  <a:pt x="2668644" y="3709182"/>
                </a:lnTo>
                <a:lnTo>
                  <a:pt x="2633531" y="3719716"/>
                </a:lnTo>
                <a:lnTo>
                  <a:pt x="2597247" y="3724398"/>
                </a:lnTo>
                <a:lnTo>
                  <a:pt x="2559792" y="3725568"/>
                </a:lnTo>
                <a:lnTo>
                  <a:pt x="2519996" y="3722057"/>
                </a:lnTo>
                <a:lnTo>
                  <a:pt x="2480201" y="3717375"/>
                </a:lnTo>
                <a:lnTo>
                  <a:pt x="2440405" y="3711523"/>
                </a:lnTo>
                <a:lnTo>
                  <a:pt x="2400610" y="3706841"/>
                </a:lnTo>
                <a:lnTo>
                  <a:pt x="2360814" y="3704500"/>
                </a:lnTo>
                <a:lnTo>
                  <a:pt x="2322189" y="3704500"/>
                </a:lnTo>
                <a:lnTo>
                  <a:pt x="2285905" y="3709182"/>
                </a:lnTo>
                <a:lnTo>
                  <a:pt x="2248450" y="3718545"/>
                </a:lnTo>
                <a:lnTo>
                  <a:pt x="2214507" y="3732591"/>
                </a:lnTo>
                <a:lnTo>
                  <a:pt x="2179393" y="3751318"/>
                </a:lnTo>
                <a:lnTo>
                  <a:pt x="2144279" y="3770045"/>
                </a:lnTo>
                <a:lnTo>
                  <a:pt x="2109166" y="3791114"/>
                </a:lnTo>
                <a:lnTo>
                  <a:pt x="2075222" y="3811011"/>
                </a:lnTo>
                <a:lnTo>
                  <a:pt x="2038938" y="3828568"/>
                </a:lnTo>
                <a:lnTo>
                  <a:pt x="2003824" y="3842614"/>
                </a:lnTo>
                <a:lnTo>
                  <a:pt x="1967540" y="3851978"/>
                </a:lnTo>
                <a:lnTo>
                  <a:pt x="1930086" y="3855489"/>
                </a:lnTo>
                <a:lnTo>
                  <a:pt x="1892631" y="3851978"/>
                </a:lnTo>
                <a:lnTo>
                  <a:pt x="1856347" y="3842614"/>
                </a:lnTo>
                <a:lnTo>
                  <a:pt x="1821233" y="3828568"/>
                </a:lnTo>
                <a:lnTo>
                  <a:pt x="1784949" y="3811011"/>
                </a:lnTo>
                <a:lnTo>
                  <a:pt x="1751005" y="3791114"/>
                </a:lnTo>
                <a:lnTo>
                  <a:pt x="1715892" y="3770045"/>
                </a:lnTo>
                <a:lnTo>
                  <a:pt x="1680778" y="3751318"/>
                </a:lnTo>
                <a:lnTo>
                  <a:pt x="1645664" y="3732591"/>
                </a:lnTo>
                <a:lnTo>
                  <a:pt x="1610550" y="3718545"/>
                </a:lnTo>
                <a:lnTo>
                  <a:pt x="1574266" y="3709182"/>
                </a:lnTo>
                <a:lnTo>
                  <a:pt x="1537982" y="3704500"/>
                </a:lnTo>
                <a:lnTo>
                  <a:pt x="1499357" y="3704500"/>
                </a:lnTo>
                <a:lnTo>
                  <a:pt x="1459561" y="3706841"/>
                </a:lnTo>
                <a:lnTo>
                  <a:pt x="1419766" y="3711523"/>
                </a:lnTo>
                <a:lnTo>
                  <a:pt x="1379970" y="3717375"/>
                </a:lnTo>
                <a:lnTo>
                  <a:pt x="1340175" y="3722057"/>
                </a:lnTo>
                <a:lnTo>
                  <a:pt x="1300379" y="3725568"/>
                </a:lnTo>
                <a:lnTo>
                  <a:pt x="1262924" y="3724398"/>
                </a:lnTo>
                <a:lnTo>
                  <a:pt x="1226640" y="3719716"/>
                </a:lnTo>
                <a:lnTo>
                  <a:pt x="1191526" y="3709182"/>
                </a:lnTo>
                <a:lnTo>
                  <a:pt x="1162265" y="3693966"/>
                </a:lnTo>
                <a:lnTo>
                  <a:pt x="1134174" y="3674068"/>
                </a:lnTo>
                <a:lnTo>
                  <a:pt x="1109594" y="3650659"/>
                </a:lnTo>
                <a:lnTo>
                  <a:pt x="1085015" y="3623738"/>
                </a:lnTo>
                <a:lnTo>
                  <a:pt x="1062776" y="3595647"/>
                </a:lnTo>
                <a:lnTo>
                  <a:pt x="1040537" y="3566386"/>
                </a:lnTo>
                <a:lnTo>
                  <a:pt x="1018299" y="3537124"/>
                </a:lnTo>
                <a:lnTo>
                  <a:pt x="996060" y="3509033"/>
                </a:lnTo>
                <a:lnTo>
                  <a:pt x="972651" y="3482113"/>
                </a:lnTo>
                <a:lnTo>
                  <a:pt x="945730" y="3458704"/>
                </a:lnTo>
                <a:lnTo>
                  <a:pt x="919980" y="3437635"/>
                </a:lnTo>
                <a:lnTo>
                  <a:pt x="890719" y="3421249"/>
                </a:lnTo>
                <a:lnTo>
                  <a:pt x="859116" y="3407203"/>
                </a:lnTo>
                <a:lnTo>
                  <a:pt x="825173" y="3395499"/>
                </a:lnTo>
                <a:lnTo>
                  <a:pt x="790059" y="3384965"/>
                </a:lnTo>
                <a:lnTo>
                  <a:pt x="754946" y="3375601"/>
                </a:lnTo>
                <a:lnTo>
                  <a:pt x="718662" y="3366237"/>
                </a:lnTo>
                <a:lnTo>
                  <a:pt x="684718" y="3355703"/>
                </a:lnTo>
                <a:lnTo>
                  <a:pt x="650775" y="3343999"/>
                </a:lnTo>
                <a:lnTo>
                  <a:pt x="619173" y="3329953"/>
                </a:lnTo>
                <a:lnTo>
                  <a:pt x="591082" y="3312396"/>
                </a:lnTo>
                <a:lnTo>
                  <a:pt x="565332" y="3291328"/>
                </a:lnTo>
                <a:lnTo>
                  <a:pt x="544263" y="3265578"/>
                </a:lnTo>
                <a:lnTo>
                  <a:pt x="526706" y="3237487"/>
                </a:lnTo>
                <a:lnTo>
                  <a:pt x="512661" y="3205885"/>
                </a:lnTo>
                <a:lnTo>
                  <a:pt x="500956" y="3171941"/>
                </a:lnTo>
                <a:lnTo>
                  <a:pt x="490422" y="3137998"/>
                </a:lnTo>
                <a:lnTo>
                  <a:pt x="481059" y="3101714"/>
                </a:lnTo>
                <a:lnTo>
                  <a:pt x="471695" y="3066600"/>
                </a:lnTo>
                <a:lnTo>
                  <a:pt x="461161" y="3031486"/>
                </a:lnTo>
                <a:lnTo>
                  <a:pt x="449456" y="2997543"/>
                </a:lnTo>
                <a:lnTo>
                  <a:pt x="435411" y="2965941"/>
                </a:lnTo>
                <a:lnTo>
                  <a:pt x="419024" y="2936679"/>
                </a:lnTo>
                <a:lnTo>
                  <a:pt x="397956" y="2910929"/>
                </a:lnTo>
                <a:lnTo>
                  <a:pt x="374547" y="2884009"/>
                </a:lnTo>
                <a:lnTo>
                  <a:pt x="347626" y="2860599"/>
                </a:lnTo>
                <a:lnTo>
                  <a:pt x="318365" y="2838361"/>
                </a:lnTo>
                <a:lnTo>
                  <a:pt x="289103" y="2816122"/>
                </a:lnTo>
                <a:lnTo>
                  <a:pt x="259842" y="2793883"/>
                </a:lnTo>
                <a:lnTo>
                  <a:pt x="231751" y="2771645"/>
                </a:lnTo>
                <a:lnTo>
                  <a:pt x="204830" y="2747065"/>
                </a:lnTo>
                <a:lnTo>
                  <a:pt x="181421" y="2722485"/>
                </a:lnTo>
                <a:lnTo>
                  <a:pt x="161523" y="2694394"/>
                </a:lnTo>
                <a:lnTo>
                  <a:pt x="146308" y="2665133"/>
                </a:lnTo>
                <a:lnTo>
                  <a:pt x="135773" y="2630019"/>
                </a:lnTo>
                <a:lnTo>
                  <a:pt x="131092" y="2593735"/>
                </a:lnTo>
                <a:lnTo>
                  <a:pt x="129921" y="2556280"/>
                </a:lnTo>
                <a:lnTo>
                  <a:pt x="133432" y="2516485"/>
                </a:lnTo>
                <a:lnTo>
                  <a:pt x="138114" y="2476689"/>
                </a:lnTo>
                <a:lnTo>
                  <a:pt x="143967" y="2436894"/>
                </a:lnTo>
                <a:lnTo>
                  <a:pt x="148648" y="2397098"/>
                </a:lnTo>
                <a:lnTo>
                  <a:pt x="150989" y="2357302"/>
                </a:lnTo>
                <a:lnTo>
                  <a:pt x="150989" y="2318677"/>
                </a:lnTo>
                <a:lnTo>
                  <a:pt x="146308" y="2282393"/>
                </a:lnTo>
                <a:lnTo>
                  <a:pt x="136944" y="2246109"/>
                </a:lnTo>
                <a:lnTo>
                  <a:pt x="122898" y="2212166"/>
                </a:lnTo>
                <a:lnTo>
                  <a:pt x="105341" y="2177052"/>
                </a:lnTo>
                <a:lnTo>
                  <a:pt x="85444" y="2141938"/>
                </a:lnTo>
                <a:lnTo>
                  <a:pt x="64375" y="2106824"/>
                </a:lnTo>
                <a:lnTo>
                  <a:pt x="44478" y="2072881"/>
                </a:lnTo>
                <a:lnTo>
                  <a:pt x="26921" y="2036597"/>
                </a:lnTo>
                <a:lnTo>
                  <a:pt x="12875" y="2001483"/>
                </a:lnTo>
                <a:lnTo>
                  <a:pt x="3512" y="1965199"/>
                </a:lnTo>
                <a:lnTo>
                  <a:pt x="0" y="1927744"/>
                </a:lnTo>
                <a:lnTo>
                  <a:pt x="3512" y="1890290"/>
                </a:lnTo>
                <a:lnTo>
                  <a:pt x="12875" y="1854005"/>
                </a:lnTo>
                <a:lnTo>
                  <a:pt x="26921" y="1818892"/>
                </a:lnTo>
                <a:lnTo>
                  <a:pt x="44478" y="1782608"/>
                </a:lnTo>
                <a:lnTo>
                  <a:pt x="64375" y="1748664"/>
                </a:lnTo>
                <a:lnTo>
                  <a:pt x="85444" y="1713550"/>
                </a:lnTo>
                <a:lnTo>
                  <a:pt x="105341" y="1678437"/>
                </a:lnTo>
                <a:lnTo>
                  <a:pt x="122898" y="1643323"/>
                </a:lnTo>
                <a:lnTo>
                  <a:pt x="136944" y="1609380"/>
                </a:lnTo>
                <a:lnTo>
                  <a:pt x="146308" y="1573096"/>
                </a:lnTo>
                <a:lnTo>
                  <a:pt x="150989" y="1536811"/>
                </a:lnTo>
                <a:lnTo>
                  <a:pt x="150989" y="1498186"/>
                </a:lnTo>
                <a:lnTo>
                  <a:pt x="148648" y="1458391"/>
                </a:lnTo>
                <a:lnTo>
                  <a:pt x="143967" y="1418595"/>
                </a:lnTo>
                <a:lnTo>
                  <a:pt x="138114" y="1378799"/>
                </a:lnTo>
                <a:lnTo>
                  <a:pt x="133432" y="1339004"/>
                </a:lnTo>
                <a:lnTo>
                  <a:pt x="129921" y="1299208"/>
                </a:lnTo>
                <a:lnTo>
                  <a:pt x="131092" y="1261754"/>
                </a:lnTo>
                <a:lnTo>
                  <a:pt x="135773" y="1225469"/>
                </a:lnTo>
                <a:lnTo>
                  <a:pt x="146308" y="1190356"/>
                </a:lnTo>
                <a:lnTo>
                  <a:pt x="161523" y="1161094"/>
                </a:lnTo>
                <a:lnTo>
                  <a:pt x="181421" y="1133003"/>
                </a:lnTo>
                <a:lnTo>
                  <a:pt x="204830" y="1108424"/>
                </a:lnTo>
                <a:lnTo>
                  <a:pt x="231751" y="1083844"/>
                </a:lnTo>
                <a:lnTo>
                  <a:pt x="259842" y="1061605"/>
                </a:lnTo>
                <a:lnTo>
                  <a:pt x="289103" y="1039367"/>
                </a:lnTo>
                <a:lnTo>
                  <a:pt x="318365" y="1017128"/>
                </a:lnTo>
                <a:lnTo>
                  <a:pt x="347626" y="994889"/>
                </a:lnTo>
                <a:lnTo>
                  <a:pt x="374547" y="971480"/>
                </a:lnTo>
                <a:lnTo>
                  <a:pt x="397956" y="944560"/>
                </a:lnTo>
                <a:lnTo>
                  <a:pt x="419024" y="918809"/>
                </a:lnTo>
                <a:lnTo>
                  <a:pt x="435411" y="889548"/>
                </a:lnTo>
                <a:lnTo>
                  <a:pt x="449456" y="857946"/>
                </a:lnTo>
                <a:lnTo>
                  <a:pt x="461161" y="824002"/>
                </a:lnTo>
                <a:lnTo>
                  <a:pt x="471695" y="788889"/>
                </a:lnTo>
                <a:lnTo>
                  <a:pt x="481059" y="753775"/>
                </a:lnTo>
                <a:lnTo>
                  <a:pt x="490422" y="717491"/>
                </a:lnTo>
                <a:lnTo>
                  <a:pt x="500956" y="683547"/>
                </a:lnTo>
                <a:lnTo>
                  <a:pt x="512661" y="649604"/>
                </a:lnTo>
                <a:lnTo>
                  <a:pt x="526706" y="618002"/>
                </a:lnTo>
                <a:lnTo>
                  <a:pt x="544263" y="589911"/>
                </a:lnTo>
                <a:lnTo>
                  <a:pt x="565332" y="564161"/>
                </a:lnTo>
                <a:lnTo>
                  <a:pt x="591082" y="543092"/>
                </a:lnTo>
                <a:lnTo>
                  <a:pt x="619173" y="525535"/>
                </a:lnTo>
                <a:lnTo>
                  <a:pt x="650775" y="511490"/>
                </a:lnTo>
                <a:lnTo>
                  <a:pt x="684718" y="499785"/>
                </a:lnTo>
                <a:lnTo>
                  <a:pt x="718662" y="489251"/>
                </a:lnTo>
                <a:lnTo>
                  <a:pt x="754946" y="479888"/>
                </a:lnTo>
                <a:lnTo>
                  <a:pt x="790059" y="470524"/>
                </a:lnTo>
                <a:lnTo>
                  <a:pt x="825173" y="459990"/>
                </a:lnTo>
                <a:lnTo>
                  <a:pt x="859116" y="448285"/>
                </a:lnTo>
                <a:lnTo>
                  <a:pt x="890719" y="434240"/>
                </a:lnTo>
                <a:lnTo>
                  <a:pt x="919980" y="417853"/>
                </a:lnTo>
                <a:lnTo>
                  <a:pt x="945730" y="396785"/>
                </a:lnTo>
                <a:lnTo>
                  <a:pt x="972651" y="373376"/>
                </a:lnTo>
                <a:lnTo>
                  <a:pt x="996060" y="346455"/>
                </a:lnTo>
                <a:lnTo>
                  <a:pt x="1018299" y="318364"/>
                </a:lnTo>
                <a:lnTo>
                  <a:pt x="1040537" y="289103"/>
                </a:lnTo>
                <a:lnTo>
                  <a:pt x="1062776" y="259841"/>
                </a:lnTo>
                <a:lnTo>
                  <a:pt x="1085015" y="231750"/>
                </a:lnTo>
                <a:lnTo>
                  <a:pt x="1109594" y="204830"/>
                </a:lnTo>
                <a:lnTo>
                  <a:pt x="1134174" y="181421"/>
                </a:lnTo>
                <a:lnTo>
                  <a:pt x="1162265" y="161523"/>
                </a:lnTo>
                <a:lnTo>
                  <a:pt x="1191526" y="146307"/>
                </a:lnTo>
                <a:lnTo>
                  <a:pt x="1226640" y="135773"/>
                </a:lnTo>
                <a:lnTo>
                  <a:pt x="1262924" y="131091"/>
                </a:lnTo>
                <a:lnTo>
                  <a:pt x="1300379" y="129921"/>
                </a:lnTo>
                <a:lnTo>
                  <a:pt x="1340175" y="133432"/>
                </a:lnTo>
                <a:lnTo>
                  <a:pt x="1379970" y="138114"/>
                </a:lnTo>
                <a:lnTo>
                  <a:pt x="1419766" y="143966"/>
                </a:lnTo>
                <a:lnTo>
                  <a:pt x="1459561" y="148648"/>
                </a:lnTo>
                <a:lnTo>
                  <a:pt x="1499357" y="150989"/>
                </a:lnTo>
                <a:lnTo>
                  <a:pt x="1537982" y="150989"/>
                </a:lnTo>
                <a:lnTo>
                  <a:pt x="1574266" y="146307"/>
                </a:lnTo>
                <a:lnTo>
                  <a:pt x="1610550" y="136943"/>
                </a:lnTo>
                <a:lnTo>
                  <a:pt x="1645664" y="122898"/>
                </a:lnTo>
                <a:lnTo>
                  <a:pt x="1680778" y="104171"/>
                </a:lnTo>
                <a:lnTo>
                  <a:pt x="1715892" y="85443"/>
                </a:lnTo>
                <a:lnTo>
                  <a:pt x="1751005" y="64375"/>
                </a:lnTo>
                <a:lnTo>
                  <a:pt x="1784949" y="44477"/>
                </a:lnTo>
                <a:lnTo>
                  <a:pt x="1821233" y="26920"/>
                </a:lnTo>
                <a:lnTo>
                  <a:pt x="1856347" y="12875"/>
                </a:lnTo>
                <a:lnTo>
                  <a:pt x="1892631" y="3511"/>
                </a:lnTo>
                <a:close/>
              </a:path>
            </a:pathLst>
          </a:custGeom>
        </p:spPr>
      </p:pic>
    </p:spTree>
    <p:extLst>
      <p:ext uri="{BB962C8B-B14F-4D97-AF65-F5344CB8AC3E}">
        <p14:creationId xmlns:p14="http://schemas.microsoft.com/office/powerpoint/2010/main" val="2078639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8BF03-AE74-C595-CDE3-D7C6FFC18E1D}"/>
              </a:ext>
            </a:extLst>
          </p:cNvPr>
          <p:cNvSpPr>
            <a:spLocks noGrp="1"/>
          </p:cNvSpPr>
          <p:nvPr>
            <p:ph type="title"/>
          </p:nvPr>
        </p:nvSpPr>
        <p:spPr>
          <a:xfrm>
            <a:off x="1524000" y="978408"/>
            <a:ext cx="10558272" cy="896108"/>
          </a:xfrm>
        </p:spPr>
        <p:txBody>
          <a:bodyPr>
            <a:normAutofit/>
          </a:bodyPr>
          <a:lstStyle/>
          <a:p>
            <a:r>
              <a:rPr lang="en-US" sz="3600" dirty="0">
                <a:latin typeface="Avenir Book" panose="02000503020000020003" pitchFamily="2" charset="0"/>
              </a:rPr>
              <a:t>Four aspects of folk psychology</a:t>
            </a:r>
          </a:p>
        </p:txBody>
      </p:sp>
      <p:sp>
        <p:nvSpPr>
          <p:cNvPr id="3" name="Content Placeholder 2">
            <a:extLst>
              <a:ext uri="{FF2B5EF4-FFF2-40B4-BE49-F238E27FC236}">
                <a16:creationId xmlns:a16="http://schemas.microsoft.com/office/drawing/2014/main" id="{E06B355B-19EF-6EFF-0EE8-A3063CBCB58E}"/>
              </a:ext>
            </a:extLst>
          </p:cNvPr>
          <p:cNvSpPr>
            <a:spLocks noGrp="1"/>
          </p:cNvSpPr>
          <p:nvPr>
            <p:ph idx="1"/>
          </p:nvPr>
        </p:nvSpPr>
        <p:spPr>
          <a:xfrm>
            <a:off x="1215102" y="2286001"/>
            <a:ext cx="10178322" cy="4017263"/>
          </a:xfrm>
        </p:spPr>
        <p:txBody>
          <a:bodyPr>
            <a:normAutofit/>
          </a:bodyPr>
          <a:lstStyle/>
          <a:p>
            <a:pPr marL="342900" lvl="0" indent="-342900" algn="just">
              <a:buFont typeface="+mj-lt"/>
              <a:buAutoNum type="arabicPeriod"/>
            </a:pPr>
            <a:r>
              <a:rPr lang="en-GB" sz="26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 capacity to deliberate.</a:t>
            </a:r>
          </a:p>
          <a:p>
            <a:pPr marL="342900" lvl="0" indent="-342900" algn="just">
              <a:buFont typeface="+mj-lt"/>
              <a:buAutoNum type="arabicPeriod"/>
            </a:pPr>
            <a:r>
              <a:rPr lang="en-GB" sz="26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 capacity to conceive of things we want or believe will happen. (intentional inexistence) </a:t>
            </a:r>
          </a:p>
          <a:p>
            <a:pPr marL="342900" lvl="0" indent="-342900" algn="just">
              <a:buFont typeface="+mj-lt"/>
              <a:buAutoNum type="arabicPeriod"/>
            </a:pPr>
            <a:r>
              <a:rPr lang="en-GB" sz="26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That the actions we take appear to be a function of how we take the world to be.</a:t>
            </a:r>
          </a:p>
          <a:p>
            <a:pPr marL="342900" lvl="0" indent="-342900" algn="just">
              <a:buFont typeface="+mj-lt"/>
              <a:buAutoNum type="arabicPeriod"/>
            </a:pPr>
            <a:r>
              <a:rPr lang="en-GB" sz="26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 powers to predict what other people are going to do. </a:t>
            </a:r>
          </a:p>
          <a:p>
            <a:endParaRPr lang="en-US" dirty="0"/>
          </a:p>
        </p:txBody>
      </p:sp>
    </p:spTree>
    <p:extLst>
      <p:ext uri="{BB962C8B-B14F-4D97-AF65-F5344CB8AC3E}">
        <p14:creationId xmlns:p14="http://schemas.microsoft.com/office/powerpoint/2010/main" val="3390848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329FC-E1D5-DB28-E605-AE8BF2305403}"/>
              </a:ext>
            </a:extLst>
          </p:cNvPr>
          <p:cNvSpPr>
            <a:spLocks noGrp="1"/>
          </p:cNvSpPr>
          <p:nvPr>
            <p:ph type="title"/>
          </p:nvPr>
        </p:nvSpPr>
        <p:spPr/>
        <p:txBody>
          <a:bodyPr/>
          <a:lstStyle/>
          <a:p>
            <a:r>
              <a:rPr lang="en-US" dirty="0">
                <a:latin typeface="Optima" panose="02000503060000020004" pitchFamily="2" charset="0"/>
              </a:rPr>
              <a:t>Folk Psychology will be abandoned</a:t>
            </a:r>
          </a:p>
        </p:txBody>
      </p:sp>
      <p:sp>
        <p:nvSpPr>
          <p:cNvPr id="3" name="Content Placeholder 2">
            <a:extLst>
              <a:ext uri="{FF2B5EF4-FFF2-40B4-BE49-F238E27FC236}">
                <a16:creationId xmlns:a16="http://schemas.microsoft.com/office/drawing/2014/main" id="{3A22D716-2B5C-56FD-042C-02EABA73FAF8}"/>
              </a:ext>
            </a:extLst>
          </p:cNvPr>
          <p:cNvSpPr>
            <a:spLocks noGrp="1"/>
          </p:cNvSpPr>
          <p:nvPr>
            <p:ph idx="1"/>
          </p:nvPr>
        </p:nvSpPr>
        <p:spPr>
          <a:xfrm>
            <a:off x="1251678" y="2286001"/>
            <a:ext cx="10178322" cy="4334255"/>
          </a:xfrm>
        </p:spPr>
        <p:txBody>
          <a:bodyPr/>
          <a:lstStyle/>
          <a:p>
            <a:pPr marL="0" indent="0" algn="just">
              <a:lnSpc>
                <a:spcPct val="150000"/>
              </a:lnSpc>
              <a:buNone/>
            </a:pPr>
            <a:r>
              <a:rPr lang="en-GB" sz="1800" kern="100" dirty="0" err="1">
                <a:solidFill>
                  <a:schemeClr val="tx1"/>
                </a:solidFill>
                <a:effectLst/>
                <a:latin typeface="Optima" panose="02000503060000020004" pitchFamily="2" charset="0"/>
                <a:ea typeface="Calibri" panose="020F0502020204030204" pitchFamily="34" charset="0"/>
                <a:cs typeface="Times New Roman" panose="02020603050405020304" pitchFamily="18" charset="0"/>
              </a:rPr>
              <a:t>Eliminativists deny</a:t>
            </a:r>
            <a:r>
              <a:rPr lang="en-GB" sz="1800" kern="100" dirty="0">
                <a:solidFill>
                  <a:schemeClr val="tx1"/>
                </a:solidFill>
                <a:effectLst/>
                <a:latin typeface="Optima" panose="02000503060000020004" pitchFamily="2" charset="0"/>
                <a:ea typeface="Calibri" panose="020F0502020204030204" pitchFamily="34" charset="0"/>
                <a:cs typeface="Times New Roman" panose="02020603050405020304" pitchFamily="18" charset="0"/>
              </a:rPr>
              <a:t> that things like beliefs, desires, consciousness and qualia exist, and claim that when we have a fuller understanding of the working of the brain with neuroscience, we will be able to abandon belief in these things. </a:t>
            </a:r>
          </a:p>
          <a:p>
            <a:pPr marL="0" indent="0" algn="just">
              <a:lnSpc>
                <a:spcPct val="150000"/>
              </a:lnSpc>
              <a:buNone/>
            </a:pPr>
            <a:endParaRPr lang="en-GB"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50000"/>
              </a:lnSpc>
              <a:buNone/>
            </a:pPr>
            <a:r>
              <a:rPr lang="en-GB" sz="1800" kern="100" dirty="0">
                <a:solidFill>
                  <a:schemeClr val="tx1"/>
                </a:solidFill>
                <a:effectLst/>
                <a:latin typeface="Optima" panose="02000503060000020004" pitchFamily="2" charset="0"/>
                <a:ea typeface="Calibri" panose="020F0502020204030204" pitchFamily="34" charset="0"/>
                <a:cs typeface="Times New Roman" panose="02020603050405020304" pitchFamily="18" charset="0"/>
              </a:rPr>
              <a:t>They point to the way that Ptolemy’s astronomical system and Aristotelian physics were abandoned by the shifts in science that came with Galileo and Newton. There have been previous scientific advances that have made certain concepts null and void. For example, the belief in the aether, caloric fluid and vital force were all abandoned as science made progress in physics and biology respectively. </a:t>
            </a:r>
            <a:endParaRPr lang="en-GB"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395743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planet with rings around it&#10;&#10;Description automatically generated">
            <a:extLst>
              <a:ext uri="{FF2B5EF4-FFF2-40B4-BE49-F238E27FC236}">
                <a16:creationId xmlns:a16="http://schemas.microsoft.com/office/drawing/2014/main" id="{2A0962F4-2F0B-98BE-0801-BCB434D066A5}"/>
              </a:ext>
            </a:extLst>
          </p:cNvPr>
          <p:cNvPicPr>
            <a:picLocks noChangeAspect="1"/>
          </p:cNvPicPr>
          <p:nvPr/>
        </p:nvPicPr>
        <p:blipFill rotWithShape="1">
          <a:blip r:embed="rId2"/>
          <a:srcRect l="30506" r="28979" b="1"/>
          <a:stretch/>
        </p:blipFill>
        <p:spPr>
          <a:xfrm>
            <a:off x="7338646" y="10"/>
            <a:ext cx="4853354" cy="6857990"/>
          </a:xfrm>
          <a:prstGeom prst="rect">
            <a:avLst/>
          </a:prstGeom>
        </p:spPr>
      </p:pic>
      <p:sp>
        <p:nvSpPr>
          <p:cNvPr id="14" name="Freeform 10">
            <a:extLst>
              <a:ext uri="{FF2B5EF4-FFF2-40B4-BE49-F238E27FC236}">
                <a16:creationId xmlns:a16="http://schemas.microsoft.com/office/drawing/2014/main" id="{E1CE536E-134A-4A35-900B-30F927D5B5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FDDB659E-180D-C961-BCEA-79A43FD0E698}"/>
              </a:ext>
            </a:extLst>
          </p:cNvPr>
          <p:cNvSpPr>
            <a:spLocks noGrp="1"/>
          </p:cNvSpPr>
          <p:nvPr>
            <p:ph type="title"/>
          </p:nvPr>
        </p:nvSpPr>
        <p:spPr>
          <a:xfrm>
            <a:off x="765051" y="382385"/>
            <a:ext cx="6015897" cy="1492132"/>
          </a:xfrm>
        </p:spPr>
        <p:txBody>
          <a:bodyPr>
            <a:normAutofit fontScale="90000"/>
          </a:bodyPr>
          <a:lstStyle/>
          <a:p>
            <a:br>
              <a:rPr lang="en-US" dirty="0"/>
            </a:br>
            <a:r>
              <a:rPr lang="en-US" dirty="0">
                <a:latin typeface="Optima" panose="02000503060000020004" pitchFamily="2" charset="0"/>
              </a:rPr>
              <a:t>Paul</a:t>
            </a:r>
            <a:r>
              <a:rPr lang="en-US" dirty="0"/>
              <a:t> </a:t>
            </a:r>
            <a:r>
              <a:rPr lang="en-US" dirty="0">
                <a:latin typeface="Optima" panose="02000503060000020004" pitchFamily="2" charset="0"/>
              </a:rPr>
              <a:t>Churchland </a:t>
            </a:r>
            <a:br>
              <a:rPr lang="en-US" dirty="0">
                <a:latin typeface="Optima" panose="02000503060000020004" pitchFamily="2" charset="0"/>
              </a:rPr>
            </a:br>
            <a:br>
              <a:rPr lang="en-US" dirty="0">
                <a:latin typeface="Optima" panose="02000503060000020004" pitchFamily="2" charset="0"/>
              </a:rPr>
            </a:br>
            <a:endParaRPr lang="en-US" dirty="0">
              <a:latin typeface="Optima" panose="02000503060000020004" pitchFamily="2" charset="0"/>
            </a:endParaRPr>
          </a:p>
        </p:txBody>
      </p:sp>
      <p:sp>
        <p:nvSpPr>
          <p:cNvPr id="15" name="Rectangle 14">
            <a:extLst>
              <a:ext uri="{FF2B5EF4-FFF2-40B4-BE49-F238E27FC236}">
                <a16:creationId xmlns:a16="http://schemas.microsoft.com/office/drawing/2014/main" id="{FA0382D1-1594-4E3D-842E-04E1E5E75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52D04C1E-72C9-2EA5-A016-8E106DA34D6E}"/>
              </a:ext>
            </a:extLst>
          </p:cNvPr>
          <p:cNvSpPr>
            <a:spLocks noGrp="1"/>
          </p:cNvSpPr>
          <p:nvPr>
            <p:ph idx="1"/>
          </p:nvPr>
        </p:nvSpPr>
        <p:spPr>
          <a:xfrm>
            <a:off x="765051" y="2743200"/>
            <a:ext cx="6015897" cy="3499104"/>
          </a:xfrm>
        </p:spPr>
        <p:txBody>
          <a:bodyPr>
            <a:normAutofit fontScale="92500"/>
          </a:bodyPr>
          <a:lstStyle/>
          <a:p>
            <a:pPr marL="0" indent="0">
              <a:lnSpc>
                <a:spcPct val="150000"/>
              </a:lnSpc>
              <a:buNone/>
            </a:pPr>
            <a:r>
              <a:rPr lang="en-GB" kern="100" dirty="0" err="1">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Churchland writes</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‘…note the common objection to </a:t>
            </a:r>
            <a:r>
              <a:rPr lang="en-GB" kern="100" dirty="0" err="1">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Galilean</a:t>
            </a:r>
            <a:r>
              <a:rPr lang="en-GB"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/Newtonian claim that we humans, and the ground we stand on, are constantly moving eastwards at something close to a 1000 miles an hour was that our subjective impressions are wholly incompatible with our being engaged in any motion of such an extreme and unprecedented character’. </a:t>
            </a:r>
          </a:p>
          <a:p>
            <a:endParaRPr lang="en-US" dirty="0"/>
          </a:p>
        </p:txBody>
      </p:sp>
    </p:spTree>
    <p:extLst>
      <p:ext uri="{BB962C8B-B14F-4D97-AF65-F5344CB8AC3E}">
        <p14:creationId xmlns:p14="http://schemas.microsoft.com/office/powerpoint/2010/main" val="3100233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25B1-D60F-9DDB-D8A5-443F3E1C965B}"/>
              </a:ext>
            </a:extLst>
          </p:cNvPr>
          <p:cNvSpPr>
            <a:spLocks noGrp="1"/>
          </p:cNvSpPr>
          <p:nvPr>
            <p:ph type="title"/>
          </p:nvPr>
        </p:nvSpPr>
        <p:spPr>
          <a:xfrm>
            <a:off x="1251678" y="829056"/>
            <a:ext cx="10178322" cy="1045460"/>
          </a:xfrm>
        </p:spPr>
        <p:txBody>
          <a:bodyPr>
            <a:normAutofit fontScale="90000"/>
          </a:bodyPr>
          <a:lstStyle/>
          <a:p>
            <a:r>
              <a:rPr lang="en-US" dirty="0">
                <a:latin typeface="Optima" panose="02000503060000020004" pitchFamily="2" charset="0"/>
              </a:rPr>
              <a:t>Failures of folk psychology</a:t>
            </a:r>
          </a:p>
        </p:txBody>
      </p:sp>
      <p:sp>
        <p:nvSpPr>
          <p:cNvPr id="3" name="Content Placeholder 2">
            <a:extLst>
              <a:ext uri="{FF2B5EF4-FFF2-40B4-BE49-F238E27FC236}">
                <a16:creationId xmlns:a16="http://schemas.microsoft.com/office/drawing/2014/main" id="{D680E91A-3BF8-5B7F-16D5-1AF2DBC7B86E}"/>
              </a:ext>
            </a:extLst>
          </p:cNvPr>
          <p:cNvSpPr>
            <a:spLocks noGrp="1"/>
          </p:cNvSpPr>
          <p:nvPr>
            <p:ph idx="1"/>
          </p:nvPr>
        </p:nvSpPr>
        <p:spPr>
          <a:xfrm>
            <a:off x="1251678" y="1874516"/>
            <a:ext cx="10178322" cy="4258059"/>
          </a:xfrm>
        </p:spPr>
        <p:txBody>
          <a:bodyPr>
            <a:normAutofit/>
          </a:bodyPr>
          <a:lstStyle/>
          <a:p>
            <a:pPr marL="0" indent="0" algn="just">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Churchland also points to the failures of folk psychology. There are many things that folk psychology does badly at predicting and understanding. </a:t>
            </a:r>
          </a:p>
          <a:p>
            <a:pPr marL="0" indent="0" algn="just">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a:t>
            </a:r>
          </a:p>
          <a:p>
            <a:pPr marL="0" indent="0" algn="just">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1: We cannot explain mental illness, perception, sleep and intelligence. </a:t>
            </a:r>
          </a:p>
          <a:p>
            <a:pPr marL="0" indent="0" algn="just">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2: Folk psychology has made no significant progress over many thousands of years.</a:t>
            </a:r>
          </a:p>
          <a:p>
            <a:pPr marL="0" indent="0" algn="just">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3: We cannot easily fit folk psychology into our current best science. </a:t>
            </a:r>
          </a:p>
          <a:p>
            <a:endParaRPr lang="en-US" dirty="0"/>
          </a:p>
        </p:txBody>
      </p:sp>
    </p:spTree>
    <p:extLst>
      <p:ext uri="{BB962C8B-B14F-4D97-AF65-F5344CB8AC3E}">
        <p14:creationId xmlns:p14="http://schemas.microsoft.com/office/powerpoint/2010/main" val="3386359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0FEC7-90E3-E18F-ED28-636F2912FC3F}"/>
              </a:ext>
            </a:extLst>
          </p:cNvPr>
          <p:cNvSpPr>
            <a:spLocks noGrp="1"/>
          </p:cNvSpPr>
          <p:nvPr>
            <p:ph type="title"/>
          </p:nvPr>
        </p:nvSpPr>
        <p:spPr/>
        <p:txBody>
          <a:bodyPr>
            <a:normAutofit fontScale="90000"/>
          </a:bodyPr>
          <a:lstStyle/>
          <a:p>
            <a:r>
              <a:rPr lang="en-US" dirty="0">
                <a:latin typeface="Avenir Book" panose="02000503020000020003" pitchFamily="2" charset="0"/>
              </a:rPr>
              <a:t>Intuitions are not a guide to knowledge</a:t>
            </a:r>
          </a:p>
        </p:txBody>
      </p:sp>
      <p:sp>
        <p:nvSpPr>
          <p:cNvPr id="3" name="Content Placeholder 2">
            <a:extLst>
              <a:ext uri="{FF2B5EF4-FFF2-40B4-BE49-F238E27FC236}">
                <a16:creationId xmlns:a16="http://schemas.microsoft.com/office/drawing/2014/main" id="{28A88BCF-9151-2C60-AC4A-904AF180243F}"/>
              </a:ext>
            </a:extLst>
          </p:cNvPr>
          <p:cNvSpPr>
            <a:spLocks noGrp="1"/>
          </p:cNvSpPr>
          <p:nvPr>
            <p:ph idx="1"/>
          </p:nvPr>
        </p:nvSpPr>
        <p:spPr>
          <a:xfrm>
            <a:off x="1251678" y="2286001"/>
            <a:ext cx="10178322" cy="4189614"/>
          </a:xfrm>
        </p:spPr>
        <p:txBody>
          <a:bodyPr>
            <a:normAutofit fontScale="70000" lnSpcReduction="20000"/>
          </a:bodyPr>
          <a:lstStyle/>
          <a:p>
            <a:pPr marL="0" indent="0" algn="just">
              <a:lnSpc>
                <a:spcPct val="170000"/>
              </a:lnSpc>
              <a:buNone/>
            </a:pPr>
            <a:r>
              <a:rPr lang="en-GB" sz="30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‘Wittgenstein is said to have asked his students why people used to think that the sun went around the earth. One replied, ‘because it looks as if the sun goes around the earth.’ To which Wittgenstein is said to have responded: ‘And how would it look if the earth went around the sun?’ The obvious answer being exactly the same, can be given about why people used to think that the mind was not the brain.’ </a:t>
            </a:r>
          </a:p>
          <a:p>
            <a:pPr marL="0" indent="0" algn="just">
              <a:lnSpc>
                <a:spcPct val="170000"/>
              </a:lnSpc>
              <a:buNone/>
            </a:pPr>
            <a:endParaRPr lang="en-GB" sz="30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endParaRPr>
          </a:p>
          <a:p>
            <a:pPr marL="0" indent="0" algn="just">
              <a:lnSpc>
                <a:spcPct val="170000"/>
              </a:lnSpc>
              <a:buNone/>
            </a:pPr>
            <a:r>
              <a:rPr lang="en-GB" sz="30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Tim Crane: Elements of Mind</a:t>
            </a:r>
          </a:p>
          <a:p>
            <a:endParaRPr lang="en-US" dirty="0"/>
          </a:p>
        </p:txBody>
      </p:sp>
    </p:spTree>
    <p:extLst>
      <p:ext uri="{BB962C8B-B14F-4D97-AF65-F5344CB8AC3E}">
        <p14:creationId xmlns:p14="http://schemas.microsoft.com/office/powerpoint/2010/main" val="1349015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10934-0BBB-26B2-8116-6B1382BB66B6}"/>
              </a:ext>
            </a:extLst>
          </p:cNvPr>
          <p:cNvSpPr>
            <a:spLocks noGrp="1"/>
          </p:cNvSpPr>
          <p:nvPr>
            <p:ph type="title"/>
          </p:nvPr>
        </p:nvSpPr>
        <p:spPr/>
        <p:txBody>
          <a:bodyPr>
            <a:normAutofit/>
          </a:bodyPr>
          <a:lstStyle/>
          <a:p>
            <a:r>
              <a:rPr lang="en-US" sz="4400" dirty="0">
                <a:latin typeface="Avenir Book" panose="02000503020000020003" pitchFamily="2" charset="0"/>
              </a:rPr>
              <a:t>We do not need to believe in qualia</a:t>
            </a:r>
          </a:p>
        </p:txBody>
      </p:sp>
      <p:sp>
        <p:nvSpPr>
          <p:cNvPr id="3" name="Content Placeholder 2">
            <a:extLst>
              <a:ext uri="{FF2B5EF4-FFF2-40B4-BE49-F238E27FC236}">
                <a16:creationId xmlns:a16="http://schemas.microsoft.com/office/drawing/2014/main" id="{CCF2A770-C387-E4B1-079E-86F53A58D632}"/>
              </a:ext>
            </a:extLst>
          </p:cNvPr>
          <p:cNvSpPr>
            <a:spLocks noGrp="1"/>
          </p:cNvSpPr>
          <p:nvPr>
            <p:ph idx="1"/>
          </p:nvPr>
        </p:nvSpPr>
        <p:spPr>
          <a:xfrm>
            <a:off x="1251678" y="1962912"/>
            <a:ext cx="10178322" cy="4181855"/>
          </a:xfrm>
        </p:spPr>
        <p:txBody>
          <a:bodyPr>
            <a:noAutofit/>
          </a:bodyPr>
          <a:lstStyle/>
          <a:p>
            <a:pPr marL="0" indent="0" algn="just">
              <a:buNone/>
            </a:pPr>
            <a:r>
              <a:rPr lang="en-GB" sz="28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Churchland shows in some detail how we can predict and understand the way that sensations are produced in the brain with the help of neuroscience, how we can even describe, without actually having seen them, colours that we might intuit as impossible. For example, he claims we can have a sensation of a ‘vivid blue, that is as dark as the darkest black’, which seems contradictory. He even describes how that specific after-image can be made to appear in the brain. </a:t>
            </a:r>
            <a:endParaRPr lang="en-US" sz="2800" dirty="0">
              <a:solidFill>
                <a:srgbClr val="002060"/>
              </a:solidFill>
              <a:latin typeface="Avenir Book" panose="02000503020000020003" pitchFamily="2" charset="0"/>
            </a:endParaRPr>
          </a:p>
        </p:txBody>
      </p:sp>
    </p:spTree>
    <p:extLst>
      <p:ext uri="{BB962C8B-B14F-4D97-AF65-F5344CB8AC3E}">
        <p14:creationId xmlns:p14="http://schemas.microsoft.com/office/powerpoint/2010/main" val="638760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E5124-A6C4-1280-607D-21A4A508C465}"/>
              </a:ext>
            </a:extLst>
          </p:cNvPr>
          <p:cNvSpPr>
            <a:spLocks noGrp="1"/>
          </p:cNvSpPr>
          <p:nvPr>
            <p:ph type="title"/>
          </p:nvPr>
        </p:nvSpPr>
        <p:spPr>
          <a:xfrm>
            <a:off x="1251678" y="842963"/>
            <a:ext cx="10178322" cy="1031554"/>
          </a:xfrm>
        </p:spPr>
        <p:txBody>
          <a:bodyPr/>
          <a:lstStyle/>
          <a:p>
            <a:r>
              <a:rPr lang="en-US" dirty="0">
                <a:latin typeface="Avenir Book" panose="02000503020000020003" pitchFamily="2" charset="0"/>
              </a:rPr>
              <a:t>Intentionality</a:t>
            </a:r>
          </a:p>
        </p:txBody>
      </p:sp>
      <p:sp>
        <p:nvSpPr>
          <p:cNvPr id="3" name="Content Placeholder 2">
            <a:extLst>
              <a:ext uri="{FF2B5EF4-FFF2-40B4-BE49-F238E27FC236}">
                <a16:creationId xmlns:a16="http://schemas.microsoft.com/office/drawing/2014/main" id="{63B3C205-C781-58C4-599C-64281B359181}"/>
              </a:ext>
            </a:extLst>
          </p:cNvPr>
          <p:cNvSpPr>
            <a:spLocks noGrp="1"/>
          </p:cNvSpPr>
          <p:nvPr>
            <p:ph idx="1"/>
          </p:nvPr>
        </p:nvSpPr>
        <p:spPr>
          <a:xfrm>
            <a:off x="1251678" y="2014538"/>
            <a:ext cx="10178322" cy="4215573"/>
          </a:xfrm>
        </p:spPr>
        <p:txBody>
          <a:bodyPr>
            <a:noAutofit/>
          </a:bodyPr>
          <a:lstStyle/>
          <a:p>
            <a:pPr marL="0" indent="0" algn="just">
              <a:buNone/>
            </a:pPr>
            <a:r>
              <a:rPr lang="en-GB" sz="2400" dirty="0">
                <a:solidFill>
                  <a:srgbClr val="000000"/>
                </a:solidFill>
                <a:effectLst/>
                <a:latin typeface="Avenir Book" panose="02000503020000020003" pitchFamily="2" charset="0"/>
                <a:ea typeface="Calibri" panose="020F0502020204030204" pitchFamily="34" charset="0"/>
                <a:cs typeface="Times New Roman" panose="02020603050405020304" pitchFamily="18" charset="0"/>
              </a:rPr>
              <a:t>As regards ‘intentionality’ – the claim that the human mind can be about something – we have a philosophical problem. The claim of intentionality is that any belief, desire, love, hate, is directed at something in the world. The problem is we cannot explain how a physical organ like the brain can be about anything other than itself. We can understand a deliberate human product like a book or a painting being about something, but that same form cannot be applied to a brain which is in its very nature a product of evolution and chance. It would be far better to explain brain states as products of causal relations with things outside it. </a:t>
            </a:r>
            <a:endParaRPr lang="en-US" sz="2400" dirty="0">
              <a:latin typeface="Avenir Book" panose="02000503020000020003" pitchFamily="2" charset="0"/>
            </a:endParaRPr>
          </a:p>
        </p:txBody>
      </p:sp>
    </p:spTree>
    <p:extLst>
      <p:ext uri="{BB962C8B-B14F-4D97-AF65-F5344CB8AC3E}">
        <p14:creationId xmlns:p14="http://schemas.microsoft.com/office/powerpoint/2010/main" val="1302805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F2E81-6018-E11B-0DC6-079AB5F58FBA}"/>
              </a:ext>
            </a:extLst>
          </p:cNvPr>
          <p:cNvSpPr>
            <a:spLocks noGrp="1"/>
          </p:cNvSpPr>
          <p:nvPr>
            <p:ph type="title"/>
          </p:nvPr>
        </p:nvSpPr>
        <p:spPr>
          <a:xfrm>
            <a:off x="1251679" y="644525"/>
            <a:ext cx="3663221" cy="5408866"/>
          </a:xfrm>
        </p:spPr>
        <p:txBody>
          <a:bodyPr anchor="ctr">
            <a:normAutofit/>
          </a:bodyPr>
          <a:lstStyle/>
          <a:p>
            <a:r>
              <a:rPr lang="en-US" sz="3400">
                <a:latin typeface="Optima" panose="02000503060000020004" pitchFamily="2" charset="0"/>
              </a:rPr>
              <a:t>Evaluation of Eliminativism</a:t>
            </a:r>
          </a:p>
        </p:txBody>
      </p:sp>
      <p:graphicFrame>
        <p:nvGraphicFramePr>
          <p:cNvPr id="5" name="Content Placeholder 2">
            <a:extLst>
              <a:ext uri="{FF2B5EF4-FFF2-40B4-BE49-F238E27FC236}">
                <a16:creationId xmlns:a16="http://schemas.microsoft.com/office/drawing/2014/main" id="{15563D8F-CEB6-13C6-E9CC-4B197ECD3CB0}"/>
              </a:ext>
            </a:extLst>
          </p:cNvPr>
          <p:cNvGraphicFramePr>
            <a:graphicFrameLocks noGrp="1"/>
          </p:cNvGraphicFramePr>
          <p:nvPr>
            <p:ph idx="1"/>
            <p:extLst>
              <p:ext uri="{D42A27DB-BD31-4B8C-83A1-F6EECF244321}">
                <p14:modId xmlns:p14="http://schemas.microsoft.com/office/powerpoint/2010/main" val="4271827367"/>
              </p:ext>
            </p:extLst>
          </p:nvPr>
        </p:nvGraphicFramePr>
        <p:xfrm>
          <a:off x="5175250" y="644525"/>
          <a:ext cx="6254750" cy="5408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3076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A77D789-9DE0-43A3-B196-F13CFECFA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F48DA0-8C50-A561-AA23-4C8E657EB561}"/>
              </a:ext>
            </a:extLst>
          </p:cNvPr>
          <p:cNvSpPr>
            <a:spLocks noGrp="1"/>
          </p:cNvSpPr>
          <p:nvPr>
            <p:ph type="title"/>
          </p:nvPr>
        </p:nvSpPr>
        <p:spPr>
          <a:xfrm>
            <a:off x="765051" y="814387"/>
            <a:ext cx="6015897" cy="1060129"/>
          </a:xfrm>
        </p:spPr>
        <p:txBody>
          <a:bodyPr>
            <a:normAutofit/>
          </a:bodyPr>
          <a:lstStyle/>
          <a:p>
            <a:r>
              <a:rPr lang="en-US" dirty="0">
                <a:latin typeface="Avenir Book" panose="02000503020000020003" pitchFamily="2" charset="0"/>
              </a:rPr>
              <a:t>Objection 1</a:t>
            </a:r>
          </a:p>
        </p:txBody>
      </p:sp>
      <p:sp>
        <p:nvSpPr>
          <p:cNvPr id="19" name="Rectangle 18">
            <a:extLst>
              <a:ext uri="{FF2B5EF4-FFF2-40B4-BE49-F238E27FC236}">
                <a16:creationId xmlns:a16="http://schemas.microsoft.com/office/drawing/2014/main" id="{F9BC648B-BC3C-4674-B1FD-2F9F1C6D7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7A5DBCE7-FE71-B6D2-6D5C-AAE155E084A5}"/>
              </a:ext>
            </a:extLst>
          </p:cNvPr>
          <p:cNvSpPr>
            <a:spLocks noGrp="1"/>
          </p:cNvSpPr>
          <p:nvPr>
            <p:ph idx="1"/>
          </p:nvPr>
        </p:nvSpPr>
        <p:spPr>
          <a:xfrm>
            <a:off x="765051" y="2286001"/>
            <a:ext cx="6015897" cy="4029455"/>
          </a:xfrm>
        </p:spPr>
        <p:txBody>
          <a:bodyPr>
            <a:normAutofit fontScale="92500" lnSpcReduction="20000"/>
          </a:bodyPr>
          <a:lstStyle/>
          <a:p>
            <a:pPr marL="0" indent="0">
              <a:buNone/>
            </a:pPr>
            <a:r>
              <a:rPr lang="en-GB" sz="28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1: The objection that eliminative materialism is counter-intuitive claims that we cannot reasonably give up our most basic and fundamental beliefs, and that any theory which attacks them is probably false. It is one thing to learn that the earth goes around the sun; it is quite another to be told we do not think, or that we do not have beliefs, or qualia. </a:t>
            </a:r>
          </a:p>
          <a:p>
            <a:endParaRPr lang="en-US" dirty="0"/>
          </a:p>
        </p:txBody>
      </p:sp>
      <p:pic>
        <p:nvPicPr>
          <p:cNvPr id="5" name="Picture 4" descr="A cartoon of a person with his hand up&#10;&#10;Description automatically generated">
            <a:extLst>
              <a:ext uri="{FF2B5EF4-FFF2-40B4-BE49-F238E27FC236}">
                <a16:creationId xmlns:a16="http://schemas.microsoft.com/office/drawing/2014/main" id="{4F679800-E21F-8102-68D8-86178F200370}"/>
              </a:ext>
            </a:extLst>
          </p:cNvPr>
          <p:cNvPicPr>
            <a:picLocks noChangeAspect="1"/>
          </p:cNvPicPr>
          <p:nvPr/>
        </p:nvPicPr>
        <p:blipFill rotWithShape="1">
          <a:blip r:embed="rId2"/>
          <a:srcRect l="14363" r="15614"/>
          <a:stretch/>
        </p:blipFill>
        <p:spPr>
          <a:xfrm>
            <a:off x="7389812" y="10"/>
            <a:ext cx="4802188" cy="6857990"/>
          </a:xfrm>
          <a:custGeom>
            <a:avLst/>
            <a:gdLst/>
            <a:ahLst/>
            <a:cxnLst/>
            <a:rect l="l" t="t" r="r" b="b"/>
            <a:pathLst>
              <a:path w="4802188" h="6858000">
                <a:moveTo>
                  <a:pt x="0" y="0"/>
                </a:moveTo>
                <a:lnTo>
                  <a:pt x="4802188" y="0"/>
                </a:lnTo>
                <a:lnTo>
                  <a:pt x="4802188" y="6858000"/>
                </a:lnTo>
                <a:lnTo>
                  <a:pt x="0" y="6858000"/>
                </a:lnTo>
                <a:lnTo>
                  <a:pt x="4763" y="6791325"/>
                </a:lnTo>
                <a:lnTo>
                  <a:pt x="12700" y="6735762"/>
                </a:lnTo>
                <a:lnTo>
                  <a:pt x="22225" y="6683375"/>
                </a:lnTo>
                <a:lnTo>
                  <a:pt x="38100" y="6640512"/>
                </a:lnTo>
                <a:lnTo>
                  <a:pt x="53975" y="6597650"/>
                </a:lnTo>
                <a:lnTo>
                  <a:pt x="73025" y="6561137"/>
                </a:lnTo>
                <a:lnTo>
                  <a:pt x="92075" y="6523037"/>
                </a:lnTo>
                <a:lnTo>
                  <a:pt x="109538" y="6488112"/>
                </a:lnTo>
                <a:lnTo>
                  <a:pt x="127000" y="6448425"/>
                </a:lnTo>
                <a:lnTo>
                  <a:pt x="142875" y="6407150"/>
                </a:lnTo>
                <a:lnTo>
                  <a:pt x="157163" y="6361112"/>
                </a:lnTo>
                <a:lnTo>
                  <a:pt x="168275" y="6311900"/>
                </a:lnTo>
                <a:lnTo>
                  <a:pt x="176213" y="6251575"/>
                </a:lnTo>
                <a:lnTo>
                  <a:pt x="179388" y="6183312"/>
                </a:lnTo>
                <a:lnTo>
                  <a:pt x="176213" y="6113462"/>
                </a:lnTo>
                <a:lnTo>
                  <a:pt x="168275" y="6056312"/>
                </a:lnTo>
                <a:lnTo>
                  <a:pt x="157163" y="6003925"/>
                </a:lnTo>
                <a:lnTo>
                  <a:pt x="142875" y="5956300"/>
                </a:lnTo>
                <a:lnTo>
                  <a:pt x="127000" y="5915025"/>
                </a:lnTo>
                <a:lnTo>
                  <a:pt x="107950" y="5876925"/>
                </a:lnTo>
                <a:lnTo>
                  <a:pt x="88900" y="5840412"/>
                </a:lnTo>
                <a:lnTo>
                  <a:pt x="69850" y="5802312"/>
                </a:lnTo>
                <a:lnTo>
                  <a:pt x="52388" y="5762625"/>
                </a:lnTo>
                <a:lnTo>
                  <a:pt x="34925" y="5721350"/>
                </a:lnTo>
                <a:lnTo>
                  <a:pt x="20638" y="5675312"/>
                </a:lnTo>
                <a:lnTo>
                  <a:pt x="11113" y="5622925"/>
                </a:lnTo>
                <a:lnTo>
                  <a:pt x="1588" y="5562600"/>
                </a:lnTo>
                <a:lnTo>
                  <a:pt x="0" y="5494337"/>
                </a:lnTo>
                <a:lnTo>
                  <a:pt x="1588" y="5426075"/>
                </a:lnTo>
                <a:lnTo>
                  <a:pt x="11113" y="5365750"/>
                </a:lnTo>
                <a:lnTo>
                  <a:pt x="20638" y="5313362"/>
                </a:lnTo>
                <a:lnTo>
                  <a:pt x="34925" y="5268912"/>
                </a:lnTo>
                <a:lnTo>
                  <a:pt x="52388" y="5226050"/>
                </a:lnTo>
                <a:lnTo>
                  <a:pt x="69850" y="5186362"/>
                </a:lnTo>
                <a:lnTo>
                  <a:pt x="88900" y="5149850"/>
                </a:lnTo>
                <a:lnTo>
                  <a:pt x="107950" y="5114925"/>
                </a:lnTo>
                <a:lnTo>
                  <a:pt x="127000" y="5075237"/>
                </a:lnTo>
                <a:lnTo>
                  <a:pt x="142875" y="5033962"/>
                </a:lnTo>
                <a:lnTo>
                  <a:pt x="157163" y="4987925"/>
                </a:lnTo>
                <a:lnTo>
                  <a:pt x="168275" y="4935537"/>
                </a:lnTo>
                <a:lnTo>
                  <a:pt x="176213" y="4875212"/>
                </a:lnTo>
                <a:lnTo>
                  <a:pt x="179388" y="4806950"/>
                </a:lnTo>
                <a:lnTo>
                  <a:pt x="176213" y="4738687"/>
                </a:lnTo>
                <a:lnTo>
                  <a:pt x="168275" y="4678362"/>
                </a:lnTo>
                <a:lnTo>
                  <a:pt x="157163" y="4625975"/>
                </a:lnTo>
                <a:lnTo>
                  <a:pt x="142875" y="4579937"/>
                </a:lnTo>
                <a:lnTo>
                  <a:pt x="127000" y="4537075"/>
                </a:lnTo>
                <a:lnTo>
                  <a:pt x="107950" y="4498975"/>
                </a:lnTo>
                <a:lnTo>
                  <a:pt x="69850" y="4424362"/>
                </a:lnTo>
                <a:lnTo>
                  <a:pt x="52388" y="4386262"/>
                </a:lnTo>
                <a:lnTo>
                  <a:pt x="34925" y="4343400"/>
                </a:lnTo>
                <a:lnTo>
                  <a:pt x="20638" y="4297362"/>
                </a:lnTo>
                <a:lnTo>
                  <a:pt x="11113" y="4244975"/>
                </a:lnTo>
                <a:lnTo>
                  <a:pt x="1588" y="4186237"/>
                </a:lnTo>
                <a:lnTo>
                  <a:pt x="0" y="4116387"/>
                </a:lnTo>
                <a:lnTo>
                  <a:pt x="1588" y="4048125"/>
                </a:lnTo>
                <a:lnTo>
                  <a:pt x="11113" y="3987800"/>
                </a:lnTo>
                <a:lnTo>
                  <a:pt x="20638" y="3935412"/>
                </a:lnTo>
                <a:lnTo>
                  <a:pt x="34925" y="3890962"/>
                </a:lnTo>
                <a:lnTo>
                  <a:pt x="52388" y="3848100"/>
                </a:lnTo>
                <a:lnTo>
                  <a:pt x="69850" y="3811587"/>
                </a:lnTo>
                <a:lnTo>
                  <a:pt x="107950" y="3736975"/>
                </a:lnTo>
                <a:lnTo>
                  <a:pt x="127000" y="3697287"/>
                </a:lnTo>
                <a:lnTo>
                  <a:pt x="142875" y="3656012"/>
                </a:lnTo>
                <a:lnTo>
                  <a:pt x="157163" y="3609975"/>
                </a:lnTo>
                <a:lnTo>
                  <a:pt x="168275" y="3557587"/>
                </a:lnTo>
                <a:lnTo>
                  <a:pt x="176213" y="3497262"/>
                </a:lnTo>
                <a:lnTo>
                  <a:pt x="179388" y="3427412"/>
                </a:lnTo>
                <a:lnTo>
                  <a:pt x="176213" y="3360737"/>
                </a:lnTo>
                <a:lnTo>
                  <a:pt x="168275" y="3300412"/>
                </a:lnTo>
                <a:lnTo>
                  <a:pt x="157163" y="3248025"/>
                </a:lnTo>
                <a:lnTo>
                  <a:pt x="142875" y="3201987"/>
                </a:lnTo>
                <a:lnTo>
                  <a:pt x="127000" y="3160712"/>
                </a:lnTo>
                <a:lnTo>
                  <a:pt x="107950" y="3121025"/>
                </a:lnTo>
                <a:lnTo>
                  <a:pt x="88900" y="3084512"/>
                </a:lnTo>
                <a:lnTo>
                  <a:pt x="69850" y="3046412"/>
                </a:lnTo>
                <a:lnTo>
                  <a:pt x="52388" y="3009900"/>
                </a:lnTo>
                <a:lnTo>
                  <a:pt x="34925" y="2967037"/>
                </a:lnTo>
                <a:lnTo>
                  <a:pt x="20638" y="2922587"/>
                </a:lnTo>
                <a:lnTo>
                  <a:pt x="11113" y="2868612"/>
                </a:lnTo>
                <a:lnTo>
                  <a:pt x="1588" y="2809875"/>
                </a:lnTo>
                <a:lnTo>
                  <a:pt x="0" y="2741612"/>
                </a:lnTo>
                <a:lnTo>
                  <a:pt x="1588" y="2671762"/>
                </a:lnTo>
                <a:lnTo>
                  <a:pt x="11113" y="2613025"/>
                </a:lnTo>
                <a:lnTo>
                  <a:pt x="20638" y="2560637"/>
                </a:lnTo>
                <a:lnTo>
                  <a:pt x="34925" y="2513012"/>
                </a:lnTo>
                <a:lnTo>
                  <a:pt x="52388" y="2471737"/>
                </a:lnTo>
                <a:lnTo>
                  <a:pt x="69850" y="2433637"/>
                </a:lnTo>
                <a:lnTo>
                  <a:pt x="88900" y="2395537"/>
                </a:lnTo>
                <a:lnTo>
                  <a:pt x="107950" y="2359025"/>
                </a:lnTo>
                <a:lnTo>
                  <a:pt x="127000" y="2319337"/>
                </a:lnTo>
                <a:lnTo>
                  <a:pt x="142875" y="2278062"/>
                </a:lnTo>
                <a:lnTo>
                  <a:pt x="157163" y="2232025"/>
                </a:lnTo>
                <a:lnTo>
                  <a:pt x="168275" y="2179637"/>
                </a:lnTo>
                <a:lnTo>
                  <a:pt x="176213" y="2119312"/>
                </a:lnTo>
                <a:lnTo>
                  <a:pt x="179388" y="2051050"/>
                </a:lnTo>
                <a:lnTo>
                  <a:pt x="176213" y="1982787"/>
                </a:lnTo>
                <a:lnTo>
                  <a:pt x="168275" y="1922462"/>
                </a:lnTo>
                <a:lnTo>
                  <a:pt x="157163" y="1870075"/>
                </a:lnTo>
                <a:lnTo>
                  <a:pt x="142875" y="1824037"/>
                </a:lnTo>
                <a:lnTo>
                  <a:pt x="127000" y="1782762"/>
                </a:lnTo>
                <a:lnTo>
                  <a:pt x="107950" y="1743075"/>
                </a:lnTo>
                <a:lnTo>
                  <a:pt x="88900" y="1708150"/>
                </a:lnTo>
                <a:lnTo>
                  <a:pt x="69850" y="1671637"/>
                </a:lnTo>
                <a:lnTo>
                  <a:pt x="52388" y="1631950"/>
                </a:lnTo>
                <a:lnTo>
                  <a:pt x="34925" y="1589087"/>
                </a:lnTo>
                <a:lnTo>
                  <a:pt x="20638" y="1544637"/>
                </a:lnTo>
                <a:lnTo>
                  <a:pt x="11113" y="1492250"/>
                </a:lnTo>
                <a:lnTo>
                  <a:pt x="1588" y="1431925"/>
                </a:lnTo>
                <a:lnTo>
                  <a:pt x="0" y="1363662"/>
                </a:lnTo>
                <a:lnTo>
                  <a:pt x="1588" y="1295400"/>
                </a:lnTo>
                <a:lnTo>
                  <a:pt x="11113" y="1235075"/>
                </a:lnTo>
                <a:lnTo>
                  <a:pt x="20638" y="1182687"/>
                </a:lnTo>
                <a:lnTo>
                  <a:pt x="34925" y="1136650"/>
                </a:lnTo>
                <a:lnTo>
                  <a:pt x="52388" y="1095375"/>
                </a:lnTo>
                <a:lnTo>
                  <a:pt x="69850" y="1055687"/>
                </a:lnTo>
                <a:lnTo>
                  <a:pt x="88900" y="1017587"/>
                </a:lnTo>
                <a:lnTo>
                  <a:pt x="107950" y="981075"/>
                </a:lnTo>
                <a:lnTo>
                  <a:pt x="127000" y="942975"/>
                </a:lnTo>
                <a:lnTo>
                  <a:pt x="142875" y="901700"/>
                </a:lnTo>
                <a:lnTo>
                  <a:pt x="157163" y="854075"/>
                </a:lnTo>
                <a:lnTo>
                  <a:pt x="168275" y="801687"/>
                </a:lnTo>
                <a:lnTo>
                  <a:pt x="176213" y="744537"/>
                </a:lnTo>
                <a:lnTo>
                  <a:pt x="179388" y="673100"/>
                </a:lnTo>
                <a:lnTo>
                  <a:pt x="176213" y="606425"/>
                </a:lnTo>
                <a:lnTo>
                  <a:pt x="168275" y="546100"/>
                </a:lnTo>
                <a:lnTo>
                  <a:pt x="157163" y="496887"/>
                </a:lnTo>
                <a:lnTo>
                  <a:pt x="142875" y="450850"/>
                </a:lnTo>
                <a:lnTo>
                  <a:pt x="127000" y="409575"/>
                </a:lnTo>
                <a:lnTo>
                  <a:pt x="109538" y="369887"/>
                </a:lnTo>
                <a:lnTo>
                  <a:pt x="92075" y="334962"/>
                </a:lnTo>
                <a:lnTo>
                  <a:pt x="73025" y="296862"/>
                </a:lnTo>
                <a:lnTo>
                  <a:pt x="53975" y="260350"/>
                </a:lnTo>
                <a:lnTo>
                  <a:pt x="38100" y="217487"/>
                </a:lnTo>
                <a:lnTo>
                  <a:pt x="22225" y="174625"/>
                </a:lnTo>
                <a:lnTo>
                  <a:pt x="12700" y="122237"/>
                </a:lnTo>
                <a:lnTo>
                  <a:pt x="4763" y="66675"/>
                </a:lnTo>
                <a:close/>
              </a:path>
            </a:pathLst>
          </a:custGeom>
        </p:spPr>
      </p:pic>
    </p:spTree>
    <p:extLst>
      <p:ext uri="{BB962C8B-B14F-4D97-AF65-F5344CB8AC3E}">
        <p14:creationId xmlns:p14="http://schemas.microsoft.com/office/powerpoint/2010/main" val="3857371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C5567-AEEA-B85F-6852-AFF7BEA26C14}"/>
              </a:ext>
            </a:extLst>
          </p:cNvPr>
          <p:cNvSpPr>
            <a:spLocks noGrp="1"/>
          </p:cNvSpPr>
          <p:nvPr>
            <p:ph type="title"/>
          </p:nvPr>
        </p:nvSpPr>
        <p:spPr>
          <a:xfrm>
            <a:off x="1251678" y="978407"/>
            <a:ext cx="10178322" cy="896109"/>
          </a:xfrm>
        </p:spPr>
        <p:txBody>
          <a:bodyPr/>
          <a:lstStyle/>
          <a:p>
            <a:r>
              <a:rPr lang="en-US" dirty="0">
                <a:latin typeface="Avenir Book" panose="02000503020000020003" pitchFamily="2" charset="0"/>
              </a:rPr>
              <a:t>Objection 2</a:t>
            </a:r>
          </a:p>
        </p:txBody>
      </p:sp>
      <p:sp>
        <p:nvSpPr>
          <p:cNvPr id="3" name="Content Placeholder 2">
            <a:extLst>
              <a:ext uri="{FF2B5EF4-FFF2-40B4-BE49-F238E27FC236}">
                <a16:creationId xmlns:a16="http://schemas.microsoft.com/office/drawing/2014/main" id="{3C08351F-9EF4-D0BF-18FD-B6BF267763B6}"/>
              </a:ext>
            </a:extLst>
          </p:cNvPr>
          <p:cNvSpPr>
            <a:spLocks noGrp="1"/>
          </p:cNvSpPr>
          <p:nvPr>
            <p:ph idx="1"/>
          </p:nvPr>
        </p:nvSpPr>
        <p:spPr>
          <a:xfrm>
            <a:off x="1251678" y="2286001"/>
            <a:ext cx="9706835" cy="3593591"/>
          </a:xfrm>
        </p:spPr>
        <p:txBody>
          <a:bodyPr>
            <a:normAutofit fontScale="85000" lnSpcReduction="10000"/>
          </a:bodyPr>
          <a:lstStyle/>
          <a:p>
            <a:pPr marL="0" indent="0" algn="just">
              <a:buNone/>
            </a:pPr>
            <a:r>
              <a:rPr lang="en-GB" sz="2800" kern="1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Some have claimed, for example Louise Antony, that without folk psychology it is hard to see how we function, how we could make sense of the world, or go about our daily lives in it. Our attempts to predict and understand human behaviour are rather powerful. Also, the science of psychology is, to all intents and purposes, based on these common-sense conceptions in folk psychology; we would need to give up the science of psychology if we gave up folk psychology. It may well be the case that even if folk psychology is wrong, it is the best theory we have for working on an interhuman level. </a:t>
            </a:r>
          </a:p>
          <a:p>
            <a:pPr algn="just"/>
            <a:endParaRPr lang="en-US" dirty="0"/>
          </a:p>
        </p:txBody>
      </p:sp>
    </p:spTree>
    <p:extLst>
      <p:ext uri="{BB962C8B-B14F-4D97-AF65-F5344CB8AC3E}">
        <p14:creationId xmlns:p14="http://schemas.microsoft.com/office/powerpoint/2010/main" val="2159368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1D8A-83DB-B842-5AD3-0CDBC6071F8B}"/>
              </a:ext>
            </a:extLst>
          </p:cNvPr>
          <p:cNvSpPr>
            <a:spLocks noGrp="1"/>
          </p:cNvSpPr>
          <p:nvPr>
            <p:ph type="title"/>
          </p:nvPr>
        </p:nvSpPr>
        <p:spPr>
          <a:xfrm>
            <a:off x="1557338" y="978407"/>
            <a:ext cx="9872662" cy="896109"/>
          </a:xfrm>
        </p:spPr>
        <p:txBody>
          <a:bodyPr/>
          <a:lstStyle/>
          <a:p>
            <a:r>
              <a:rPr lang="en-US" dirty="0">
                <a:latin typeface="Avenir Book" panose="02000503020000020003" pitchFamily="2" charset="0"/>
              </a:rPr>
              <a:t>Objection 3</a:t>
            </a:r>
          </a:p>
        </p:txBody>
      </p:sp>
      <p:sp>
        <p:nvSpPr>
          <p:cNvPr id="3" name="Content Placeholder 2">
            <a:extLst>
              <a:ext uri="{FF2B5EF4-FFF2-40B4-BE49-F238E27FC236}">
                <a16:creationId xmlns:a16="http://schemas.microsoft.com/office/drawing/2014/main" id="{A8CE3E25-FD18-DF7C-38B3-F13C3039565C}"/>
              </a:ext>
            </a:extLst>
          </p:cNvPr>
          <p:cNvSpPr>
            <a:spLocks noGrp="1"/>
          </p:cNvSpPr>
          <p:nvPr>
            <p:ph idx="1"/>
          </p:nvPr>
        </p:nvSpPr>
        <p:spPr>
          <a:xfrm>
            <a:off x="1251678" y="2036064"/>
            <a:ext cx="10178322" cy="4169663"/>
          </a:xfrm>
        </p:spPr>
        <p:txBody>
          <a:bodyPr>
            <a:noAutofit/>
          </a:bodyPr>
          <a:lstStyle/>
          <a:p>
            <a:pPr marL="0" indent="0" algn="just">
              <a:buNone/>
            </a:pPr>
            <a:r>
              <a:rPr lang="en-GB" sz="24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The single biggest problem for eliminative materialism is that it denies the reality of intentionality and propositional attitudes. If eliminative materialism is going to change our minds about things, the change of mind will need to be a change of mind </a:t>
            </a:r>
            <a:r>
              <a:rPr lang="en-GB" sz="2400" i="1"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about something.</a:t>
            </a:r>
            <a:r>
              <a:rPr lang="en-GB" sz="2400" dirty="0">
                <a:solidFill>
                  <a:srgbClr val="002060"/>
                </a:solidFill>
                <a:effectLst/>
                <a:latin typeface="Avenir Book" panose="02000503020000020003" pitchFamily="2" charset="0"/>
                <a:ea typeface="Calibri" panose="020F0502020204030204" pitchFamily="34" charset="0"/>
                <a:cs typeface="Times New Roman" panose="02020603050405020304" pitchFamily="18" charset="0"/>
              </a:rPr>
              <a:t> For example, a change of mind about human beings and brains, and how they work. But if eliminative materialism denies that intentionality is real, then it cannot make sense of what the point of the theory is. The importance and status of any theory is what it says about us and the world; if no such states of mind exist, then why do we have a theory at all?</a:t>
            </a:r>
            <a:r>
              <a:rPr lang="en-GB" sz="2400" dirty="0">
                <a:solidFill>
                  <a:srgbClr val="002060"/>
                </a:solidFill>
                <a:effectLst/>
                <a:latin typeface="Avenir Book" panose="02000503020000020003" pitchFamily="2" charset="0"/>
              </a:rPr>
              <a:t> </a:t>
            </a:r>
            <a:endParaRPr lang="en-US" sz="2400" dirty="0">
              <a:solidFill>
                <a:srgbClr val="002060"/>
              </a:solidFill>
              <a:latin typeface="Avenir Book" panose="02000503020000020003" pitchFamily="2" charset="0"/>
            </a:endParaRPr>
          </a:p>
        </p:txBody>
      </p:sp>
    </p:spTree>
    <p:extLst>
      <p:ext uri="{BB962C8B-B14F-4D97-AF65-F5344CB8AC3E}">
        <p14:creationId xmlns:p14="http://schemas.microsoft.com/office/powerpoint/2010/main" val="2855847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81CE-F42F-8CB8-14A9-F6BD67DC7811}"/>
              </a:ext>
            </a:extLst>
          </p:cNvPr>
          <p:cNvSpPr>
            <a:spLocks noGrp="1"/>
          </p:cNvSpPr>
          <p:nvPr>
            <p:ph type="title"/>
          </p:nvPr>
        </p:nvSpPr>
        <p:spPr/>
        <p:txBody>
          <a:bodyPr/>
          <a:lstStyle/>
          <a:p>
            <a:r>
              <a:rPr lang="en-US" dirty="0"/>
              <a:t>Further reading</a:t>
            </a:r>
          </a:p>
        </p:txBody>
      </p:sp>
      <p:sp>
        <p:nvSpPr>
          <p:cNvPr id="3" name="Content Placeholder 2">
            <a:extLst>
              <a:ext uri="{FF2B5EF4-FFF2-40B4-BE49-F238E27FC236}">
                <a16:creationId xmlns:a16="http://schemas.microsoft.com/office/drawing/2014/main" id="{83CDC721-2ABD-7A71-8236-1ADB8D97CBFC}"/>
              </a:ext>
            </a:extLst>
          </p:cNvPr>
          <p:cNvSpPr>
            <a:spLocks noGrp="1"/>
          </p:cNvSpPr>
          <p:nvPr>
            <p:ph idx="1"/>
          </p:nvPr>
        </p:nvSpPr>
        <p:spPr/>
        <p:txBody>
          <a:bodyPr/>
          <a:lstStyle/>
          <a:p>
            <a:r>
              <a:rPr lang="en-US" dirty="0" err="1"/>
              <a:t>Brain-Wise:</a:t>
            </a:r>
            <a:r>
              <a:rPr lang="en-US" dirty="0"/>
              <a:t> Patricia Churchland</a:t>
            </a:r>
          </a:p>
          <a:p>
            <a:r>
              <a:rPr lang="en-US" dirty="0"/>
              <a:t>Lynne Baker: Cognitive Suicide</a:t>
            </a:r>
          </a:p>
        </p:txBody>
      </p:sp>
    </p:spTree>
    <p:extLst>
      <p:ext uri="{BB962C8B-B14F-4D97-AF65-F5344CB8AC3E}">
        <p14:creationId xmlns:p14="http://schemas.microsoft.com/office/powerpoint/2010/main" val="2159334375"/>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61</TotalTime>
  <Words>1205</Words>
  <Application>Microsoft Macintosh PowerPoint</Application>
  <PresentationFormat>Widescreen</PresentationFormat>
  <Paragraphs>44</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Avenir Book</vt:lpstr>
      <vt:lpstr>Calibri</vt:lpstr>
      <vt:lpstr>Gill Sans MT</vt:lpstr>
      <vt:lpstr>Impact</vt:lpstr>
      <vt:lpstr>Optima</vt:lpstr>
      <vt:lpstr>Badge</vt:lpstr>
      <vt:lpstr> Eliminative materialism</vt:lpstr>
      <vt:lpstr>Introduction</vt:lpstr>
      <vt:lpstr>Folk Psychology</vt:lpstr>
      <vt:lpstr>Four aspects of folk psychology</vt:lpstr>
      <vt:lpstr>Folk Psychology will be abandoned</vt:lpstr>
      <vt:lpstr> Paul Churchland   </vt:lpstr>
      <vt:lpstr>Failures of folk Psychology</vt:lpstr>
      <vt:lpstr>Intuitions are not a guide to knowledge</vt:lpstr>
      <vt:lpstr>We do not need to believe in qualia</vt:lpstr>
      <vt:lpstr>Intentionality</vt:lpstr>
      <vt:lpstr>Evaluation of Eliminativism</vt:lpstr>
      <vt:lpstr>Objection 1</vt:lpstr>
      <vt:lpstr>Objection 2</vt:lpstr>
      <vt:lpstr>Objection 3</vt:lpstr>
      <vt:lpstr>Further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5</cp:revision>
  <dcterms:created xsi:type="dcterms:W3CDTF">2024-07-12T12:36:04Z</dcterms:created>
  <dcterms:modified xsi:type="dcterms:W3CDTF">2024-08-10T14:52:47Z</dcterms:modified>
</cp:coreProperties>
</file>