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64" r:id="rId4"/>
    <p:sldId id="266" r:id="rId5"/>
    <p:sldId id="265" r:id="rId6"/>
    <p:sldId id="258" r:id="rId7"/>
    <p:sldId id="259" r:id="rId8"/>
    <p:sldId id="260" r:id="rId9"/>
    <p:sldId id="261" r:id="rId10"/>
    <p:sldId id="26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565"/>
  </p:normalViewPr>
  <p:slideViewPr>
    <p:cSldViewPr snapToGrid="0">
      <p:cViewPr varScale="1">
        <p:scale>
          <a:sx n="105" d="100"/>
          <a:sy n="105" d="100"/>
        </p:scale>
        <p:origin x="8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54600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24054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61584265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61037858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89891284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892503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6309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73165605"/>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933884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467346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8472125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42847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26349-0BF9-0C6A-FCE3-B3143A96390A}"/>
              </a:ext>
            </a:extLst>
          </p:cNvPr>
          <p:cNvSpPr>
            <a:spLocks noGrp="1"/>
          </p:cNvSpPr>
          <p:nvPr>
            <p:ph type="ctrTitle"/>
          </p:nvPr>
        </p:nvSpPr>
        <p:spPr/>
        <p:txBody>
          <a:bodyPr/>
          <a:lstStyle/>
          <a:p>
            <a:r>
              <a:rPr lang="en-US" sz="6600" dirty="0">
                <a:latin typeface="Optima" panose="02000503060000020004" pitchFamily="2" charset="0"/>
              </a:rPr>
              <a:t>The problem of causation </a:t>
            </a:r>
          </a:p>
        </p:txBody>
      </p:sp>
      <p:sp>
        <p:nvSpPr>
          <p:cNvPr id="3" name="Subtitle 2">
            <a:extLst>
              <a:ext uri="{FF2B5EF4-FFF2-40B4-BE49-F238E27FC236}">
                <a16:creationId xmlns:a16="http://schemas.microsoft.com/office/drawing/2014/main" id="{1E195D54-AE0A-5C34-E2B5-C81F6DD1361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6211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8346-9A23-BF40-2EF5-FF4F5F409327}"/>
              </a:ext>
            </a:extLst>
          </p:cNvPr>
          <p:cNvSpPr>
            <a:spLocks noGrp="1"/>
          </p:cNvSpPr>
          <p:nvPr>
            <p:ph type="title"/>
          </p:nvPr>
        </p:nvSpPr>
        <p:spPr/>
        <p:txBody>
          <a:bodyPr>
            <a:normAutofit/>
          </a:bodyPr>
          <a:lstStyle/>
          <a:p>
            <a:r>
              <a:rPr lang="en-US" sz="4000" dirty="0">
                <a:latin typeface="Avenir Book" panose="02000503020000020003" pitchFamily="2" charset="0"/>
              </a:rPr>
              <a:t>The problem of causation and the problem of physics</a:t>
            </a:r>
          </a:p>
        </p:txBody>
      </p:sp>
      <p:sp>
        <p:nvSpPr>
          <p:cNvPr id="3" name="Content Placeholder 2">
            <a:extLst>
              <a:ext uri="{FF2B5EF4-FFF2-40B4-BE49-F238E27FC236}">
                <a16:creationId xmlns:a16="http://schemas.microsoft.com/office/drawing/2014/main" id="{D1E1EDC3-F2E5-F1F9-F091-F97D60F29E81}"/>
              </a:ext>
            </a:extLst>
          </p:cNvPr>
          <p:cNvSpPr>
            <a:spLocks noGrp="1"/>
          </p:cNvSpPr>
          <p:nvPr>
            <p:ph idx="1"/>
          </p:nvPr>
        </p:nvSpPr>
        <p:spPr/>
        <p:txBody>
          <a:bodyPr>
            <a:normAutofit fontScale="85000" lnSpcReduction="10000"/>
          </a:bodyPr>
          <a:lstStyle/>
          <a:p>
            <a:pPr marL="0" indent="0" algn="just">
              <a:lnSpc>
                <a:spcPct val="150000"/>
              </a:lnSpc>
              <a:buNone/>
            </a:pPr>
            <a:r>
              <a:rPr lang="en-US" sz="3600" dirty="0">
                <a:solidFill>
                  <a:srgbClr val="002060"/>
                </a:solidFill>
                <a:latin typeface="Avenir Book" panose="02000503020000020003" pitchFamily="2" charset="0"/>
              </a:rPr>
              <a:t>(1) The philosophical problem of understanding two-way causation between a non-extended substance and an extended one. </a:t>
            </a:r>
          </a:p>
          <a:p>
            <a:pPr algn="just">
              <a:lnSpc>
                <a:spcPct val="150000"/>
              </a:lnSpc>
            </a:pPr>
            <a:endParaRPr lang="en-US" sz="3600" dirty="0">
              <a:solidFill>
                <a:srgbClr val="002060"/>
              </a:solidFill>
              <a:latin typeface="Avenir Book" panose="02000503020000020003" pitchFamily="2" charset="0"/>
            </a:endParaRPr>
          </a:p>
          <a:p>
            <a:pPr marL="0" indent="0" algn="just">
              <a:lnSpc>
                <a:spcPct val="150000"/>
              </a:lnSpc>
              <a:buNone/>
            </a:pPr>
            <a:r>
              <a:rPr lang="en-US" sz="3600" dirty="0">
                <a:solidFill>
                  <a:srgbClr val="002060"/>
                </a:solidFill>
                <a:latin typeface="Avenir Book" panose="02000503020000020003" pitchFamily="2" charset="0"/>
              </a:rPr>
              <a:t>(2) The law of the conservation of momentum/energy.</a:t>
            </a:r>
          </a:p>
        </p:txBody>
      </p:sp>
    </p:spTree>
    <p:extLst>
      <p:ext uri="{BB962C8B-B14F-4D97-AF65-F5344CB8AC3E}">
        <p14:creationId xmlns:p14="http://schemas.microsoft.com/office/powerpoint/2010/main" val="309685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18D75-9238-3F03-9585-E380C83F34BB}"/>
              </a:ext>
            </a:extLst>
          </p:cNvPr>
          <p:cNvSpPr>
            <a:spLocks noGrp="1"/>
          </p:cNvSpPr>
          <p:nvPr>
            <p:ph type="title"/>
          </p:nvPr>
        </p:nvSpPr>
        <p:spPr>
          <a:xfrm>
            <a:off x="1251677" y="645105"/>
            <a:ext cx="4357499" cy="1320855"/>
          </a:xfrm>
        </p:spPr>
        <p:txBody>
          <a:bodyPr>
            <a:normAutofit fontScale="90000"/>
          </a:bodyPr>
          <a:lstStyle/>
          <a:p>
            <a:r>
              <a:rPr lang="en-US" sz="3400" dirty="0">
                <a:latin typeface="Avenir Book" panose="02000503020000020003" pitchFamily="2" charset="0"/>
              </a:rPr>
              <a:t>Princess Elisabeth of Bohemia</a:t>
            </a:r>
          </a:p>
        </p:txBody>
      </p:sp>
      <p:sp>
        <p:nvSpPr>
          <p:cNvPr id="3" name="Content Placeholder 2">
            <a:extLst>
              <a:ext uri="{FF2B5EF4-FFF2-40B4-BE49-F238E27FC236}">
                <a16:creationId xmlns:a16="http://schemas.microsoft.com/office/drawing/2014/main" id="{284D47A1-1E71-07EA-21E6-79F34A50C8D4}"/>
              </a:ext>
            </a:extLst>
          </p:cNvPr>
          <p:cNvSpPr>
            <a:spLocks noGrp="1"/>
          </p:cNvSpPr>
          <p:nvPr>
            <p:ph idx="1"/>
          </p:nvPr>
        </p:nvSpPr>
        <p:spPr>
          <a:xfrm>
            <a:off x="1251678" y="2286001"/>
            <a:ext cx="4844322" cy="3593591"/>
          </a:xfrm>
        </p:spPr>
        <p:txBody>
          <a:bodyPr>
            <a:noAutofit/>
          </a:bodyPr>
          <a:lstStyle/>
          <a:p>
            <a:pPr marL="0" indent="0">
              <a:lnSpc>
                <a:spcPct val="150000"/>
              </a:lnSpc>
              <a:buNone/>
            </a:pPr>
            <a:r>
              <a:rPr lang="en-US" sz="3200" dirty="0">
                <a:solidFill>
                  <a:srgbClr val="002060"/>
                </a:solidFill>
                <a:latin typeface="Avenir Book" panose="02000503020000020003" pitchFamily="2" charset="0"/>
              </a:rPr>
              <a:t>‘How man’s soul, being only a thinking substance, can determine animal spirits so as to cause voluntary action’. </a:t>
            </a:r>
          </a:p>
        </p:txBody>
      </p:sp>
      <p:pic>
        <p:nvPicPr>
          <p:cNvPr id="1026" name="Picture 2" descr="undefined">
            <a:extLst>
              <a:ext uri="{FF2B5EF4-FFF2-40B4-BE49-F238E27FC236}">
                <a16:creationId xmlns:a16="http://schemas.microsoft.com/office/drawing/2014/main" id="{6FED5084-1C39-F6F3-9AC3-2A8FF50C2F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 b="18352"/>
          <a:stretch/>
        </p:blipFill>
        <p:spPr bwMode="auto">
          <a:xfrm>
            <a:off x="6430092" y="914400"/>
            <a:ext cx="5080212" cy="5074050"/>
          </a:xfrm>
          <a:custGeom>
            <a:avLst/>
            <a:gdLst/>
            <a:ahLst/>
            <a:cxnLst/>
            <a:rect l="l" t="t" r="r" b="b"/>
            <a:pathLst>
              <a:path w="3860171" h="3855489">
                <a:moveTo>
                  <a:pt x="1930086" y="0"/>
                </a:moveTo>
                <a:lnTo>
                  <a:pt x="1967540" y="3511"/>
                </a:lnTo>
                <a:lnTo>
                  <a:pt x="2003824" y="12875"/>
                </a:lnTo>
                <a:lnTo>
                  <a:pt x="2038938" y="26920"/>
                </a:lnTo>
                <a:lnTo>
                  <a:pt x="2075222" y="44477"/>
                </a:lnTo>
                <a:lnTo>
                  <a:pt x="2109166" y="64375"/>
                </a:lnTo>
                <a:lnTo>
                  <a:pt x="2144279" y="85443"/>
                </a:lnTo>
                <a:lnTo>
                  <a:pt x="2179393" y="104171"/>
                </a:lnTo>
                <a:lnTo>
                  <a:pt x="2214507" y="122898"/>
                </a:lnTo>
                <a:lnTo>
                  <a:pt x="2248450" y="136943"/>
                </a:lnTo>
                <a:lnTo>
                  <a:pt x="2285905" y="146307"/>
                </a:lnTo>
                <a:lnTo>
                  <a:pt x="2322189" y="150989"/>
                </a:lnTo>
                <a:lnTo>
                  <a:pt x="2360814" y="150989"/>
                </a:lnTo>
                <a:lnTo>
                  <a:pt x="2400610" y="148648"/>
                </a:lnTo>
                <a:lnTo>
                  <a:pt x="2440405" y="143966"/>
                </a:lnTo>
                <a:lnTo>
                  <a:pt x="2480201" y="138114"/>
                </a:lnTo>
                <a:lnTo>
                  <a:pt x="2519996" y="133432"/>
                </a:lnTo>
                <a:lnTo>
                  <a:pt x="2559792" y="129921"/>
                </a:lnTo>
                <a:lnTo>
                  <a:pt x="2597247" y="131091"/>
                </a:lnTo>
                <a:lnTo>
                  <a:pt x="2633531" y="135773"/>
                </a:lnTo>
                <a:lnTo>
                  <a:pt x="2668644" y="146307"/>
                </a:lnTo>
                <a:lnTo>
                  <a:pt x="2697906" y="161523"/>
                </a:lnTo>
                <a:lnTo>
                  <a:pt x="2725997" y="181421"/>
                </a:lnTo>
                <a:lnTo>
                  <a:pt x="2750577" y="204830"/>
                </a:lnTo>
                <a:lnTo>
                  <a:pt x="2775156" y="231750"/>
                </a:lnTo>
                <a:lnTo>
                  <a:pt x="2797395" y="259841"/>
                </a:lnTo>
                <a:lnTo>
                  <a:pt x="2819634" y="289103"/>
                </a:lnTo>
                <a:lnTo>
                  <a:pt x="2841872" y="318364"/>
                </a:lnTo>
                <a:lnTo>
                  <a:pt x="2864111" y="346455"/>
                </a:lnTo>
                <a:lnTo>
                  <a:pt x="2887520" y="373376"/>
                </a:lnTo>
                <a:lnTo>
                  <a:pt x="2914441" y="396785"/>
                </a:lnTo>
                <a:lnTo>
                  <a:pt x="2940191" y="417853"/>
                </a:lnTo>
                <a:lnTo>
                  <a:pt x="2969452" y="434240"/>
                </a:lnTo>
                <a:lnTo>
                  <a:pt x="3001055" y="448285"/>
                </a:lnTo>
                <a:lnTo>
                  <a:pt x="3034998" y="459990"/>
                </a:lnTo>
                <a:lnTo>
                  <a:pt x="3070112" y="470524"/>
                </a:lnTo>
                <a:lnTo>
                  <a:pt x="3105226" y="479888"/>
                </a:lnTo>
                <a:lnTo>
                  <a:pt x="3141510" y="489251"/>
                </a:lnTo>
                <a:lnTo>
                  <a:pt x="3175453" y="499785"/>
                </a:lnTo>
                <a:lnTo>
                  <a:pt x="3209396" y="511490"/>
                </a:lnTo>
                <a:lnTo>
                  <a:pt x="3240999" y="525535"/>
                </a:lnTo>
                <a:lnTo>
                  <a:pt x="3269090" y="543092"/>
                </a:lnTo>
                <a:lnTo>
                  <a:pt x="3294840" y="564161"/>
                </a:lnTo>
                <a:lnTo>
                  <a:pt x="3315908" y="589911"/>
                </a:lnTo>
                <a:lnTo>
                  <a:pt x="3333465" y="618002"/>
                </a:lnTo>
                <a:lnTo>
                  <a:pt x="3347510" y="649604"/>
                </a:lnTo>
                <a:lnTo>
                  <a:pt x="3359215" y="683547"/>
                </a:lnTo>
                <a:lnTo>
                  <a:pt x="3369749" y="717491"/>
                </a:lnTo>
                <a:lnTo>
                  <a:pt x="3379113" y="753775"/>
                </a:lnTo>
                <a:lnTo>
                  <a:pt x="3388476" y="788889"/>
                </a:lnTo>
                <a:lnTo>
                  <a:pt x="3399010" y="824002"/>
                </a:lnTo>
                <a:lnTo>
                  <a:pt x="3410715" y="857946"/>
                </a:lnTo>
                <a:lnTo>
                  <a:pt x="3424760" y="889548"/>
                </a:lnTo>
                <a:lnTo>
                  <a:pt x="3441147" y="918809"/>
                </a:lnTo>
                <a:lnTo>
                  <a:pt x="3462215" y="944560"/>
                </a:lnTo>
                <a:lnTo>
                  <a:pt x="3485624" y="971480"/>
                </a:lnTo>
                <a:lnTo>
                  <a:pt x="3512545" y="994889"/>
                </a:lnTo>
                <a:lnTo>
                  <a:pt x="3540636" y="1017128"/>
                </a:lnTo>
                <a:lnTo>
                  <a:pt x="3571068" y="1039367"/>
                </a:lnTo>
                <a:lnTo>
                  <a:pt x="3600329" y="1061605"/>
                </a:lnTo>
                <a:lnTo>
                  <a:pt x="3628420" y="1083844"/>
                </a:lnTo>
                <a:lnTo>
                  <a:pt x="3655341" y="1108424"/>
                </a:lnTo>
                <a:lnTo>
                  <a:pt x="3678750" y="1133003"/>
                </a:lnTo>
                <a:lnTo>
                  <a:pt x="3698648" y="1161094"/>
                </a:lnTo>
                <a:lnTo>
                  <a:pt x="3713864" y="1190356"/>
                </a:lnTo>
                <a:lnTo>
                  <a:pt x="3724398" y="1225469"/>
                </a:lnTo>
                <a:lnTo>
                  <a:pt x="3729080" y="1261754"/>
                </a:lnTo>
                <a:lnTo>
                  <a:pt x="3730250" y="1299208"/>
                </a:lnTo>
                <a:lnTo>
                  <a:pt x="3726739" y="1339004"/>
                </a:lnTo>
                <a:lnTo>
                  <a:pt x="3722057" y="1378799"/>
                </a:lnTo>
                <a:lnTo>
                  <a:pt x="3716205" y="1418595"/>
                </a:lnTo>
                <a:lnTo>
                  <a:pt x="3711523" y="1458391"/>
                </a:lnTo>
                <a:lnTo>
                  <a:pt x="3709182" y="1498186"/>
                </a:lnTo>
                <a:lnTo>
                  <a:pt x="3709182" y="1536811"/>
                </a:lnTo>
                <a:lnTo>
                  <a:pt x="3713864" y="1573096"/>
                </a:lnTo>
                <a:lnTo>
                  <a:pt x="3723228" y="1609380"/>
                </a:lnTo>
                <a:lnTo>
                  <a:pt x="3737273" y="1643323"/>
                </a:lnTo>
                <a:lnTo>
                  <a:pt x="3756000" y="1678437"/>
                </a:lnTo>
                <a:lnTo>
                  <a:pt x="3774728" y="1713550"/>
                </a:lnTo>
                <a:lnTo>
                  <a:pt x="3795796" y="1748664"/>
                </a:lnTo>
                <a:lnTo>
                  <a:pt x="3815694" y="1782608"/>
                </a:lnTo>
                <a:lnTo>
                  <a:pt x="3833250" y="1818892"/>
                </a:lnTo>
                <a:lnTo>
                  <a:pt x="3847296" y="1854005"/>
                </a:lnTo>
                <a:lnTo>
                  <a:pt x="3856660" y="1890290"/>
                </a:lnTo>
                <a:lnTo>
                  <a:pt x="3860171" y="1927744"/>
                </a:lnTo>
                <a:lnTo>
                  <a:pt x="3856660" y="1965199"/>
                </a:lnTo>
                <a:lnTo>
                  <a:pt x="3847296" y="2001483"/>
                </a:lnTo>
                <a:lnTo>
                  <a:pt x="3833250" y="2036597"/>
                </a:lnTo>
                <a:lnTo>
                  <a:pt x="3815694" y="2072881"/>
                </a:lnTo>
                <a:lnTo>
                  <a:pt x="3795796" y="2106824"/>
                </a:lnTo>
                <a:lnTo>
                  <a:pt x="3774728" y="2141938"/>
                </a:lnTo>
                <a:lnTo>
                  <a:pt x="3756000" y="2177052"/>
                </a:lnTo>
                <a:lnTo>
                  <a:pt x="3737273" y="2212166"/>
                </a:lnTo>
                <a:lnTo>
                  <a:pt x="3723228" y="2246109"/>
                </a:lnTo>
                <a:lnTo>
                  <a:pt x="3713864" y="2282393"/>
                </a:lnTo>
                <a:lnTo>
                  <a:pt x="3709182" y="2318677"/>
                </a:lnTo>
                <a:lnTo>
                  <a:pt x="3709182" y="2357302"/>
                </a:lnTo>
                <a:lnTo>
                  <a:pt x="3711523" y="2397098"/>
                </a:lnTo>
                <a:lnTo>
                  <a:pt x="3716205" y="2436894"/>
                </a:lnTo>
                <a:lnTo>
                  <a:pt x="3722057" y="2476689"/>
                </a:lnTo>
                <a:lnTo>
                  <a:pt x="3726739" y="2516485"/>
                </a:lnTo>
                <a:lnTo>
                  <a:pt x="3730250" y="2556280"/>
                </a:lnTo>
                <a:lnTo>
                  <a:pt x="3729080" y="2593735"/>
                </a:lnTo>
                <a:lnTo>
                  <a:pt x="3724398" y="2630019"/>
                </a:lnTo>
                <a:lnTo>
                  <a:pt x="3713864" y="2665133"/>
                </a:lnTo>
                <a:lnTo>
                  <a:pt x="3698648" y="2694394"/>
                </a:lnTo>
                <a:lnTo>
                  <a:pt x="3678750" y="2722485"/>
                </a:lnTo>
                <a:lnTo>
                  <a:pt x="3655341" y="2747065"/>
                </a:lnTo>
                <a:lnTo>
                  <a:pt x="3628420" y="2771645"/>
                </a:lnTo>
                <a:lnTo>
                  <a:pt x="3600329" y="2793883"/>
                </a:lnTo>
                <a:lnTo>
                  <a:pt x="3571068" y="2816122"/>
                </a:lnTo>
                <a:lnTo>
                  <a:pt x="3540636" y="2838361"/>
                </a:lnTo>
                <a:lnTo>
                  <a:pt x="3512545" y="2860599"/>
                </a:lnTo>
                <a:lnTo>
                  <a:pt x="3485624" y="2884009"/>
                </a:lnTo>
                <a:lnTo>
                  <a:pt x="3462215" y="2910929"/>
                </a:lnTo>
                <a:lnTo>
                  <a:pt x="3441147" y="2936679"/>
                </a:lnTo>
                <a:lnTo>
                  <a:pt x="3424760" y="2965941"/>
                </a:lnTo>
                <a:lnTo>
                  <a:pt x="3410715" y="2997543"/>
                </a:lnTo>
                <a:lnTo>
                  <a:pt x="3399010" y="3031486"/>
                </a:lnTo>
                <a:lnTo>
                  <a:pt x="3388476" y="3066600"/>
                </a:lnTo>
                <a:lnTo>
                  <a:pt x="3379113" y="3101714"/>
                </a:lnTo>
                <a:lnTo>
                  <a:pt x="3369749" y="3137998"/>
                </a:lnTo>
                <a:lnTo>
                  <a:pt x="3359215" y="3171941"/>
                </a:lnTo>
                <a:lnTo>
                  <a:pt x="3347510" y="3205885"/>
                </a:lnTo>
                <a:lnTo>
                  <a:pt x="3333465" y="3237487"/>
                </a:lnTo>
                <a:lnTo>
                  <a:pt x="3315908" y="3265578"/>
                </a:lnTo>
                <a:lnTo>
                  <a:pt x="3294840" y="3291328"/>
                </a:lnTo>
                <a:lnTo>
                  <a:pt x="3269090" y="3312396"/>
                </a:lnTo>
                <a:lnTo>
                  <a:pt x="3240999" y="3329953"/>
                </a:lnTo>
                <a:lnTo>
                  <a:pt x="3209396" y="3343999"/>
                </a:lnTo>
                <a:lnTo>
                  <a:pt x="3175453" y="3355703"/>
                </a:lnTo>
                <a:lnTo>
                  <a:pt x="3141510" y="3366237"/>
                </a:lnTo>
                <a:lnTo>
                  <a:pt x="3105226" y="3375601"/>
                </a:lnTo>
                <a:lnTo>
                  <a:pt x="3070112" y="3384965"/>
                </a:lnTo>
                <a:lnTo>
                  <a:pt x="3034998" y="3395499"/>
                </a:lnTo>
                <a:lnTo>
                  <a:pt x="3001055" y="3407203"/>
                </a:lnTo>
                <a:lnTo>
                  <a:pt x="2969452" y="3421249"/>
                </a:lnTo>
                <a:lnTo>
                  <a:pt x="2940191" y="3437635"/>
                </a:lnTo>
                <a:lnTo>
                  <a:pt x="2914441" y="3458704"/>
                </a:lnTo>
                <a:lnTo>
                  <a:pt x="2887520" y="3482113"/>
                </a:lnTo>
                <a:lnTo>
                  <a:pt x="2864111" y="3509033"/>
                </a:lnTo>
                <a:lnTo>
                  <a:pt x="2841872" y="3537124"/>
                </a:lnTo>
                <a:lnTo>
                  <a:pt x="2819634" y="3566386"/>
                </a:lnTo>
                <a:lnTo>
                  <a:pt x="2797395" y="3595647"/>
                </a:lnTo>
                <a:lnTo>
                  <a:pt x="2775156" y="3623738"/>
                </a:lnTo>
                <a:lnTo>
                  <a:pt x="2750577" y="3650659"/>
                </a:lnTo>
                <a:lnTo>
                  <a:pt x="2725997" y="3674068"/>
                </a:lnTo>
                <a:lnTo>
                  <a:pt x="2697906" y="3693966"/>
                </a:lnTo>
                <a:lnTo>
                  <a:pt x="2668644" y="3709182"/>
                </a:lnTo>
                <a:lnTo>
                  <a:pt x="2633531" y="3719716"/>
                </a:lnTo>
                <a:lnTo>
                  <a:pt x="2597247" y="3724398"/>
                </a:lnTo>
                <a:lnTo>
                  <a:pt x="2559792" y="3725568"/>
                </a:lnTo>
                <a:lnTo>
                  <a:pt x="2519996" y="3722057"/>
                </a:lnTo>
                <a:lnTo>
                  <a:pt x="2480201" y="3717375"/>
                </a:lnTo>
                <a:lnTo>
                  <a:pt x="2440405" y="3711523"/>
                </a:lnTo>
                <a:lnTo>
                  <a:pt x="2400610" y="3706841"/>
                </a:lnTo>
                <a:lnTo>
                  <a:pt x="2360814" y="3704500"/>
                </a:lnTo>
                <a:lnTo>
                  <a:pt x="2322189" y="3704500"/>
                </a:lnTo>
                <a:lnTo>
                  <a:pt x="2285905" y="3709182"/>
                </a:lnTo>
                <a:lnTo>
                  <a:pt x="2248450" y="3718545"/>
                </a:lnTo>
                <a:lnTo>
                  <a:pt x="2214507" y="3732591"/>
                </a:lnTo>
                <a:lnTo>
                  <a:pt x="2179393" y="3751318"/>
                </a:lnTo>
                <a:lnTo>
                  <a:pt x="2144279" y="3770045"/>
                </a:lnTo>
                <a:lnTo>
                  <a:pt x="2109166" y="3791114"/>
                </a:lnTo>
                <a:lnTo>
                  <a:pt x="2075222" y="3811011"/>
                </a:lnTo>
                <a:lnTo>
                  <a:pt x="2038938" y="3828568"/>
                </a:lnTo>
                <a:lnTo>
                  <a:pt x="2003824" y="3842614"/>
                </a:lnTo>
                <a:lnTo>
                  <a:pt x="1967540" y="3851978"/>
                </a:lnTo>
                <a:lnTo>
                  <a:pt x="1930086" y="3855489"/>
                </a:lnTo>
                <a:lnTo>
                  <a:pt x="1892631" y="3851978"/>
                </a:lnTo>
                <a:lnTo>
                  <a:pt x="1856347" y="3842614"/>
                </a:lnTo>
                <a:lnTo>
                  <a:pt x="1821233" y="3828568"/>
                </a:lnTo>
                <a:lnTo>
                  <a:pt x="1784949" y="3811011"/>
                </a:lnTo>
                <a:lnTo>
                  <a:pt x="1751005" y="3791114"/>
                </a:lnTo>
                <a:lnTo>
                  <a:pt x="1715892" y="3770045"/>
                </a:lnTo>
                <a:lnTo>
                  <a:pt x="1680778" y="3751318"/>
                </a:lnTo>
                <a:lnTo>
                  <a:pt x="1645664" y="3732591"/>
                </a:lnTo>
                <a:lnTo>
                  <a:pt x="1610550" y="3718545"/>
                </a:lnTo>
                <a:lnTo>
                  <a:pt x="1574266" y="3709182"/>
                </a:lnTo>
                <a:lnTo>
                  <a:pt x="1537982" y="3704500"/>
                </a:lnTo>
                <a:lnTo>
                  <a:pt x="1499357" y="3704500"/>
                </a:lnTo>
                <a:lnTo>
                  <a:pt x="1459561" y="3706841"/>
                </a:lnTo>
                <a:lnTo>
                  <a:pt x="1419766" y="3711523"/>
                </a:lnTo>
                <a:lnTo>
                  <a:pt x="1379970" y="3717375"/>
                </a:lnTo>
                <a:lnTo>
                  <a:pt x="1340175" y="3722057"/>
                </a:lnTo>
                <a:lnTo>
                  <a:pt x="1300379" y="3725568"/>
                </a:lnTo>
                <a:lnTo>
                  <a:pt x="1262924" y="3724398"/>
                </a:lnTo>
                <a:lnTo>
                  <a:pt x="1226640" y="3719716"/>
                </a:lnTo>
                <a:lnTo>
                  <a:pt x="1191526" y="3709182"/>
                </a:lnTo>
                <a:lnTo>
                  <a:pt x="1162265" y="3693966"/>
                </a:lnTo>
                <a:lnTo>
                  <a:pt x="1134174" y="3674068"/>
                </a:lnTo>
                <a:lnTo>
                  <a:pt x="1109594" y="3650659"/>
                </a:lnTo>
                <a:lnTo>
                  <a:pt x="1085015" y="3623738"/>
                </a:lnTo>
                <a:lnTo>
                  <a:pt x="1062776" y="3595647"/>
                </a:lnTo>
                <a:lnTo>
                  <a:pt x="1040537" y="3566386"/>
                </a:lnTo>
                <a:lnTo>
                  <a:pt x="1018299" y="3537124"/>
                </a:lnTo>
                <a:lnTo>
                  <a:pt x="996060" y="3509033"/>
                </a:lnTo>
                <a:lnTo>
                  <a:pt x="972651" y="3482113"/>
                </a:lnTo>
                <a:lnTo>
                  <a:pt x="945730" y="3458704"/>
                </a:lnTo>
                <a:lnTo>
                  <a:pt x="919980" y="3437635"/>
                </a:lnTo>
                <a:lnTo>
                  <a:pt x="890719" y="3421249"/>
                </a:lnTo>
                <a:lnTo>
                  <a:pt x="859116" y="3407203"/>
                </a:lnTo>
                <a:lnTo>
                  <a:pt x="825173" y="3395499"/>
                </a:lnTo>
                <a:lnTo>
                  <a:pt x="790059" y="3384965"/>
                </a:lnTo>
                <a:lnTo>
                  <a:pt x="754946" y="3375601"/>
                </a:lnTo>
                <a:lnTo>
                  <a:pt x="718662" y="3366237"/>
                </a:lnTo>
                <a:lnTo>
                  <a:pt x="684718" y="3355703"/>
                </a:lnTo>
                <a:lnTo>
                  <a:pt x="650775" y="3343999"/>
                </a:lnTo>
                <a:lnTo>
                  <a:pt x="619173" y="3329953"/>
                </a:lnTo>
                <a:lnTo>
                  <a:pt x="591082" y="3312396"/>
                </a:lnTo>
                <a:lnTo>
                  <a:pt x="565332" y="3291328"/>
                </a:lnTo>
                <a:lnTo>
                  <a:pt x="544263" y="3265578"/>
                </a:lnTo>
                <a:lnTo>
                  <a:pt x="526706" y="3237487"/>
                </a:lnTo>
                <a:lnTo>
                  <a:pt x="512661" y="3205885"/>
                </a:lnTo>
                <a:lnTo>
                  <a:pt x="500956" y="3171941"/>
                </a:lnTo>
                <a:lnTo>
                  <a:pt x="490422" y="3137998"/>
                </a:lnTo>
                <a:lnTo>
                  <a:pt x="481059" y="3101714"/>
                </a:lnTo>
                <a:lnTo>
                  <a:pt x="471695" y="3066600"/>
                </a:lnTo>
                <a:lnTo>
                  <a:pt x="461161" y="3031486"/>
                </a:lnTo>
                <a:lnTo>
                  <a:pt x="449456" y="2997543"/>
                </a:lnTo>
                <a:lnTo>
                  <a:pt x="435411" y="2965941"/>
                </a:lnTo>
                <a:lnTo>
                  <a:pt x="419024" y="2936679"/>
                </a:lnTo>
                <a:lnTo>
                  <a:pt x="397956" y="2910929"/>
                </a:lnTo>
                <a:lnTo>
                  <a:pt x="374547" y="2884009"/>
                </a:lnTo>
                <a:lnTo>
                  <a:pt x="347626" y="2860599"/>
                </a:lnTo>
                <a:lnTo>
                  <a:pt x="318365" y="2838361"/>
                </a:lnTo>
                <a:lnTo>
                  <a:pt x="289103" y="2816122"/>
                </a:lnTo>
                <a:lnTo>
                  <a:pt x="259842" y="2793883"/>
                </a:lnTo>
                <a:lnTo>
                  <a:pt x="231751" y="2771645"/>
                </a:lnTo>
                <a:lnTo>
                  <a:pt x="204830" y="2747065"/>
                </a:lnTo>
                <a:lnTo>
                  <a:pt x="181421" y="2722485"/>
                </a:lnTo>
                <a:lnTo>
                  <a:pt x="161523" y="2694394"/>
                </a:lnTo>
                <a:lnTo>
                  <a:pt x="146308" y="2665133"/>
                </a:lnTo>
                <a:lnTo>
                  <a:pt x="135773" y="2630019"/>
                </a:lnTo>
                <a:lnTo>
                  <a:pt x="131092" y="2593735"/>
                </a:lnTo>
                <a:lnTo>
                  <a:pt x="129921" y="2556280"/>
                </a:lnTo>
                <a:lnTo>
                  <a:pt x="133432" y="2516485"/>
                </a:lnTo>
                <a:lnTo>
                  <a:pt x="138114" y="2476689"/>
                </a:lnTo>
                <a:lnTo>
                  <a:pt x="143967" y="2436894"/>
                </a:lnTo>
                <a:lnTo>
                  <a:pt x="148648" y="2397098"/>
                </a:lnTo>
                <a:lnTo>
                  <a:pt x="150989" y="2357302"/>
                </a:lnTo>
                <a:lnTo>
                  <a:pt x="150989" y="2318677"/>
                </a:lnTo>
                <a:lnTo>
                  <a:pt x="146308" y="2282393"/>
                </a:lnTo>
                <a:lnTo>
                  <a:pt x="136944" y="2246109"/>
                </a:lnTo>
                <a:lnTo>
                  <a:pt x="122898" y="2212166"/>
                </a:lnTo>
                <a:lnTo>
                  <a:pt x="105341" y="2177052"/>
                </a:lnTo>
                <a:lnTo>
                  <a:pt x="85444" y="2141938"/>
                </a:lnTo>
                <a:lnTo>
                  <a:pt x="64375" y="2106824"/>
                </a:lnTo>
                <a:lnTo>
                  <a:pt x="44478" y="2072881"/>
                </a:lnTo>
                <a:lnTo>
                  <a:pt x="26921" y="2036597"/>
                </a:lnTo>
                <a:lnTo>
                  <a:pt x="12875" y="2001483"/>
                </a:lnTo>
                <a:lnTo>
                  <a:pt x="3512" y="1965199"/>
                </a:lnTo>
                <a:lnTo>
                  <a:pt x="0" y="1927744"/>
                </a:lnTo>
                <a:lnTo>
                  <a:pt x="3512" y="1890290"/>
                </a:lnTo>
                <a:lnTo>
                  <a:pt x="12875" y="1854005"/>
                </a:lnTo>
                <a:lnTo>
                  <a:pt x="26921" y="1818892"/>
                </a:lnTo>
                <a:lnTo>
                  <a:pt x="44478" y="1782608"/>
                </a:lnTo>
                <a:lnTo>
                  <a:pt x="64375" y="1748664"/>
                </a:lnTo>
                <a:lnTo>
                  <a:pt x="85444" y="1713550"/>
                </a:lnTo>
                <a:lnTo>
                  <a:pt x="105341" y="1678437"/>
                </a:lnTo>
                <a:lnTo>
                  <a:pt x="122898" y="1643323"/>
                </a:lnTo>
                <a:lnTo>
                  <a:pt x="136944" y="1609380"/>
                </a:lnTo>
                <a:lnTo>
                  <a:pt x="146308" y="1573096"/>
                </a:lnTo>
                <a:lnTo>
                  <a:pt x="150989" y="1536811"/>
                </a:lnTo>
                <a:lnTo>
                  <a:pt x="150989" y="1498186"/>
                </a:lnTo>
                <a:lnTo>
                  <a:pt x="148648" y="1458391"/>
                </a:lnTo>
                <a:lnTo>
                  <a:pt x="143967" y="1418595"/>
                </a:lnTo>
                <a:lnTo>
                  <a:pt x="138114" y="1378799"/>
                </a:lnTo>
                <a:lnTo>
                  <a:pt x="133432" y="1339004"/>
                </a:lnTo>
                <a:lnTo>
                  <a:pt x="129921" y="1299208"/>
                </a:lnTo>
                <a:lnTo>
                  <a:pt x="131092" y="1261754"/>
                </a:lnTo>
                <a:lnTo>
                  <a:pt x="135773" y="1225469"/>
                </a:lnTo>
                <a:lnTo>
                  <a:pt x="146308" y="1190356"/>
                </a:lnTo>
                <a:lnTo>
                  <a:pt x="161523" y="1161094"/>
                </a:lnTo>
                <a:lnTo>
                  <a:pt x="181421" y="1133003"/>
                </a:lnTo>
                <a:lnTo>
                  <a:pt x="204830" y="1108424"/>
                </a:lnTo>
                <a:lnTo>
                  <a:pt x="231751" y="1083844"/>
                </a:lnTo>
                <a:lnTo>
                  <a:pt x="259842" y="1061605"/>
                </a:lnTo>
                <a:lnTo>
                  <a:pt x="289103" y="1039367"/>
                </a:lnTo>
                <a:lnTo>
                  <a:pt x="318365" y="1017128"/>
                </a:lnTo>
                <a:lnTo>
                  <a:pt x="347626" y="994889"/>
                </a:lnTo>
                <a:lnTo>
                  <a:pt x="374547" y="971480"/>
                </a:lnTo>
                <a:lnTo>
                  <a:pt x="397956" y="944560"/>
                </a:lnTo>
                <a:lnTo>
                  <a:pt x="419024" y="918809"/>
                </a:lnTo>
                <a:lnTo>
                  <a:pt x="435411" y="889548"/>
                </a:lnTo>
                <a:lnTo>
                  <a:pt x="449456" y="857946"/>
                </a:lnTo>
                <a:lnTo>
                  <a:pt x="461161" y="824002"/>
                </a:lnTo>
                <a:lnTo>
                  <a:pt x="471695" y="788889"/>
                </a:lnTo>
                <a:lnTo>
                  <a:pt x="481059" y="753775"/>
                </a:lnTo>
                <a:lnTo>
                  <a:pt x="490422" y="717491"/>
                </a:lnTo>
                <a:lnTo>
                  <a:pt x="500956" y="683547"/>
                </a:lnTo>
                <a:lnTo>
                  <a:pt x="512661" y="649604"/>
                </a:lnTo>
                <a:lnTo>
                  <a:pt x="526706" y="618002"/>
                </a:lnTo>
                <a:lnTo>
                  <a:pt x="544263" y="589911"/>
                </a:lnTo>
                <a:lnTo>
                  <a:pt x="565332" y="564161"/>
                </a:lnTo>
                <a:lnTo>
                  <a:pt x="591082" y="543092"/>
                </a:lnTo>
                <a:lnTo>
                  <a:pt x="619173" y="525535"/>
                </a:lnTo>
                <a:lnTo>
                  <a:pt x="650775" y="511490"/>
                </a:lnTo>
                <a:lnTo>
                  <a:pt x="684718" y="499785"/>
                </a:lnTo>
                <a:lnTo>
                  <a:pt x="718662" y="489251"/>
                </a:lnTo>
                <a:lnTo>
                  <a:pt x="754946" y="479888"/>
                </a:lnTo>
                <a:lnTo>
                  <a:pt x="790059" y="470524"/>
                </a:lnTo>
                <a:lnTo>
                  <a:pt x="825173" y="459990"/>
                </a:lnTo>
                <a:lnTo>
                  <a:pt x="859116" y="448285"/>
                </a:lnTo>
                <a:lnTo>
                  <a:pt x="890719" y="434240"/>
                </a:lnTo>
                <a:lnTo>
                  <a:pt x="919980" y="417853"/>
                </a:lnTo>
                <a:lnTo>
                  <a:pt x="945730" y="396785"/>
                </a:lnTo>
                <a:lnTo>
                  <a:pt x="972651" y="373376"/>
                </a:lnTo>
                <a:lnTo>
                  <a:pt x="996060" y="346455"/>
                </a:lnTo>
                <a:lnTo>
                  <a:pt x="1018299" y="318364"/>
                </a:lnTo>
                <a:lnTo>
                  <a:pt x="1040537" y="289103"/>
                </a:lnTo>
                <a:lnTo>
                  <a:pt x="1062776" y="259841"/>
                </a:lnTo>
                <a:lnTo>
                  <a:pt x="1085015" y="231750"/>
                </a:lnTo>
                <a:lnTo>
                  <a:pt x="1109594" y="204830"/>
                </a:lnTo>
                <a:lnTo>
                  <a:pt x="1134174" y="181421"/>
                </a:lnTo>
                <a:lnTo>
                  <a:pt x="1162265" y="161523"/>
                </a:lnTo>
                <a:lnTo>
                  <a:pt x="1191526" y="146307"/>
                </a:lnTo>
                <a:lnTo>
                  <a:pt x="1226640" y="135773"/>
                </a:lnTo>
                <a:lnTo>
                  <a:pt x="1262924" y="131091"/>
                </a:lnTo>
                <a:lnTo>
                  <a:pt x="1300379" y="129921"/>
                </a:lnTo>
                <a:lnTo>
                  <a:pt x="1340175" y="133432"/>
                </a:lnTo>
                <a:lnTo>
                  <a:pt x="1379970" y="138114"/>
                </a:lnTo>
                <a:lnTo>
                  <a:pt x="1419766" y="143966"/>
                </a:lnTo>
                <a:lnTo>
                  <a:pt x="1459561" y="148648"/>
                </a:lnTo>
                <a:lnTo>
                  <a:pt x="1499357" y="150989"/>
                </a:lnTo>
                <a:lnTo>
                  <a:pt x="1537982" y="150989"/>
                </a:lnTo>
                <a:lnTo>
                  <a:pt x="1574266" y="146307"/>
                </a:lnTo>
                <a:lnTo>
                  <a:pt x="1610550" y="136943"/>
                </a:lnTo>
                <a:lnTo>
                  <a:pt x="1645664" y="122898"/>
                </a:lnTo>
                <a:lnTo>
                  <a:pt x="1680778" y="104171"/>
                </a:lnTo>
                <a:lnTo>
                  <a:pt x="1715892" y="85443"/>
                </a:lnTo>
                <a:lnTo>
                  <a:pt x="1751005" y="64375"/>
                </a:lnTo>
                <a:lnTo>
                  <a:pt x="1784949" y="44477"/>
                </a:lnTo>
                <a:lnTo>
                  <a:pt x="1821233" y="26920"/>
                </a:lnTo>
                <a:lnTo>
                  <a:pt x="1856347" y="12875"/>
                </a:lnTo>
                <a:lnTo>
                  <a:pt x="1892631" y="3511"/>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652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3CFE5-21B0-90B4-5CC2-26E1FACE168B}"/>
              </a:ext>
            </a:extLst>
          </p:cNvPr>
          <p:cNvSpPr>
            <a:spLocks noGrp="1"/>
          </p:cNvSpPr>
          <p:nvPr>
            <p:ph type="title"/>
          </p:nvPr>
        </p:nvSpPr>
        <p:spPr>
          <a:xfrm>
            <a:off x="1251678" y="719327"/>
            <a:ext cx="10178322" cy="1155189"/>
          </a:xfrm>
        </p:spPr>
        <p:txBody>
          <a:bodyPr>
            <a:normAutofit/>
          </a:bodyPr>
          <a:lstStyle/>
          <a:p>
            <a:r>
              <a:rPr lang="en-US" sz="4800" dirty="0">
                <a:latin typeface="Avenir Book" panose="02000503020000020003" pitchFamily="2" charset="0"/>
              </a:rPr>
              <a:t>The argument </a:t>
            </a:r>
          </a:p>
        </p:txBody>
      </p:sp>
      <p:sp>
        <p:nvSpPr>
          <p:cNvPr id="3" name="Content Placeholder 2">
            <a:extLst>
              <a:ext uri="{FF2B5EF4-FFF2-40B4-BE49-F238E27FC236}">
                <a16:creationId xmlns:a16="http://schemas.microsoft.com/office/drawing/2014/main" id="{33165864-3DE3-A14C-72DD-B3A4906871D5}"/>
              </a:ext>
            </a:extLst>
          </p:cNvPr>
          <p:cNvSpPr>
            <a:spLocks noGrp="1"/>
          </p:cNvSpPr>
          <p:nvPr>
            <p:ph idx="1"/>
          </p:nvPr>
        </p:nvSpPr>
        <p:spPr>
          <a:xfrm>
            <a:off x="1251678" y="2286001"/>
            <a:ext cx="9806466" cy="3593591"/>
          </a:xfrm>
        </p:spPr>
        <p:txBody>
          <a:bodyPr>
            <a:normAutofit/>
          </a:bodyPr>
          <a:lstStyle/>
          <a:p>
            <a:pPr>
              <a:lnSpc>
                <a:spcPct val="150000"/>
              </a:lnSpc>
            </a:pPr>
            <a:r>
              <a:rPr lang="en-US" sz="2400" dirty="0">
                <a:solidFill>
                  <a:schemeClr val="tx1"/>
                </a:solidFill>
                <a:latin typeface="Avenir Book" panose="02000503020000020003" pitchFamily="2" charset="0"/>
              </a:rPr>
              <a:t>Given that the mind is immaterial and unextended, and the body is extended and material, the laws of physics say that the mental cannot affect the physical because physical events can only have physical causes, and we cannot have non-physical causes of physical events. My mind cannot move my body, and we cannot explain according to Descartes how it could ever do that. </a:t>
            </a:r>
          </a:p>
        </p:txBody>
      </p:sp>
    </p:spTree>
    <p:extLst>
      <p:ext uri="{BB962C8B-B14F-4D97-AF65-F5344CB8AC3E}">
        <p14:creationId xmlns:p14="http://schemas.microsoft.com/office/powerpoint/2010/main" val="3578447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2F62A-8807-1190-0F2A-4E1A9141CAE0}"/>
              </a:ext>
            </a:extLst>
          </p:cNvPr>
          <p:cNvSpPr>
            <a:spLocks noGrp="1"/>
          </p:cNvSpPr>
          <p:nvPr>
            <p:ph type="title"/>
          </p:nvPr>
        </p:nvSpPr>
        <p:spPr>
          <a:xfrm>
            <a:off x="1251678" y="719327"/>
            <a:ext cx="10178322" cy="1155189"/>
          </a:xfrm>
        </p:spPr>
        <p:txBody>
          <a:bodyPr>
            <a:normAutofit/>
          </a:bodyPr>
          <a:lstStyle/>
          <a:p>
            <a:r>
              <a:rPr lang="en-US" sz="4000" dirty="0">
                <a:latin typeface="Avenir Book" panose="02000503020000020003" pitchFamily="2" charset="0"/>
              </a:rPr>
              <a:t>Causation as counterfactual</a:t>
            </a:r>
          </a:p>
        </p:txBody>
      </p:sp>
      <p:sp>
        <p:nvSpPr>
          <p:cNvPr id="3" name="Content Placeholder 2">
            <a:extLst>
              <a:ext uri="{FF2B5EF4-FFF2-40B4-BE49-F238E27FC236}">
                <a16:creationId xmlns:a16="http://schemas.microsoft.com/office/drawing/2014/main" id="{62A2D380-6E8A-12A0-72B2-F3F4BBB82590}"/>
              </a:ext>
            </a:extLst>
          </p:cNvPr>
          <p:cNvSpPr>
            <a:spLocks noGrp="1"/>
          </p:cNvSpPr>
          <p:nvPr>
            <p:ph idx="1"/>
          </p:nvPr>
        </p:nvSpPr>
        <p:spPr/>
        <p:txBody>
          <a:bodyPr>
            <a:normAutofit/>
          </a:bodyPr>
          <a:lstStyle/>
          <a:p>
            <a:pPr marL="0" indent="0" algn="just">
              <a:buNone/>
            </a:pPr>
            <a:r>
              <a:rPr lang="en-US" sz="2800" dirty="0">
                <a:solidFill>
                  <a:srgbClr val="002060"/>
                </a:solidFill>
                <a:latin typeface="Avenir Book" panose="02000503020000020003" pitchFamily="2" charset="0"/>
              </a:rPr>
              <a:t>A counterfactual is a proposition that assumes that if a certain event did not obtain then another event further downstream would not have obtained.</a:t>
            </a:r>
          </a:p>
          <a:p>
            <a:pPr marL="0" indent="0" algn="just">
              <a:buNone/>
            </a:pPr>
            <a:endParaRPr lang="en-US" sz="2800" dirty="0">
              <a:solidFill>
                <a:srgbClr val="002060"/>
              </a:solidFill>
              <a:latin typeface="Avenir Book" panose="02000503020000020003" pitchFamily="2" charset="0"/>
            </a:endParaRPr>
          </a:p>
          <a:p>
            <a:pPr marL="0" indent="0" algn="just">
              <a:buNone/>
            </a:pPr>
            <a:r>
              <a:rPr lang="en-US" sz="2800" dirty="0">
                <a:solidFill>
                  <a:srgbClr val="002060"/>
                </a:solidFill>
                <a:latin typeface="Avenir Book" panose="02000503020000020003" pitchFamily="2" charset="0"/>
              </a:rPr>
              <a:t>For example, ‘If I had not opened my hands, the bottle of water would not have fallen to the floor’. </a:t>
            </a:r>
          </a:p>
        </p:txBody>
      </p:sp>
    </p:spTree>
    <p:extLst>
      <p:ext uri="{BB962C8B-B14F-4D97-AF65-F5344CB8AC3E}">
        <p14:creationId xmlns:p14="http://schemas.microsoft.com/office/powerpoint/2010/main" val="1507211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D9067-1795-9025-5DA5-DD493BAE3E4C}"/>
              </a:ext>
            </a:extLst>
          </p:cNvPr>
          <p:cNvSpPr>
            <a:spLocks noGrp="1"/>
          </p:cNvSpPr>
          <p:nvPr>
            <p:ph type="title"/>
          </p:nvPr>
        </p:nvSpPr>
        <p:spPr>
          <a:xfrm>
            <a:off x="1251678" y="697831"/>
            <a:ext cx="10346764" cy="1176685"/>
          </a:xfrm>
        </p:spPr>
        <p:txBody>
          <a:bodyPr>
            <a:normAutofit/>
          </a:bodyPr>
          <a:lstStyle/>
          <a:p>
            <a:r>
              <a:rPr lang="en-US" sz="4800" dirty="0">
                <a:latin typeface="Avenir Book" panose="02000503020000020003" pitchFamily="2" charset="0"/>
              </a:rPr>
              <a:t>The problem of causation</a:t>
            </a:r>
          </a:p>
        </p:txBody>
      </p:sp>
      <p:sp>
        <p:nvSpPr>
          <p:cNvPr id="3" name="Content Placeholder 2">
            <a:extLst>
              <a:ext uri="{FF2B5EF4-FFF2-40B4-BE49-F238E27FC236}">
                <a16:creationId xmlns:a16="http://schemas.microsoft.com/office/drawing/2014/main" id="{AC35D336-05B3-FC73-CCDB-002F06490B38}"/>
              </a:ext>
            </a:extLst>
          </p:cNvPr>
          <p:cNvSpPr>
            <a:spLocks noGrp="1"/>
          </p:cNvSpPr>
          <p:nvPr>
            <p:ph idx="1"/>
          </p:nvPr>
        </p:nvSpPr>
        <p:spPr/>
        <p:txBody>
          <a:bodyPr>
            <a:normAutofit lnSpcReduction="10000"/>
          </a:bodyPr>
          <a:lstStyle/>
          <a:p>
            <a:pPr marL="0" indent="0" algn="just">
              <a:buNone/>
            </a:pPr>
            <a:r>
              <a:rPr lang="en-US" sz="3600" dirty="0">
                <a:solidFill>
                  <a:srgbClr val="002060"/>
                </a:solidFill>
                <a:latin typeface="Avenir Book" panose="02000503020000020003" pitchFamily="2" charset="0"/>
              </a:rPr>
              <a:t>We understand causation to be a product of a series of events that are linked in a chain from event A to event B. If there is a gap in the chain of events – if we have some categorical reason why the events cannot be linked – we can deny a causal link. </a:t>
            </a:r>
          </a:p>
        </p:txBody>
      </p:sp>
    </p:spTree>
    <p:extLst>
      <p:ext uri="{BB962C8B-B14F-4D97-AF65-F5344CB8AC3E}">
        <p14:creationId xmlns:p14="http://schemas.microsoft.com/office/powerpoint/2010/main" val="2411686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ECEA-DBAF-5246-B461-6F5BAA0856D9}"/>
              </a:ext>
            </a:extLst>
          </p:cNvPr>
          <p:cNvSpPr>
            <a:spLocks noGrp="1"/>
          </p:cNvSpPr>
          <p:nvPr>
            <p:ph type="title"/>
          </p:nvPr>
        </p:nvSpPr>
        <p:spPr>
          <a:xfrm>
            <a:off x="1572768" y="457200"/>
            <a:ext cx="10509504" cy="671513"/>
          </a:xfrm>
        </p:spPr>
        <p:txBody>
          <a:bodyPr anchor="b">
            <a:normAutofit/>
          </a:bodyPr>
          <a:lstStyle/>
          <a:p>
            <a:r>
              <a:rPr lang="en-US" sz="3200" dirty="0">
                <a:solidFill>
                  <a:schemeClr val="accent1"/>
                </a:solidFill>
                <a:latin typeface="Avenir Book" panose="02000503020000020003" pitchFamily="2" charset="0"/>
              </a:rPr>
              <a:t>Causal chain</a:t>
            </a:r>
          </a:p>
        </p:txBody>
      </p:sp>
      <p:sp>
        <p:nvSpPr>
          <p:cNvPr id="11" name="Content Placeholder 8">
            <a:extLst>
              <a:ext uri="{FF2B5EF4-FFF2-40B4-BE49-F238E27FC236}">
                <a16:creationId xmlns:a16="http://schemas.microsoft.com/office/drawing/2014/main" id="{024461A7-89B4-B7B0-36BF-C107A85C8FAB}"/>
              </a:ext>
            </a:extLst>
          </p:cNvPr>
          <p:cNvSpPr>
            <a:spLocks noGrp="1"/>
          </p:cNvSpPr>
          <p:nvPr>
            <p:ph idx="1"/>
          </p:nvPr>
        </p:nvSpPr>
        <p:spPr>
          <a:xfrm>
            <a:off x="1194816" y="1655065"/>
            <a:ext cx="3828288" cy="4224528"/>
          </a:xfrm>
        </p:spPr>
        <p:txBody>
          <a:bodyPr>
            <a:normAutofit/>
          </a:bodyPr>
          <a:lstStyle/>
          <a:p>
            <a:r>
              <a:rPr lang="en-US" sz="3200" i="1" dirty="0">
                <a:solidFill>
                  <a:schemeClr val="tx1"/>
                </a:solidFill>
                <a:latin typeface="Avenir Book" panose="02000503020000020003" pitchFamily="2" charset="0"/>
              </a:rPr>
              <a:t>Causal chains explain why one bullet has one effect and another bullet has another effect. </a:t>
            </a:r>
          </a:p>
        </p:txBody>
      </p:sp>
      <p:pic>
        <p:nvPicPr>
          <p:cNvPr id="5" name="Content Placeholder 4" descr="Bullets on a stick with a flame&#10;&#10;Description automatically generated with medium confidence">
            <a:extLst>
              <a:ext uri="{FF2B5EF4-FFF2-40B4-BE49-F238E27FC236}">
                <a16:creationId xmlns:a16="http://schemas.microsoft.com/office/drawing/2014/main" id="{61006CF5-AAF9-EA98-337A-EB550D4743E9}"/>
              </a:ext>
            </a:extLst>
          </p:cNvPr>
          <p:cNvPicPr>
            <a:picLocks noChangeAspect="1"/>
          </p:cNvPicPr>
          <p:nvPr/>
        </p:nvPicPr>
        <p:blipFill>
          <a:blip r:embed="rId2"/>
          <a:stretch>
            <a:fillRect/>
          </a:stretch>
        </p:blipFill>
        <p:spPr>
          <a:xfrm>
            <a:off x="5363101" y="1719000"/>
            <a:ext cx="5973801" cy="3420000"/>
          </a:xfrm>
          <a:prstGeom prst="rect">
            <a:avLst/>
          </a:prstGeom>
        </p:spPr>
      </p:pic>
    </p:spTree>
    <p:extLst>
      <p:ext uri="{BB962C8B-B14F-4D97-AF65-F5344CB8AC3E}">
        <p14:creationId xmlns:p14="http://schemas.microsoft.com/office/powerpoint/2010/main" val="3922029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5C50-5C9A-F8C9-7100-FABCD3DC8B92}"/>
              </a:ext>
            </a:extLst>
          </p:cNvPr>
          <p:cNvSpPr>
            <a:spLocks noGrp="1"/>
          </p:cNvSpPr>
          <p:nvPr>
            <p:ph type="title"/>
          </p:nvPr>
        </p:nvSpPr>
        <p:spPr>
          <a:xfrm>
            <a:off x="1267968" y="457200"/>
            <a:ext cx="10162032" cy="521207"/>
          </a:xfrm>
        </p:spPr>
        <p:txBody>
          <a:bodyPr anchor="b">
            <a:noAutofit/>
          </a:bodyPr>
          <a:lstStyle/>
          <a:p>
            <a:r>
              <a:rPr lang="en-US" sz="2800" dirty="0">
                <a:solidFill>
                  <a:schemeClr val="accent1"/>
                </a:solidFill>
                <a:latin typeface="Avenir Book" panose="02000503020000020003" pitchFamily="2" charset="0"/>
              </a:rPr>
              <a:t>Perception as a causal chain</a:t>
            </a:r>
          </a:p>
        </p:txBody>
      </p:sp>
      <p:sp>
        <p:nvSpPr>
          <p:cNvPr id="9" name="Content Placeholder 8">
            <a:extLst>
              <a:ext uri="{FF2B5EF4-FFF2-40B4-BE49-F238E27FC236}">
                <a16:creationId xmlns:a16="http://schemas.microsoft.com/office/drawing/2014/main" id="{3BB36499-37BC-CBEB-4882-69D7B9E98340}"/>
              </a:ext>
            </a:extLst>
          </p:cNvPr>
          <p:cNvSpPr>
            <a:spLocks noGrp="1"/>
          </p:cNvSpPr>
          <p:nvPr>
            <p:ph idx="1"/>
          </p:nvPr>
        </p:nvSpPr>
        <p:spPr>
          <a:xfrm>
            <a:off x="1487424" y="1426464"/>
            <a:ext cx="3090672" cy="4981349"/>
          </a:xfrm>
        </p:spPr>
        <p:txBody>
          <a:bodyPr>
            <a:normAutofit lnSpcReduction="10000"/>
          </a:bodyPr>
          <a:lstStyle/>
          <a:p>
            <a:pPr marL="0" indent="0">
              <a:buNone/>
            </a:pPr>
            <a:r>
              <a:rPr lang="en-US" sz="2800" dirty="0">
                <a:solidFill>
                  <a:schemeClr val="tx1"/>
                </a:solidFill>
                <a:latin typeface="Avenir Book" panose="02000503020000020003" pitchFamily="2" charset="0"/>
              </a:rPr>
              <a:t>We can understand our perception of a thing as the product of a causal chain. The light that </a:t>
            </a:r>
            <a:r>
              <a:rPr lang="en-US" sz="2800" dirty="0" err="1">
                <a:solidFill>
                  <a:schemeClr val="tx1"/>
                </a:solidFill>
                <a:latin typeface="Avenir Book" panose="02000503020000020003" pitchFamily="2" charset="0"/>
              </a:rPr>
              <a:t>reflects</a:t>
            </a:r>
            <a:r>
              <a:rPr lang="en-US" sz="2800" dirty="0">
                <a:solidFill>
                  <a:schemeClr val="tx1"/>
                </a:solidFill>
                <a:latin typeface="Avenir Book" panose="02000503020000020003" pitchFamily="2" charset="0"/>
              </a:rPr>
              <a:t> from the tree hits the retina of the eye, causing me to see the tree. </a:t>
            </a:r>
          </a:p>
        </p:txBody>
      </p:sp>
      <p:pic>
        <p:nvPicPr>
          <p:cNvPr id="5" name="Content Placeholder 4" descr="A person standing in a field with a tree and a sunny day&#10;&#10;Description automatically generated">
            <a:extLst>
              <a:ext uri="{FF2B5EF4-FFF2-40B4-BE49-F238E27FC236}">
                <a16:creationId xmlns:a16="http://schemas.microsoft.com/office/drawing/2014/main" id="{6D412D43-2232-F97C-335E-B467D47C57C4}"/>
              </a:ext>
            </a:extLst>
          </p:cNvPr>
          <p:cNvPicPr>
            <a:picLocks noChangeAspect="1"/>
          </p:cNvPicPr>
          <p:nvPr/>
        </p:nvPicPr>
        <p:blipFill>
          <a:blip r:embed="rId2"/>
          <a:stretch>
            <a:fillRect/>
          </a:stretch>
        </p:blipFill>
        <p:spPr>
          <a:xfrm>
            <a:off x="5451727" y="1896201"/>
            <a:ext cx="5978273" cy="3422560"/>
          </a:xfrm>
          <a:prstGeom prst="rect">
            <a:avLst/>
          </a:prstGeom>
        </p:spPr>
      </p:pic>
    </p:spTree>
    <p:extLst>
      <p:ext uri="{BB962C8B-B14F-4D97-AF65-F5344CB8AC3E}">
        <p14:creationId xmlns:p14="http://schemas.microsoft.com/office/powerpoint/2010/main" val="684812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E179F-1C65-0BD7-D77F-B8872BD5DD11}"/>
              </a:ext>
            </a:extLst>
          </p:cNvPr>
          <p:cNvSpPr>
            <a:spLocks noGrp="1"/>
          </p:cNvSpPr>
          <p:nvPr>
            <p:ph type="title"/>
          </p:nvPr>
        </p:nvSpPr>
        <p:spPr>
          <a:xfrm>
            <a:off x="1251678" y="584791"/>
            <a:ext cx="10178322" cy="1289726"/>
          </a:xfrm>
        </p:spPr>
        <p:txBody>
          <a:bodyPr>
            <a:normAutofit/>
          </a:bodyPr>
          <a:lstStyle/>
          <a:p>
            <a:r>
              <a:rPr lang="en-US" sz="3600" dirty="0">
                <a:latin typeface="Avenir Book" panose="02000503020000020003" pitchFamily="2" charset="0"/>
              </a:rPr>
              <a:t>Newton’s law: the conservation of momentum </a:t>
            </a:r>
          </a:p>
        </p:txBody>
      </p:sp>
      <p:sp>
        <p:nvSpPr>
          <p:cNvPr id="3" name="Content Placeholder 2">
            <a:extLst>
              <a:ext uri="{FF2B5EF4-FFF2-40B4-BE49-F238E27FC236}">
                <a16:creationId xmlns:a16="http://schemas.microsoft.com/office/drawing/2014/main" id="{6B1ED0EF-81AE-4424-DE42-22D0939AC38B}"/>
              </a:ext>
            </a:extLst>
          </p:cNvPr>
          <p:cNvSpPr>
            <a:spLocks noGrp="1"/>
          </p:cNvSpPr>
          <p:nvPr>
            <p:ph idx="1"/>
          </p:nvPr>
        </p:nvSpPr>
        <p:spPr>
          <a:xfrm>
            <a:off x="1251678" y="1722475"/>
            <a:ext cx="10178322" cy="4157118"/>
          </a:xfrm>
        </p:spPr>
        <p:txBody>
          <a:bodyPr>
            <a:normAutofit/>
          </a:bodyPr>
          <a:lstStyle/>
          <a:p>
            <a:pPr marL="0" indent="0">
              <a:lnSpc>
                <a:spcPct val="150000"/>
              </a:lnSpc>
              <a:buNone/>
            </a:pPr>
            <a:endParaRPr lang="en-US" sz="3600" i="1" dirty="0">
              <a:solidFill>
                <a:schemeClr val="tx1"/>
              </a:solidFill>
              <a:latin typeface="Avenir Book" panose="02000503020000020003" pitchFamily="2" charset="0"/>
            </a:endParaRPr>
          </a:p>
          <a:p>
            <a:pPr marL="0" indent="0">
              <a:lnSpc>
                <a:spcPct val="150000"/>
              </a:lnSpc>
              <a:buNone/>
            </a:pPr>
            <a:r>
              <a:rPr lang="en-US" sz="3600" i="1" dirty="0">
                <a:solidFill>
                  <a:schemeClr val="tx1"/>
                </a:solidFill>
                <a:latin typeface="Avenir Book" panose="02000503020000020003" pitchFamily="2" charset="0"/>
              </a:rPr>
              <a:t>“The total linear momentum of a system remains constant in collisions/explosions provided no external forces are applied”. </a:t>
            </a:r>
          </a:p>
        </p:txBody>
      </p:sp>
    </p:spTree>
    <p:extLst>
      <p:ext uri="{BB962C8B-B14F-4D97-AF65-F5344CB8AC3E}">
        <p14:creationId xmlns:p14="http://schemas.microsoft.com/office/powerpoint/2010/main" val="361824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98BF2-EB76-B7F3-693D-E14A19EDA6A1}"/>
              </a:ext>
            </a:extLst>
          </p:cNvPr>
          <p:cNvSpPr>
            <a:spLocks noGrp="1"/>
          </p:cNvSpPr>
          <p:nvPr>
            <p:ph type="title"/>
          </p:nvPr>
        </p:nvSpPr>
        <p:spPr>
          <a:xfrm>
            <a:off x="1581295" y="471489"/>
            <a:ext cx="9834373" cy="657224"/>
          </a:xfrm>
        </p:spPr>
        <p:txBody>
          <a:bodyPr anchor="b">
            <a:noAutofit/>
          </a:bodyPr>
          <a:lstStyle/>
          <a:p>
            <a:r>
              <a:rPr lang="en-US" sz="2400" dirty="0">
                <a:solidFill>
                  <a:schemeClr val="accent1"/>
                </a:solidFill>
                <a:latin typeface="Avenir Book" panose="02000503020000020003" pitchFamily="2" charset="0"/>
              </a:rPr>
              <a:t>The momentum stays the same in the system</a:t>
            </a:r>
          </a:p>
        </p:txBody>
      </p:sp>
      <p:sp>
        <p:nvSpPr>
          <p:cNvPr id="15" name="Content Placeholder 12">
            <a:extLst>
              <a:ext uri="{FF2B5EF4-FFF2-40B4-BE49-F238E27FC236}">
                <a16:creationId xmlns:a16="http://schemas.microsoft.com/office/drawing/2014/main" id="{74FEB826-6B33-7168-06BB-D34EF966700C}"/>
              </a:ext>
            </a:extLst>
          </p:cNvPr>
          <p:cNvSpPr>
            <a:spLocks noGrp="1"/>
          </p:cNvSpPr>
          <p:nvPr>
            <p:ph idx="1"/>
          </p:nvPr>
        </p:nvSpPr>
        <p:spPr>
          <a:xfrm>
            <a:off x="1581295" y="1471613"/>
            <a:ext cx="3090672" cy="4493324"/>
          </a:xfrm>
        </p:spPr>
        <p:txBody>
          <a:bodyPr>
            <a:normAutofit/>
          </a:bodyPr>
          <a:lstStyle/>
          <a:p>
            <a:pPr marL="0" indent="0">
              <a:lnSpc>
                <a:spcPct val="150000"/>
              </a:lnSpc>
              <a:buNone/>
            </a:pPr>
            <a:r>
              <a:rPr lang="en-US" sz="2400" dirty="0">
                <a:solidFill>
                  <a:schemeClr val="tx1"/>
                </a:solidFill>
                <a:latin typeface="Avenir Book" panose="02000503020000020003" pitchFamily="2" charset="0"/>
              </a:rPr>
              <a:t>There can be no loss of momentum in a whole physical system, which means that momentum is neither created nor destroyed in a physical system. </a:t>
            </a:r>
          </a:p>
        </p:txBody>
      </p:sp>
      <p:pic>
        <p:nvPicPr>
          <p:cNvPr id="9" name="Content Placeholder 8" descr="A cannon with fire coming out of it&#10;&#10;Description automatically generated">
            <a:extLst>
              <a:ext uri="{FF2B5EF4-FFF2-40B4-BE49-F238E27FC236}">
                <a16:creationId xmlns:a16="http://schemas.microsoft.com/office/drawing/2014/main" id="{33AF9D85-0B64-9C0A-E293-3945E8FE1143}"/>
              </a:ext>
            </a:extLst>
          </p:cNvPr>
          <p:cNvPicPr>
            <a:picLocks noChangeAspect="1"/>
          </p:cNvPicPr>
          <p:nvPr/>
        </p:nvPicPr>
        <p:blipFill>
          <a:blip r:embed="rId2"/>
          <a:stretch>
            <a:fillRect/>
          </a:stretch>
        </p:blipFill>
        <p:spPr>
          <a:xfrm>
            <a:off x="6096000" y="1885152"/>
            <a:ext cx="5446732" cy="3118253"/>
          </a:xfrm>
          <a:prstGeom prst="rect">
            <a:avLst/>
          </a:prstGeom>
        </p:spPr>
      </p:pic>
    </p:spTree>
    <p:extLst>
      <p:ext uri="{BB962C8B-B14F-4D97-AF65-F5344CB8AC3E}">
        <p14:creationId xmlns:p14="http://schemas.microsoft.com/office/powerpoint/2010/main" val="3772583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BCB7-CAB4-5C0E-7E4B-1593EA4919D2}"/>
              </a:ext>
            </a:extLst>
          </p:cNvPr>
          <p:cNvSpPr>
            <a:spLocks noGrp="1"/>
          </p:cNvSpPr>
          <p:nvPr>
            <p:ph type="title"/>
          </p:nvPr>
        </p:nvSpPr>
        <p:spPr>
          <a:xfrm>
            <a:off x="1251679" y="645107"/>
            <a:ext cx="3384329" cy="1640894"/>
          </a:xfrm>
        </p:spPr>
        <p:txBody>
          <a:bodyPr anchor="t">
            <a:normAutofit fontScale="90000"/>
          </a:bodyPr>
          <a:lstStyle/>
          <a:p>
            <a:r>
              <a:rPr lang="en-US" sz="1900">
                <a:latin typeface="Avenir Book" panose="02000503020000020003" pitchFamily="2" charset="0"/>
              </a:rPr>
              <a:t>This means that Descartes’ substance dualism contradicts our best theories in physics.</a:t>
            </a:r>
          </a:p>
        </p:txBody>
      </p:sp>
      <p:sp>
        <p:nvSpPr>
          <p:cNvPr id="9" name="Content Placeholder 8">
            <a:extLst>
              <a:ext uri="{FF2B5EF4-FFF2-40B4-BE49-F238E27FC236}">
                <a16:creationId xmlns:a16="http://schemas.microsoft.com/office/drawing/2014/main" id="{AD123942-ED2D-CED2-BFA4-C8B6E16A6DB8}"/>
              </a:ext>
            </a:extLst>
          </p:cNvPr>
          <p:cNvSpPr>
            <a:spLocks noGrp="1"/>
          </p:cNvSpPr>
          <p:nvPr>
            <p:ph idx="1"/>
          </p:nvPr>
        </p:nvSpPr>
        <p:spPr>
          <a:xfrm>
            <a:off x="1251679" y="2286001"/>
            <a:ext cx="3384330" cy="3940844"/>
          </a:xfrm>
        </p:spPr>
        <p:txBody>
          <a:bodyPr>
            <a:normAutofit/>
          </a:bodyPr>
          <a:lstStyle/>
          <a:p>
            <a:pPr marL="0" indent="0">
              <a:buNone/>
            </a:pPr>
            <a:r>
              <a:rPr lang="en-US" sz="2400" dirty="0">
                <a:solidFill>
                  <a:schemeClr val="tx1"/>
                </a:solidFill>
                <a:latin typeface="Avenir Book" panose="02000503020000020003" pitchFamily="2" charset="0"/>
              </a:rPr>
              <a:t>This, in sum, is the problem of causation for substance dualism. </a:t>
            </a:r>
          </a:p>
        </p:txBody>
      </p:sp>
      <p:pic>
        <p:nvPicPr>
          <p:cNvPr id="5" name="Content Placeholder 4" descr="A person in a lab coat pointing at a whiteboard&#10;&#10;Description automatically generated">
            <a:extLst>
              <a:ext uri="{FF2B5EF4-FFF2-40B4-BE49-F238E27FC236}">
                <a16:creationId xmlns:a16="http://schemas.microsoft.com/office/drawing/2014/main" id="{5EB6AB66-AC6C-A1CE-4ACD-1F1A358ACE71}"/>
              </a:ext>
            </a:extLst>
          </p:cNvPr>
          <p:cNvPicPr>
            <a:picLocks noChangeAspect="1"/>
          </p:cNvPicPr>
          <p:nvPr/>
        </p:nvPicPr>
        <p:blipFill>
          <a:blip r:embed="rId2"/>
          <a:srcRect l="7571" r="31070" b="-1"/>
          <a:stretch/>
        </p:blipFill>
        <p:spPr>
          <a:xfrm>
            <a:off x="5279472" y="645107"/>
            <a:ext cx="5995465" cy="5594047"/>
          </a:xfrm>
          <a:prstGeom prst="rect">
            <a:avLst/>
          </a:prstGeom>
        </p:spPr>
      </p:pic>
    </p:spTree>
    <p:extLst>
      <p:ext uri="{BB962C8B-B14F-4D97-AF65-F5344CB8AC3E}">
        <p14:creationId xmlns:p14="http://schemas.microsoft.com/office/powerpoint/2010/main" val="73894963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docProps/app.xml><?xml version="1.0" encoding="utf-8"?>
<Properties xmlns="http://schemas.openxmlformats.org/officeDocument/2006/extended-properties" xmlns:vt="http://schemas.openxmlformats.org/officeDocument/2006/docPropsVTypes">
  <Template>Badge</Template>
  <TotalTime>129</TotalTime>
  <Words>400</Words>
  <Application>Microsoft Macintosh PowerPoint</Application>
  <PresentationFormat>Widescreen</PresentationFormat>
  <Paragraphs>26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 Book</vt:lpstr>
      <vt:lpstr>Gill Sans MT</vt:lpstr>
      <vt:lpstr>Impact</vt:lpstr>
      <vt:lpstr>Optima</vt:lpstr>
      <vt:lpstr>Badge</vt:lpstr>
      <vt:lpstr>The problem of causation </vt:lpstr>
      <vt:lpstr>The problem of causation and the problem of physics</vt:lpstr>
      <vt:lpstr>Princess Elizabeth of bohemia</vt:lpstr>
      <vt:lpstr>The argument </vt:lpstr>
      <vt:lpstr>Causation as counterfactual</vt:lpstr>
      <vt:lpstr>The problem of causation</vt:lpstr>
      <vt:lpstr>Causal chain</vt:lpstr>
      <vt:lpstr>Perception as a causal chain</vt:lpstr>
      <vt:lpstr>Newton’s Law: The conservation of motion. </vt:lpstr>
      <vt:lpstr>The momentum stays the same in the system</vt:lpstr>
      <vt:lpstr>This means that Descartes substance dualism contradicts our best theories in physics.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6</cp:revision>
  <dcterms:created xsi:type="dcterms:W3CDTF">2024-06-17T13:53:53Z</dcterms:created>
  <dcterms:modified xsi:type="dcterms:W3CDTF">2024-08-10T12:25:35Z</dcterms:modified>
</cp:coreProperties>
</file>