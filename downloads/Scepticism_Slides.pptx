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question for the class: name one thing you are absolutely certain of. Keep their answers — we test them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the difference is the RANGE of claims doubted, not the attitude. Philosophical sceptics say the only justified attitude to these claims is suspension of judgement — neither belief nor disbelief. Source: Stanford Encyclopedia of Philosophy, “Skepticism” (Comesaña and Klein, 2026), section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SEP ranks three forms by how large the doubted class of propositions is. The authors use these labels without claiming historical accuracy. Ask: is global scepticism self-refuting? The SEP argues it is not obviously so — the Pyrrhonian suspends judgement on scepticism itself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Humean sceptic grants knowledge from direct experience and deduction — so this is local. Target: anything known by non-deductive inference, including much of science. Source: SEP section 3, reconstructing Hume’s Treatise (1739).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Responses range from confrontational (reject a premise) to concessive (accept the conclusion). All three named responses are from SEP section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CP1 comes from the Closure Principle: if p entails q and you’re justified in believing p, you’re justified in believing q. Cartesian scepticism still allows knowledge of our own mental states (“it seems I have hands”), so it is broader than Humean but not fully global. Source: SEP section 4; Descartes, Meditations (1641).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responses from SEP sections 4–5. Contextualism concedes most to the sceptic but, the SEP notes, still relies on an independent argument that we are minimally justified in rejecting sceptical hypotheses. Further: Wright’s “entitlement” — we may accept we are not deceived without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horn of the trilemma has produced a major theory of justification — see SEP section 6. This is the bridge to the next slide: scepticism shapes epistemology.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 6.1. Experiences can misrepresent (the Müller-Lyer illusion: the lines look different lengths without our believing they are), which shows experiences are not beliefs. A second split: deductivists say basic beliefs must logically entail the beliefs they support; non-deductivists also allow good inductive support. Traditional foundationalists tend to be deductivists; moderates tend to be non-deductivists. Traditional + deductive means no justified belief could be false — most epistemologists see that infallibilism as a reason to reject the combination.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 6.1. The three answers to “what makes epistemic principles true?”: primitivism (bedrock facts, nothing more to say — Chisholm), internalism (facts about us, e.g. what we’d accept on deep reflection — Foley), externalism (experiences reliably connected to truth — Goldman 1979). Moderate’s reply to traditional: we can be wrong about which beliefs about our own experiences are basic — e.g. believing we are in pain when the feeling is only acute discomfort.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 6.3. Coherentists reject two features of Agrippa’s picture: that justification is asymmetrical, and that the unit of justification is the single belief. Coherence is comparative: system B1 is better justified than B2 if it is more coherent. Many coherentists use explanatory relations to measure coherence (Quine and Ullian, The Web of Belief; BonJour 1978).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 6.3. The objection rests on the strong intuition that experience plays a very important role in justification, which pure coherence among beliefs ignores. The “science as a whole” strength is a teaching gloss linked to Quine, not a claim made in the SEP entry.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 6.2. Infinitism has had the least attention of the three replies, partly because of its apparently serious obstacles. Klein 1999 and 2007 and Aikin 2011 defend it. The implicit-beliefs idea is the infinitist’s reply to the objection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 6.2 and 6.5. The second problem rests on the Principle of Inferential Justification: if S is justified in believing p on the basis of q, S must be justified in believing q. The infinitist replies that each reason is justified by the next, but the critic says the same worry applies to the whole chain. Haack 1993: Evidence and Inquiry. The SEP calls the continuing struggle a sign of how lasting Pyrrhonian scepticism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SEP states that contemporary philosophers find Pyrrhonian scepticism interesting not because they think it might be true, but because responding to its arguments shapes epistemological theory (section 2). The humility point is a teaching extension, not from the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build from recall to evaluation so every student has an entry point. Q5 suits an extended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EBC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00460"/>
            <a:ext cx="10566400" cy="525760"/>
          </a:xfrm>
          <a:prstGeom prst="rect">
            <a:avLst/>
          </a:prstGeom>
          <a:noFill/>
          <a:ln/>
        </p:spPr>
        <p:txBody>
          <a:bodyPr wrap="square" lIns="0" tIns="0" rIns="0" bIns="0" rtlCol="0" anchor="t"/>
          <a:lstStyle>
            <a:lvl1pPr algn="l" indent="0" marL="0">
              <a:lnSpc>
                <a:spcPct val="115000"/>
              </a:lnSpc>
              <a:buNone/>
              <a:defRPr lang="en-US" sz="3600" dirty="0">
                <a:solidFill>
                  <a:srgbClr val="1F3A2B"/>
                </a:solidFill>
                <a:latin typeface="Domine" pitchFamily="34" charset="0"/>
                <a:ea typeface="Domine" pitchFamily="34" charset="-122"/>
                <a:cs typeface="Domine"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131020"/>
            <a:ext cx="10566400" cy="3914180"/>
          </a:xfrm>
          <a:prstGeom prst="rect">
            <a:avLst/>
          </a:prstGeom>
          <a:noFill/>
          <a:ln/>
        </p:spPr>
        <p:txBody>
          <a:bodyPr wrap="square" lIns="0" tIns="0" rIns="0" bIns="0" rtlCol="0" anchor="t"/>
          <a:lstStyle>
            <a:lvl1pPr algn="l" indent="0" marL="0">
              <a:lnSpc>
                <a:spcPct val="140000"/>
              </a:lnSpc>
              <a:buNone/>
              <a:defRPr lang="en-US" sz="1600" dirty="0">
                <a:solidFill>
                  <a:srgbClr val="1F3A2B"/>
                </a:solidFill>
                <a:latin typeface="Nunito Sans" pitchFamily="34" charset="0"/>
                <a:ea typeface="Nunito Sans" pitchFamily="34" charset="-122"/>
                <a:cs typeface="Nunito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EBC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00460"/>
            <a:ext cx="10566400" cy="525760"/>
          </a:xfrm>
          <a:prstGeom prst="rect">
            <a:avLst/>
          </a:prstGeom>
          <a:noFill/>
          <a:ln/>
        </p:spPr>
        <p:txBody>
          <a:bodyPr wrap="square" lIns="0" tIns="0" rIns="0" bIns="0" rtlCol="0" anchor="t"/>
          <a:lstStyle>
            <a:lvl1pPr algn="l" indent="0" marL="0">
              <a:lnSpc>
                <a:spcPct val="115000"/>
              </a:lnSpc>
              <a:buNone/>
              <a:defRPr lang="en-US" sz="3600" dirty="0">
                <a:solidFill>
                  <a:srgbClr val="1F3A2B"/>
                </a:solidFill>
                <a:latin typeface="Domine" pitchFamily="34" charset="0"/>
                <a:ea typeface="Domine" pitchFamily="34" charset="-122"/>
                <a:cs typeface="Domine"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131020"/>
            <a:ext cx="10566400" cy="3914180"/>
          </a:xfrm>
          <a:prstGeom prst="rect">
            <a:avLst/>
          </a:prstGeom>
          <a:noFill/>
          <a:ln/>
        </p:spPr>
        <p:txBody>
          <a:bodyPr wrap="square" lIns="0" tIns="0" rIns="0" bIns="0" rtlCol="0" anchor="t"/>
          <a:lstStyle>
            <a:lvl1pPr algn="l" indent="0" marL="0">
              <a:lnSpc>
                <a:spcPct val="140000"/>
              </a:lnSpc>
              <a:buNone/>
              <a:defRPr lang="en-US" sz="1600" dirty="0">
                <a:solidFill>
                  <a:srgbClr val="1F3A2B"/>
                </a:solidFill>
                <a:latin typeface="Nunito Sans" pitchFamily="34" charset="0"/>
                <a:ea typeface="Nunito Sans" pitchFamily="34" charset="-122"/>
                <a:cs typeface="Nunito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EBC8"/>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F6EBC8"/>
              </a:gs>
              <a:gs pos="100000">
                <a:srgbClr val="DCEBD5"/>
              </a:gs>
            </a:gsLst>
            <a:lin ang="2700000" scaled="0"/>
          </a:gradFill>
          <a:ln/>
        </p:spPr>
      </p:sp>
      <p:sp>
        <p:nvSpPr>
          <p:cNvPr id="3" name="Text 1"/>
          <p:cNvSpPr/>
          <p:nvPr/>
        </p:nvSpPr>
        <p:spPr>
          <a:xfrm>
            <a:off x="812800" y="1703090"/>
            <a:ext cx="6802120" cy="381000"/>
          </a:xfrm>
          <a:prstGeom prst="rect">
            <a:avLst/>
          </a:prstGeom>
          <a:noFill/>
          <a:ln/>
        </p:spPr>
        <p:txBody>
          <a:bodyPr wrap="square" lIns="0" tIns="0" rIns="0" bIns="0" rtlCol="0" anchor="t">
            <a:normAutofit/>
          </a:bodyPr>
          <a:lstStyle/>
          <a:p>
            <a:pPr algn="l" indent="0" marL="0">
              <a:lnSpc>
                <a:spcPts val="2800"/>
              </a:lnSpc>
              <a:buNone/>
            </a:pPr>
            <a:r>
              <a:rPr lang="en-US" sz="2000" b="1" spc="100" kern="0" dirty="0">
                <a:solidFill>
                  <a:srgbClr val="7A5A12"/>
                </a:solidFill>
                <a:latin typeface="Nunito Sans" pitchFamily="34" charset="0"/>
                <a:ea typeface="Nunito Sans" pitchFamily="34" charset="-122"/>
                <a:cs typeface="Nunito Sans" pitchFamily="34" charset="-120"/>
              </a:rPr>
              <a:t>EPISTEMOLOGY</a:t>
            </a:r>
            <a:endParaRPr lang="en-US" sz="2000" dirty="0"/>
          </a:p>
        </p:txBody>
      </p:sp>
      <p:sp>
        <p:nvSpPr>
          <p:cNvPr id="4" name="Text 2"/>
          <p:cNvSpPr/>
          <p:nvPr>
            <p:ph type="title"/>
          </p:nvPr>
        </p:nvSpPr>
        <p:spPr>
          <a:xfrm>
            <a:off x="812800" y="2261890"/>
            <a:ext cx="6802120"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1F3A2B"/>
                </a:solidFill>
                <a:latin typeface="Domine" pitchFamily="18" charset="0"/>
                <a:ea typeface="Domine" pitchFamily="18" charset="-122"/>
                <a:cs typeface="Domine" pitchFamily="18" charset="-120"/>
              </a:rPr>
              <a:t>Scepticism and Knowledge</a:t>
            </a:r>
            <a:endParaRPr lang="en-US" sz="6000" dirty="0"/>
          </a:p>
        </p:txBody>
      </p:sp>
      <p:sp>
        <p:nvSpPr>
          <p:cNvPr id="5" name="Text 3"/>
          <p:cNvSpPr/>
          <p:nvPr/>
        </p:nvSpPr>
        <p:spPr>
          <a:xfrm>
            <a:off x="812800" y="4065290"/>
            <a:ext cx="6802120" cy="111497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3E5A48"/>
                </a:solidFill>
                <a:latin typeface="Nunito Sans" pitchFamily="34" charset="0"/>
                <a:ea typeface="Nunito Sans" pitchFamily="34" charset="-122"/>
                <a:cs typeface="Nunito Sans" pitchFamily="34" charset="-120"/>
              </a:rPr>
              <a:t>Can we really know anything? Two forms of scepticism, their reasoning, and why the challenge matters.</a:t>
            </a:r>
            <a:endParaRPr lang="en-US" sz="2200" dirty="0"/>
          </a:p>
        </p:txBody>
      </p:sp>
      <p:pic>
        <p:nvPicPr>
          <p:cNvPr id="6" name="Image 0" descr="An eye with a question mark in the pupil">    </p:cNvPr>
          <p:cNvPicPr>
            <a:picLocks noChangeAspect="1"/>
          </p:cNvPicPr>
          <p:nvPr/>
        </p:nvPicPr>
        <p:blipFill>
          <a:blip r:embed="rId1"/>
          <a:srcRect l="0" r="0" t="0" b="0"/>
          <a:stretch/>
        </p:blipFill>
        <p:spPr>
          <a:xfrm>
            <a:off x="7823200" y="1651000"/>
            <a:ext cx="3556000" cy="3556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EBC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F3A2B"/>
                </a:solidFill>
                <a:latin typeface="Domine" pitchFamily="18" charset="0"/>
                <a:ea typeface="Domine" pitchFamily="18" charset="-122"/>
                <a:cs typeface="Domine" pitchFamily="18" charset="-120"/>
              </a:rPr>
              <a:t>Ordinary vs philosophical scepticism</a:t>
            </a:r>
            <a:endParaRPr lang="en-US" sz="3600" dirty="0"/>
          </a:p>
        </p:txBody>
      </p:sp>
      <p:sp>
        <p:nvSpPr>
          <p:cNvPr id="3" name="Shape 1"/>
          <p:cNvSpPr/>
          <p:nvPr/>
        </p:nvSpPr>
        <p:spPr>
          <a:xfrm>
            <a:off x="819150" y="1649710"/>
            <a:ext cx="5143500" cy="4389140"/>
          </a:xfrm>
          <a:prstGeom prst="roundRect">
            <a:avLst>
              <a:gd name="adj" fmla="val 3328"/>
            </a:avLst>
          </a:prstGeom>
          <a:solidFill>
            <a:srgbClr val="FBF6E6"/>
          </a:solidFill>
          <a:ln w="12700">
            <a:solidFill>
              <a:srgbClr val="E3D2A0"/>
            </a:solidFill>
            <a:prstDash val="solid"/>
          </a:ln>
        </p:spPr>
      </p:sp>
      <p:pic>
        <p:nvPicPr>
          <p:cNvPr id="4" name="Image 0" descr="Night sky full of stars">    </p:cNvPr>
          <p:cNvPicPr>
            <a:picLocks noChangeAspect="1"/>
          </p:cNvPicPr>
          <p:nvPr/>
        </p:nvPicPr>
        <p:blipFill>
          <a:blip r:embed="rId1"/>
          <a:srcRect l="0" r="0" t="0" b="0"/>
          <a:stretch/>
        </p:blipFill>
        <p:spPr>
          <a:xfrm>
            <a:off x="1130300" y="1960860"/>
            <a:ext cx="762000" cy="762000"/>
          </a:xfrm>
          <a:prstGeom prst="rect">
            <a:avLst/>
          </a:prstGeom>
        </p:spPr>
      </p:pic>
      <p:sp>
        <p:nvSpPr>
          <p:cNvPr id="5" name="Text 2"/>
          <p:cNvSpPr/>
          <p:nvPr/>
        </p:nvSpPr>
        <p:spPr>
          <a:xfrm>
            <a:off x="1130300" y="2849860"/>
            <a:ext cx="465683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F3A2B"/>
                </a:solidFill>
                <a:latin typeface="Domine" pitchFamily="18" charset="0"/>
                <a:ea typeface="Domine" pitchFamily="18" charset="-122"/>
                <a:cs typeface="Domine" pitchFamily="18" charset="-120"/>
              </a:rPr>
              <a:t>Ordinary scepticism</a:t>
            </a:r>
            <a:endParaRPr lang="en-US" sz="2200" dirty="0"/>
          </a:p>
        </p:txBody>
      </p:sp>
      <p:sp>
        <p:nvSpPr>
          <p:cNvPr id="6" name="Text 3"/>
          <p:cNvSpPr/>
          <p:nvPr/>
        </p:nvSpPr>
        <p:spPr>
          <a:xfrm>
            <a:off x="1130300" y="3312120"/>
            <a:ext cx="4656836"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1F3A2B"/>
                </a:solidFill>
                <a:latin typeface="Nunito Sans" pitchFamily="34" charset="0"/>
                <a:ea typeface="Nunito Sans" pitchFamily="34" charset="-122"/>
                <a:cs typeface="Nunito Sans" pitchFamily="34" charset="-120"/>
              </a:rPr>
              <a:t>Doubting claims we would happily admit we don’t know.</a:t>
            </a:r>
            <a:endParaRPr lang="en-US" sz="2000" dirty="0"/>
          </a:p>
        </p:txBody>
      </p:sp>
      <p:sp>
        <p:nvSpPr>
          <p:cNvPr id="7" name="Text 4"/>
          <p:cNvSpPr/>
          <p:nvPr/>
        </p:nvSpPr>
        <p:spPr>
          <a:xfrm>
            <a:off x="1130300" y="4150320"/>
            <a:ext cx="4656836" cy="10922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F3A2B"/>
                </a:solidFill>
                <a:latin typeface="Nunito Sans" pitchFamily="34" charset="0"/>
                <a:ea typeface="Nunito Sans" pitchFamily="34" charset="-122"/>
                <a:cs typeface="Nunito Sans" pitchFamily="34" charset="-120"/>
              </a:rPr>
              <a:t>Example:</a:t>
            </a:r>
            <a:r>
              <a:rPr lang="en-US" sz="2000" dirty="0">
                <a:solidFill>
                  <a:srgbClr val="1F3A2B"/>
                </a:solidFill>
                <a:latin typeface="Nunito Sans" pitchFamily="34" charset="0"/>
                <a:ea typeface="Nunito Sans" pitchFamily="34" charset="-122"/>
                <a:cs typeface="Nunito Sans" pitchFamily="34" charset="-120"/>
              </a:rPr>
              <a:t> “I don’t know whether there is an even number of stars in the Milky Way.”</a:t>
            </a:r>
            <a:endParaRPr lang="en-US" sz="2000" dirty="0"/>
          </a:p>
        </p:txBody>
      </p:sp>
      <p:sp>
        <p:nvSpPr>
          <p:cNvPr id="8" name="Text 5"/>
          <p:cNvSpPr/>
          <p:nvPr/>
        </p:nvSpPr>
        <p:spPr>
          <a:xfrm>
            <a:off x="1130300" y="5344120"/>
            <a:ext cx="4656836"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3E5A48"/>
                </a:solidFill>
                <a:latin typeface="Nunito Sans" pitchFamily="34" charset="0"/>
                <a:ea typeface="Nunito Sans" pitchFamily="34" charset="-122"/>
                <a:cs typeface="Nunito Sans" pitchFamily="34" charset="-120"/>
              </a:rPr>
              <a:t>Nobody is troubled by this.</a:t>
            </a:r>
            <a:endParaRPr lang="en-US" sz="2000" dirty="0"/>
          </a:p>
        </p:txBody>
      </p:sp>
      <p:sp>
        <p:nvSpPr>
          <p:cNvPr id="9" name="Shape 6"/>
          <p:cNvSpPr/>
          <p:nvPr/>
        </p:nvSpPr>
        <p:spPr>
          <a:xfrm>
            <a:off x="6229350" y="1649710"/>
            <a:ext cx="5143500" cy="4389140"/>
          </a:xfrm>
          <a:prstGeom prst="roundRect">
            <a:avLst>
              <a:gd name="adj" fmla="val 3328"/>
            </a:avLst>
          </a:prstGeom>
          <a:solidFill>
            <a:srgbClr val="DCEBD5"/>
          </a:solidFill>
          <a:ln w="12700">
            <a:solidFill>
              <a:srgbClr val="B9D4AE"/>
            </a:solidFill>
            <a:prstDash val="solid"/>
          </a:ln>
        </p:spPr>
      </p:sp>
      <p:pic>
        <p:nvPicPr>
          <p:cNvPr id="10" name="Image 1" descr="Sun rising over the horizon">    </p:cNvPr>
          <p:cNvPicPr>
            <a:picLocks noChangeAspect="1"/>
          </p:cNvPicPr>
          <p:nvPr/>
        </p:nvPicPr>
        <p:blipFill>
          <a:blip r:embed="rId2"/>
          <a:srcRect l="0" r="0" t="0" b="0"/>
          <a:stretch/>
        </p:blipFill>
        <p:spPr>
          <a:xfrm>
            <a:off x="6540500" y="1960860"/>
            <a:ext cx="762000" cy="762000"/>
          </a:xfrm>
          <a:prstGeom prst="rect">
            <a:avLst/>
          </a:prstGeom>
        </p:spPr>
      </p:pic>
      <p:sp>
        <p:nvSpPr>
          <p:cNvPr id="11" name="Text 7"/>
          <p:cNvSpPr/>
          <p:nvPr/>
        </p:nvSpPr>
        <p:spPr>
          <a:xfrm>
            <a:off x="6540500" y="2849860"/>
            <a:ext cx="4656836" cy="69592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F3A2B"/>
                </a:solidFill>
                <a:latin typeface="Domine" pitchFamily="18" charset="0"/>
                <a:ea typeface="Domine" pitchFamily="18" charset="-122"/>
                <a:cs typeface="Domine" pitchFamily="18" charset="-120"/>
              </a:rPr>
              <a:t>Philosophical (radical) scepticism</a:t>
            </a:r>
            <a:endParaRPr lang="en-US" sz="2200" dirty="0"/>
          </a:p>
        </p:txBody>
      </p:sp>
      <p:sp>
        <p:nvSpPr>
          <p:cNvPr id="12" name="Text 8"/>
          <p:cNvSpPr/>
          <p:nvPr/>
        </p:nvSpPr>
        <p:spPr>
          <a:xfrm>
            <a:off x="6540500" y="3647380"/>
            <a:ext cx="4656836"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1F3A2B"/>
                </a:solidFill>
                <a:latin typeface="Nunito Sans" pitchFamily="34" charset="0"/>
                <a:ea typeface="Nunito Sans" pitchFamily="34" charset="-122"/>
                <a:cs typeface="Nunito Sans" pitchFamily="34" charset="-120"/>
              </a:rPr>
              <a:t>Doubting claims we </a:t>
            </a:r>
            <a:r>
              <a:rPr lang="en-US" sz="2000" b="1" dirty="0">
                <a:solidFill>
                  <a:srgbClr val="1F3A2B"/>
                </a:solidFill>
                <a:latin typeface="Nunito Sans" pitchFamily="34" charset="0"/>
                <a:ea typeface="Nunito Sans" pitchFamily="34" charset="-122"/>
                <a:cs typeface="Nunito Sans" pitchFamily="34" charset="-120"/>
              </a:rPr>
              <a:t>ordinarily think</a:t>
            </a:r>
            <a:r>
              <a:rPr lang="en-US" sz="2000" dirty="0">
                <a:solidFill>
                  <a:srgbClr val="1F3A2B"/>
                </a:solidFill>
                <a:latin typeface="Nunito Sans" pitchFamily="34" charset="0"/>
                <a:ea typeface="Nunito Sans" pitchFamily="34" charset="-122"/>
                <a:cs typeface="Nunito Sans" pitchFamily="34" charset="-120"/>
              </a:rPr>
              <a:t> we do know.</a:t>
            </a:r>
            <a:endParaRPr lang="en-US" sz="2000" dirty="0"/>
          </a:p>
        </p:txBody>
      </p:sp>
      <p:sp>
        <p:nvSpPr>
          <p:cNvPr id="13" name="Text 9"/>
          <p:cNvSpPr/>
          <p:nvPr/>
        </p:nvSpPr>
        <p:spPr>
          <a:xfrm>
            <a:off x="6540500" y="4485580"/>
            <a:ext cx="4656836" cy="7366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F3A2B"/>
                </a:solidFill>
                <a:latin typeface="Nunito Sans" pitchFamily="34" charset="0"/>
                <a:ea typeface="Nunito Sans" pitchFamily="34" charset="-122"/>
                <a:cs typeface="Nunito Sans" pitchFamily="34" charset="-120"/>
              </a:rPr>
              <a:t>Example:</a:t>
            </a:r>
            <a:r>
              <a:rPr lang="en-US" sz="2000" dirty="0">
                <a:solidFill>
                  <a:srgbClr val="1F3A2B"/>
                </a:solidFill>
                <a:latin typeface="Nunito Sans" pitchFamily="34" charset="0"/>
                <a:ea typeface="Nunito Sans" pitchFamily="34" charset="-122"/>
                <a:cs typeface="Nunito Sans" pitchFamily="34" charset="-120"/>
              </a:rPr>
              <a:t> “I don’t know that the sun will rise tomorrow.”</a:t>
            </a:r>
            <a:endParaRPr lang="en-US" sz="2000" dirty="0"/>
          </a:p>
        </p:txBody>
      </p:sp>
      <p:sp>
        <p:nvSpPr>
          <p:cNvPr id="14" name="Text 10"/>
          <p:cNvSpPr/>
          <p:nvPr/>
        </p:nvSpPr>
        <p:spPr>
          <a:xfrm>
            <a:off x="6540500" y="5323780"/>
            <a:ext cx="4656836"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3E5A48"/>
                </a:solidFill>
                <a:latin typeface="Nunito Sans" pitchFamily="34" charset="0"/>
                <a:ea typeface="Nunito Sans" pitchFamily="34" charset="-122"/>
                <a:cs typeface="Nunito Sans" pitchFamily="34" charset="-120"/>
              </a:rPr>
              <a:t>This attacks common sense itself.</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DCEBD5"/>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F3A2B"/>
                </a:solidFill>
                <a:latin typeface="Domine" pitchFamily="18" charset="0"/>
                <a:ea typeface="Domine" pitchFamily="18" charset="-122"/>
                <a:cs typeface="Domine" pitchFamily="18" charset="-120"/>
              </a:rPr>
              <a:t>Local vs global scepticism</a:t>
            </a:r>
            <a:endParaRPr lang="en-US" sz="3600" dirty="0"/>
          </a:p>
        </p:txBody>
      </p:sp>
      <p:sp>
        <p:nvSpPr>
          <p:cNvPr id="3" name="Shape 1"/>
          <p:cNvSpPr/>
          <p:nvPr/>
        </p:nvSpPr>
        <p:spPr>
          <a:xfrm>
            <a:off x="812800" y="1592560"/>
            <a:ext cx="5156200" cy="1656060"/>
          </a:xfrm>
          <a:prstGeom prst="roundRect">
            <a:avLst>
              <a:gd name="adj" fmla="val 9203"/>
            </a:avLst>
          </a:prstGeom>
          <a:solidFill>
            <a:srgbClr val="FBF6E6"/>
          </a:solidFill>
          <a:ln/>
        </p:spPr>
      </p:sp>
      <p:sp>
        <p:nvSpPr>
          <p:cNvPr id="4" name="Text 2"/>
          <p:cNvSpPr/>
          <p:nvPr/>
        </p:nvSpPr>
        <p:spPr>
          <a:xfrm>
            <a:off x="1066800" y="1846560"/>
            <a:ext cx="478764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F3A2B"/>
                </a:solidFill>
                <a:latin typeface="Domine" pitchFamily="18" charset="0"/>
                <a:ea typeface="Domine" pitchFamily="18" charset="-122"/>
                <a:cs typeface="Domine" pitchFamily="18" charset="-120"/>
              </a:rPr>
              <a:t>Local</a:t>
            </a:r>
            <a:endParaRPr lang="en-US" sz="2200" dirty="0"/>
          </a:p>
        </p:txBody>
      </p:sp>
      <p:sp>
        <p:nvSpPr>
          <p:cNvPr id="5" name="Text 3"/>
          <p:cNvSpPr/>
          <p:nvPr/>
        </p:nvSpPr>
        <p:spPr>
          <a:xfrm>
            <a:off x="1066800" y="2283420"/>
            <a:ext cx="4787646"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1F3A2B"/>
                </a:solidFill>
                <a:latin typeface="Nunito Sans" pitchFamily="34" charset="0"/>
                <a:ea typeface="Nunito Sans" pitchFamily="34" charset="-122"/>
                <a:cs typeface="Nunito Sans" pitchFamily="34" charset="-120"/>
              </a:rPr>
              <a:t>Doubts knowledge in </a:t>
            </a:r>
            <a:r>
              <a:rPr lang="en-US" sz="2000" b="1" dirty="0">
                <a:solidFill>
                  <a:srgbClr val="1F3A2B"/>
                </a:solidFill>
                <a:latin typeface="Nunito Sans" pitchFamily="34" charset="0"/>
                <a:ea typeface="Nunito Sans" pitchFamily="34" charset="-122"/>
                <a:cs typeface="Nunito Sans" pitchFamily="34" charset="-120"/>
              </a:rPr>
              <a:t>one area</a:t>
            </a:r>
            <a:r>
              <a:rPr lang="en-US" sz="2000" dirty="0">
                <a:solidFill>
                  <a:srgbClr val="1F3A2B"/>
                </a:solidFill>
                <a:latin typeface="Nunito Sans" pitchFamily="34" charset="0"/>
                <a:ea typeface="Nunito Sans" pitchFamily="34" charset="-122"/>
                <a:cs typeface="Nunito Sans" pitchFamily="34" charset="-120"/>
              </a:rPr>
              <a:t> only, e.g. the future or the external world.</a:t>
            </a:r>
            <a:endParaRPr lang="en-US" sz="2000" dirty="0"/>
          </a:p>
        </p:txBody>
      </p:sp>
      <p:sp>
        <p:nvSpPr>
          <p:cNvPr id="6" name="Shape 4"/>
          <p:cNvSpPr/>
          <p:nvPr/>
        </p:nvSpPr>
        <p:spPr>
          <a:xfrm>
            <a:off x="6223000" y="1592560"/>
            <a:ext cx="5156200" cy="1656060"/>
          </a:xfrm>
          <a:prstGeom prst="roundRect">
            <a:avLst>
              <a:gd name="adj" fmla="val 9203"/>
            </a:avLst>
          </a:prstGeom>
          <a:solidFill>
            <a:srgbClr val="F6EBC8"/>
          </a:solidFill>
          <a:ln/>
        </p:spPr>
      </p:sp>
      <p:sp>
        <p:nvSpPr>
          <p:cNvPr id="7" name="Text 5"/>
          <p:cNvSpPr/>
          <p:nvPr/>
        </p:nvSpPr>
        <p:spPr>
          <a:xfrm>
            <a:off x="6477000" y="1846560"/>
            <a:ext cx="478764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F3A2B"/>
                </a:solidFill>
                <a:latin typeface="Domine" pitchFamily="18" charset="0"/>
                <a:ea typeface="Domine" pitchFamily="18" charset="-122"/>
                <a:cs typeface="Domine" pitchFamily="18" charset="-120"/>
              </a:rPr>
              <a:t>Global</a:t>
            </a:r>
            <a:endParaRPr lang="en-US" sz="2200" dirty="0"/>
          </a:p>
        </p:txBody>
      </p:sp>
      <p:sp>
        <p:nvSpPr>
          <p:cNvPr id="8" name="Text 6"/>
          <p:cNvSpPr/>
          <p:nvPr/>
        </p:nvSpPr>
        <p:spPr>
          <a:xfrm>
            <a:off x="6477000" y="2283420"/>
            <a:ext cx="4787646"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1F3A2B"/>
                </a:solidFill>
                <a:latin typeface="Nunito Sans" pitchFamily="34" charset="0"/>
                <a:ea typeface="Nunito Sans" pitchFamily="34" charset="-122"/>
                <a:cs typeface="Nunito Sans" pitchFamily="34" charset="-120"/>
              </a:rPr>
              <a:t>Doubts </a:t>
            </a:r>
            <a:r>
              <a:rPr lang="en-US" sz="2000" b="1" dirty="0">
                <a:solidFill>
                  <a:srgbClr val="1F3A2B"/>
                </a:solidFill>
                <a:latin typeface="Nunito Sans" pitchFamily="34" charset="0"/>
                <a:ea typeface="Nunito Sans" pitchFamily="34" charset="-122"/>
                <a:cs typeface="Nunito Sans" pitchFamily="34" charset="-120"/>
              </a:rPr>
              <a:t>all</a:t>
            </a:r>
            <a:r>
              <a:rPr lang="en-US" sz="2000" dirty="0">
                <a:solidFill>
                  <a:srgbClr val="1F3A2B"/>
                </a:solidFill>
                <a:latin typeface="Nunito Sans" pitchFamily="34" charset="0"/>
                <a:ea typeface="Nunito Sans" pitchFamily="34" charset="-122"/>
                <a:cs typeface="Nunito Sans" pitchFamily="34" charset="-120"/>
              </a:rPr>
              <a:t> knowledge — even claims about our own minds.</a:t>
            </a:r>
            <a:endParaRPr lang="en-US" sz="2000" dirty="0"/>
          </a:p>
        </p:txBody>
      </p:sp>
      <p:sp>
        <p:nvSpPr>
          <p:cNvPr id="9" name="Text 7"/>
          <p:cNvSpPr/>
          <p:nvPr/>
        </p:nvSpPr>
        <p:spPr>
          <a:xfrm>
            <a:off x="812800" y="3502620"/>
            <a:ext cx="10883392"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3E5A48"/>
                </a:solidFill>
                <a:latin typeface="Nunito Sans" pitchFamily="34" charset="0"/>
                <a:ea typeface="Nunito Sans" pitchFamily="34" charset="-122"/>
                <a:cs typeface="Nunito Sans" pitchFamily="34" charset="-120"/>
              </a:rPr>
              <a:t>How far does the doubt reach? (smallest → largest)</a:t>
            </a:r>
            <a:endParaRPr lang="en-US" sz="1800" dirty="0"/>
          </a:p>
        </p:txBody>
      </p:sp>
      <p:sp>
        <p:nvSpPr>
          <p:cNvPr id="10" name="Text 8"/>
          <p:cNvSpPr/>
          <p:nvPr/>
        </p:nvSpPr>
        <p:spPr>
          <a:xfrm>
            <a:off x="822325" y="4352875"/>
            <a:ext cx="3041650" cy="1266130"/>
          </a:xfrm>
          <a:prstGeom prst="roundRect">
            <a:avLst>
              <a:gd name="adj" fmla="val 9278"/>
            </a:avLst>
          </a:prstGeom>
          <a:solidFill>
            <a:srgbClr val="FBF6E6"/>
          </a:solidFill>
          <a:ln w="19050">
            <a:solidFill>
              <a:srgbClr val="B8892B"/>
            </a:solidFill>
            <a:prstDash val="solid"/>
          </a:ln>
        </p:spPr>
        <p:txBody>
          <a:bodyPr wrap="square" lIns="152918" tIns="152918" rIns="72908" bIns="127518" rtlCol="0" anchor="t">
            <a:normAutofit/>
          </a:bodyPr>
          <a:lstStyle/>
          <a:p>
            <a:pPr algn="l" indent="0" marL="0">
              <a:lnSpc>
                <a:spcPts val="2340"/>
              </a:lnSpc>
              <a:buNone/>
            </a:pPr>
            <a:r>
              <a:rPr lang="en-US" sz="1800" b="1" dirty="0">
                <a:solidFill>
                  <a:srgbClr val="1F3A2B"/>
                </a:solidFill>
                <a:latin typeface="Nunito Sans" pitchFamily="34" charset="0"/>
                <a:ea typeface="Nunito Sans" pitchFamily="34" charset="-122"/>
                <a:cs typeface="Nunito Sans" pitchFamily="34" charset="-120"/>
              </a:rPr>
              <a:t>Humean</a:t>
            </a:r>
            <a:endParaRPr lang="en-US" sz="1800" dirty="0"/>
          </a:p>
          <a:p>
            <a:pPr algn="l" indent="0" marL="0">
              <a:lnSpc>
                <a:spcPts val="2340"/>
              </a:lnSpc>
              <a:buNone/>
            </a:pPr>
            <a:r>
              <a:rPr lang="en-US" sz="1800" dirty="0">
                <a:solidFill>
                  <a:srgbClr val="1F3A2B"/>
                </a:solidFill>
                <a:latin typeface="Nunito Sans" pitchFamily="34" charset="0"/>
                <a:ea typeface="Nunito Sans" pitchFamily="34" charset="-122"/>
                <a:cs typeface="Nunito Sans" pitchFamily="34" charset="-120"/>
              </a:rPr>
              <a:t>beliefs from non-deductive inference</a:t>
            </a:r>
            <a:endParaRPr lang="en-US" sz="1800" dirty="0"/>
          </a:p>
        </p:txBody>
      </p:sp>
      <p:pic>
        <p:nvPicPr>
          <p:cNvPr id="11" name="Image 0" descr="arrow-right">    </p:cNvPr>
          <p:cNvPicPr>
            <a:picLocks noChangeAspect="1"/>
          </p:cNvPicPr>
          <p:nvPr/>
        </p:nvPicPr>
        <p:blipFill>
          <a:blip r:embed="rId1"/>
          <a:srcRect l="0" r="0" t="0" b="0"/>
          <a:stretch/>
        </p:blipFill>
        <p:spPr>
          <a:xfrm>
            <a:off x="4025900" y="5425331"/>
            <a:ext cx="406400" cy="203200"/>
          </a:xfrm>
          <a:prstGeom prst="rect">
            <a:avLst/>
          </a:prstGeom>
        </p:spPr>
      </p:pic>
      <p:sp>
        <p:nvSpPr>
          <p:cNvPr id="12" name="Text 9"/>
          <p:cNvSpPr/>
          <p:nvPr/>
        </p:nvSpPr>
        <p:spPr>
          <a:xfrm>
            <a:off x="4594225" y="4200475"/>
            <a:ext cx="3041650" cy="1418530"/>
          </a:xfrm>
          <a:prstGeom prst="roundRect">
            <a:avLst>
              <a:gd name="adj" fmla="val 8281"/>
            </a:avLst>
          </a:prstGeom>
          <a:solidFill>
            <a:srgbClr val="FBF6E6"/>
          </a:solidFill>
          <a:ln w="19050">
            <a:solidFill>
              <a:srgbClr val="5E8C61"/>
            </a:solidFill>
            <a:prstDash val="solid"/>
          </a:ln>
        </p:spPr>
        <p:txBody>
          <a:bodyPr wrap="square" lIns="152918" tIns="229118" rIns="72908" bIns="203718" rtlCol="0" anchor="t">
            <a:normAutofit/>
          </a:bodyPr>
          <a:lstStyle/>
          <a:p>
            <a:pPr algn="l" indent="0" marL="0">
              <a:lnSpc>
                <a:spcPts val="2340"/>
              </a:lnSpc>
              <a:buNone/>
            </a:pPr>
            <a:r>
              <a:rPr lang="en-US" sz="1800" b="1" dirty="0">
                <a:solidFill>
                  <a:srgbClr val="1F3A2B"/>
                </a:solidFill>
                <a:latin typeface="Nunito Sans" pitchFamily="34" charset="0"/>
                <a:ea typeface="Nunito Sans" pitchFamily="34" charset="-122"/>
                <a:cs typeface="Nunito Sans" pitchFamily="34" charset="-120"/>
              </a:rPr>
              <a:t>Cartesian</a:t>
            </a:r>
            <a:endParaRPr lang="en-US" sz="1800" dirty="0"/>
          </a:p>
          <a:p>
            <a:pPr algn="l" indent="0" marL="0">
              <a:lnSpc>
                <a:spcPts val="2340"/>
              </a:lnSpc>
              <a:buNone/>
            </a:pPr>
            <a:r>
              <a:rPr lang="en-US" sz="1800" dirty="0">
                <a:solidFill>
                  <a:srgbClr val="1F3A2B"/>
                </a:solidFill>
                <a:latin typeface="Nunito Sans" pitchFamily="34" charset="0"/>
                <a:ea typeface="Nunito Sans" pitchFamily="34" charset="-122"/>
                <a:cs typeface="Nunito Sans" pitchFamily="34" charset="-120"/>
              </a:rPr>
              <a:t>any belief about the external world</a:t>
            </a:r>
            <a:endParaRPr lang="en-US" sz="1800" dirty="0"/>
          </a:p>
        </p:txBody>
      </p:sp>
      <p:pic>
        <p:nvPicPr>
          <p:cNvPr id="13" name="Image 1" descr="arrow-right">    </p:cNvPr>
          <p:cNvPicPr>
            <a:picLocks noChangeAspect="1"/>
          </p:cNvPicPr>
          <p:nvPr/>
        </p:nvPicPr>
        <p:blipFill>
          <a:blip r:embed="rId2"/>
          <a:srcRect l="0" r="0" t="0" b="0"/>
          <a:stretch/>
        </p:blipFill>
        <p:spPr>
          <a:xfrm>
            <a:off x="7797800" y="5425331"/>
            <a:ext cx="406400" cy="203200"/>
          </a:xfrm>
          <a:prstGeom prst="rect">
            <a:avLst/>
          </a:prstGeom>
        </p:spPr>
      </p:pic>
      <p:sp>
        <p:nvSpPr>
          <p:cNvPr id="14" name="Text 10"/>
          <p:cNvSpPr/>
          <p:nvPr/>
        </p:nvSpPr>
        <p:spPr>
          <a:xfrm>
            <a:off x="8356600" y="4076650"/>
            <a:ext cx="3022600" cy="1551880"/>
          </a:xfrm>
          <a:prstGeom prst="roundRect">
            <a:avLst>
              <a:gd name="adj" fmla="val 8184"/>
            </a:avLst>
          </a:prstGeom>
          <a:solidFill>
            <a:srgbClr val="1F3A2B"/>
          </a:solidFill>
          <a:ln/>
        </p:spPr>
        <p:txBody>
          <a:bodyPr wrap="square" lIns="140603" tIns="293003" rIns="60593" bIns="267603" rtlCol="0" anchor="t">
            <a:normAutofit/>
          </a:bodyPr>
          <a:lstStyle/>
          <a:p>
            <a:pPr algn="l" indent="0" marL="0">
              <a:lnSpc>
                <a:spcPts val="2340"/>
              </a:lnSpc>
              <a:buNone/>
            </a:pPr>
            <a:r>
              <a:rPr lang="en-US" sz="1800" b="1" dirty="0">
                <a:solidFill>
                  <a:srgbClr val="F6EBC8"/>
                </a:solidFill>
                <a:latin typeface="Nunito Sans" pitchFamily="34" charset="0"/>
                <a:ea typeface="Nunito Sans" pitchFamily="34" charset="-122"/>
                <a:cs typeface="Nunito Sans" pitchFamily="34" charset="-120"/>
              </a:rPr>
              <a:t>Pyrrhonian</a:t>
            </a:r>
            <a:r>
              <a:rPr lang="en-US" sz="1800" dirty="0">
                <a:solidFill>
                  <a:srgbClr val="F6EBC8"/>
                </a:solidFill>
                <a:latin typeface="Nunito Sans" pitchFamily="34" charset="0"/>
                <a:ea typeface="Nunito Sans" pitchFamily="34" charset="-122"/>
                <a:cs typeface="Nunito Sans" pitchFamily="34" charset="-120"/>
              </a:rPr>
              <a:t> (global)</a:t>
            </a:r>
            <a:endParaRPr lang="en-US" sz="1800" dirty="0"/>
          </a:p>
          <a:p>
            <a:pPr algn="l" indent="0" marL="0">
              <a:lnSpc>
                <a:spcPts val="2340"/>
              </a:lnSpc>
              <a:buNone/>
            </a:pPr>
            <a:r>
              <a:rPr lang="en-US" sz="1800" dirty="0">
                <a:solidFill>
                  <a:srgbClr val="F6EBC8"/>
                </a:solidFill>
                <a:latin typeface="Nunito Sans" pitchFamily="34" charset="0"/>
                <a:ea typeface="Nunito Sans" pitchFamily="34" charset="-122"/>
                <a:cs typeface="Nunito Sans" pitchFamily="34" charset="-120"/>
              </a:rPr>
              <a:t>no proposition whatsoever</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EBC8"/>
        </a:solidFill>
      </p:bgPr>
    </p:bg>
    <p:spTree>
      <p:nvGrpSpPr>
        <p:cNvPr id="1" name=""/>
        <p:cNvGrpSpPr/>
        <p:nvPr/>
      </p:nvGrpSpPr>
      <p:grpSpPr>
        <a:xfrm>
          <a:off x="0" y="0"/>
          <a:ext cx="0" cy="0"/>
          <a:chOff x="0" y="0"/>
          <a:chExt cx="0" cy="0"/>
        </a:xfrm>
      </p:grpSpPr>
      <p:sp>
        <p:nvSpPr>
          <p:cNvPr id="2" name="Text 0"/>
          <p:cNvSpPr/>
          <p:nvPr/>
        </p:nvSpPr>
        <p:spPr>
          <a:xfrm>
            <a:off x="812800" y="812800"/>
            <a:ext cx="10883392" cy="345430"/>
          </a:xfrm>
          <a:prstGeom prst="rect">
            <a:avLst/>
          </a:prstGeom>
          <a:noFill/>
          <a:ln/>
        </p:spPr>
        <p:txBody>
          <a:bodyPr wrap="square" lIns="0" tIns="0" rIns="0" bIns="0" rtlCol="0" anchor="t">
            <a:normAutofit/>
          </a:bodyPr>
          <a:lstStyle/>
          <a:p>
            <a:pPr algn="l" indent="0" marL="0">
              <a:lnSpc>
                <a:spcPts val="2520"/>
              </a:lnSpc>
              <a:buNone/>
            </a:pPr>
            <a:r>
              <a:rPr lang="en-US" sz="1800" b="1" spc="100" kern="0" dirty="0">
                <a:solidFill>
                  <a:srgbClr val="7A5A12"/>
                </a:solidFill>
                <a:latin typeface="Nunito Sans" pitchFamily="34" charset="0"/>
                <a:ea typeface="Nunito Sans" pitchFamily="34" charset="-122"/>
                <a:cs typeface="Nunito Sans" pitchFamily="34" charset="-120"/>
              </a:rPr>
              <a:t>FORM 1 · LOCAL</a:t>
            </a:r>
            <a:endParaRPr lang="en-US" sz="1800" dirty="0"/>
          </a:p>
        </p:txBody>
      </p:sp>
      <p:sp>
        <p:nvSpPr>
          <p:cNvPr id="3" name="Text 1"/>
          <p:cNvSpPr/>
          <p:nvPr>
            <p:ph type="title"/>
          </p:nvPr>
        </p:nvSpPr>
        <p:spPr>
          <a:xfrm>
            <a:off x="812800" y="1386830"/>
            <a:ext cx="11379200"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F3A2B"/>
                </a:solidFill>
                <a:latin typeface="Domine" pitchFamily="18" charset="0"/>
                <a:ea typeface="Domine" pitchFamily="18" charset="-122"/>
                <a:cs typeface="Domine" pitchFamily="18" charset="-120"/>
              </a:rPr>
              <a:t>Humean scepticism: the problem of induction</a:t>
            </a:r>
            <a:endParaRPr lang="en-US" sz="3600" dirty="0"/>
          </a:p>
        </p:txBody>
      </p:sp>
      <p:sp>
        <p:nvSpPr>
          <p:cNvPr id="4" name="Text 2"/>
          <p:cNvSpPr/>
          <p:nvPr/>
        </p:nvSpPr>
        <p:spPr>
          <a:xfrm>
            <a:off x="812800" y="2166590"/>
            <a:ext cx="7691628"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1F3A2B"/>
                </a:solidFill>
                <a:latin typeface="Nunito Sans" pitchFamily="34" charset="0"/>
                <a:ea typeface="Nunito Sans" pitchFamily="34" charset="-122"/>
                <a:cs typeface="Nunito Sans" pitchFamily="34" charset="-120"/>
              </a:rPr>
              <a:t>Induction relies on the </a:t>
            </a:r>
            <a:r>
              <a:rPr lang="en-US" sz="2000" b="1" dirty="0">
                <a:solidFill>
                  <a:srgbClr val="1F3A2B"/>
                </a:solidFill>
                <a:latin typeface="Nunito Sans" pitchFamily="34" charset="0"/>
                <a:ea typeface="Nunito Sans" pitchFamily="34" charset="-122"/>
                <a:cs typeface="Nunito Sans" pitchFamily="34" charset="-120"/>
              </a:rPr>
              <a:t>Principle of the Uniformity of Nature</a:t>
            </a:r>
            <a:r>
              <a:rPr lang="en-US" sz="2000" dirty="0">
                <a:solidFill>
                  <a:srgbClr val="1F3A2B"/>
                </a:solidFill>
                <a:latin typeface="Nunito Sans" pitchFamily="34" charset="0"/>
                <a:ea typeface="Nunito Sans" pitchFamily="34" charset="-122"/>
                <a:cs typeface="Nunito Sans" pitchFamily="34" charset="-120"/>
              </a:rPr>
              <a:t>: the unobserved will resemble the observed.</a:t>
            </a:r>
            <a:endParaRPr lang="en-US" sz="2000" dirty="0"/>
          </a:p>
        </p:txBody>
      </p:sp>
      <p:sp>
        <p:nvSpPr>
          <p:cNvPr id="5" name="Text 3"/>
          <p:cNvSpPr/>
          <p:nvPr/>
        </p:nvSpPr>
        <p:spPr>
          <a:xfrm>
            <a:off x="791021" y="3004790"/>
            <a:ext cx="7705787" cy="1549400"/>
          </a:xfrm>
          <a:prstGeom prst="rect">
            <a:avLst/>
          </a:prstGeom>
          <a:noFill/>
          <a:ln/>
        </p:spPr>
        <p:txBody>
          <a:bodyPr wrap="square" lIns="0" tIns="0" rIns="0" bIns="0" rtlCol="0" anchor="t">
            <a:normAutofit/>
          </a:bodyPr>
          <a:lstStyle/>
          <a:p>
            <a:pPr algn="l" marL="275779" indent="-275779">
              <a:lnSpc>
                <a:spcPts val="3000"/>
              </a:lnSpc>
              <a:buSzPct val="100000"/>
              <a:buFontTx/>
              <a:buAutoNum type="arabicPeriod" startAt="1"/>
            </a:pPr>
            <a:r>
              <a:rPr lang="en-US" sz="2000" dirty="0">
                <a:solidFill>
                  <a:srgbClr val="1F3A2B"/>
                </a:solidFill>
                <a:latin typeface="Nunito Sans" pitchFamily="34" charset="0"/>
                <a:ea typeface="Nunito Sans" pitchFamily="34" charset="-122"/>
                <a:cs typeface="Nunito Sans" pitchFamily="34" charset="-120"/>
              </a:rPr>
              <a:t>We could know PUN only by deduction or by induction.</a:t>
            </a:r>
            <a:endParaRPr lang="en-US" sz="2000" dirty="0"/>
          </a:p>
          <a:p>
            <a:pPr algn="l" marL="275779" indent="-275779">
              <a:lnSpc>
                <a:spcPts val="3000"/>
              </a:lnSpc>
              <a:buSzPct val="100000"/>
              <a:buFontTx/>
              <a:buAutoNum type="arabicPeriod" startAt="1"/>
            </a:pPr>
            <a:r>
              <a:rPr lang="en-US" sz="2000" dirty="0">
                <a:solidFill>
                  <a:srgbClr val="1F3A2B"/>
                </a:solidFill>
                <a:latin typeface="Nunito Sans" pitchFamily="34" charset="0"/>
                <a:ea typeface="Nunito Sans" pitchFamily="34" charset="-122"/>
                <a:cs typeface="Nunito Sans" pitchFamily="34" charset="-120"/>
              </a:rPr>
              <a:t>Deduction gives only necessary truths — PUN is not necessary.</a:t>
            </a:r>
            <a:endParaRPr lang="en-US" sz="2000" dirty="0"/>
          </a:p>
          <a:p>
            <a:pPr algn="l" marL="275779" indent="-275779">
              <a:lnSpc>
                <a:spcPts val="3000"/>
              </a:lnSpc>
              <a:buSzPct val="100000"/>
              <a:buFontTx/>
              <a:buAutoNum type="arabicPeriod" startAt="1"/>
            </a:pPr>
            <a:r>
              <a:rPr lang="en-US" sz="2000" dirty="0">
                <a:solidFill>
                  <a:srgbClr val="1F3A2B"/>
                </a:solidFill>
                <a:latin typeface="Nunito Sans" pitchFamily="34" charset="0"/>
                <a:ea typeface="Nunito Sans" pitchFamily="34" charset="-122"/>
                <a:cs typeface="Nunito Sans" pitchFamily="34" charset="-120"/>
              </a:rPr>
              <a:t>Induction already assumes PUN — circular.</a:t>
            </a:r>
            <a:endParaRPr lang="en-US" sz="2000" dirty="0"/>
          </a:p>
          <a:p>
            <a:pPr algn="l" marL="275779" indent="-275779">
              <a:lnSpc>
                <a:spcPts val="3000"/>
              </a:lnSpc>
              <a:buSzPct val="100000"/>
              <a:buFontTx/>
              <a:buAutoNum type="arabicPeriod" startAt="1"/>
            </a:pPr>
            <a:r>
              <a:rPr lang="en-US" sz="2000" dirty="0">
                <a:solidFill>
                  <a:srgbClr val="1F3A2B"/>
                </a:solidFill>
                <a:latin typeface="Nunito Sans" pitchFamily="34" charset="0"/>
                <a:ea typeface="Nunito Sans" pitchFamily="34" charset="-122"/>
                <a:cs typeface="Nunito Sans" pitchFamily="34" charset="-120"/>
              </a:rPr>
              <a:t>So we cannot know PUN, and have no inductive knowledge.</a:t>
            </a:r>
            <a:endParaRPr lang="en-US" sz="2000" dirty="0"/>
          </a:p>
        </p:txBody>
      </p:sp>
      <p:pic>
        <p:nvPicPr>
          <p:cNvPr id="6" name="Image 0" descr="Row of sunrises with a question mark over tomorrow">    </p:cNvPr>
          <p:cNvPicPr>
            <a:picLocks noChangeAspect="1"/>
          </p:cNvPicPr>
          <p:nvPr/>
        </p:nvPicPr>
        <p:blipFill>
          <a:blip r:embed="rId1"/>
          <a:srcRect l="0" r="0" t="0" b="0"/>
          <a:stretch/>
        </p:blipFill>
        <p:spPr>
          <a:xfrm>
            <a:off x="8585200" y="2204690"/>
            <a:ext cx="2794000" cy="2286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DCEBD5"/>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F3A2B"/>
                </a:solidFill>
                <a:latin typeface="Domine" pitchFamily="18" charset="0"/>
                <a:ea typeface="Domine" pitchFamily="18" charset="-122"/>
                <a:cs typeface="Domine" pitchFamily="18" charset="-120"/>
              </a:rPr>
              <a:t>Evaluating Humean scepticism</a:t>
            </a:r>
            <a:endParaRPr lang="en-US" sz="3600" dirty="0"/>
          </a:p>
        </p:txBody>
      </p:sp>
      <p:sp>
        <p:nvSpPr>
          <p:cNvPr id="3" name="Shape 1"/>
          <p:cNvSpPr/>
          <p:nvPr/>
        </p:nvSpPr>
        <p:spPr>
          <a:xfrm>
            <a:off x="812800" y="1592560"/>
            <a:ext cx="3386634" cy="2679551"/>
          </a:xfrm>
          <a:prstGeom prst="roundRect">
            <a:avLst>
              <a:gd name="adj" fmla="val 5688"/>
            </a:avLst>
          </a:prstGeom>
          <a:solidFill>
            <a:srgbClr val="FBF6E6"/>
          </a:solidFill>
          <a:ln/>
        </p:spPr>
      </p:sp>
      <p:sp>
        <p:nvSpPr>
          <p:cNvPr id="4" name="Shape 2"/>
          <p:cNvSpPr/>
          <p:nvPr/>
        </p:nvSpPr>
        <p:spPr>
          <a:xfrm>
            <a:off x="812800" y="1592560"/>
            <a:ext cx="3386634" cy="2679551"/>
          </a:xfrm>
          <a:custGeom>
            <a:avLst/>
            <a:gdLst/>
            <a:ahLst/>
            <a:cxnLst/>
            <a:rect l="l" t="t" r="r" b="b"/>
            <a:pathLst>
              <a:path w="3386634" h="2679551">
                <a:moveTo>
                  <a:pt x="0" y="152400"/>
                </a:moveTo>
                <a:lnTo>
                  <a:pt x="0" y="152400"/>
                </a:lnTo>
                <a:arcTo hR="152400" wR="152400" stAng="10800000" swAng="5400000"/>
                <a:lnTo>
                  <a:pt x="3234234" y="0"/>
                </a:lnTo>
                <a:arcTo hR="152400" wR="152400" stAng="16200000" swAng="5400000"/>
                <a:lnTo>
                  <a:pt x="3386634" y="152400"/>
                </a:lnTo>
                <a:arcTo hR="76200" wR="152400" stAng="0" swAng="-5400000"/>
                <a:lnTo>
                  <a:pt x="152400" y="76200"/>
                </a:lnTo>
                <a:arcTo hR="76200" wR="152400" stAng="16200000" swAng="-5400000"/>
                <a:close/>
              </a:path>
            </a:pathLst>
          </a:custGeom>
          <a:solidFill>
            <a:srgbClr val="5E8C61"/>
          </a:solidFill>
          <a:ln/>
        </p:spPr>
      </p:sp>
      <p:sp>
        <p:nvSpPr>
          <p:cNvPr id="5" name="Text 3"/>
          <p:cNvSpPr/>
          <p:nvPr/>
        </p:nvSpPr>
        <p:spPr>
          <a:xfrm>
            <a:off x="1066800" y="1922760"/>
            <a:ext cx="296499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3A2B"/>
                </a:solidFill>
                <a:latin typeface="Domine" pitchFamily="18" charset="0"/>
                <a:ea typeface="Domine" pitchFamily="18" charset="-122"/>
                <a:cs typeface="Domine" pitchFamily="18" charset="-120"/>
              </a:rPr>
              <a:t>Strength</a:t>
            </a:r>
            <a:endParaRPr lang="en-US" sz="2000" dirty="0"/>
          </a:p>
        </p:txBody>
      </p:sp>
      <p:sp>
        <p:nvSpPr>
          <p:cNvPr id="6" name="Text 4"/>
          <p:cNvSpPr/>
          <p:nvPr/>
        </p:nvSpPr>
        <p:spPr>
          <a:xfrm>
            <a:off x="1066800" y="2329160"/>
            <a:ext cx="2964993" cy="1376561"/>
          </a:xfrm>
          <a:prstGeom prst="rect">
            <a:avLst/>
          </a:prstGeom>
          <a:noFill/>
          <a:ln/>
        </p:spPr>
        <p:txBody>
          <a:bodyPr wrap="square" lIns="0" tIns="0" rIns="0" bIns="0" rtlCol="0" anchor="t">
            <a:normAutofit/>
          </a:bodyPr>
          <a:lstStyle/>
          <a:p>
            <a:pPr algn="l" indent="0" marL="0">
              <a:lnSpc>
                <a:spcPts val="2660"/>
              </a:lnSpc>
              <a:buNone/>
            </a:pPr>
            <a:r>
              <a:rPr lang="en-US" sz="1900" dirty="0">
                <a:solidFill>
                  <a:srgbClr val="1F3A2B"/>
                </a:solidFill>
                <a:latin typeface="Nunito Sans" pitchFamily="34" charset="0"/>
                <a:ea typeface="Nunito Sans" pitchFamily="34" charset="-122"/>
                <a:cs typeface="Nunito Sans" pitchFamily="34" charset="-120"/>
              </a:rPr>
              <a:t>Simple, valid structure. Even scientific laws rest on past observation, so the doubt spreads widely.</a:t>
            </a:r>
            <a:endParaRPr lang="en-US" sz="1900" dirty="0"/>
          </a:p>
        </p:txBody>
      </p:sp>
      <p:sp>
        <p:nvSpPr>
          <p:cNvPr id="7" name="Shape 5"/>
          <p:cNvSpPr/>
          <p:nvPr/>
        </p:nvSpPr>
        <p:spPr>
          <a:xfrm>
            <a:off x="4402634" y="1592560"/>
            <a:ext cx="3386683" cy="2679551"/>
          </a:xfrm>
          <a:prstGeom prst="roundRect">
            <a:avLst>
              <a:gd name="adj" fmla="val 5688"/>
            </a:avLst>
          </a:prstGeom>
          <a:solidFill>
            <a:srgbClr val="FBF6E6"/>
          </a:solidFill>
          <a:ln/>
        </p:spPr>
      </p:sp>
      <p:sp>
        <p:nvSpPr>
          <p:cNvPr id="8" name="Shape 6"/>
          <p:cNvSpPr/>
          <p:nvPr/>
        </p:nvSpPr>
        <p:spPr>
          <a:xfrm>
            <a:off x="4402634" y="1592560"/>
            <a:ext cx="3386683" cy="2679551"/>
          </a:xfrm>
          <a:custGeom>
            <a:avLst/>
            <a:gdLst/>
            <a:ahLst/>
            <a:cxnLst/>
            <a:rect l="l" t="t" r="r" b="b"/>
            <a:pathLst>
              <a:path w="3386683" h="2679551">
                <a:moveTo>
                  <a:pt x="0" y="152400"/>
                </a:moveTo>
                <a:lnTo>
                  <a:pt x="0" y="152400"/>
                </a:lnTo>
                <a:arcTo hR="152400" wR="152400" stAng="10800000" swAng="5400000"/>
                <a:lnTo>
                  <a:pt x="3234283" y="0"/>
                </a:lnTo>
                <a:arcTo hR="152400" wR="152400" stAng="16200000" swAng="5400000"/>
                <a:lnTo>
                  <a:pt x="3386683" y="152400"/>
                </a:lnTo>
                <a:arcTo hR="76200" wR="152400" stAng="0" swAng="-5400000"/>
                <a:lnTo>
                  <a:pt x="152400" y="76200"/>
                </a:lnTo>
                <a:arcTo hR="76200" wR="152400" stAng="16200000" swAng="-5400000"/>
                <a:close/>
              </a:path>
            </a:pathLst>
          </a:custGeom>
          <a:solidFill>
            <a:srgbClr val="B8892B"/>
          </a:solidFill>
          <a:ln/>
        </p:spPr>
      </p:sp>
      <p:sp>
        <p:nvSpPr>
          <p:cNvPr id="9" name="Text 7"/>
          <p:cNvSpPr/>
          <p:nvPr/>
        </p:nvSpPr>
        <p:spPr>
          <a:xfrm>
            <a:off x="4656634" y="1922760"/>
            <a:ext cx="296504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3A2B"/>
                </a:solidFill>
                <a:latin typeface="Domine" pitchFamily="18" charset="0"/>
                <a:ea typeface="Domine" pitchFamily="18" charset="-122"/>
                <a:cs typeface="Domine" pitchFamily="18" charset="-120"/>
              </a:rPr>
              <a:t>Confront it</a:t>
            </a:r>
            <a:endParaRPr lang="en-US" sz="2000" dirty="0"/>
          </a:p>
        </p:txBody>
      </p:sp>
      <p:sp>
        <p:nvSpPr>
          <p:cNvPr id="10" name="Text 8"/>
          <p:cNvSpPr/>
          <p:nvPr/>
        </p:nvSpPr>
        <p:spPr>
          <a:xfrm>
            <a:off x="4656634" y="2329160"/>
            <a:ext cx="2965044" cy="1714351"/>
          </a:xfrm>
          <a:prstGeom prst="rect">
            <a:avLst/>
          </a:prstGeom>
          <a:noFill/>
          <a:ln/>
        </p:spPr>
        <p:txBody>
          <a:bodyPr wrap="square" lIns="0" tIns="0" rIns="0" bIns="0" rtlCol="0" anchor="t">
            <a:normAutofit/>
          </a:bodyPr>
          <a:lstStyle/>
          <a:p>
            <a:pPr algn="l" indent="0" marL="0">
              <a:lnSpc>
                <a:spcPts val="2660"/>
              </a:lnSpc>
              <a:buNone/>
            </a:pPr>
            <a:r>
              <a:rPr lang="en-US" sz="1900" b="1" dirty="0">
                <a:solidFill>
                  <a:srgbClr val="1F3A2B"/>
                </a:solidFill>
                <a:latin typeface="Nunito Sans" pitchFamily="34" charset="0"/>
                <a:ea typeface="Nunito Sans" pitchFamily="34" charset="-122"/>
                <a:cs typeface="Nunito Sans" pitchFamily="34" charset="-120"/>
              </a:rPr>
              <a:t>Inductive solution</a:t>
            </a:r>
            <a:r>
              <a:rPr lang="en-US" sz="1900" dirty="0">
                <a:solidFill>
                  <a:srgbClr val="1F3A2B"/>
                </a:solidFill>
                <a:latin typeface="Nunito Sans" pitchFamily="34" charset="0"/>
                <a:ea typeface="Nunito Sans" pitchFamily="34" charset="-122"/>
                <a:cs typeface="Nunito Sans" pitchFamily="34" charset="-120"/>
              </a:rPr>
              <a:t> (Van Cleve): the circularity is harmless.</a:t>
            </a:r>
            <a:endParaRPr lang="en-US" sz="1900" dirty="0"/>
          </a:p>
          <a:p>
            <a:pPr algn="l" indent="0" marL="0">
              <a:lnSpc>
                <a:spcPts val="2660"/>
              </a:lnSpc>
              <a:buNone/>
            </a:pPr>
            <a:r>
              <a:rPr lang="en-US" sz="1900" b="1" dirty="0">
                <a:solidFill>
                  <a:srgbClr val="1F3A2B"/>
                </a:solidFill>
                <a:latin typeface="Nunito Sans" pitchFamily="34" charset="0"/>
                <a:ea typeface="Nunito Sans" pitchFamily="34" charset="-122"/>
                <a:cs typeface="Nunito Sans" pitchFamily="34" charset="-120"/>
              </a:rPr>
              <a:t>Rationalist</a:t>
            </a:r>
            <a:r>
              <a:rPr lang="en-US" sz="1900" dirty="0">
                <a:solidFill>
                  <a:srgbClr val="1F3A2B"/>
                </a:solidFill>
                <a:latin typeface="Nunito Sans" pitchFamily="34" charset="0"/>
                <a:ea typeface="Nunito Sans" pitchFamily="34" charset="-122"/>
                <a:cs typeface="Nunito Sans" pitchFamily="34" charset="-120"/>
              </a:rPr>
              <a:t> (Kant): we know PUN a priori.</a:t>
            </a:r>
            <a:endParaRPr lang="en-US" sz="1900" dirty="0"/>
          </a:p>
        </p:txBody>
      </p:sp>
      <p:sp>
        <p:nvSpPr>
          <p:cNvPr id="11" name="Shape 9"/>
          <p:cNvSpPr/>
          <p:nvPr/>
        </p:nvSpPr>
        <p:spPr>
          <a:xfrm>
            <a:off x="7992517" y="1592560"/>
            <a:ext cx="3386683" cy="2679551"/>
          </a:xfrm>
          <a:prstGeom prst="roundRect">
            <a:avLst>
              <a:gd name="adj" fmla="val 5688"/>
            </a:avLst>
          </a:prstGeom>
          <a:solidFill>
            <a:srgbClr val="FBF6E6"/>
          </a:solidFill>
          <a:ln/>
        </p:spPr>
      </p:sp>
      <p:sp>
        <p:nvSpPr>
          <p:cNvPr id="12" name="Shape 10"/>
          <p:cNvSpPr/>
          <p:nvPr/>
        </p:nvSpPr>
        <p:spPr>
          <a:xfrm>
            <a:off x="7992517" y="1592560"/>
            <a:ext cx="3386683" cy="2679551"/>
          </a:xfrm>
          <a:custGeom>
            <a:avLst/>
            <a:gdLst/>
            <a:ahLst/>
            <a:cxnLst/>
            <a:rect l="l" t="t" r="r" b="b"/>
            <a:pathLst>
              <a:path w="3386683" h="2679551">
                <a:moveTo>
                  <a:pt x="0" y="152400"/>
                </a:moveTo>
                <a:lnTo>
                  <a:pt x="0" y="152400"/>
                </a:lnTo>
                <a:arcTo hR="152400" wR="152400" stAng="10800000" swAng="5400000"/>
                <a:lnTo>
                  <a:pt x="3234283" y="0"/>
                </a:lnTo>
                <a:arcTo hR="152400" wR="152400" stAng="16200000" swAng="5400000"/>
                <a:lnTo>
                  <a:pt x="3386683" y="152400"/>
                </a:lnTo>
                <a:arcTo hR="76200" wR="152400" stAng="0" swAng="-5400000"/>
                <a:lnTo>
                  <a:pt x="152400" y="76200"/>
                </a:lnTo>
                <a:arcTo hR="76200" wR="152400" stAng="16200000" swAng="-5400000"/>
                <a:close/>
              </a:path>
            </a:pathLst>
          </a:custGeom>
          <a:solidFill>
            <a:srgbClr val="1F3A2B"/>
          </a:solidFill>
          <a:ln/>
        </p:spPr>
      </p:sp>
      <p:sp>
        <p:nvSpPr>
          <p:cNvPr id="13" name="Text 11"/>
          <p:cNvSpPr/>
          <p:nvPr/>
        </p:nvSpPr>
        <p:spPr>
          <a:xfrm>
            <a:off x="8246517" y="1922760"/>
            <a:ext cx="296504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3A2B"/>
                </a:solidFill>
                <a:latin typeface="Domine" pitchFamily="18" charset="0"/>
                <a:ea typeface="Domine" pitchFamily="18" charset="-122"/>
                <a:cs typeface="Domine" pitchFamily="18" charset="-120"/>
              </a:rPr>
              <a:t>Concede it</a:t>
            </a:r>
            <a:endParaRPr lang="en-US" sz="2000" dirty="0"/>
          </a:p>
        </p:txBody>
      </p:sp>
      <p:sp>
        <p:nvSpPr>
          <p:cNvPr id="14" name="Text 12"/>
          <p:cNvSpPr/>
          <p:nvPr/>
        </p:nvSpPr>
        <p:spPr>
          <a:xfrm>
            <a:off x="8246517" y="2329160"/>
            <a:ext cx="2965044" cy="1376561"/>
          </a:xfrm>
          <a:prstGeom prst="rect">
            <a:avLst/>
          </a:prstGeom>
          <a:noFill/>
          <a:ln/>
        </p:spPr>
        <p:txBody>
          <a:bodyPr wrap="square" lIns="0" tIns="0" rIns="0" bIns="0" rtlCol="0" anchor="t">
            <a:normAutofit/>
          </a:bodyPr>
          <a:lstStyle/>
          <a:p>
            <a:pPr algn="l" indent="0" marL="0">
              <a:lnSpc>
                <a:spcPts val="2660"/>
              </a:lnSpc>
              <a:buNone/>
            </a:pPr>
            <a:r>
              <a:rPr lang="en-US" sz="1900" b="1" dirty="0">
                <a:solidFill>
                  <a:srgbClr val="1F3A2B"/>
                </a:solidFill>
                <a:latin typeface="Nunito Sans" pitchFamily="34" charset="0"/>
                <a:ea typeface="Nunito Sans" pitchFamily="34" charset="-122"/>
                <a:cs typeface="Nunito Sans" pitchFamily="34" charset="-120"/>
              </a:rPr>
              <a:t>Popper:</a:t>
            </a:r>
            <a:r>
              <a:rPr lang="en-US" sz="1900" dirty="0">
                <a:solidFill>
                  <a:srgbClr val="1F3A2B"/>
                </a:solidFill>
                <a:latin typeface="Nunito Sans" pitchFamily="34" charset="0"/>
                <a:ea typeface="Nunito Sans" pitchFamily="34" charset="-122"/>
                <a:cs typeface="Nunito Sans" pitchFamily="34" charset="-120"/>
              </a:rPr>
              <a:t> accept the conclusion — science and daily life don’t need inductive knowledge.</a:t>
            </a:r>
            <a:endParaRPr lang="en-US" sz="1900" dirty="0"/>
          </a:p>
        </p:txBody>
      </p:sp>
      <p:sp>
        <p:nvSpPr>
          <p:cNvPr id="15" name="Text 13"/>
          <p:cNvSpPr/>
          <p:nvPr/>
        </p:nvSpPr>
        <p:spPr>
          <a:xfrm>
            <a:off x="812800" y="4526111"/>
            <a:ext cx="10566400" cy="711200"/>
          </a:xfrm>
          <a:prstGeom prst="roundRect">
            <a:avLst>
              <a:gd name="adj" fmla="val 17857"/>
            </a:avLst>
          </a:prstGeom>
          <a:solidFill>
            <a:srgbClr val="F6EBC8"/>
          </a:solidFill>
          <a:ln/>
        </p:spPr>
        <p:txBody>
          <a:bodyPr wrap="square" lIns="216803" tIns="140603" rIns="0" bIns="115203" rtlCol="0" anchor="t">
            <a:normAutofit/>
          </a:bodyPr>
          <a:lstStyle/>
          <a:p>
            <a:pPr algn="l" indent="0" marL="0">
              <a:lnSpc>
                <a:spcPts val="2800"/>
              </a:lnSpc>
              <a:buNone/>
            </a:pPr>
            <a:r>
              <a:rPr lang="en-US" sz="2000" b="1" dirty="0">
                <a:solidFill>
                  <a:srgbClr val="1F3A2B"/>
                </a:solidFill>
                <a:latin typeface="Nunito Sans" pitchFamily="34" charset="0"/>
                <a:ea typeface="Nunito Sans" pitchFamily="34" charset="-122"/>
                <a:cs typeface="Nunito Sans" pitchFamily="34" charset="-120"/>
              </a:rPr>
              <a:t>Judgement prompt:</a:t>
            </a:r>
            <a:r>
              <a:rPr lang="en-US" sz="2000" dirty="0">
                <a:solidFill>
                  <a:srgbClr val="1F3A2B"/>
                </a:solidFill>
                <a:latin typeface="Nunito Sans" pitchFamily="34" charset="0"/>
                <a:ea typeface="Nunito Sans" pitchFamily="34" charset="-122"/>
                <a:cs typeface="Nunito Sans" pitchFamily="34" charset="-120"/>
              </a:rPr>
              <a:t> if Popper is right, is losing inductive </a:t>
            </a:r>
            <a:r>
              <a:rPr lang="en-US" sz="2000" i="1" dirty="0">
                <a:solidFill>
                  <a:srgbClr val="1F3A2B"/>
                </a:solidFill>
                <a:latin typeface="Nunito Sans" pitchFamily="34" charset="0"/>
                <a:ea typeface="Nunito Sans" pitchFamily="34" charset="-122"/>
                <a:cs typeface="Nunito Sans" pitchFamily="34" charset="-120"/>
              </a:rPr>
              <a:t>knowledge</a:t>
            </a:r>
            <a:r>
              <a:rPr lang="en-US" sz="2000" dirty="0">
                <a:solidFill>
                  <a:srgbClr val="1F3A2B"/>
                </a:solidFill>
                <a:latin typeface="Nunito Sans" pitchFamily="34" charset="0"/>
                <a:ea typeface="Nunito Sans" pitchFamily="34" charset="-122"/>
                <a:cs typeface="Nunito Sans" pitchFamily="34" charset="-120"/>
              </a:rPr>
              <a:t> really a loss at all?</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EBC8"/>
        </a:solidFill>
      </p:bgPr>
    </p:bg>
    <p:spTree>
      <p:nvGrpSpPr>
        <p:cNvPr id="1" name=""/>
        <p:cNvGrpSpPr/>
        <p:nvPr/>
      </p:nvGrpSpPr>
      <p:grpSpPr>
        <a:xfrm>
          <a:off x="0" y="0"/>
          <a:ext cx="0" cy="0"/>
          <a:chOff x="0" y="0"/>
          <a:chExt cx="0" cy="0"/>
        </a:xfrm>
      </p:grpSpPr>
      <p:sp>
        <p:nvSpPr>
          <p:cNvPr id="2" name="Text 0"/>
          <p:cNvSpPr/>
          <p:nvPr/>
        </p:nvSpPr>
        <p:spPr>
          <a:xfrm>
            <a:off x="812800" y="812800"/>
            <a:ext cx="10883392" cy="345430"/>
          </a:xfrm>
          <a:prstGeom prst="rect">
            <a:avLst/>
          </a:prstGeom>
          <a:noFill/>
          <a:ln/>
        </p:spPr>
        <p:txBody>
          <a:bodyPr wrap="square" lIns="0" tIns="0" rIns="0" bIns="0" rtlCol="0" anchor="t">
            <a:normAutofit/>
          </a:bodyPr>
          <a:lstStyle/>
          <a:p>
            <a:pPr algn="l" indent="0" marL="0">
              <a:lnSpc>
                <a:spcPts val="2520"/>
              </a:lnSpc>
              <a:buNone/>
            </a:pPr>
            <a:r>
              <a:rPr lang="en-US" sz="1800" b="1" spc="100" kern="0" dirty="0">
                <a:solidFill>
                  <a:srgbClr val="7A5A12"/>
                </a:solidFill>
                <a:latin typeface="Nunito Sans" pitchFamily="34" charset="0"/>
                <a:ea typeface="Nunito Sans" pitchFamily="34" charset="-122"/>
                <a:cs typeface="Nunito Sans" pitchFamily="34" charset="-120"/>
              </a:rPr>
              <a:t>FORM 2 · BROADER</a:t>
            </a:r>
            <a:endParaRPr lang="en-US" sz="1800" dirty="0"/>
          </a:p>
        </p:txBody>
      </p:sp>
      <p:sp>
        <p:nvSpPr>
          <p:cNvPr id="3" name="Text 1"/>
          <p:cNvSpPr/>
          <p:nvPr>
            <p:ph type="title"/>
          </p:nvPr>
        </p:nvSpPr>
        <p:spPr>
          <a:xfrm>
            <a:off x="812800" y="138683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F3A2B"/>
                </a:solidFill>
                <a:latin typeface="Domine" pitchFamily="18" charset="0"/>
                <a:ea typeface="Domine" pitchFamily="18" charset="-122"/>
                <a:cs typeface="Domine" pitchFamily="18" charset="-120"/>
              </a:rPr>
              <a:t>Cartesian scepticism: the evil demon</a:t>
            </a:r>
            <a:endParaRPr lang="en-US" sz="3600" dirty="0"/>
          </a:p>
        </p:txBody>
      </p:sp>
      <p:sp>
        <p:nvSpPr>
          <p:cNvPr id="4" name="Text 2"/>
          <p:cNvSpPr/>
          <p:nvPr/>
        </p:nvSpPr>
        <p:spPr>
          <a:xfrm>
            <a:off x="812800" y="2189510"/>
            <a:ext cx="7691628"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1F3A2B"/>
                </a:solidFill>
                <a:latin typeface="Nunito Sans" pitchFamily="34" charset="0"/>
                <a:ea typeface="Nunito Sans" pitchFamily="34" charset="-122"/>
                <a:cs typeface="Nunito Sans" pitchFamily="34" charset="-120"/>
              </a:rPr>
              <a:t>A </a:t>
            </a:r>
            <a:r>
              <a:rPr lang="en-US" sz="2000" b="1" dirty="0">
                <a:solidFill>
                  <a:srgbClr val="1F3A2B"/>
                </a:solidFill>
                <a:latin typeface="Nunito Sans" pitchFamily="34" charset="0"/>
                <a:ea typeface="Nunito Sans" pitchFamily="34" charset="-122"/>
                <a:cs typeface="Nunito Sans" pitchFamily="34" charset="-120"/>
              </a:rPr>
              <a:t>sceptical hypothesis</a:t>
            </a:r>
            <a:r>
              <a:rPr lang="en-US" sz="2000" dirty="0">
                <a:solidFill>
                  <a:srgbClr val="1F3A2B"/>
                </a:solidFill>
                <a:latin typeface="Nunito Sans" pitchFamily="34" charset="0"/>
                <a:ea typeface="Nunito Sans" pitchFamily="34" charset="-122"/>
                <a:cs typeface="Nunito Sans" pitchFamily="34" charset="-120"/>
              </a:rPr>
              <a:t>: a demon (or a brain in a vat) gives you all your experiences, so you can’t tell it apart from reality.</a:t>
            </a:r>
            <a:endParaRPr lang="en-US" sz="2000" dirty="0"/>
          </a:p>
        </p:txBody>
      </p:sp>
      <p:sp>
        <p:nvSpPr>
          <p:cNvPr id="5" name="Shape 3"/>
          <p:cNvSpPr/>
          <p:nvPr/>
        </p:nvSpPr>
        <p:spPr>
          <a:xfrm>
            <a:off x="812800" y="3027710"/>
            <a:ext cx="7467600" cy="1909961"/>
          </a:xfrm>
          <a:prstGeom prst="roundRect">
            <a:avLst>
              <a:gd name="adj" fmla="val 6649"/>
            </a:avLst>
          </a:prstGeom>
          <a:solidFill>
            <a:srgbClr val="FBF6E6"/>
          </a:solidFill>
          <a:ln/>
        </p:spPr>
      </p:sp>
      <p:sp>
        <p:nvSpPr>
          <p:cNvPr id="6" name="Text 4"/>
          <p:cNvSpPr/>
          <p:nvPr/>
        </p:nvSpPr>
        <p:spPr>
          <a:xfrm>
            <a:off x="1016000" y="3230910"/>
            <a:ext cx="7273036" cy="700980"/>
          </a:xfrm>
          <a:prstGeom prst="rect">
            <a:avLst/>
          </a:prstGeom>
          <a:noFill/>
          <a:ln/>
        </p:spPr>
        <p:txBody>
          <a:bodyPr wrap="square" lIns="0" tIns="0" rIns="0" bIns="0" rtlCol="0" anchor="t">
            <a:normAutofit/>
          </a:bodyPr>
          <a:lstStyle/>
          <a:p>
            <a:pPr algn="l" indent="0" marL="0">
              <a:lnSpc>
                <a:spcPts val="2660"/>
              </a:lnSpc>
              <a:buNone/>
            </a:pPr>
            <a:r>
              <a:rPr lang="en-US" sz="1900" b="1" dirty="0">
                <a:solidFill>
                  <a:srgbClr val="1F3A2B"/>
                </a:solidFill>
                <a:latin typeface="Nunito Sans" pitchFamily="34" charset="0"/>
                <a:ea typeface="Nunito Sans" pitchFamily="34" charset="-122"/>
                <a:cs typeface="Nunito Sans" pitchFamily="34" charset="-120"/>
              </a:rPr>
              <a:t>CP1</a:t>
            </a:r>
            <a:r>
              <a:rPr lang="en-US" sz="1900" dirty="0">
                <a:solidFill>
                  <a:srgbClr val="1F3A2B"/>
                </a:solidFill>
                <a:latin typeface="Nunito Sans" pitchFamily="34" charset="0"/>
                <a:ea typeface="Nunito Sans" pitchFamily="34" charset="-122"/>
                <a:cs typeface="Nunito Sans" pitchFamily="34" charset="-120"/>
              </a:rPr>
              <a:t> If I’m justified in believing “I have hands”, I’m justified in believing I’m not deceived.</a:t>
            </a:r>
            <a:endParaRPr lang="en-US" sz="1900" dirty="0"/>
          </a:p>
        </p:txBody>
      </p:sp>
      <p:sp>
        <p:nvSpPr>
          <p:cNvPr id="7" name="Text 5"/>
          <p:cNvSpPr/>
          <p:nvPr/>
        </p:nvSpPr>
        <p:spPr>
          <a:xfrm>
            <a:off x="1016000" y="3982690"/>
            <a:ext cx="7273036" cy="363190"/>
          </a:xfrm>
          <a:prstGeom prst="rect">
            <a:avLst/>
          </a:prstGeom>
          <a:noFill/>
          <a:ln/>
        </p:spPr>
        <p:txBody>
          <a:bodyPr wrap="square" lIns="0" tIns="0" rIns="0" bIns="0" rtlCol="0" anchor="t">
            <a:normAutofit/>
          </a:bodyPr>
          <a:lstStyle/>
          <a:p>
            <a:pPr algn="l" indent="0" marL="0">
              <a:lnSpc>
                <a:spcPts val="2660"/>
              </a:lnSpc>
              <a:buNone/>
            </a:pPr>
            <a:r>
              <a:rPr lang="en-US" sz="1900" b="1" dirty="0">
                <a:solidFill>
                  <a:srgbClr val="1F3A2B"/>
                </a:solidFill>
                <a:latin typeface="Nunito Sans" pitchFamily="34" charset="0"/>
                <a:ea typeface="Nunito Sans" pitchFamily="34" charset="-122"/>
                <a:cs typeface="Nunito Sans" pitchFamily="34" charset="-120"/>
              </a:rPr>
              <a:t>CP2</a:t>
            </a:r>
            <a:r>
              <a:rPr lang="en-US" sz="1900" dirty="0">
                <a:solidFill>
                  <a:srgbClr val="1F3A2B"/>
                </a:solidFill>
                <a:latin typeface="Nunito Sans" pitchFamily="34" charset="0"/>
                <a:ea typeface="Nunito Sans" pitchFamily="34" charset="-122"/>
                <a:cs typeface="Nunito Sans" pitchFamily="34" charset="-120"/>
              </a:rPr>
              <a:t> I’m not justified in believing I’m not deceived.</a:t>
            </a:r>
            <a:endParaRPr lang="en-US" sz="1900" dirty="0"/>
          </a:p>
        </p:txBody>
      </p:sp>
      <p:sp>
        <p:nvSpPr>
          <p:cNvPr id="8" name="Text 6"/>
          <p:cNvSpPr/>
          <p:nvPr/>
        </p:nvSpPr>
        <p:spPr>
          <a:xfrm>
            <a:off x="1016000" y="4396680"/>
            <a:ext cx="7273036" cy="363190"/>
          </a:xfrm>
          <a:prstGeom prst="rect">
            <a:avLst/>
          </a:prstGeom>
          <a:noFill/>
          <a:ln/>
        </p:spPr>
        <p:txBody>
          <a:bodyPr wrap="square" lIns="0" tIns="0" rIns="0" bIns="0" rtlCol="0" anchor="t">
            <a:normAutofit/>
          </a:bodyPr>
          <a:lstStyle/>
          <a:p>
            <a:pPr algn="l" indent="0" marL="0">
              <a:lnSpc>
                <a:spcPts val="2660"/>
              </a:lnSpc>
              <a:buNone/>
            </a:pPr>
            <a:r>
              <a:rPr lang="en-US" sz="1900" b="1" dirty="0">
                <a:solidFill>
                  <a:srgbClr val="1F3A2B"/>
                </a:solidFill>
                <a:latin typeface="Nunito Sans" pitchFamily="34" charset="0"/>
                <a:ea typeface="Nunito Sans" pitchFamily="34" charset="-122"/>
                <a:cs typeface="Nunito Sans" pitchFamily="34" charset="-120"/>
              </a:rPr>
              <a:t>So</a:t>
            </a:r>
            <a:r>
              <a:rPr lang="en-US" sz="1900" dirty="0">
                <a:solidFill>
                  <a:srgbClr val="1F3A2B"/>
                </a:solidFill>
                <a:latin typeface="Nunito Sans" pitchFamily="34" charset="0"/>
                <a:ea typeface="Nunito Sans" pitchFamily="34" charset="-122"/>
                <a:cs typeface="Nunito Sans" pitchFamily="34" charset="-120"/>
              </a:rPr>
              <a:t> I’m not justified in believing I have hands.</a:t>
            </a:r>
            <a:endParaRPr lang="en-US" sz="1900" dirty="0"/>
          </a:p>
        </p:txBody>
      </p:sp>
      <p:pic>
        <p:nvPicPr>
          <p:cNvPr id="9" name="Image 0" descr="A brain in a jar wired to a computer">    </p:cNvPr>
          <p:cNvPicPr>
            <a:picLocks noChangeAspect="1"/>
          </p:cNvPicPr>
          <p:nvPr/>
        </p:nvPicPr>
        <p:blipFill>
          <a:blip r:embed="rId1"/>
          <a:srcRect l="0" r="0" t="0" b="0"/>
          <a:stretch/>
        </p:blipFill>
        <p:spPr>
          <a:xfrm>
            <a:off x="8585200" y="2166590"/>
            <a:ext cx="2794000" cy="2794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DCEBD5"/>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F3A2B"/>
                </a:solidFill>
                <a:latin typeface="Domine" pitchFamily="18" charset="0"/>
                <a:ea typeface="Domine" pitchFamily="18" charset="-122"/>
                <a:cs typeface="Domine" pitchFamily="18" charset="-120"/>
              </a:rPr>
              <a:t>Evaluating Cartesian scepticism</a:t>
            </a:r>
            <a:endParaRPr lang="en-US" sz="3600" dirty="0"/>
          </a:p>
        </p:txBody>
      </p:sp>
      <p:sp>
        <p:nvSpPr>
          <p:cNvPr id="3" name="Shape 1"/>
          <p:cNvSpPr/>
          <p:nvPr/>
        </p:nvSpPr>
        <p:spPr>
          <a:xfrm>
            <a:off x="812800" y="1567160"/>
            <a:ext cx="5194300" cy="1414760"/>
          </a:xfrm>
          <a:prstGeom prst="roundRect">
            <a:avLst>
              <a:gd name="adj" fmla="val 8977"/>
            </a:avLst>
          </a:prstGeom>
          <a:solidFill>
            <a:srgbClr val="FBF6E6"/>
          </a:solidFill>
          <a:ln/>
        </p:spPr>
      </p:sp>
      <p:sp>
        <p:nvSpPr>
          <p:cNvPr id="4" name="Text 2"/>
          <p:cNvSpPr/>
          <p:nvPr/>
        </p:nvSpPr>
        <p:spPr>
          <a:xfrm>
            <a:off x="1016000" y="1770360"/>
            <a:ext cx="493153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3A2B"/>
                </a:solidFill>
                <a:latin typeface="Domine" pitchFamily="18" charset="0"/>
                <a:ea typeface="Domine" pitchFamily="18" charset="-122"/>
                <a:cs typeface="Domine" pitchFamily="18" charset="-120"/>
              </a:rPr>
              <a:t>Attack CP1: Dretske’s zebras</a:t>
            </a:r>
            <a:endParaRPr lang="en-US" sz="2000" dirty="0"/>
          </a:p>
        </p:txBody>
      </p:sp>
      <p:sp>
        <p:nvSpPr>
          <p:cNvPr id="5" name="Text 3"/>
          <p:cNvSpPr/>
          <p:nvPr/>
        </p:nvSpPr>
        <p:spPr>
          <a:xfrm>
            <a:off x="1016000" y="2138660"/>
            <a:ext cx="4931537" cy="66546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F3A2B"/>
                </a:solidFill>
                <a:latin typeface="Nunito Sans" pitchFamily="34" charset="0"/>
                <a:ea typeface="Nunito Sans" pitchFamily="34" charset="-122"/>
                <a:cs typeface="Nunito Sans" pitchFamily="34" charset="-120"/>
              </a:rPr>
              <a:t>I know it’s a zebra, yet can’t rule out a disguised mule — so closure fails?</a:t>
            </a:r>
            <a:endParaRPr lang="en-US" sz="1800" dirty="0"/>
          </a:p>
        </p:txBody>
      </p:sp>
      <p:sp>
        <p:nvSpPr>
          <p:cNvPr id="6" name="Shape 4"/>
          <p:cNvSpPr/>
          <p:nvPr/>
        </p:nvSpPr>
        <p:spPr>
          <a:xfrm>
            <a:off x="6184900" y="1567160"/>
            <a:ext cx="5194300" cy="1414760"/>
          </a:xfrm>
          <a:prstGeom prst="roundRect">
            <a:avLst>
              <a:gd name="adj" fmla="val 8977"/>
            </a:avLst>
          </a:prstGeom>
          <a:solidFill>
            <a:srgbClr val="FBF6E6"/>
          </a:solidFill>
          <a:ln/>
        </p:spPr>
      </p:sp>
      <p:sp>
        <p:nvSpPr>
          <p:cNvPr id="7" name="Text 5"/>
          <p:cNvSpPr/>
          <p:nvPr/>
        </p:nvSpPr>
        <p:spPr>
          <a:xfrm>
            <a:off x="6388100" y="1770360"/>
            <a:ext cx="493153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3A2B"/>
                </a:solidFill>
                <a:latin typeface="Domine" pitchFamily="18" charset="0"/>
                <a:ea typeface="Domine" pitchFamily="18" charset="-122"/>
                <a:cs typeface="Domine" pitchFamily="18" charset="-120"/>
              </a:rPr>
              <a:t>Attack CP1: Nozick’s tracking</a:t>
            </a:r>
            <a:endParaRPr lang="en-US" sz="2000" dirty="0"/>
          </a:p>
        </p:txBody>
      </p:sp>
      <p:sp>
        <p:nvSpPr>
          <p:cNvPr id="8" name="Text 6"/>
          <p:cNvSpPr/>
          <p:nvPr/>
        </p:nvSpPr>
        <p:spPr>
          <a:xfrm>
            <a:off x="6388100" y="2138660"/>
            <a:ext cx="4931537" cy="66546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F3A2B"/>
                </a:solidFill>
                <a:latin typeface="Nunito Sans" pitchFamily="34" charset="0"/>
                <a:ea typeface="Nunito Sans" pitchFamily="34" charset="-122"/>
                <a:cs typeface="Nunito Sans" pitchFamily="34" charset="-120"/>
              </a:rPr>
              <a:t>Knowledge needs sensitivity; but sensitivity looks too strong (the lemonade case).</a:t>
            </a:r>
            <a:endParaRPr lang="en-US" sz="1800" dirty="0"/>
          </a:p>
        </p:txBody>
      </p:sp>
      <p:sp>
        <p:nvSpPr>
          <p:cNvPr id="9" name="Shape 7"/>
          <p:cNvSpPr/>
          <p:nvPr/>
        </p:nvSpPr>
        <p:spPr>
          <a:xfrm>
            <a:off x="812800" y="3159720"/>
            <a:ext cx="5194300" cy="1414760"/>
          </a:xfrm>
          <a:prstGeom prst="roundRect">
            <a:avLst>
              <a:gd name="adj" fmla="val 8977"/>
            </a:avLst>
          </a:prstGeom>
          <a:solidFill>
            <a:srgbClr val="FBF6E6"/>
          </a:solidFill>
          <a:ln/>
        </p:spPr>
      </p:sp>
      <p:sp>
        <p:nvSpPr>
          <p:cNvPr id="10" name="Text 8"/>
          <p:cNvSpPr/>
          <p:nvPr/>
        </p:nvSpPr>
        <p:spPr>
          <a:xfrm>
            <a:off x="1016000" y="3362920"/>
            <a:ext cx="493153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3A2B"/>
                </a:solidFill>
                <a:latin typeface="Domine" pitchFamily="18" charset="0"/>
                <a:ea typeface="Domine" pitchFamily="18" charset="-122"/>
                <a:cs typeface="Domine" pitchFamily="18" charset="-120"/>
              </a:rPr>
              <a:t>Attack CP2: Williamson</a:t>
            </a:r>
            <a:endParaRPr lang="en-US" sz="2000" dirty="0"/>
          </a:p>
        </p:txBody>
      </p:sp>
      <p:sp>
        <p:nvSpPr>
          <p:cNvPr id="11" name="Text 9"/>
          <p:cNvSpPr/>
          <p:nvPr/>
        </p:nvSpPr>
        <p:spPr>
          <a:xfrm>
            <a:off x="1016000" y="3731220"/>
            <a:ext cx="4931537" cy="66546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F3A2B"/>
                </a:solidFill>
                <a:latin typeface="Nunito Sans" pitchFamily="34" charset="0"/>
                <a:ea typeface="Nunito Sans" pitchFamily="34" charset="-122"/>
                <a:cs typeface="Nunito Sans" pitchFamily="34" charset="-120"/>
              </a:rPr>
              <a:t>Evidence is what we know — so the good case gives more evidence than the bad.</a:t>
            </a:r>
            <a:endParaRPr lang="en-US" sz="1800" dirty="0"/>
          </a:p>
        </p:txBody>
      </p:sp>
      <p:sp>
        <p:nvSpPr>
          <p:cNvPr id="12" name="Shape 10"/>
          <p:cNvSpPr/>
          <p:nvPr/>
        </p:nvSpPr>
        <p:spPr>
          <a:xfrm>
            <a:off x="6184900" y="3159720"/>
            <a:ext cx="5194300" cy="1414760"/>
          </a:xfrm>
          <a:prstGeom prst="roundRect">
            <a:avLst>
              <a:gd name="adj" fmla="val 8977"/>
            </a:avLst>
          </a:prstGeom>
          <a:solidFill>
            <a:srgbClr val="FBF6E6"/>
          </a:solidFill>
          <a:ln/>
        </p:spPr>
      </p:sp>
      <p:sp>
        <p:nvSpPr>
          <p:cNvPr id="13" name="Text 11"/>
          <p:cNvSpPr/>
          <p:nvPr/>
        </p:nvSpPr>
        <p:spPr>
          <a:xfrm>
            <a:off x="6388100" y="3362920"/>
            <a:ext cx="493153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3A2B"/>
                </a:solidFill>
                <a:latin typeface="Domine" pitchFamily="18" charset="0"/>
                <a:ea typeface="Domine" pitchFamily="18" charset="-122"/>
                <a:cs typeface="Domine" pitchFamily="18" charset="-120"/>
              </a:rPr>
              <a:t>Contextualism</a:t>
            </a:r>
            <a:endParaRPr lang="en-US" sz="2000" dirty="0"/>
          </a:p>
        </p:txBody>
      </p:sp>
      <p:sp>
        <p:nvSpPr>
          <p:cNvPr id="14" name="Text 12"/>
          <p:cNvSpPr/>
          <p:nvPr/>
        </p:nvSpPr>
        <p:spPr>
          <a:xfrm>
            <a:off x="6388100" y="3731220"/>
            <a:ext cx="4931537" cy="66546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F3A2B"/>
                </a:solidFill>
                <a:latin typeface="Nunito Sans" pitchFamily="34" charset="0"/>
                <a:ea typeface="Nunito Sans" pitchFamily="34" charset="-122"/>
                <a:cs typeface="Nunito Sans" pitchFamily="34" charset="-120"/>
              </a:rPr>
              <a:t>“Know” shifts with standards: sound in the seminar, false in everyday talk.</a:t>
            </a:r>
            <a:endParaRPr lang="en-US" sz="1800" dirty="0"/>
          </a:p>
        </p:txBody>
      </p:sp>
      <p:sp>
        <p:nvSpPr>
          <p:cNvPr id="15" name="Text 13"/>
          <p:cNvSpPr/>
          <p:nvPr/>
        </p:nvSpPr>
        <p:spPr>
          <a:xfrm>
            <a:off x="812800" y="4803080"/>
            <a:ext cx="10566400" cy="980380"/>
          </a:xfrm>
          <a:prstGeom prst="roundRect">
            <a:avLst>
              <a:gd name="adj" fmla="val 12954"/>
            </a:avLst>
          </a:prstGeom>
          <a:solidFill>
            <a:srgbClr val="F6EBC8"/>
          </a:solidFill>
          <a:ln/>
        </p:spPr>
        <p:txBody>
          <a:bodyPr wrap="square" lIns="191403" tIns="115203" rIns="0" bIns="89803" rtlCol="0" anchor="t">
            <a:normAutofit/>
          </a:bodyPr>
          <a:lstStyle/>
          <a:p>
            <a:pPr algn="l" indent="0" marL="0">
              <a:lnSpc>
                <a:spcPts val="2660"/>
              </a:lnSpc>
              <a:buNone/>
            </a:pPr>
            <a:r>
              <a:rPr lang="en-US" sz="1900" b="1" dirty="0">
                <a:solidFill>
                  <a:srgbClr val="1F3A2B"/>
                </a:solidFill>
                <a:latin typeface="Nunito Sans" pitchFamily="34" charset="0"/>
                <a:ea typeface="Nunito Sans" pitchFamily="34" charset="-122"/>
                <a:cs typeface="Nunito Sans" pitchFamily="34" charset="-120"/>
              </a:rPr>
              <a:t>Weakness of the replies:</a:t>
            </a:r>
            <a:r>
              <a:rPr lang="en-US" sz="1900" dirty="0">
                <a:solidFill>
                  <a:srgbClr val="1F3A2B"/>
                </a:solidFill>
                <a:latin typeface="Nunito Sans" pitchFamily="34" charset="0"/>
                <a:ea typeface="Nunito Sans" pitchFamily="34" charset="-122"/>
                <a:cs typeface="Nunito Sans" pitchFamily="34" charset="-120"/>
              </a:rPr>
              <a:t> each pays a price — rejecting closure, or needing a separate argument that we have </a:t>
            </a:r>
            <a:r>
              <a:rPr lang="en-US" sz="1900" i="1" dirty="0">
                <a:solidFill>
                  <a:srgbClr val="1F3A2B"/>
                </a:solidFill>
                <a:latin typeface="Nunito Sans" pitchFamily="34" charset="0"/>
                <a:ea typeface="Nunito Sans" pitchFamily="34" charset="-122"/>
                <a:cs typeface="Nunito Sans" pitchFamily="34" charset="-120"/>
              </a:rPr>
              <a:t>some</a:t>
            </a:r>
            <a:r>
              <a:rPr lang="en-US" sz="1900" dirty="0">
                <a:solidFill>
                  <a:srgbClr val="1F3A2B"/>
                </a:solidFill>
                <a:latin typeface="Nunito Sans" pitchFamily="34" charset="0"/>
                <a:ea typeface="Nunito Sans" pitchFamily="34" charset="-122"/>
                <a:cs typeface="Nunito Sans" pitchFamily="34" charset="-120"/>
              </a:rPr>
              <a:t> justification.</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EBC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F3A2B"/>
                </a:solidFill>
                <a:latin typeface="Domine" pitchFamily="18" charset="0"/>
                <a:ea typeface="Domine" pitchFamily="18" charset="-122"/>
                <a:cs typeface="Domine" pitchFamily="18" charset="-120"/>
              </a:rPr>
              <a:t>The challenge to knowledge</a:t>
            </a:r>
            <a:endParaRPr lang="en-US" sz="3600" dirty="0"/>
          </a:p>
        </p:txBody>
      </p:sp>
      <p:sp>
        <p:nvSpPr>
          <p:cNvPr id="3" name="Text 1"/>
          <p:cNvSpPr/>
          <p:nvPr/>
        </p:nvSpPr>
        <p:spPr>
          <a:xfrm>
            <a:off x="812800" y="1592560"/>
            <a:ext cx="7168388"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1F3A2B"/>
                </a:solidFill>
                <a:latin typeface="Nunito Sans" pitchFamily="34" charset="0"/>
                <a:ea typeface="Nunito Sans" pitchFamily="34" charset="-122"/>
                <a:cs typeface="Nunito Sans" pitchFamily="34" charset="-120"/>
              </a:rPr>
              <a:t>Most accounts say knowledge needs </a:t>
            </a:r>
            <a:r>
              <a:rPr lang="en-US" sz="2000" b="1" dirty="0">
                <a:solidFill>
                  <a:srgbClr val="1F3A2B"/>
                </a:solidFill>
                <a:latin typeface="Nunito Sans" pitchFamily="34" charset="0"/>
                <a:ea typeface="Nunito Sans" pitchFamily="34" charset="-122"/>
                <a:cs typeface="Nunito Sans" pitchFamily="34" charset="-120"/>
              </a:rPr>
              <a:t>belief</a:t>
            </a:r>
            <a:r>
              <a:rPr lang="en-US" sz="2000" dirty="0">
                <a:solidFill>
                  <a:srgbClr val="1F3A2B"/>
                </a:solidFill>
                <a:latin typeface="Nunito Sans" pitchFamily="34" charset="0"/>
                <a:ea typeface="Nunito Sans" pitchFamily="34" charset="-122"/>
                <a:cs typeface="Nunito Sans" pitchFamily="34" charset="-120"/>
              </a:rPr>
              <a:t>, </a:t>
            </a:r>
            <a:r>
              <a:rPr lang="en-US" sz="2000" b="1" dirty="0">
                <a:solidFill>
                  <a:srgbClr val="1F3A2B"/>
                </a:solidFill>
                <a:latin typeface="Nunito Sans" pitchFamily="34" charset="0"/>
                <a:ea typeface="Nunito Sans" pitchFamily="34" charset="-122"/>
                <a:cs typeface="Nunito Sans" pitchFamily="34" charset="-120"/>
              </a:rPr>
              <a:t>truth</a:t>
            </a:r>
            <a:r>
              <a:rPr lang="en-US" sz="2000" dirty="0">
                <a:solidFill>
                  <a:srgbClr val="1F3A2B"/>
                </a:solidFill>
                <a:latin typeface="Nunito Sans" pitchFamily="34" charset="0"/>
                <a:ea typeface="Nunito Sans" pitchFamily="34" charset="-122"/>
                <a:cs typeface="Nunito Sans" pitchFamily="34" charset="-120"/>
              </a:rPr>
              <a:t> and </a:t>
            </a:r>
            <a:r>
              <a:rPr lang="en-US" sz="2000" b="1" dirty="0">
                <a:solidFill>
                  <a:srgbClr val="1F3A2B"/>
                </a:solidFill>
                <a:latin typeface="Nunito Sans" pitchFamily="34" charset="0"/>
                <a:ea typeface="Nunito Sans" pitchFamily="34" charset="-122"/>
                <a:cs typeface="Nunito Sans" pitchFamily="34" charset="-120"/>
              </a:rPr>
              <a:t>justification</a:t>
            </a:r>
            <a:r>
              <a:rPr lang="en-US" sz="2000" dirty="0">
                <a:solidFill>
                  <a:srgbClr val="1F3A2B"/>
                </a:solidFill>
                <a:latin typeface="Nunito Sans" pitchFamily="34" charset="0"/>
                <a:ea typeface="Nunito Sans" pitchFamily="34" charset="-122"/>
                <a:cs typeface="Nunito Sans" pitchFamily="34" charset="-120"/>
              </a:rPr>
              <a:t>.</a:t>
            </a:r>
            <a:endParaRPr lang="en-US" sz="2000" dirty="0"/>
          </a:p>
        </p:txBody>
      </p:sp>
      <p:sp>
        <p:nvSpPr>
          <p:cNvPr id="4" name="Text 2"/>
          <p:cNvSpPr/>
          <p:nvPr/>
        </p:nvSpPr>
        <p:spPr>
          <a:xfrm>
            <a:off x="812800" y="2456160"/>
            <a:ext cx="7168388" cy="10922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1F3A2B"/>
                </a:solidFill>
                <a:latin typeface="Nunito Sans" pitchFamily="34" charset="0"/>
                <a:ea typeface="Nunito Sans" pitchFamily="34" charset="-122"/>
                <a:cs typeface="Nunito Sans" pitchFamily="34" charset="-120"/>
              </a:rPr>
              <a:t>Scepticism targets the </a:t>
            </a:r>
            <a:r>
              <a:rPr lang="en-US" sz="2000" b="1" dirty="0">
                <a:solidFill>
                  <a:srgbClr val="1F3A2B"/>
                </a:solidFill>
                <a:latin typeface="Nunito Sans" pitchFamily="34" charset="0"/>
                <a:ea typeface="Nunito Sans" pitchFamily="34" charset="-122"/>
                <a:cs typeface="Nunito Sans" pitchFamily="34" charset="-120"/>
              </a:rPr>
              <a:t>justification</a:t>
            </a:r>
            <a:r>
              <a:rPr lang="en-US" sz="2000" dirty="0">
                <a:solidFill>
                  <a:srgbClr val="1F3A2B"/>
                </a:solidFill>
                <a:latin typeface="Nunito Sans" pitchFamily="34" charset="0"/>
                <a:ea typeface="Nunito Sans" pitchFamily="34" charset="-122"/>
                <a:cs typeface="Nunito Sans" pitchFamily="34" charset="-120"/>
              </a:rPr>
              <a:t> link: if we can’t justify our beliefs, we lack knowledge — even when the beliefs are true.</a:t>
            </a:r>
            <a:endParaRPr lang="en-US" sz="2000" dirty="0"/>
          </a:p>
        </p:txBody>
      </p:sp>
      <p:sp>
        <p:nvSpPr>
          <p:cNvPr id="5" name="Text 3"/>
          <p:cNvSpPr/>
          <p:nvPr/>
        </p:nvSpPr>
        <p:spPr>
          <a:xfrm>
            <a:off x="812800" y="3675360"/>
            <a:ext cx="7168388"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1F3A2B"/>
                </a:solidFill>
                <a:latin typeface="Nunito Sans" pitchFamily="34" charset="0"/>
                <a:ea typeface="Nunito Sans" pitchFamily="34" charset="-122"/>
                <a:cs typeface="Nunito Sans" pitchFamily="34" charset="-120"/>
              </a:rPr>
              <a:t>Global scepticism goes further with </a:t>
            </a:r>
            <a:r>
              <a:rPr lang="en-US" sz="2000" b="1" dirty="0">
                <a:solidFill>
                  <a:srgbClr val="1F3A2B"/>
                </a:solidFill>
                <a:latin typeface="Nunito Sans" pitchFamily="34" charset="0"/>
                <a:ea typeface="Nunito Sans" pitchFamily="34" charset="-122"/>
                <a:cs typeface="Nunito Sans" pitchFamily="34" charset="-120"/>
              </a:rPr>
              <a:t>Agrippa’s trilemma</a:t>
            </a:r>
            <a:r>
              <a:rPr lang="en-US" sz="2000" dirty="0">
                <a:solidFill>
                  <a:srgbClr val="1F3A2B"/>
                </a:solidFill>
                <a:latin typeface="Nunito Sans" pitchFamily="34" charset="0"/>
                <a:ea typeface="Nunito Sans" pitchFamily="34" charset="-122"/>
                <a:cs typeface="Nunito Sans" pitchFamily="34" charset="-120"/>
              </a:rPr>
              <a:t>: every chain of reasons must stop, loop, or go on forever.</a:t>
            </a:r>
            <a:endParaRPr lang="en-US" sz="2000" dirty="0"/>
          </a:p>
        </p:txBody>
      </p:sp>
      <p:pic>
        <p:nvPicPr>
          <p:cNvPr id="6" name="Image 0" descr="A chain of reasons with three endings: a stop, a loop and an endless arrow">    </p:cNvPr>
          <p:cNvPicPr>
            <a:picLocks noChangeAspect="1"/>
          </p:cNvPicPr>
          <p:nvPr/>
        </p:nvPicPr>
        <p:blipFill>
          <a:blip r:embed="rId1"/>
          <a:srcRect l="0" r="0" t="0" b="0"/>
          <a:stretch/>
        </p:blipFill>
        <p:spPr>
          <a:xfrm>
            <a:off x="8077200" y="1592560"/>
            <a:ext cx="3302000" cy="2794000"/>
          </a:xfrm>
          <a:prstGeom prst="rect">
            <a:avLst/>
          </a:prstGeom>
        </p:spPr>
      </p:pic>
      <p:sp>
        <p:nvSpPr>
          <p:cNvPr id="7" name="Text 4"/>
          <p:cNvSpPr/>
          <p:nvPr/>
        </p:nvSpPr>
        <p:spPr>
          <a:xfrm>
            <a:off x="812800" y="4640560"/>
            <a:ext cx="3420517" cy="574030"/>
          </a:xfrm>
          <a:prstGeom prst="roundRect">
            <a:avLst>
              <a:gd name="adj" fmla="val 17699"/>
            </a:avLst>
          </a:prstGeom>
          <a:solidFill>
            <a:srgbClr val="FBF6E6"/>
          </a:solidFill>
          <a:ln/>
        </p:spPr>
        <p:txBody>
          <a:bodyPr wrap="square" lIns="148042" tIns="97242" rIns="56095" bIns="71842" rtlCol="0" anchor="t">
            <a:normAutofit/>
          </a:bodyPr>
          <a:lstStyle/>
          <a:p>
            <a:pPr algn="l" indent="0" marL="0">
              <a:lnSpc>
                <a:spcPts val="2520"/>
              </a:lnSpc>
              <a:buNone/>
            </a:pPr>
            <a:r>
              <a:rPr lang="en-US" sz="1800" b="1" dirty="0">
                <a:solidFill>
                  <a:srgbClr val="1F3A2B"/>
                </a:solidFill>
                <a:latin typeface="Nunito Sans" pitchFamily="34" charset="0"/>
                <a:ea typeface="Nunito Sans" pitchFamily="34" charset="-122"/>
                <a:cs typeface="Nunito Sans" pitchFamily="34" charset="-120"/>
              </a:rPr>
              <a:t>Stop</a:t>
            </a:r>
            <a:r>
              <a:rPr lang="en-US" sz="1800" dirty="0">
                <a:solidFill>
                  <a:srgbClr val="1F3A2B"/>
                </a:solidFill>
                <a:latin typeface="Nunito Sans" pitchFamily="34" charset="0"/>
                <a:ea typeface="Nunito Sans" pitchFamily="34" charset="-122"/>
                <a:cs typeface="Nunito Sans" pitchFamily="34" charset="-120"/>
              </a:rPr>
              <a:t> → foundationalism</a:t>
            </a:r>
            <a:endParaRPr lang="en-US" sz="1800" dirty="0"/>
          </a:p>
        </p:txBody>
      </p:sp>
      <p:sp>
        <p:nvSpPr>
          <p:cNvPr id="8" name="Text 5"/>
          <p:cNvSpPr/>
          <p:nvPr/>
        </p:nvSpPr>
        <p:spPr>
          <a:xfrm>
            <a:off x="4385717" y="4640560"/>
            <a:ext cx="3420566" cy="574030"/>
          </a:xfrm>
          <a:prstGeom prst="roundRect">
            <a:avLst>
              <a:gd name="adj" fmla="val 17699"/>
            </a:avLst>
          </a:prstGeom>
          <a:solidFill>
            <a:srgbClr val="FBF6E6"/>
          </a:solidFill>
          <a:ln/>
        </p:spPr>
        <p:txBody>
          <a:bodyPr wrap="square" lIns="148042" tIns="97242" rIns="56093" bIns="71842" rtlCol="0" anchor="t">
            <a:normAutofit/>
          </a:bodyPr>
          <a:lstStyle/>
          <a:p>
            <a:pPr algn="l" indent="0" marL="0">
              <a:lnSpc>
                <a:spcPts val="2520"/>
              </a:lnSpc>
              <a:buNone/>
            </a:pPr>
            <a:r>
              <a:rPr lang="en-US" sz="1800" b="1" dirty="0">
                <a:solidFill>
                  <a:srgbClr val="1F3A2B"/>
                </a:solidFill>
                <a:latin typeface="Nunito Sans" pitchFamily="34" charset="0"/>
                <a:ea typeface="Nunito Sans" pitchFamily="34" charset="-122"/>
                <a:cs typeface="Nunito Sans" pitchFamily="34" charset="-120"/>
              </a:rPr>
              <a:t>Loop</a:t>
            </a:r>
            <a:r>
              <a:rPr lang="en-US" sz="1800" dirty="0">
                <a:solidFill>
                  <a:srgbClr val="1F3A2B"/>
                </a:solidFill>
                <a:latin typeface="Nunito Sans" pitchFamily="34" charset="0"/>
                <a:ea typeface="Nunito Sans" pitchFamily="34" charset="-122"/>
                <a:cs typeface="Nunito Sans" pitchFamily="34" charset="-120"/>
              </a:rPr>
              <a:t> → coherentism</a:t>
            </a:r>
            <a:endParaRPr lang="en-US" sz="1800" dirty="0"/>
          </a:p>
        </p:txBody>
      </p:sp>
      <p:sp>
        <p:nvSpPr>
          <p:cNvPr id="9" name="Text 6"/>
          <p:cNvSpPr/>
          <p:nvPr/>
        </p:nvSpPr>
        <p:spPr>
          <a:xfrm>
            <a:off x="7958683" y="4640560"/>
            <a:ext cx="3420517" cy="574030"/>
          </a:xfrm>
          <a:prstGeom prst="roundRect">
            <a:avLst>
              <a:gd name="adj" fmla="val 17699"/>
            </a:avLst>
          </a:prstGeom>
          <a:solidFill>
            <a:srgbClr val="FBF6E6"/>
          </a:solidFill>
          <a:ln/>
        </p:spPr>
        <p:txBody>
          <a:bodyPr wrap="square" lIns="148042" tIns="97242" rIns="56095" bIns="71842" rtlCol="0" anchor="t">
            <a:normAutofit/>
          </a:bodyPr>
          <a:lstStyle/>
          <a:p>
            <a:pPr algn="l" indent="0" marL="0">
              <a:lnSpc>
                <a:spcPts val="2520"/>
              </a:lnSpc>
              <a:buNone/>
            </a:pPr>
            <a:r>
              <a:rPr lang="en-US" sz="1800" b="1" dirty="0">
                <a:solidFill>
                  <a:srgbClr val="1F3A2B"/>
                </a:solidFill>
                <a:latin typeface="Nunito Sans" pitchFamily="34" charset="0"/>
                <a:ea typeface="Nunito Sans" pitchFamily="34" charset="-122"/>
                <a:cs typeface="Nunito Sans" pitchFamily="34" charset="-120"/>
              </a:rPr>
              <a:t>Forever</a:t>
            </a:r>
            <a:r>
              <a:rPr lang="en-US" sz="1800" dirty="0">
                <a:solidFill>
                  <a:srgbClr val="1F3A2B"/>
                </a:solidFill>
                <a:latin typeface="Nunito Sans" pitchFamily="34" charset="0"/>
                <a:ea typeface="Nunito Sans" pitchFamily="34" charset="-122"/>
                <a:cs typeface="Nunito Sans" pitchFamily="34" charset="-120"/>
              </a:rPr>
              <a:t> → infinitism</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DCEBD5"/>
        </a:solidFill>
      </p:bgPr>
    </p:bg>
    <p:spTree>
      <p:nvGrpSpPr>
        <p:cNvPr id="1" name=""/>
        <p:cNvGrpSpPr/>
        <p:nvPr/>
      </p:nvGrpSpPr>
      <p:grpSpPr>
        <a:xfrm>
          <a:off x="0" y="0"/>
          <a:ext cx="0" cy="0"/>
          <a:chOff x="0" y="0"/>
          <a:chExt cx="0" cy="0"/>
        </a:xfrm>
      </p:grpSpPr>
      <p:sp>
        <p:nvSpPr>
          <p:cNvPr id="2" name="Text 0"/>
          <p:cNvSpPr/>
          <p:nvPr/>
        </p:nvSpPr>
        <p:spPr>
          <a:xfrm>
            <a:off x="812800" y="81280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spc="100" kern="0" dirty="0">
                <a:solidFill>
                  <a:srgbClr val="5C4410"/>
                </a:solidFill>
                <a:latin typeface="Nunito Sans" pitchFamily="34" charset="0"/>
                <a:ea typeface="Nunito Sans" pitchFamily="34" charset="-122"/>
                <a:cs typeface="Nunito Sans" pitchFamily="34" charset="-120"/>
              </a:rPr>
              <a:t>REPLY 1 · THE CHAIN STOPS</a:t>
            </a:r>
            <a:endParaRPr lang="en-US" sz="1600" dirty="0"/>
          </a:p>
        </p:txBody>
      </p:sp>
      <p:sp>
        <p:nvSpPr>
          <p:cNvPr id="3" name="Text 1"/>
          <p:cNvSpPr/>
          <p:nvPr>
            <p:ph type="title"/>
          </p:nvPr>
        </p:nvSpPr>
        <p:spPr>
          <a:xfrm>
            <a:off x="812800" y="130046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F3A2B"/>
                </a:solidFill>
                <a:latin typeface="Domine" pitchFamily="18" charset="0"/>
                <a:ea typeface="Domine" pitchFamily="18" charset="-122"/>
                <a:cs typeface="Domine" pitchFamily="18" charset="-120"/>
              </a:rPr>
              <a:t>Foundationalism explained</a:t>
            </a:r>
            <a:endParaRPr lang="en-US" sz="3600" dirty="0"/>
          </a:p>
        </p:txBody>
      </p:sp>
      <p:pic>
        <p:nvPicPr>
          <p:cNvPr id="4" name="Image 0" descr="A building standing on a solid foundation layer">    </p:cNvPr>
          <p:cNvPicPr>
            <a:picLocks noChangeAspect="1"/>
          </p:cNvPicPr>
          <p:nvPr/>
        </p:nvPicPr>
        <p:blipFill>
          <a:blip r:embed="rId1"/>
          <a:srcRect l="0" r="0" t="0" b="0"/>
          <a:stretch/>
        </p:blipFill>
        <p:spPr>
          <a:xfrm>
            <a:off x="812800" y="2029420"/>
            <a:ext cx="1397000" cy="1270000"/>
          </a:xfrm>
          <a:prstGeom prst="rect">
            <a:avLst/>
          </a:prstGeom>
        </p:spPr>
      </p:pic>
      <p:sp>
        <p:nvSpPr>
          <p:cNvPr id="5" name="Text 2"/>
          <p:cNvSpPr/>
          <p:nvPr/>
        </p:nvSpPr>
        <p:spPr>
          <a:xfrm>
            <a:off x="2463800" y="2308820"/>
            <a:ext cx="9182862"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1F3A2B"/>
                </a:solidFill>
                <a:latin typeface="Nunito Sans" pitchFamily="34" charset="0"/>
                <a:ea typeface="Nunito Sans" pitchFamily="34" charset="-122"/>
                <a:cs typeface="Nunito Sans" pitchFamily="34" charset="-120"/>
              </a:rPr>
              <a:t>Rejects Agrippa’s premise 2. Some beliefs are </a:t>
            </a:r>
            <a:r>
              <a:rPr lang="en-US" sz="2000" b="1" dirty="0">
                <a:solidFill>
                  <a:srgbClr val="1F3A2B"/>
                </a:solidFill>
                <a:latin typeface="Nunito Sans" pitchFamily="34" charset="0"/>
                <a:ea typeface="Nunito Sans" pitchFamily="34" charset="-122"/>
                <a:cs typeface="Nunito Sans" pitchFamily="34" charset="-120"/>
              </a:rPr>
              <a:t>basic</a:t>
            </a:r>
            <a:r>
              <a:rPr lang="en-US" sz="2000" dirty="0">
                <a:solidFill>
                  <a:srgbClr val="1F3A2B"/>
                </a:solidFill>
                <a:latin typeface="Nunito Sans" pitchFamily="34" charset="0"/>
                <a:ea typeface="Nunito Sans" pitchFamily="34" charset="-122"/>
                <a:cs typeface="Nunito Sans" pitchFamily="34" charset="-120"/>
              </a:rPr>
              <a:t>: justified, but </a:t>
            </a:r>
            <a:r>
              <a:rPr lang="en-US" sz="2000" b="1" dirty="0">
                <a:solidFill>
                  <a:srgbClr val="1F3A2B"/>
                </a:solidFill>
                <a:latin typeface="Nunito Sans" pitchFamily="34" charset="0"/>
                <a:ea typeface="Nunito Sans" pitchFamily="34" charset="-122"/>
                <a:cs typeface="Nunito Sans" pitchFamily="34" charset="-120"/>
              </a:rPr>
              <a:t>not</a:t>
            </a:r>
            <a:r>
              <a:rPr lang="en-US" sz="2000" dirty="0">
                <a:solidFill>
                  <a:srgbClr val="1F3A2B"/>
                </a:solidFill>
                <a:latin typeface="Nunito Sans" pitchFamily="34" charset="0"/>
                <a:ea typeface="Nunito Sans" pitchFamily="34" charset="-122"/>
                <a:cs typeface="Nunito Sans" pitchFamily="34" charset="-120"/>
              </a:rPr>
              <a:t> by other beliefs. Every other justified belief rests on them.</a:t>
            </a:r>
            <a:endParaRPr lang="en-US" sz="2000" dirty="0"/>
          </a:p>
        </p:txBody>
      </p:sp>
      <p:sp>
        <p:nvSpPr>
          <p:cNvPr id="6" name="Shape 3"/>
          <p:cNvSpPr/>
          <p:nvPr/>
        </p:nvSpPr>
        <p:spPr>
          <a:xfrm>
            <a:off x="812800" y="3502620"/>
            <a:ext cx="3403600" cy="2008981"/>
          </a:xfrm>
          <a:prstGeom prst="roundRect">
            <a:avLst>
              <a:gd name="adj" fmla="val 6322"/>
            </a:avLst>
          </a:prstGeom>
          <a:solidFill>
            <a:srgbClr val="FBF6E6"/>
          </a:solidFill>
          <a:ln/>
        </p:spPr>
      </p:sp>
      <p:sp>
        <p:nvSpPr>
          <p:cNvPr id="7" name="Text 4"/>
          <p:cNvSpPr/>
          <p:nvPr/>
        </p:nvSpPr>
        <p:spPr>
          <a:xfrm>
            <a:off x="1016000" y="3705820"/>
            <a:ext cx="3087116"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3A2B"/>
                </a:solidFill>
                <a:latin typeface="Domine" pitchFamily="18" charset="0"/>
                <a:ea typeface="Domine" pitchFamily="18" charset="-122"/>
                <a:cs typeface="Domine" pitchFamily="18" charset="-120"/>
              </a:rPr>
              <a:t>What justifies basic beliefs?</a:t>
            </a:r>
            <a:endParaRPr lang="en-US" sz="2000" dirty="0"/>
          </a:p>
        </p:txBody>
      </p:sp>
      <p:sp>
        <p:nvSpPr>
          <p:cNvPr id="8" name="Text 5"/>
          <p:cNvSpPr/>
          <p:nvPr/>
        </p:nvSpPr>
        <p:spPr>
          <a:xfrm>
            <a:off x="1016000" y="4378920"/>
            <a:ext cx="3087116" cy="951111"/>
          </a:xfrm>
          <a:prstGeom prst="rect">
            <a:avLst/>
          </a:prstGeom>
          <a:noFill/>
          <a:ln/>
        </p:spPr>
        <p:txBody>
          <a:bodyPr wrap="square" lIns="0" tIns="0" rIns="0" bIns="0" rtlCol="0" anchor="t">
            <a:normAutofit/>
          </a:bodyPr>
          <a:lstStyle/>
          <a:p>
            <a:pPr algn="l" indent="0" marL="0">
              <a:lnSpc>
                <a:spcPts val="2430"/>
              </a:lnSpc>
              <a:buNone/>
            </a:pPr>
            <a:r>
              <a:rPr lang="en-US" sz="1800" b="1" dirty="0">
                <a:solidFill>
                  <a:srgbClr val="1F3A2B"/>
                </a:solidFill>
                <a:latin typeface="Nunito Sans" pitchFamily="34" charset="0"/>
                <a:ea typeface="Nunito Sans" pitchFamily="34" charset="-122"/>
                <a:cs typeface="Nunito Sans" pitchFamily="34" charset="-120"/>
              </a:rPr>
              <a:t>Experience.</a:t>
            </a:r>
            <a:r>
              <a:rPr lang="en-US" sz="1800" dirty="0">
                <a:solidFill>
                  <a:srgbClr val="1F3A2B"/>
                </a:solidFill>
                <a:latin typeface="Nunito Sans" pitchFamily="34" charset="0"/>
                <a:ea typeface="Nunito Sans" pitchFamily="34" charset="-122"/>
                <a:cs typeface="Nunito Sans" pitchFamily="34" charset="-120"/>
              </a:rPr>
              <a:t> Experiences represent the world, like beliefs, but are not beliefs.</a:t>
            </a:r>
            <a:endParaRPr lang="en-US" sz="1800" dirty="0"/>
          </a:p>
        </p:txBody>
      </p:sp>
      <p:sp>
        <p:nvSpPr>
          <p:cNvPr id="9" name="Shape 6"/>
          <p:cNvSpPr/>
          <p:nvPr/>
        </p:nvSpPr>
        <p:spPr>
          <a:xfrm>
            <a:off x="4394200" y="3502620"/>
            <a:ext cx="3403600" cy="2008981"/>
          </a:xfrm>
          <a:prstGeom prst="roundRect">
            <a:avLst>
              <a:gd name="adj" fmla="val 6322"/>
            </a:avLst>
          </a:prstGeom>
          <a:solidFill>
            <a:srgbClr val="FBF6E6"/>
          </a:solidFill>
          <a:ln/>
        </p:spPr>
      </p:sp>
      <p:sp>
        <p:nvSpPr>
          <p:cNvPr id="10" name="Text 7"/>
          <p:cNvSpPr/>
          <p:nvPr/>
        </p:nvSpPr>
        <p:spPr>
          <a:xfrm>
            <a:off x="4597400" y="3705820"/>
            <a:ext cx="308711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3A2B"/>
                </a:solidFill>
                <a:latin typeface="Domine" pitchFamily="18" charset="0"/>
                <a:ea typeface="Domine" pitchFamily="18" charset="-122"/>
                <a:cs typeface="Domine" pitchFamily="18" charset="-120"/>
              </a:rPr>
              <a:t>Traditional</a:t>
            </a:r>
            <a:endParaRPr lang="en-US" sz="2000" dirty="0"/>
          </a:p>
        </p:txBody>
      </p:sp>
      <p:sp>
        <p:nvSpPr>
          <p:cNvPr id="11" name="Text 8"/>
          <p:cNvSpPr/>
          <p:nvPr/>
        </p:nvSpPr>
        <p:spPr>
          <a:xfrm>
            <a:off x="4597400" y="4074120"/>
            <a:ext cx="3087116" cy="125968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1F3A2B"/>
                </a:solidFill>
                <a:latin typeface="Nunito Sans" pitchFamily="34" charset="0"/>
                <a:ea typeface="Nunito Sans" pitchFamily="34" charset="-122"/>
                <a:cs typeface="Nunito Sans" pitchFamily="34" charset="-120"/>
              </a:rPr>
              <a:t>Basic beliefs are only about experience: “I seem to see a tomato.” We can’t be wrong here.</a:t>
            </a:r>
            <a:endParaRPr lang="en-US" sz="1800" dirty="0"/>
          </a:p>
        </p:txBody>
      </p:sp>
      <p:sp>
        <p:nvSpPr>
          <p:cNvPr id="12" name="Shape 9"/>
          <p:cNvSpPr/>
          <p:nvPr/>
        </p:nvSpPr>
        <p:spPr>
          <a:xfrm>
            <a:off x="7975600" y="3502620"/>
            <a:ext cx="3403600" cy="2008981"/>
          </a:xfrm>
          <a:prstGeom prst="roundRect">
            <a:avLst>
              <a:gd name="adj" fmla="val 6322"/>
            </a:avLst>
          </a:prstGeom>
          <a:solidFill>
            <a:srgbClr val="FBF6E6"/>
          </a:solidFill>
          <a:ln/>
        </p:spPr>
      </p:sp>
      <p:sp>
        <p:nvSpPr>
          <p:cNvPr id="13" name="Text 10"/>
          <p:cNvSpPr/>
          <p:nvPr/>
        </p:nvSpPr>
        <p:spPr>
          <a:xfrm>
            <a:off x="8178800" y="3705820"/>
            <a:ext cx="308711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3A2B"/>
                </a:solidFill>
                <a:latin typeface="Domine" pitchFamily="18" charset="0"/>
                <a:ea typeface="Domine" pitchFamily="18" charset="-122"/>
                <a:cs typeface="Domine" pitchFamily="18" charset="-120"/>
              </a:rPr>
              <a:t>Moderate</a:t>
            </a:r>
            <a:endParaRPr lang="en-US" sz="2000" dirty="0"/>
          </a:p>
        </p:txBody>
      </p:sp>
      <p:sp>
        <p:nvSpPr>
          <p:cNvPr id="14" name="Text 11"/>
          <p:cNvSpPr/>
          <p:nvPr/>
        </p:nvSpPr>
        <p:spPr>
          <a:xfrm>
            <a:off x="8178800" y="4074120"/>
            <a:ext cx="3087116" cy="95111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1F3A2B"/>
                </a:solidFill>
                <a:latin typeface="Nunito Sans" pitchFamily="34" charset="0"/>
                <a:ea typeface="Nunito Sans" pitchFamily="34" charset="-122"/>
                <a:cs typeface="Nunito Sans" pitchFamily="34" charset="-120"/>
              </a:rPr>
              <a:t>Experience can justify world beliefs directly: “There is a tomato.”</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EBC8"/>
        </a:solidFill>
      </p:bgPr>
    </p:bg>
    <p:spTree>
      <p:nvGrpSpPr>
        <p:cNvPr id="1" name=""/>
        <p:cNvGrpSpPr/>
        <p:nvPr/>
      </p:nvGrpSpPr>
      <p:grpSpPr>
        <a:xfrm>
          <a:off x="0" y="0"/>
          <a:ext cx="0" cy="0"/>
          <a:chOff x="0" y="0"/>
          <a:chExt cx="0" cy="0"/>
        </a:xfrm>
      </p:grpSpPr>
      <p:sp>
        <p:nvSpPr>
          <p:cNvPr id="2" name="Text 0"/>
          <p:cNvSpPr/>
          <p:nvPr/>
        </p:nvSpPr>
        <p:spPr>
          <a:xfrm>
            <a:off x="812800" y="81280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spc="100" kern="0" dirty="0">
                <a:solidFill>
                  <a:srgbClr val="5C4410"/>
                </a:solidFill>
                <a:latin typeface="Nunito Sans" pitchFamily="34" charset="0"/>
                <a:ea typeface="Nunito Sans" pitchFamily="34" charset="-122"/>
                <a:cs typeface="Nunito Sans" pitchFamily="34" charset="-120"/>
              </a:rPr>
              <a:t>REPLY 1 · EVALUATION</a:t>
            </a:r>
            <a:endParaRPr lang="en-US" sz="1600" dirty="0"/>
          </a:p>
        </p:txBody>
      </p:sp>
      <p:sp>
        <p:nvSpPr>
          <p:cNvPr id="3" name="Text 1"/>
          <p:cNvSpPr/>
          <p:nvPr>
            <p:ph type="title"/>
          </p:nvPr>
        </p:nvSpPr>
        <p:spPr>
          <a:xfrm>
            <a:off x="812800" y="130046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F3A2B"/>
                </a:solidFill>
                <a:latin typeface="Domine" pitchFamily="18" charset="0"/>
                <a:ea typeface="Domine" pitchFamily="18" charset="-122"/>
                <a:cs typeface="Domine" pitchFamily="18" charset="-120"/>
              </a:rPr>
              <a:t>Evaluating foundationalism</a:t>
            </a:r>
            <a:endParaRPr lang="en-US" sz="3600" dirty="0"/>
          </a:p>
        </p:txBody>
      </p:sp>
      <p:sp>
        <p:nvSpPr>
          <p:cNvPr id="4" name="Shape 2"/>
          <p:cNvSpPr/>
          <p:nvPr/>
        </p:nvSpPr>
        <p:spPr>
          <a:xfrm>
            <a:off x="812800" y="2029420"/>
            <a:ext cx="4226570" cy="2715022"/>
          </a:xfrm>
          <a:prstGeom prst="roundRect">
            <a:avLst>
              <a:gd name="adj" fmla="val 4678"/>
            </a:avLst>
          </a:prstGeom>
          <a:solidFill>
            <a:srgbClr val="FBF6E6"/>
          </a:solidFill>
          <a:ln/>
        </p:spPr>
      </p:sp>
      <p:sp>
        <p:nvSpPr>
          <p:cNvPr id="5" name="Shape 3"/>
          <p:cNvSpPr/>
          <p:nvPr/>
        </p:nvSpPr>
        <p:spPr>
          <a:xfrm>
            <a:off x="812800" y="2029420"/>
            <a:ext cx="4226570" cy="2715022"/>
          </a:xfrm>
          <a:custGeom>
            <a:avLst/>
            <a:gdLst/>
            <a:ahLst/>
            <a:cxnLst/>
            <a:rect l="l" t="t" r="r" b="b"/>
            <a:pathLst>
              <a:path w="4226570" h="2715022">
                <a:moveTo>
                  <a:pt x="0" y="127000"/>
                </a:moveTo>
                <a:lnTo>
                  <a:pt x="0" y="127000"/>
                </a:lnTo>
                <a:arcTo hR="127000" wR="127000" stAng="10800000" swAng="5400000"/>
                <a:lnTo>
                  <a:pt x="4099570" y="0"/>
                </a:lnTo>
                <a:arcTo hR="127000" wR="127000" stAng="16200000" swAng="5400000"/>
                <a:lnTo>
                  <a:pt x="4226570" y="127000"/>
                </a:lnTo>
                <a:arcTo hR="50800" wR="127000" stAng="0" swAng="-5400000"/>
                <a:lnTo>
                  <a:pt x="127000" y="76200"/>
                </a:lnTo>
                <a:arcTo hR="50800" wR="127000" stAng="16200000" swAng="-5400000"/>
                <a:close/>
              </a:path>
            </a:pathLst>
          </a:custGeom>
          <a:solidFill>
            <a:srgbClr val="5E8C61"/>
          </a:solidFill>
          <a:ln/>
        </p:spPr>
      </p:sp>
      <p:sp>
        <p:nvSpPr>
          <p:cNvPr id="6" name="Text 4"/>
          <p:cNvSpPr/>
          <p:nvPr/>
        </p:nvSpPr>
        <p:spPr>
          <a:xfrm>
            <a:off x="1016000" y="2308820"/>
            <a:ext cx="393477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3A2B"/>
                </a:solidFill>
                <a:latin typeface="Domine" pitchFamily="18" charset="0"/>
                <a:ea typeface="Domine" pitchFamily="18" charset="-122"/>
                <a:cs typeface="Domine" pitchFamily="18" charset="-120"/>
              </a:rPr>
              <a:t>Strengths</a:t>
            </a:r>
            <a:endParaRPr lang="en-US" sz="2000" dirty="0"/>
          </a:p>
        </p:txBody>
      </p:sp>
      <p:sp>
        <p:nvSpPr>
          <p:cNvPr id="7" name="Text 5"/>
          <p:cNvSpPr/>
          <p:nvPr/>
        </p:nvSpPr>
        <p:spPr>
          <a:xfrm>
            <a:off x="1059434" y="2689820"/>
            <a:ext cx="3883721" cy="1876822"/>
          </a:xfrm>
          <a:prstGeom prst="rect">
            <a:avLst/>
          </a:prstGeom>
          <a:noFill/>
          <a:ln/>
        </p:spPr>
        <p:txBody>
          <a:bodyPr wrap="square" lIns="0" tIns="0" rIns="0" bIns="0" rtlCol="0" anchor="t">
            <a:normAutofit/>
          </a:bodyPr>
          <a:lstStyle/>
          <a:p>
            <a:pPr algn="l" marL="210566" indent="-210566">
              <a:lnSpc>
                <a:spcPts val="2430"/>
              </a:lnSpc>
              <a:buSzPct val="100000"/>
              <a:buChar char="•"/>
            </a:pPr>
            <a:r>
              <a:rPr lang="en-US" sz="1800" dirty="0">
                <a:solidFill>
                  <a:srgbClr val="1F3A2B"/>
                </a:solidFill>
                <a:latin typeface="Nunito Sans" pitchFamily="34" charset="0"/>
                <a:ea typeface="Nunito Sans" pitchFamily="34" charset="-122"/>
                <a:cs typeface="Nunito Sans" pitchFamily="34" charset="-120"/>
              </a:rPr>
              <a:t>Chains are finite and never circular.</a:t>
            </a:r>
            <a:endParaRPr lang="en-US" sz="1800" dirty="0"/>
          </a:p>
          <a:p>
            <a:pPr algn="l" marL="210566" indent="-210566">
              <a:lnSpc>
                <a:spcPts val="2430"/>
              </a:lnSpc>
              <a:buSzPct val="100000"/>
              <a:buChar char="•"/>
            </a:pPr>
            <a:r>
              <a:rPr lang="en-US" sz="1800" dirty="0">
                <a:solidFill>
                  <a:srgbClr val="1F3A2B"/>
                </a:solidFill>
                <a:latin typeface="Nunito Sans" pitchFamily="34" charset="0"/>
                <a:ea typeface="Nunito Sans" pitchFamily="34" charset="-122"/>
                <a:cs typeface="Nunito Sans" pitchFamily="34" charset="-120"/>
              </a:rPr>
              <a:t>Traditional version: a foundation we can’t be wrong about.</a:t>
            </a:r>
            <a:endParaRPr lang="en-US" sz="1800" dirty="0"/>
          </a:p>
          <a:p>
            <a:pPr algn="l" marL="210566" indent="-210566">
              <a:lnSpc>
                <a:spcPts val="2430"/>
              </a:lnSpc>
              <a:buSzPct val="100000"/>
              <a:buChar char="•"/>
            </a:pPr>
            <a:r>
              <a:rPr lang="en-US" sz="1800" dirty="0">
                <a:solidFill>
                  <a:srgbClr val="1F3A2B"/>
                </a:solidFill>
                <a:latin typeface="Nunito Sans" pitchFamily="34" charset="0"/>
                <a:ea typeface="Nunito Sans" pitchFamily="34" charset="-122"/>
                <a:cs typeface="Nunito Sans" pitchFamily="34" charset="-120"/>
              </a:rPr>
              <a:t>Moderate version: fits how we actually know the world.</a:t>
            </a:r>
            <a:endParaRPr lang="en-US" sz="1800" dirty="0"/>
          </a:p>
        </p:txBody>
      </p:sp>
      <p:sp>
        <p:nvSpPr>
          <p:cNvPr id="8" name="Shape 6"/>
          <p:cNvSpPr/>
          <p:nvPr/>
        </p:nvSpPr>
        <p:spPr>
          <a:xfrm>
            <a:off x="5242570" y="2029420"/>
            <a:ext cx="6136630" cy="2715022"/>
          </a:xfrm>
          <a:prstGeom prst="roundRect">
            <a:avLst>
              <a:gd name="adj" fmla="val 4678"/>
            </a:avLst>
          </a:prstGeom>
          <a:solidFill>
            <a:srgbClr val="FBF6E6"/>
          </a:solidFill>
          <a:ln/>
        </p:spPr>
      </p:sp>
      <p:sp>
        <p:nvSpPr>
          <p:cNvPr id="9" name="Shape 7"/>
          <p:cNvSpPr/>
          <p:nvPr/>
        </p:nvSpPr>
        <p:spPr>
          <a:xfrm>
            <a:off x="5242570" y="2029420"/>
            <a:ext cx="6136630" cy="2715022"/>
          </a:xfrm>
          <a:custGeom>
            <a:avLst/>
            <a:gdLst/>
            <a:ahLst/>
            <a:cxnLst/>
            <a:rect l="l" t="t" r="r" b="b"/>
            <a:pathLst>
              <a:path w="6136630" h="2715022">
                <a:moveTo>
                  <a:pt x="0" y="127000"/>
                </a:moveTo>
                <a:lnTo>
                  <a:pt x="0" y="127000"/>
                </a:lnTo>
                <a:arcTo hR="127000" wR="127000" stAng="10800000" swAng="5400000"/>
                <a:lnTo>
                  <a:pt x="6009630" y="0"/>
                </a:lnTo>
                <a:arcTo hR="127000" wR="127000" stAng="16200000" swAng="5400000"/>
                <a:lnTo>
                  <a:pt x="6136630" y="127000"/>
                </a:lnTo>
                <a:arcTo hR="50800" wR="127000" stAng="0" swAng="-5400000"/>
                <a:lnTo>
                  <a:pt x="127000" y="76200"/>
                </a:lnTo>
                <a:arcTo hR="50800" wR="127000" stAng="16200000" swAng="-5400000"/>
                <a:close/>
              </a:path>
            </a:pathLst>
          </a:custGeom>
          <a:solidFill>
            <a:srgbClr val="B8892B"/>
          </a:solidFill>
          <a:ln/>
        </p:spPr>
      </p:sp>
      <p:sp>
        <p:nvSpPr>
          <p:cNvPr id="10" name="Text 8"/>
          <p:cNvSpPr/>
          <p:nvPr/>
        </p:nvSpPr>
        <p:spPr>
          <a:xfrm>
            <a:off x="5445770" y="2308820"/>
            <a:ext cx="590213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3A2B"/>
                </a:solidFill>
                <a:latin typeface="Domine" pitchFamily="18" charset="0"/>
                <a:ea typeface="Domine" pitchFamily="18" charset="-122"/>
                <a:cs typeface="Domine" pitchFamily="18" charset="-120"/>
              </a:rPr>
              <a:t>Problems</a:t>
            </a:r>
            <a:endParaRPr lang="en-US" sz="2000" dirty="0"/>
          </a:p>
        </p:txBody>
      </p:sp>
      <p:sp>
        <p:nvSpPr>
          <p:cNvPr id="11" name="Text 9"/>
          <p:cNvSpPr/>
          <p:nvPr/>
        </p:nvSpPr>
        <p:spPr>
          <a:xfrm>
            <a:off x="5489204" y="2689820"/>
            <a:ext cx="5851083" cy="1876822"/>
          </a:xfrm>
          <a:prstGeom prst="rect">
            <a:avLst/>
          </a:prstGeom>
          <a:noFill/>
          <a:ln/>
        </p:spPr>
        <p:txBody>
          <a:bodyPr wrap="square" lIns="0" tIns="0" rIns="0" bIns="0" rtlCol="0" anchor="t">
            <a:normAutofit/>
          </a:bodyPr>
          <a:lstStyle/>
          <a:p>
            <a:pPr algn="l" marL="210566" indent="-210566">
              <a:lnSpc>
                <a:spcPts val="2430"/>
              </a:lnSpc>
              <a:buSzPct val="100000"/>
              <a:buChar char="•"/>
            </a:pPr>
            <a:r>
              <a:rPr lang="en-US" sz="1800" b="1" dirty="0">
                <a:solidFill>
                  <a:srgbClr val="1F3A2B"/>
                </a:solidFill>
                <a:latin typeface="Nunito Sans" pitchFamily="34" charset="0"/>
                <a:ea typeface="Nunito Sans" pitchFamily="34" charset="-122"/>
                <a:cs typeface="Nunito Sans" pitchFamily="34" charset="-120"/>
              </a:rPr>
              <a:t>Mode of hypothesis:</a:t>
            </a:r>
            <a:r>
              <a:rPr lang="en-US" sz="1800" dirty="0">
                <a:solidFill>
                  <a:srgbClr val="1F3A2B"/>
                </a:solidFill>
                <a:latin typeface="Nunito Sans" pitchFamily="34" charset="0"/>
                <a:ea typeface="Nunito Sans" pitchFamily="34" charset="-122"/>
                <a:cs typeface="Nunito Sans" pitchFamily="34" charset="-120"/>
              </a:rPr>
              <a:t> if no belief supports a basic belief, isn’t it a blind assertion?</a:t>
            </a:r>
            <a:endParaRPr lang="en-US" sz="1800" dirty="0"/>
          </a:p>
          <a:p>
            <a:pPr algn="l" marL="210566" indent="-210566">
              <a:lnSpc>
                <a:spcPts val="2430"/>
              </a:lnSpc>
              <a:buSzPct val="100000"/>
              <a:buChar char="•"/>
            </a:pPr>
            <a:r>
              <a:rPr lang="en-US" sz="1800" b="1" dirty="0">
                <a:solidFill>
                  <a:srgbClr val="1F3A2B"/>
                </a:solidFill>
                <a:latin typeface="Nunito Sans" pitchFamily="34" charset="0"/>
                <a:ea typeface="Nunito Sans" pitchFamily="34" charset="-122"/>
                <a:cs typeface="Nunito Sans" pitchFamily="34" charset="-120"/>
              </a:rPr>
              <a:t>Why does experience justify?</a:t>
            </a:r>
            <a:r>
              <a:rPr lang="en-US" sz="1800" dirty="0">
                <a:solidFill>
                  <a:srgbClr val="1F3A2B"/>
                </a:solidFill>
                <a:latin typeface="Nunito Sans" pitchFamily="34" charset="0"/>
                <a:ea typeface="Nunito Sans" pitchFamily="34" charset="-122"/>
                <a:cs typeface="Nunito Sans" pitchFamily="34" charset="-120"/>
              </a:rPr>
              <a:t> Is it a brute fact, our own reflection, or a reliable link to the world?</a:t>
            </a:r>
            <a:endParaRPr lang="en-US" sz="1800" dirty="0"/>
          </a:p>
          <a:p>
            <a:pPr algn="l" marL="210566" indent="-210566">
              <a:lnSpc>
                <a:spcPts val="2430"/>
              </a:lnSpc>
              <a:buSzPct val="100000"/>
              <a:buChar char="•"/>
            </a:pPr>
            <a:r>
              <a:rPr lang="en-US" sz="1800" b="1" dirty="0">
                <a:solidFill>
                  <a:srgbClr val="1F3A2B"/>
                </a:solidFill>
                <a:latin typeface="Nunito Sans" pitchFamily="34" charset="0"/>
                <a:ea typeface="Nunito Sans" pitchFamily="34" charset="-122"/>
                <a:cs typeface="Nunito Sans" pitchFamily="34" charset="-120"/>
              </a:rPr>
              <a:t>Risk both ways:</a:t>
            </a:r>
            <a:r>
              <a:rPr lang="en-US" sz="1800" dirty="0">
                <a:solidFill>
                  <a:srgbClr val="1F3A2B"/>
                </a:solidFill>
                <a:latin typeface="Nunito Sans" pitchFamily="34" charset="0"/>
                <a:ea typeface="Nunito Sans" pitchFamily="34" charset="-122"/>
                <a:cs typeface="Nunito Sans" pitchFamily="34" charset="-120"/>
              </a:rPr>
              <a:t> we can misjudge even our own experiences.</a:t>
            </a:r>
            <a:endParaRPr lang="en-US" sz="1800" dirty="0"/>
          </a:p>
        </p:txBody>
      </p:sp>
      <p:sp>
        <p:nvSpPr>
          <p:cNvPr id="12" name="Text 10"/>
          <p:cNvSpPr/>
          <p:nvPr/>
        </p:nvSpPr>
        <p:spPr>
          <a:xfrm>
            <a:off x="812800" y="4947642"/>
            <a:ext cx="10566400" cy="624830"/>
          </a:xfrm>
          <a:prstGeom prst="roundRect">
            <a:avLst>
              <a:gd name="adj" fmla="val 20326"/>
            </a:avLst>
          </a:prstGeom>
          <a:solidFill>
            <a:srgbClr val="DCEBD5"/>
          </a:solidFill>
          <a:ln/>
        </p:spPr>
        <p:txBody>
          <a:bodyPr wrap="square" lIns="191403" tIns="115203" rIns="0" bIns="89803" rtlCol="0" anchor="t">
            <a:normAutofit/>
          </a:bodyPr>
          <a:lstStyle/>
          <a:p>
            <a:pPr algn="l" indent="0" marL="0">
              <a:lnSpc>
                <a:spcPts val="2520"/>
              </a:lnSpc>
              <a:buNone/>
            </a:pPr>
            <a:r>
              <a:rPr lang="en-US" sz="1800" b="1" dirty="0">
                <a:solidFill>
                  <a:srgbClr val="1F3A2B"/>
                </a:solidFill>
                <a:latin typeface="Nunito Sans" pitchFamily="34" charset="0"/>
                <a:ea typeface="Nunito Sans" pitchFamily="34" charset="-122"/>
                <a:cs typeface="Nunito Sans" pitchFamily="34" charset="-120"/>
              </a:rPr>
              <a:t>Judge:</a:t>
            </a:r>
            <a:r>
              <a:rPr lang="en-US" sz="1800" dirty="0">
                <a:solidFill>
                  <a:srgbClr val="1F3A2B"/>
                </a:solidFill>
                <a:latin typeface="Nunito Sans" pitchFamily="34" charset="0"/>
                <a:ea typeface="Nunito Sans" pitchFamily="34" charset="-122"/>
                <a:cs typeface="Nunito Sans" pitchFamily="34" charset="-120"/>
              </a:rPr>
              <a:t> is “experience” a real foundation, or just the point where we stop asking?</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DCEBD5"/>
        </a:solidFill>
      </p:bgPr>
    </p:bg>
    <p:spTree>
      <p:nvGrpSpPr>
        <p:cNvPr id="1" name=""/>
        <p:cNvGrpSpPr/>
        <p:nvPr/>
      </p:nvGrpSpPr>
      <p:grpSpPr>
        <a:xfrm>
          <a:off x="0" y="0"/>
          <a:ext cx="0" cy="0"/>
          <a:chOff x="0" y="0"/>
          <a:chExt cx="0" cy="0"/>
        </a:xfrm>
      </p:grpSpPr>
      <p:sp>
        <p:nvSpPr>
          <p:cNvPr id="2" name="Text 0"/>
          <p:cNvSpPr/>
          <p:nvPr/>
        </p:nvSpPr>
        <p:spPr>
          <a:xfrm>
            <a:off x="812800" y="81280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spc="100" kern="0" dirty="0">
                <a:solidFill>
                  <a:srgbClr val="5C4410"/>
                </a:solidFill>
                <a:latin typeface="Nunito Sans" pitchFamily="34" charset="0"/>
                <a:ea typeface="Nunito Sans" pitchFamily="34" charset="-122"/>
                <a:cs typeface="Nunito Sans" pitchFamily="34" charset="-120"/>
              </a:rPr>
              <a:t>REPLY 2 · THE CHAIN LOOPS</a:t>
            </a:r>
            <a:endParaRPr lang="en-US" sz="1600" dirty="0"/>
          </a:p>
        </p:txBody>
      </p:sp>
      <p:sp>
        <p:nvSpPr>
          <p:cNvPr id="3" name="Text 1"/>
          <p:cNvSpPr/>
          <p:nvPr>
            <p:ph type="title"/>
          </p:nvPr>
        </p:nvSpPr>
        <p:spPr>
          <a:xfrm>
            <a:off x="812800" y="130046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F3A2B"/>
                </a:solidFill>
                <a:latin typeface="Domine" pitchFamily="18" charset="0"/>
                <a:ea typeface="Domine" pitchFamily="18" charset="-122"/>
                <a:cs typeface="Domine" pitchFamily="18" charset="-120"/>
              </a:rPr>
              <a:t>Coherentism explained</a:t>
            </a:r>
            <a:endParaRPr lang="en-US" sz="3600" dirty="0"/>
          </a:p>
        </p:txBody>
      </p:sp>
      <p:pic>
        <p:nvPicPr>
          <p:cNvPr id="4" name="Image 0" descr="A web of connected beliefs">    </p:cNvPr>
          <p:cNvPicPr>
            <a:picLocks noChangeAspect="1"/>
          </p:cNvPicPr>
          <p:nvPr/>
        </p:nvPicPr>
        <p:blipFill>
          <a:blip r:embed="rId1"/>
          <a:srcRect l="0" r="0" t="0" b="0"/>
          <a:stretch/>
        </p:blipFill>
        <p:spPr>
          <a:xfrm>
            <a:off x="812800" y="2029420"/>
            <a:ext cx="1397000" cy="1270000"/>
          </a:xfrm>
          <a:prstGeom prst="rect">
            <a:avLst/>
          </a:prstGeom>
        </p:spPr>
      </p:pic>
      <p:sp>
        <p:nvSpPr>
          <p:cNvPr id="5" name="Text 2"/>
          <p:cNvSpPr/>
          <p:nvPr/>
        </p:nvSpPr>
        <p:spPr>
          <a:xfrm>
            <a:off x="2463800" y="2308820"/>
            <a:ext cx="9182862"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1F3A2B"/>
                </a:solidFill>
                <a:latin typeface="Nunito Sans" pitchFamily="34" charset="0"/>
                <a:ea typeface="Nunito Sans" pitchFamily="34" charset="-122"/>
                <a:cs typeface="Nunito Sans" pitchFamily="34" charset="-120"/>
              </a:rPr>
              <a:t>Rejects Agrippa’s premise 3. Justification is not a line of single beliefs but a </a:t>
            </a:r>
            <a:r>
              <a:rPr lang="en-US" sz="2000" b="1" dirty="0">
                <a:solidFill>
                  <a:srgbClr val="1F3A2B"/>
                </a:solidFill>
                <a:latin typeface="Nunito Sans" pitchFamily="34" charset="0"/>
                <a:ea typeface="Nunito Sans" pitchFamily="34" charset="-122"/>
                <a:cs typeface="Nunito Sans" pitchFamily="34" charset="-120"/>
              </a:rPr>
              <a:t>web</a:t>
            </a:r>
            <a:r>
              <a:rPr lang="en-US" sz="2000" dirty="0">
                <a:solidFill>
                  <a:srgbClr val="1F3A2B"/>
                </a:solidFill>
                <a:latin typeface="Nunito Sans" pitchFamily="34" charset="0"/>
                <a:ea typeface="Nunito Sans" pitchFamily="34" charset="-122"/>
                <a:cs typeface="Nunito Sans" pitchFamily="34" charset="-120"/>
              </a:rPr>
              <a:t> of beliefs supporting each other.</a:t>
            </a:r>
            <a:endParaRPr lang="en-US" sz="2000" dirty="0"/>
          </a:p>
        </p:txBody>
      </p:sp>
      <p:sp>
        <p:nvSpPr>
          <p:cNvPr id="6" name="Shape 3"/>
          <p:cNvSpPr/>
          <p:nvPr/>
        </p:nvSpPr>
        <p:spPr>
          <a:xfrm>
            <a:off x="812800" y="3502620"/>
            <a:ext cx="3403600" cy="1700411"/>
          </a:xfrm>
          <a:prstGeom prst="roundRect">
            <a:avLst>
              <a:gd name="adj" fmla="val 7469"/>
            </a:avLst>
          </a:prstGeom>
          <a:solidFill>
            <a:srgbClr val="FBF6E6"/>
          </a:solidFill>
          <a:ln/>
        </p:spPr>
      </p:sp>
      <p:sp>
        <p:nvSpPr>
          <p:cNvPr id="7" name="Text 4"/>
          <p:cNvSpPr/>
          <p:nvPr/>
        </p:nvSpPr>
        <p:spPr>
          <a:xfrm>
            <a:off x="1016000" y="3705820"/>
            <a:ext cx="308711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3A2B"/>
                </a:solidFill>
                <a:latin typeface="Domine" pitchFamily="18" charset="0"/>
                <a:ea typeface="Domine" pitchFamily="18" charset="-122"/>
                <a:cs typeface="Domine" pitchFamily="18" charset="-120"/>
              </a:rPr>
              <a:t>Symmetrical</a:t>
            </a:r>
            <a:endParaRPr lang="en-US" sz="2000" dirty="0"/>
          </a:p>
        </p:txBody>
      </p:sp>
      <p:sp>
        <p:nvSpPr>
          <p:cNvPr id="8" name="Text 5"/>
          <p:cNvSpPr/>
          <p:nvPr/>
        </p:nvSpPr>
        <p:spPr>
          <a:xfrm>
            <a:off x="1016000" y="4074120"/>
            <a:ext cx="3087116"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1F3A2B"/>
                </a:solidFill>
                <a:latin typeface="Nunito Sans" pitchFamily="34" charset="0"/>
                <a:ea typeface="Nunito Sans" pitchFamily="34" charset="-122"/>
                <a:cs typeface="Nunito Sans" pitchFamily="34" charset="-120"/>
              </a:rPr>
              <a:t>Belief A can support B while B also supports A.</a:t>
            </a:r>
            <a:endParaRPr lang="en-US" sz="1800" dirty="0"/>
          </a:p>
        </p:txBody>
      </p:sp>
      <p:sp>
        <p:nvSpPr>
          <p:cNvPr id="9" name="Shape 6"/>
          <p:cNvSpPr/>
          <p:nvPr/>
        </p:nvSpPr>
        <p:spPr>
          <a:xfrm>
            <a:off x="4394200" y="3502620"/>
            <a:ext cx="3403600" cy="1700411"/>
          </a:xfrm>
          <a:prstGeom prst="roundRect">
            <a:avLst>
              <a:gd name="adj" fmla="val 7469"/>
            </a:avLst>
          </a:prstGeom>
          <a:solidFill>
            <a:srgbClr val="FBF6E6"/>
          </a:solidFill>
          <a:ln/>
        </p:spPr>
      </p:sp>
      <p:sp>
        <p:nvSpPr>
          <p:cNvPr id="10" name="Text 7"/>
          <p:cNvSpPr/>
          <p:nvPr/>
        </p:nvSpPr>
        <p:spPr>
          <a:xfrm>
            <a:off x="4597400" y="3705820"/>
            <a:ext cx="308711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3A2B"/>
                </a:solidFill>
                <a:latin typeface="Domine" pitchFamily="18" charset="0"/>
                <a:ea typeface="Domine" pitchFamily="18" charset="-122"/>
                <a:cs typeface="Domine" pitchFamily="18" charset="-120"/>
              </a:rPr>
              <a:t>Holistic</a:t>
            </a:r>
            <a:endParaRPr lang="en-US" sz="2000" dirty="0"/>
          </a:p>
        </p:txBody>
      </p:sp>
      <p:sp>
        <p:nvSpPr>
          <p:cNvPr id="11" name="Text 8"/>
          <p:cNvSpPr/>
          <p:nvPr/>
        </p:nvSpPr>
        <p:spPr>
          <a:xfrm>
            <a:off x="4597400" y="4074120"/>
            <a:ext cx="3087116" cy="95111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1F3A2B"/>
                </a:solidFill>
                <a:latin typeface="Nunito Sans" pitchFamily="34" charset="0"/>
                <a:ea typeface="Nunito Sans" pitchFamily="34" charset="-122"/>
                <a:cs typeface="Nunito Sans" pitchFamily="34" charset="-120"/>
              </a:rPr>
              <a:t>Whole </a:t>
            </a:r>
            <a:r>
              <a:rPr lang="en-US" sz="1800" b="1" dirty="0">
                <a:solidFill>
                  <a:srgbClr val="1F3A2B"/>
                </a:solidFill>
                <a:latin typeface="Nunito Sans" pitchFamily="34" charset="0"/>
                <a:ea typeface="Nunito Sans" pitchFamily="34" charset="-122"/>
                <a:cs typeface="Nunito Sans" pitchFamily="34" charset="-120"/>
              </a:rPr>
              <a:t>systems</a:t>
            </a:r>
            <a:r>
              <a:rPr lang="en-US" sz="1800" dirty="0">
                <a:solidFill>
                  <a:srgbClr val="1F3A2B"/>
                </a:solidFill>
                <a:latin typeface="Nunito Sans" pitchFamily="34" charset="0"/>
                <a:ea typeface="Nunito Sans" pitchFamily="34" charset="-122"/>
                <a:cs typeface="Nunito Sans" pitchFamily="34" charset="-120"/>
              </a:rPr>
              <a:t> are justified first; single beliefs by belonging to one.</a:t>
            </a:r>
            <a:endParaRPr lang="en-US" sz="1800" dirty="0"/>
          </a:p>
        </p:txBody>
      </p:sp>
      <p:sp>
        <p:nvSpPr>
          <p:cNvPr id="12" name="Shape 9"/>
          <p:cNvSpPr/>
          <p:nvPr/>
        </p:nvSpPr>
        <p:spPr>
          <a:xfrm>
            <a:off x="7975600" y="3502620"/>
            <a:ext cx="3403600" cy="1700411"/>
          </a:xfrm>
          <a:prstGeom prst="roundRect">
            <a:avLst>
              <a:gd name="adj" fmla="val 7469"/>
            </a:avLst>
          </a:prstGeom>
          <a:solidFill>
            <a:srgbClr val="FBF6E6"/>
          </a:solidFill>
          <a:ln/>
        </p:spPr>
      </p:sp>
      <p:sp>
        <p:nvSpPr>
          <p:cNvPr id="13" name="Text 10"/>
          <p:cNvSpPr/>
          <p:nvPr/>
        </p:nvSpPr>
        <p:spPr>
          <a:xfrm>
            <a:off x="8178800" y="3705820"/>
            <a:ext cx="308711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3A2B"/>
                </a:solidFill>
                <a:latin typeface="Domine" pitchFamily="18" charset="0"/>
                <a:ea typeface="Domine" pitchFamily="18" charset="-122"/>
                <a:cs typeface="Domine" pitchFamily="18" charset="-120"/>
              </a:rPr>
              <a:t>A matter of degree</a:t>
            </a:r>
            <a:endParaRPr lang="en-US" sz="2000" dirty="0"/>
          </a:p>
        </p:txBody>
      </p:sp>
      <p:sp>
        <p:nvSpPr>
          <p:cNvPr id="14" name="Text 11"/>
          <p:cNvSpPr/>
          <p:nvPr/>
        </p:nvSpPr>
        <p:spPr>
          <a:xfrm>
            <a:off x="8178800" y="4074120"/>
            <a:ext cx="3087116" cy="95111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1F3A2B"/>
                </a:solidFill>
                <a:latin typeface="Nunito Sans" pitchFamily="34" charset="0"/>
                <a:ea typeface="Nunito Sans" pitchFamily="34" charset="-122"/>
                <a:cs typeface="Nunito Sans" pitchFamily="34" charset="-120"/>
              </a:rPr>
              <a:t>The more beliefs </a:t>
            </a:r>
            <a:r>
              <a:rPr lang="en-US" sz="1800" b="1" dirty="0">
                <a:solidFill>
                  <a:srgbClr val="1F3A2B"/>
                </a:solidFill>
                <a:latin typeface="Nunito Sans" pitchFamily="34" charset="0"/>
                <a:ea typeface="Nunito Sans" pitchFamily="34" charset="-122"/>
                <a:cs typeface="Nunito Sans" pitchFamily="34" charset="-120"/>
              </a:rPr>
              <a:t>explain</a:t>
            </a:r>
            <a:r>
              <a:rPr lang="en-US" sz="1800" dirty="0">
                <a:solidFill>
                  <a:srgbClr val="1F3A2B"/>
                </a:solidFill>
                <a:latin typeface="Nunito Sans" pitchFamily="34" charset="0"/>
                <a:ea typeface="Nunito Sans" pitchFamily="34" charset="-122"/>
                <a:cs typeface="Nunito Sans" pitchFamily="34" charset="-120"/>
              </a:rPr>
              <a:t> each other, the more coherent.</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EBC8"/>
        </a:solidFill>
      </p:bgPr>
    </p:bg>
    <p:spTree>
      <p:nvGrpSpPr>
        <p:cNvPr id="1" name=""/>
        <p:cNvGrpSpPr/>
        <p:nvPr/>
      </p:nvGrpSpPr>
      <p:grpSpPr>
        <a:xfrm>
          <a:off x="0" y="0"/>
          <a:ext cx="0" cy="0"/>
          <a:chOff x="0" y="0"/>
          <a:chExt cx="0" cy="0"/>
        </a:xfrm>
      </p:grpSpPr>
      <p:sp>
        <p:nvSpPr>
          <p:cNvPr id="2" name="Text 0"/>
          <p:cNvSpPr/>
          <p:nvPr/>
        </p:nvSpPr>
        <p:spPr>
          <a:xfrm>
            <a:off x="812800" y="81280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spc="100" kern="0" dirty="0">
                <a:solidFill>
                  <a:srgbClr val="5C4410"/>
                </a:solidFill>
                <a:latin typeface="Nunito Sans" pitchFamily="34" charset="0"/>
                <a:ea typeface="Nunito Sans" pitchFamily="34" charset="-122"/>
                <a:cs typeface="Nunito Sans" pitchFamily="34" charset="-120"/>
              </a:rPr>
              <a:t>REPLY 2 · EVALUATION</a:t>
            </a:r>
            <a:endParaRPr lang="en-US" sz="1600" dirty="0"/>
          </a:p>
        </p:txBody>
      </p:sp>
      <p:sp>
        <p:nvSpPr>
          <p:cNvPr id="3" name="Text 1"/>
          <p:cNvSpPr/>
          <p:nvPr>
            <p:ph type="title"/>
          </p:nvPr>
        </p:nvSpPr>
        <p:spPr>
          <a:xfrm>
            <a:off x="812800" y="130046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F3A2B"/>
                </a:solidFill>
                <a:latin typeface="Domine" pitchFamily="18" charset="0"/>
                <a:ea typeface="Domine" pitchFamily="18" charset="-122"/>
                <a:cs typeface="Domine" pitchFamily="18" charset="-120"/>
              </a:rPr>
              <a:t>Evaluating coherentism</a:t>
            </a:r>
            <a:endParaRPr lang="en-US" sz="3600" dirty="0"/>
          </a:p>
        </p:txBody>
      </p:sp>
      <p:sp>
        <p:nvSpPr>
          <p:cNvPr id="4" name="Shape 2"/>
          <p:cNvSpPr/>
          <p:nvPr/>
        </p:nvSpPr>
        <p:spPr>
          <a:xfrm>
            <a:off x="812800" y="2029420"/>
            <a:ext cx="4226570" cy="2791222"/>
          </a:xfrm>
          <a:prstGeom prst="roundRect">
            <a:avLst>
              <a:gd name="adj" fmla="val 4550"/>
            </a:avLst>
          </a:prstGeom>
          <a:solidFill>
            <a:srgbClr val="FBF6E6"/>
          </a:solidFill>
          <a:ln/>
        </p:spPr>
      </p:sp>
      <p:sp>
        <p:nvSpPr>
          <p:cNvPr id="5" name="Shape 3"/>
          <p:cNvSpPr/>
          <p:nvPr/>
        </p:nvSpPr>
        <p:spPr>
          <a:xfrm>
            <a:off x="812800" y="2029420"/>
            <a:ext cx="4226570" cy="2791222"/>
          </a:xfrm>
          <a:custGeom>
            <a:avLst/>
            <a:gdLst/>
            <a:ahLst/>
            <a:cxnLst/>
            <a:rect l="l" t="t" r="r" b="b"/>
            <a:pathLst>
              <a:path w="4226570" h="2791222">
                <a:moveTo>
                  <a:pt x="0" y="127000"/>
                </a:moveTo>
                <a:lnTo>
                  <a:pt x="0" y="127000"/>
                </a:lnTo>
                <a:arcTo hR="127000" wR="127000" stAng="10800000" swAng="5400000"/>
                <a:lnTo>
                  <a:pt x="4099570" y="0"/>
                </a:lnTo>
                <a:arcTo hR="127000" wR="127000" stAng="16200000" swAng="5400000"/>
                <a:lnTo>
                  <a:pt x="4226570" y="127000"/>
                </a:lnTo>
                <a:arcTo hR="50800" wR="127000" stAng="0" swAng="-5400000"/>
                <a:lnTo>
                  <a:pt x="127000" y="76200"/>
                </a:lnTo>
                <a:arcTo hR="50800" wR="127000" stAng="16200000" swAng="-5400000"/>
                <a:close/>
              </a:path>
            </a:pathLst>
          </a:custGeom>
          <a:solidFill>
            <a:srgbClr val="5E8C61"/>
          </a:solidFill>
          <a:ln/>
        </p:spPr>
      </p:sp>
      <p:sp>
        <p:nvSpPr>
          <p:cNvPr id="6" name="Text 4"/>
          <p:cNvSpPr/>
          <p:nvPr/>
        </p:nvSpPr>
        <p:spPr>
          <a:xfrm>
            <a:off x="1016000" y="2308820"/>
            <a:ext cx="393477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3A2B"/>
                </a:solidFill>
                <a:latin typeface="Domine" pitchFamily="18" charset="0"/>
                <a:ea typeface="Domine" pitchFamily="18" charset="-122"/>
                <a:cs typeface="Domine" pitchFamily="18" charset="-120"/>
              </a:rPr>
              <a:t>Strengths</a:t>
            </a:r>
            <a:endParaRPr lang="en-US" sz="2000" dirty="0"/>
          </a:p>
        </p:txBody>
      </p:sp>
      <p:sp>
        <p:nvSpPr>
          <p:cNvPr id="7" name="Text 5"/>
          <p:cNvSpPr/>
          <p:nvPr/>
        </p:nvSpPr>
        <p:spPr>
          <a:xfrm>
            <a:off x="1059434" y="2689820"/>
            <a:ext cx="3883721" cy="1568252"/>
          </a:xfrm>
          <a:prstGeom prst="rect">
            <a:avLst/>
          </a:prstGeom>
          <a:noFill/>
          <a:ln/>
        </p:spPr>
        <p:txBody>
          <a:bodyPr wrap="square" lIns="0" tIns="0" rIns="0" bIns="0" rtlCol="0" anchor="t">
            <a:normAutofit/>
          </a:bodyPr>
          <a:lstStyle/>
          <a:p>
            <a:pPr algn="l" marL="210566" indent="-210566">
              <a:lnSpc>
                <a:spcPts val="2430"/>
              </a:lnSpc>
              <a:buSzPct val="100000"/>
              <a:buChar char="•"/>
            </a:pPr>
            <a:r>
              <a:rPr lang="en-US" sz="1800" dirty="0">
                <a:solidFill>
                  <a:srgbClr val="1F3A2B"/>
                </a:solidFill>
                <a:latin typeface="Nunito Sans" pitchFamily="34" charset="0"/>
                <a:ea typeface="Nunito Sans" pitchFamily="34" charset="-122"/>
                <a:cs typeface="Nunito Sans" pitchFamily="34" charset="-120"/>
              </a:rPr>
              <a:t>No arbitrary starting point.</a:t>
            </a:r>
            <a:endParaRPr lang="en-US" sz="1800" dirty="0"/>
          </a:p>
          <a:p>
            <a:pPr algn="l" marL="210566" indent="-210566">
              <a:lnSpc>
                <a:spcPts val="2430"/>
              </a:lnSpc>
              <a:buSzPct val="100000"/>
              <a:buChar char="•"/>
            </a:pPr>
            <a:r>
              <a:rPr lang="en-US" sz="1800" dirty="0">
                <a:solidFill>
                  <a:srgbClr val="1F3A2B"/>
                </a:solidFill>
                <a:latin typeface="Nunito Sans" pitchFamily="34" charset="0"/>
                <a:ea typeface="Nunito Sans" pitchFamily="34" charset="-122"/>
                <a:cs typeface="Nunito Sans" pitchFamily="34" charset="-120"/>
              </a:rPr>
              <a:t>Matches how science tests theories as a whole.</a:t>
            </a:r>
            <a:endParaRPr lang="en-US" sz="1800" dirty="0"/>
          </a:p>
          <a:p>
            <a:pPr algn="l" marL="210566" indent="-210566">
              <a:lnSpc>
                <a:spcPts val="2430"/>
              </a:lnSpc>
              <a:buSzPct val="100000"/>
              <a:buChar char="•"/>
            </a:pPr>
            <a:r>
              <a:rPr lang="en-US" sz="1800" dirty="0">
                <a:solidFill>
                  <a:srgbClr val="1F3A2B"/>
                </a:solidFill>
                <a:latin typeface="Nunito Sans" pitchFamily="34" charset="0"/>
                <a:ea typeface="Nunito Sans" pitchFamily="34" charset="-122"/>
                <a:cs typeface="Nunito Sans" pitchFamily="34" charset="-120"/>
              </a:rPr>
              <a:t>Explains why justification comes in degrees.</a:t>
            </a:r>
            <a:endParaRPr lang="en-US" sz="1800" dirty="0"/>
          </a:p>
        </p:txBody>
      </p:sp>
      <p:sp>
        <p:nvSpPr>
          <p:cNvPr id="8" name="Shape 6"/>
          <p:cNvSpPr/>
          <p:nvPr/>
        </p:nvSpPr>
        <p:spPr>
          <a:xfrm>
            <a:off x="5242570" y="2029420"/>
            <a:ext cx="6136630" cy="2791222"/>
          </a:xfrm>
          <a:prstGeom prst="roundRect">
            <a:avLst>
              <a:gd name="adj" fmla="val 4550"/>
            </a:avLst>
          </a:prstGeom>
          <a:solidFill>
            <a:srgbClr val="FBF6E6"/>
          </a:solidFill>
          <a:ln/>
        </p:spPr>
      </p:sp>
      <p:sp>
        <p:nvSpPr>
          <p:cNvPr id="9" name="Shape 7"/>
          <p:cNvSpPr/>
          <p:nvPr/>
        </p:nvSpPr>
        <p:spPr>
          <a:xfrm>
            <a:off x="5242570" y="2029420"/>
            <a:ext cx="6136630" cy="2791222"/>
          </a:xfrm>
          <a:custGeom>
            <a:avLst/>
            <a:gdLst/>
            <a:ahLst/>
            <a:cxnLst/>
            <a:rect l="l" t="t" r="r" b="b"/>
            <a:pathLst>
              <a:path w="6136630" h="2791222">
                <a:moveTo>
                  <a:pt x="0" y="127000"/>
                </a:moveTo>
                <a:lnTo>
                  <a:pt x="0" y="127000"/>
                </a:lnTo>
                <a:arcTo hR="127000" wR="127000" stAng="10800000" swAng="5400000"/>
                <a:lnTo>
                  <a:pt x="6009630" y="0"/>
                </a:lnTo>
                <a:arcTo hR="127000" wR="127000" stAng="16200000" swAng="5400000"/>
                <a:lnTo>
                  <a:pt x="6136630" y="127000"/>
                </a:lnTo>
                <a:arcTo hR="50800" wR="127000" stAng="0" swAng="-5400000"/>
                <a:lnTo>
                  <a:pt x="127000" y="76200"/>
                </a:lnTo>
                <a:arcTo hR="50800" wR="127000" stAng="16200000" swAng="-5400000"/>
                <a:close/>
              </a:path>
            </a:pathLst>
          </a:custGeom>
          <a:solidFill>
            <a:srgbClr val="B8892B"/>
          </a:solidFill>
          <a:ln/>
        </p:spPr>
      </p:sp>
      <p:sp>
        <p:nvSpPr>
          <p:cNvPr id="10" name="Text 8"/>
          <p:cNvSpPr/>
          <p:nvPr/>
        </p:nvSpPr>
        <p:spPr>
          <a:xfrm>
            <a:off x="5445770" y="2308820"/>
            <a:ext cx="590213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3A2B"/>
                </a:solidFill>
                <a:latin typeface="Domine" pitchFamily="18" charset="0"/>
                <a:ea typeface="Domine" pitchFamily="18" charset="-122"/>
                <a:cs typeface="Domine" pitchFamily="18" charset="-120"/>
              </a:rPr>
              <a:t>The isolation objection</a:t>
            </a:r>
            <a:endParaRPr lang="en-US" sz="2000" dirty="0"/>
          </a:p>
        </p:txBody>
      </p:sp>
      <p:sp>
        <p:nvSpPr>
          <p:cNvPr id="11" name="Text 9"/>
          <p:cNvSpPr/>
          <p:nvPr/>
        </p:nvSpPr>
        <p:spPr>
          <a:xfrm>
            <a:off x="5445770" y="2689820"/>
            <a:ext cx="5902137" cy="125968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1F3A2B"/>
                </a:solidFill>
                <a:latin typeface="Nunito Sans" pitchFamily="34" charset="0"/>
                <a:ea typeface="Nunito Sans" pitchFamily="34" charset="-122"/>
                <a:cs typeface="Nunito Sans" pitchFamily="34" charset="-120"/>
              </a:rPr>
              <a:t>You are reading; I am swimming. We somehow </a:t>
            </a:r>
            <a:r>
              <a:rPr lang="en-US" sz="1800" b="1" dirty="0">
                <a:solidFill>
                  <a:srgbClr val="1F3A2B"/>
                </a:solidFill>
                <a:latin typeface="Nunito Sans" pitchFamily="34" charset="0"/>
                <a:ea typeface="Nunito Sans" pitchFamily="34" charset="-122"/>
                <a:cs typeface="Nunito Sans" pitchFamily="34" charset="-120"/>
              </a:rPr>
              <a:t>swap</a:t>
            </a:r>
            <a:r>
              <a:rPr lang="en-US" sz="1800" dirty="0">
                <a:solidFill>
                  <a:srgbClr val="1F3A2B"/>
                </a:solidFill>
                <a:latin typeface="Nunito Sans" pitchFamily="34" charset="0"/>
                <a:ea typeface="Nunito Sans" pitchFamily="34" charset="-122"/>
                <a:cs typeface="Nunito Sans" pitchFamily="34" charset="-120"/>
              </a:rPr>
              <a:t> belief systems. Each stays just as coherent — yet now you believe you’re swimming. Coherence kept, justification lost.</a:t>
            </a:r>
            <a:endParaRPr lang="en-US" sz="1800" dirty="0"/>
          </a:p>
        </p:txBody>
      </p:sp>
      <p:sp>
        <p:nvSpPr>
          <p:cNvPr id="12" name="Text 10"/>
          <p:cNvSpPr/>
          <p:nvPr/>
        </p:nvSpPr>
        <p:spPr>
          <a:xfrm>
            <a:off x="5445770" y="4000302"/>
            <a:ext cx="5902137" cy="642541"/>
          </a:xfrm>
          <a:prstGeom prst="rect">
            <a:avLst/>
          </a:prstGeom>
          <a:noFill/>
          <a:ln/>
        </p:spPr>
        <p:txBody>
          <a:bodyPr wrap="square" lIns="0" tIns="0" rIns="0" bIns="0" rtlCol="0" anchor="t">
            <a:normAutofit/>
          </a:bodyPr>
          <a:lstStyle/>
          <a:p>
            <a:pPr algn="l" indent="0" marL="0">
              <a:lnSpc>
                <a:spcPts val="2430"/>
              </a:lnSpc>
              <a:buNone/>
            </a:pPr>
            <a:r>
              <a:rPr lang="en-US" sz="1800" b="1" dirty="0">
                <a:solidFill>
                  <a:srgbClr val="1F3A2B"/>
                </a:solidFill>
                <a:latin typeface="Nunito Sans" pitchFamily="34" charset="0"/>
                <a:ea typeface="Nunito Sans" pitchFamily="34" charset="-122"/>
                <a:cs typeface="Nunito Sans" pitchFamily="34" charset="-120"/>
              </a:rPr>
              <a:t>Reply:</a:t>
            </a:r>
            <a:r>
              <a:rPr lang="en-US" sz="1800" dirty="0">
                <a:solidFill>
                  <a:srgbClr val="1F3A2B"/>
                </a:solidFill>
                <a:latin typeface="Nunito Sans" pitchFamily="34" charset="0"/>
                <a:ea typeface="Nunito Sans" pitchFamily="34" charset="-122"/>
                <a:cs typeface="Nunito Sans" pitchFamily="34" charset="-120"/>
              </a:rPr>
              <a:t> a system must include beliefs about current experience (BonJour, Lehrer).</a:t>
            </a:r>
            <a:endParaRPr lang="en-US" sz="1800" dirty="0"/>
          </a:p>
        </p:txBody>
      </p:sp>
      <p:sp>
        <p:nvSpPr>
          <p:cNvPr id="13" name="Text 11"/>
          <p:cNvSpPr/>
          <p:nvPr/>
        </p:nvSpPr>
        <p:spPr>
          <a:xfrm>
            <a:off x="812800" y="5023842"/>
            <a:ext cx="10566400" cy="944860"/>
          </a:xfrm>
          <a:prstGeom prst="roundRect">
            <a:avLst>
              <a:gd name="adj" fmla="val 13441"/>
            </a:avLst>
          </a:prstGeom>
          <a:solidFill>
            <a:srgbClr val="DCEBD5"/>
          </a:solidFill>
          <a:ln/>
        </p:spPr>
        <p:txBody>
          <a:bodyPr wrap="square" lIns="191403" tIns="115203" rIns="0" bIns="89803" rtlCol="0" anchor="t">
            <a:normAutofit/>
          </a:bodyPr>
          <a:lstStyle/>
          <a:p>
            <a:pPr algn="l" indent="0" marL="0">
              <a:lnSpc>
                <a:spcPts val="2520"/>
              </a:lnSpc>
              <a:buNone/>
            </a:pPr>
            <a:r>
              <a:rPr lang="en-US" sz="1800" b="1" dirty="0">
                <a:solidFill>
                  <a:srgbClr val="1F3A2B"/>
                </a:solidFill>
                <a:latin typeface="Nunito Sans" pitchFamily="34" charset="0"/>
                <a:ea typeface="Nunito Sans" pitchFamily="34" charset="-122"/>
                <a:cs typeface="Nunito Sans" pitchFamily="34" charset="-120"/>
              </a:rPr>
              <a:t>Judge:</a:t>
            </a:r>
            <a:r>
              <a:rPr lang="en-US" sz="1800" dirty="0">
                <a:solidFill>
                  <a:srgbClr val="1F3A2B"/>
                </a:solidFill>
                <a:latin typeface="Nunito Sans" pitchFamily="34" charset="0"/>
                <a:ea typeface="Nunito Sans" pitchFamily="34" charset="-122"/>
                <a:cs typeface="Nunito Sans" pitchFamily="34" charset="-120"/>
              </a:rPr>
              <a:t> the SEP notes there is no agreement that this reply works. Does it quietly bring back foundations?</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DCEBD5"/>
        </a:solidFill>
      </p:bgPr>
    </p:bg>
    <p:spTree>
      <p:nvGrpSpPr>
        <p:cNvPr id="1" name=""/>
        <p:cNvGrpSpPr/>
        <p:nvPr/>
      </p:nvGrpSpPr>
      <p:grpSpPr>
        <a:xfrm>
          <a:off x="0" y="0"/>
          <a:ext cx="0" cy="0"/>
          <a:chOff x="0" y="0"/>
          <a:chExt cx="0" cy="0"/>
        </a:xfrm>
      </p:grpSpPr>
      <p:sp>
        <p:nvSpPr>
          <p:cNvPr id="2" name="Text 0"/>
          <p:cNvSpPr/>
          <p:nvPr/>
        </p:nvSpPr>
        <p:spPr>
          <a:xfrm>
            <a:off x="812800" y="81280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spc="100" kern="0" dirty="0">
                <a:solidFill>
                  <a:srgbClr val="5C4410"/>
                </a:solidFill>
                <a:latin typeface="Nunito Sans" pitchFamily="34" charset="0"/>
                <a:ea typeface="Nunito Sans" pitchFamily="34" charset="-122"/>
                <a:cs typeface="Nunito Sans" pitchFamily="34" charset="-120"/>
              </a:rPr>
              <a:t>REPLY 3 · THE CHAIN NEVER ENDS</a:t>
            </a:r>
            <a:endParaRPr lang="en-US" sz="1600" dirty="0"/>
          </a:p>
        </p:txBody>
      </p:sp>
      <p:sp>
        <p:nvSpPr>
          <p:cNvPr id="3" name="Text 1"/>
          <p:cNvSpPr/>
          <p:nvPr>
            <p:ph type="title"/>
          </p:nvPr>
        </p:nvSpPr>
        <p:spPr>
          <a:xfrm>
            <a:off x="812800" y="130046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F3A2B"/>
                </a:solidFill>
                <a:latin typeface="Domine" pitchFamily="18" charset="0"/>
                <a:ea typeface="Domine" pitchFamily="18" charset="-122"/>
                <a:cs typeface="Domine" pitchFamily="18" charset="-120"/>
              </a:rPr>
              <a:t>Infinitism explained</a:t>
            </a:r>
            <a:endParaRPr lang="en-US" sz="3600" dirty="0"/>
          </a:p>
        </p:txBody>
      </p:sp>
      <p:pic>
        <p:nvPicPr>
          <p:cNvPr id="4" name="Image 0" descr="A chain of reasons stretching off without end">    </p:cNvPr>
          <p:cNvPicPr>
            <a:picLocks noChangeAspect="1"/>
          </p:cNvPicPr>
          <p:nvPr/>
        </p:nvPicPr>
        <p:blipFill>
          <a:blip r:embed="rId1"/>
          <a:srcRect l="0" r="0" t="0" b="0"/>
          <a:stretch/>
        </p:blipFill>
        <p:spPr>
          <a:xfrm>
            <a:off x="812800" y="2029420"/>
            <a:ext cx="1397000" cy="1270000"/>
          </a:xfrm>
          <a:prstGeom prst="rect">
            <a:avLst/>
          </a:prstGeom>
        </p:spPr>
      </p:pic>
      <p:sp>
        <p:nvSpPr>
          <p:cNvPr id="5" name="Text 2"/>
          <p:cNvSpPr/>
          <p:nvPr/>
        </p:nvSpPr>
        <p:spPr>
          <a:xfrm>
            <a:off x="2463800" y="2308820"/>
            <a:ext cx="9182862"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1F3A2B"/>
                </a:solidFill>
                <a:latin typeface="Nunito Sans" pitchFamily="34" charset="0"/>
                <a:ea typeface="Nunito Sans" pitchFamily="34" charset="-122"/>
                <a:cs typeface="Nunito Sans" pitchFamily="34" charset="-120"/>
              </a:rPr>
              <a:t>Rejects Agrippa’s premise 5. An </a:t>
            </a:r>
            <a:r>
              <a:rPr lang="en-US" sz="2000" b="1" dirty="0">
                <a:solidFill>
                  <a:srgbClr val="1F3A2B"/>
                </a:solidFill>
                <a:latin typeface="Nunito Sans" pitchFamily="34" charset="0"/>
                <a:ea typeface="Nunito Sans" pitchFamily="34" charset="-122"/>
                <a:cs typeface="Nunito Sans" pitchFamily="34" charset="-120"/>
              </a:rPr>
              <a:t>infinite</a:t>
            </a:r>
            <a:r>
              <a:rPr lang="en-US" sz="2000" dirty="0">
                <a:solidFill>
                  <a:srgbClr val="1F3A2B"/>
                </a:solidFill>
                <a:latin typeface="Nunito Sans" pitchFamily="34" charset="0"/>
                <a:ea typeface="Nunito Sans" pitchFamily="34" charset="-122"/>
                <a:cs typeface="Nunito Sans" pitchFamily="34" charset="-120"/>
              </a:rPr>
              <a:t> chain of reasons </a:t>
            </a:r>
            <a:r>
              <a:rPr lang="en-US" sz="2000" b="1" dirty="0">
                <a:solidFill>
                  <a:srgbClr val="1F3A2B"/>
                </a:solidFill>
                <a:latin typeface="Nunito Sans" pitchFamily="34" charset="0"/>
                <a:ea typeface="Nunito Sans" pitchFamily="34" charset="-122"/>
                <a:cs typeface="Nunito Sans" pitchFamily="34" charset="-120"/>
              </a:rPr>
              <a:t>can</a:t>
            </a:r>
            <a:r>
              <a:rPr lang="en-US" sz="2000" dirty="0">
                <a:solidFill>
                  <a:srgbClr val="1F3A2B"/>
                </a:solidFill>
                <a:latin typeface="Nunito Sans" pitchFamily="34" charset="0"/>
                <a:ea typeface="Nunito Sans" pitchFamily="34" charset="-122"/>
                <a:cs typeface="Nunito Sans" pitchFamily="34" charset="-120"/>
              </a:rPr>
              <a:t> justify a belief. Its main defender is Peter Klein.</a:t>
            </a:r>
            <a:endParaRPr lang="en-US" sz="2000" dirty="0"/>
          </a:p>
        </p:txBody>
      </p:sp>
      <p:sp>
        <p:nvSpPr>
          <p:cNvPr id="6" name="Shape 3"/>
          <p:cNvSpPr/>
          <p:nvPr/>
        </p:nvSpPr>
        <p:spPr>
          <a:xfrm>
            <a:off x="812800" y="3502620"/>
            <a:ext cx="3403600" cy="1700411"/>
          </a:xfrm>
          <a:prstGeom prst="roundRect">
            <a:avLst>
              <a:gd name="adj" fmla="val 7469"/>
            </a:avLst>
          </a:prstGeom>
          <a:solidFill>
            <a:srgbClr val="FBF6E6"/>
          </a:solidFill>
          <a:ln/>
        </p:spPr>
      </p:sp>
      <p:sp>
        <p:nvSpPr>
          <p:cNvPr id="7" name="Text 4"/>
          <p:cNvSpPr/>
          <p:nvPr/>
        </p:nvSpPr>
        <p:spPr>
          <a:xfrm>
            <a:off x="1016000" y="3705820"/>
            <a:ext cx="308711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3A2B"/>
                </a:solidFill>
                <a:latin typeface="Domine" pitchFamily="18" charset="0"/>
                <a:ea typeface="Domine" pitchFamily="18" charset="-122"/>
                <a:cs typeface="Domine" pitchFamily="18" charset="-120"/>
              </a:rPr>
              <a:t>No stop</a:t>
            </a:r>
            <a:endParaRPr lang="en-US" sz="2000" dirty="0"/>
          </a:p>
        </p:txBody>
      </p:sp>
      <p:sp>
        <p:nvSpPr>
          <p:cNvPr id="8" name="Text 5"/>
          <p:cNvSpPr/>
          <p:nvPr/>
        </p:nvSpPr>
        <p:spPr>
          <a:xfrm>
            <a:off x="1016000" y="4074120"/>
            <a:ext cx="3087116" cy="95111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1F3A2B"/>
                </a:solidFill>
                <a:latin typeface="Nunito Sans" pitchFamily="34" charset="0"/>
                <a:ea typeface="Nunito Sans" pitchFamily="34" charset="-122"/>
                <a:cs typeface="Nunito Sans" pitchFamily="34" charset="-120"/>
              </a:rPr>
              <a:t>Unlike foundationalism, no belief is accepted without a reason.</a:t>
            </a:r>
            <a:endParaRPr lang="en-US" sz="1800" dirty="0"/>
          </a:p>
        </p:txBody>
      </p:sp>
      <p:sp>
        <p:nvSpPr>
          <p:cNvPr id="9" name="Shape 6"/>
          <p:cNvSpPr/>
          <p:nvPr/>
        </p:nvSpPr>
        <p:spPr>
          <a:xfrm>
            <a:off x="4394200" y="3502620"/>
            <a:ext cx="3403600" cy="1700411"/>
          </a:xfrm>
          <a:prstGeom prst="roundRect">
            <a:avLst>
              <a:gd name="adj" fmla="val 7469"/>
            </a:avLst>
          </a:prstGeom>
          <a:solidFill>
            <a:srgbClr val="FBF6E6"/>
          </a:solidFill>
          <a:ln/>
        </p:spPr>
      </p:sp>
      <p:sp>
        <p:nvSpPr>
          <p:cNvPr id="10" name="Text 7"/>
          <p:cNvSpPr/>
          <p:nvPr/>
        </p:nvSpPr>
        <p:spPr>
          <a:xfrm>
            <a:off x="4597400" y="3705820"/>
            <a:ext cx="308711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3A2B"/>
                </a:solidFill>
                <a:latin typeface="Domine" pitchFamily="18" charset="0"/>
                <a:ea typeface="Domine" pitchFamily="18" charset="-122"/>
                <a:cs typeface="Domine" pitchFamily="18" charset="-120"/>
              </a:rPr>
              <a:t>No loop</a:t>
            </a:r>
            <a:endParaRPr lang="en-US" sz="2000" dirty="0"/>
          </a:p>
        </p:txBody>
      </p:sp>
      <p:sp>
        <p:nvSpPr>
          <p:cNvPr id="11" name="Text 8"/>
          <p:cNvSpPr/>
          <p:nvPr/>
        </p:nvSpPr>
        <p:spPr>
          <a:xfrm>
            <a:off x="4597400" y="4074120"/>
            <a:ext cx="3087116" cy="95111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1F3A2B"/>
                </a:solidFill>
                <a:latin typeface="Nunito Sans" pitchFamily="34" charset="0"/>
                <a:ea typeface="Nunito Sans" pitchFamily="34" charset="-122"/>
                <a:cs typeface="Nunito Sans" pitchFamily="34" charset="-120"/>
              </a:rPr>
              <a:t>Unlike coherentism, a reason never returns to support itself.</a:t>
            </a:r>
            <a:endParaRPr lang="en-US" sz="1800" dirty="0"/>
          </a:p>
        </p:txBody>
      </p:sp>
      <p:sp>
        <p:nvSpPr>
          <p:cNvPr id="12" name="Shape 9"/>
          <p:cNvSpPr/>
          <p:nvPr/>
        </p:nvSpPr>
        <p:spPr>
          <a:xfrm>
            <a:off x="7975600" y="3502620"/>
            <a:ext cx="3403600" cy="1700411"/>
          </a:xfrm>
          <a:prstGeom prst="roundRect">
            <a:avLst>
              <a:gd name="adj" fmla="val 7469"/>
            </a:avLst>
          </a:prstGeom>
          <a:solidFill>
            <a:srgbClr val="FBF6E6"/>
          </a:solidFill>
          <a:ln/>
        </p:spPr>
      </p:sp>
      <p:sp>
        <p:nvSpPr>
          <p:cNvPr id="13" name="Text 10"/>
          <p:cNvSpPr/>
          <p:nvPr/>
        </p:nvSpPr>
        <p:spPr>
          <a:xfrm>
            <a:off x="8178800" y="3705820"/>
            <a:ext cx="308711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3A2B"/>
                </a:solidFill>
                <a:latin typeface="Domine" pitchFamily="18" charset="0"/>
                <a:ea typeface="Domine" pitchFamily="18" charset="-122"/>
                <a:cs typeface="Domine" pitchFamily="18" charset="-120"/>
              </a:rPr>
              <a:t>Available reasons</a:t>
            </a:r>
            <a:endParaRPr lang="en-US" sz="2000" dirty="0"/>
          </a:p>
        </p:txBody>
      </p:sp>
      <p:sp>
        <p:nvSpPr>
          <p:cNvPr id="14" name="Text 11"/>
          <p:cNvSpPr/>
          <p:nvPr/>
        </p:nvSpPr>
        <p:spPr>
          <a:xfrm>
            <a:off x="8178800" y="4074120"/>
            <a:ext cx="3087116" cy="95111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1F3A2B"/>
                </a:solidFill>
                <a:latin typeface="Nunito Sans" pitchFamily="34" charset="0"/>
                <a:ea typeface="Nunito Sans" pitchFamily="34" charset="-122"/>
                <a:cs typeface="Nunito Sans" pitchFamily="34" charset="-120"/>
              </a:rPr>
              <a:t>Reasons need only be </a:t>
            </a:r>
            <a:r>
              <a:rPr lang="en-US" sz="1800" b="1" dirty="0">
                <a:solidFill>
                  <a:srgbClr val="1F3A2B"/>
                </a:solidFill>
                <a:latin typeface="Nunito Sans" pitchFamily="34" charset="0"/>
                <a:ea typeface="Nunito Sans" pitchFamily="34" charset="-122"/>
                <a:cs typeface="Nunito Sans" pitchFamily="34" charset="-120"/>
              </a:rPr>
              <a:t>implicit</a:t>
            </a:r>
            <a:r>
              <a:rPr lang="en-US" sz="1800" dirty="0">
                <a:solidFill>
                  <a:srgbClr val="1F3A2B"/>
                </a:solidFill>
                <a:latin typeface="Nunito Sans" pitchFamily="34" charset="0"/>
                <a:ea typeface="Nunito Sans" pitchFamily="34" charset="-122"/>
                <a:cs typeface="Nunito Sans" pitchFamily="34" charset="-120"/>
              </a:rPr>
              <a:t>: ready if someone asks.</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EBC8"/>
        </a:solidFill>
      </p:bgPr>
    </p:bg>
    <p:spTree>
      <p:nvGrpSpPr>
        <p:cNvPr id="1" name=""/>
        <p:cNvGrpSpPr/>
        <p:nvPr/>
      </p:nvGrpSpPr>
      <p:grpSpPr>
        <a:xfrm>
          <a:off x="0" y="0"/>
          <a:ext cx="0" cy="0"/>
          <a:chOff x="0" y="0"/>
          <a:chExt cx="0" cy="0"/>
        </a:xfrm>
      </p:grpSpPr>
      <p:sp>
        <p:nvSpPr>
          <p:cNvPr id="2" name="Text 0"/>
          <p:cNvSpPr/>
          <p:nvPr/>
        </p:nvSpPr>
        <p:spPr>
          <a:xfrm>
            <a:off x="812800" y="81280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spc="100" kern="0" dirty="0">
                <a:solidFill>
                  <a:srgbClr val="5C4410"/>
                </a:solidFill>
                <a:latin typeface="Nunito Sans" pitchFamily="34" charset="0"/>
                <a:ea typeface="Nunito Sans" pitchFamily="34" charset="-122"/>
                <a:cs typeface="Nunito Sans" pitchFamily="34" charset="-120"/>
              </a:rPr>
              <a:t>REPLY 3 · EVALUATION</a:t>
            </a:r>
            <a:endParaRPr lang="en-US" sz="1600" dirty="0"/>
          </a:p>
        </p:txBody>
      </p:sp>
      <p:sp>
        <p:nvSpPr>
          <p:cNvPr id="3" name="Text 1"/>
          <p:cNvSpPr/>
          <p:nvPr>
            <p:ph type="title"/>
          </p:nvPr>
        </p:nvSpPr>
        <p:spPr>
          <a:xfrm>
            <a:off x="812800" y="130046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F3A2B"/>
                </a:solidFill>
                <a:latin typeface="Domine" pitchFamily="18" charset="0"/>
                <a:ea typeface="Domine" pitchFamily="18" charset="-122"/>
                <a:cs typeface="Domine" pitchFamily="18" charset="-120"/>
              </a:rPr>
              <a:t>Evaluating infinitism</a:t>
            </a:r>
            <a:endParaRPr lang="en-US" sz="3600" dirty="0"/>
          </a:p>
        </p:txBody>
      </p:sp>
      <p:sp>
        <p:nvSpPr>
          <p:cNvPr id="4" name="Shape 2"/>
          <p:cNvSpPr/>
          <p:nvPr/>
        </p:nvSpPr>
        <p:spPr>
          <a:xfrm>
            <a:off x="812800" y="2029420"/>
            <a:ext cx="4226570" cy="2715022"/>
          </a:xfrm>
          <a:prstGeom prst="roundRect">
            <a:avLst>
              <a:gd name="adj" fmla="val 4678"/>
            </a:avLst>
          </a:prstGeom>
          <a:solidFill>
            <a:srgbClr val="FBF6E6"/>
          </a:solidFill>
          <a:ln/>
        </p:spPr>
      </p:sp>
      <p:sp>
        <p:nvSpPr>
          <p:cNvPr id="5" name="Shape 3"/>
          <p:cNvSpPr/>
          <p:nvPr/>
        </p:nvSpPr>
        <p:spPr>
          <a:xfrm>
            <a:off x="812800" y="2029420"/>
            <a:ext cx="4226570" cy="2715022"/>
          </a:xfrm>
          <a:custGeom>
            <a:avLst/>
            <a:gdLst/>
            <a:ahLst/>
            <a:cxnLst/>
            <a:rect l="l" t="t" r="r" b="b"/>
            <a:pathLst>
              <a:path w="4226570" h="2715022">
                <a:moveTo>
                  <a:pt x="0" y="127000"/>
                </a:moveTo>
                <a:lnTo>
                  <a:pt x="0" y="127000"/>
                </a:lnTo>
                <a:arcTo hR="127000" wR="127000" stAng="10800000" swAng="5400000"/>
                <a:lnTo>
                  <a:pt x="4099570" y="0"/>
                </a:lnTo>
                <a:arcTo hR="127000" wR="127000" stAng="16200000" swAng="5400000"/>
                <a:lnTo>
                  <a:pt x="4226570" y="127000"/>
                </a:lnTo>
                <a:arcTo hR="50800" wR="127000" stAng="0" swAng="-5400000"/>
                <a:lnTo>
                  <a:pt x="127000" y="76200"/>
                </a:lnTo>
                <a:arcTo hR="50800" wR="127000" stAng="16200000" swAng="-5400000"/>
                <a:close/>
              </a:path>
            </a:pathLst>
          </a:custGeom>
          <a:solidFill>
            <a:srgbClr val="5E8C61"/>
          </a:solidFill>
          <a:ln/>
        </p:spPr>
      </p:sp>
      <p:sp>
        <p:nvSpPr>
          <p:cNvPr id="6" name="Text 4"/>
          <p:cNvSpPr/>
          <p:nvPr/>
        </p:nvSpPr>
        <p:spPr>
          <a:xfrm>
            <a:off x="1016000" y="2308820"/>
            <a:ext cx="393477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3A2B"/>
                </a:solidFill>
                <a:latin typeface="Domine" pitchFamily="18" charset="0"/>
                <a:ea typeface="Domine" pitchFamily="18" charset="-122"/>
                <a:cs typeface="Domine" pitchFamily="18" charset="-120"/>
              </a:rPr>
              <a:t>Strengths</a:t>
            </a:r>
            <a:endParaRPr lang="en-US" sz="2000" dirty="0"/>
          </a:p>
        </p:txBody>
      </p:sp>
      <p:sp>
        <p:nvSpPr>
          <p:cNvPr id="7" name="Text 5"/>
          <p:cNvSpPr/>
          <p:nvPr/>
        </p:nvSpPr>
        <p:spPr>
          <a:xfrm>
            <a:off x="1059434" y="2689820"/>
            <a:ext cx="3883721" cy="951111"/>
          </a:xfrm>
          <a:prstGeom prst="rect">
            <a:avLst/>
          </a:prstGeom>
          <a:noFill/>
          <a:ln/>
        </p:spPr>
        <p:txBody>
          <a:bodyPr wrap="square" lIns="0" tIns="0" rIns="0" bIns="0" rtlCol="0" anchor="t">
            <a:normAutofit/>
          </a:bodyPr>
          <a:lstStyle/>
          <a:p>
            <a:pPr algn="l" marL="210566" indent="-210566">
              <a:lnSpc>
                <a:spcPts val="2430"/>
              </a:lnSpc>
              <a:buSzPct val="100000"/>
              <a:buChar char="•"/>
            </a:pPr>
            <a:r>
              <a:rPr lang="en-US" sz="1800" dirty="0">
                <a:solidFill>
                  <a:srgbClr val="1F3A2B"/>
                </a:solidFill>
                <a:latin typeface="Nunito Sans" pitchFamily="34" charset="0"/>
                <a:ea typeface="Nunito Sans" pitchFamily="34" charset="-122"/>
                <a:cs typeface="Nunito Sans" pitchFamily="34" charset="-120"/>
              </a:rPr>
              <a:t>Every belief has a reason behind it.</a:t>
            </a:r>
            <a:endParaRPr lang="en-US" sz="1800" dirty="0"/>
          </a:p>
          <a:p>
            <a:pPr algn="l" marL="210566" indent="-210566">
              <a:lnSpc>
                <a:spcPts val="2430"/>
              </a:lnSpc>
              <a:buSzPct val="100000"/>
              <a:buChar char="•"/>
            </a:pPr>
            <a:r>
              <a:rPr lang="en-US" sz="1800" dirty="0">
                <a:solidFill>
                  <a:srgbClr val="1F3A2B"/>
                </a:solidFill>
                <a:latin typeface="Nunito Sans" pitchFamily="34" charset="0"/>
                <a:ea typeface="Nunito Sans" pitchFamily="34" charset="-122"/>
                <a:cs typeface="Nunito Sans" pitchFamily="34" charset="-120"/>
              </a:rPr>
              <a:t>Avoids both the arbitrary stop and the circle.</a:t>
            </a:r>
            <a:endParaRPr lang="en-US" sz="1800" dirty="0"/>
          </a:p>
        </p:txBody>
      </p:sp>
      <p:sp>
        <p:nvSpPr>
          <p:cNvPr id="8" name="Shape 6"/>
          <p:cNvSpPr/>
          <p:nvPr/>
        </p:nvSpPr>
        <p:spPr>
          <a:xfrm>
            <a:off x="5242570" y="2029420"/>
            <a:ext cx="6136630" cy="2715022"/>
          </a:xfrm>
          <a:prstGeom prst="roundRect">
            <a:avLst>
              <a:gd name="adj" fmla="val 4678"/>
            </a:avLst>
          </a:prstGeom>
          <a:solidFill>
            <a:srgbClr val="FBF6E6"/>
          </a:solidFill>
          <a:ln/>
        </p:spPr>
      </p:sp>
      <p:sp>
        <p:nvSpPr>
          <p:cNvPr id="9" name="Shape 7"/>
          <p:cNvSpPr/>
          <p:nvPr/>
        </p:nvSpPr>
        <p:spPr>
          <a:xfrm>
            <a:off x="5242570" y="2029420"/>
            <a:ext cx="6136630" cy="2715022"/>
          </a:xfrm>
          <a:custGeom>
            <a:avLst/>
            <a:gdLst/>
            <a:ahLst/>
            <a:cxnLst/>
            <a:rect l="l" t="t" r="r" b="b"/>
            <a:pathLst>
              <a:path w="6136630" h="2715022">
                <a:moveTo>
                  <a:pt x="0" y="127000"/>
                </a:moveTo>
                <a:lnTo>
                  <a:pt x="0" y="127000"/>
                </a:lnTo>
                <a:arcTo hR="127000" wR="127000" stAng="10800000" swAng="5400000"/>
                <a:lnTo>
                  <a:pt x="6009630" y="0"/>
                </a:lnTo>
                <a:arcTo hR="127000" wR="127000" stAng="16200000" swAng="5400000"/>
                <a:lnTo>
                  <a:pt x="6136630" y="127000"/>
                </a:lnTo>
                <a:arcTo hR="50800" wR="127000" stAng="0" swAng="-5400000"/>
                <a:lnTo>
                  <a:pt x="127000" y="76200"/>
                </a:lnTo>
                <a:arcTo hR="50800" wR="127000" stAng="16200000" swAng="-5400000"/>
                <a:close/>
              </a:path>
            </a:pathLst>
          </a:custGeom>
          <a:solidFill>
            <a:srgbClr val="B8892B"/>
          </a:solidFill>
          <a:ln/>
        </p:spPr>
      </p:sp>
      <p:sp>
        <p:nvSpPr>
          <p:cNvPr id="10" name="Text 8"/>
          <p:cNvSpPr/>
          <p:nvPr/>
        </p:nvSpPr>
        <p:spPr>
          <a:xfrm>
            <a:off x="5445770" y="2308820"/>
            <a:ext cx="590213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3A2B"/>
                </a:solidFill>
                <a:latin typeface="Domine" pitchFamily="18" charset="0"/>
                <a:ea typeface="Domine" pitchFamily="18" charset="-122"/>
                <a:cs typeface="Domine" pitchFamily="18" charset="-120"/>
              </a:rPr>
              <a:t>Problems</a:t>
            </a:r>
            <a:endParaRPr lang="en-US" sz="2000" dirty="0"/>
          </a:p>
        </p:txBody>
      </p:sp>
      <p:sp>
        <p:nvSpPr>
          <p:cNvPr id="11" name="Text 9"/>
          <p:cNvSpPr/>
          <p:nvPr/>
        </p:nvSpPr>
        <p:spPr>
          <a:xfrm>
            <a:off x="5489204" y="2689820"/>
            <a:ext cx="5851083" cy="1876822"/>
          </a:xfrm>
          <a:prstGeom prst="rect">
            <a:avLst/>
          </a:prstGeom>
          <a:noFill/>
          <a:ln/>
        </p:spPr>
        <p:txBody>
          <a:bodyPr wrap="square" lIns="0" tIns="0" rIns="0" bIns="0" rtlCol="0" anchor="t">
            <a:normAutofit/>
          </a:bodyPr>
          <a:lstStyle/>
          <a:p>
            <a:pPr algn="l" marL="210566" indent="-210566">
              <a:lnSpc>
                <a:spcPts val="2430"/>
              </a:lnSpc>
              <a:buSzPct val="100000"/>
              <a:buChar char="•"/>
            </a:pPr>
            <a:r>
              <a:rPr lang="en-US" sz="1800" b="1" dirty="0">
                <a:solidFill>
                  <a:srgbClr val="1F3A2B"/>
                </a:solidFill>
                <a:latin typeface="Nunito Sans" pitchFamily="34" charset="0"/>
                <a:ea typeface="Nunito Sans" pitchFamily="34" charset="-122"/>
                <a:cs typeface="Nunito Sans" pitchFamily="34" charset="-120"/>
              </a:rPr>
              <a:t>Finite minds:</a:t>
            </a:r>
            <a:r>
              <a:rPr lang="en-US" sz="1800" dirty="0">
                <a:solidFill>
                  <a:srgbClr val="1F3A2B"/>
                </a:solidFill>
                <a:latin typeface="Nunito Sans" pitchFamily="34" charset="0"/>
                <a:ea typeface="Nunito Sans" pitchFamily="34" charset="-122"/>
                <a:cs typeface="Nunito Sans" pitchFamily="34" charset="-120"/>
              </a:rPr>
              <a:t> nobody has infinitely many beliefs. Reply: implicit ones are enough — but what is an implicit belief?</a:t>
            </a:r>
            <a:endParaRPr lang="en-US" sz="1800" dirty="0"/>
          </a:p>
          <a:p>
            <a:pPr algn="l" marL="210566" indent="-210566">
              <a:lnSpc>
                <a:spcPts val="2430"/>
              </a:lnSpc>
              <a:buSzPct val="100000"/>
              <a:buChar char="•"/>
            </a:pPr>
            <a:r>
              <a:rPr lang="en-US" sz="1800" b="1" dirty="0">
                <a:solidFill>
                  <a:srgbClr val="1F3A2B"/>
                </a:solidFill>
                <a:latin typeface="Nunito Sans" pitchFamily="34" charset="0"/>
                <a:ea typeface="Nunito Sans" pitchFamily="34" charset="-122"/>
                <a:cs typeface="Nunito Sans" pitchFamily="34" charset="-120"/>
              </a:rPr>
              <a:t>Borrowed justification:</a:t>
            </a:r>
            <a:r>
              <a:rPr lang="en-US" sz="1800" dirty="0">
                <a:solidFill>
                  <a:srgbClr val="1F3A2B"/>
                </a:solidFill>
                <a:latin typeface="Nunito Sans" pitchFamily="34" charset="0"/>
                <a:ea typeface="Nunito Sans" pitchFamily="34" charset="-122"/>
                <a:cs typeface="Nunito Sans" pitchFamily="34" charset="-120"/>
              </a:rPr>
              <a:t> one unjustified reason can’t justify; why would endless unjustified ones?</a:t>
            </a:r>
            <a:endParaRPr lang="en-US" sz="1800" dirty="0"/>
          </a:p>
          <a:p>
            <a:pPr algn="l" marL="210566" indent="-210566">
              <a:lnSpc>
                <a:spcPts val="2430"/>
              </a:lnSpc>
              <a:buSzPct val="100000"/>
              <a:buChar char="•"/>
            </a:pPr>
            <a:r>
              <a:rPr lang="en-US" sz="1800" b="1" dirty="0">
                <a:solidFill>
                  <a:srgbClr val="1F3A2B"/>
                </a:solidFill>
                <a:latin typeface="Nunito Sans" pitchFamily="34" charset="0"/>
                <a:ea typeface="Nunito Sans" pitchFamily="34" charset="-122"/>
                <a:cs typeface="Nunito Sans" pitchFamily="34" charset="-120"/>
              </a:rPr>
              <a:t>Isolation:</a:t>
            </a:r>
            <a:r>
              <a:rPr lang="en-US" sz="1800" dirty="0">
                <a:solidFill>
                  <a:srgbClr val="1F3A2B"/>
                </a:solidFill>
                <a:latin typeface="Nunito Sans" pitchFamily="34" charset="0"/>
                <a:ea typeface="Nunito Sans" pitchFamily="34" charset="-122"/>
                <a:cs typeface="Nunito Sans" pitchFamily="34" charset="-120"/>
              </a:rPr>
              <a:t> like coherentism, it ignores experience.</a:t>
            </a:r>
            <a:endParaRPr lang="en-US" sz="1800" dirty="0"/>
          </a:p>
        </p:txBody>
      </p:sp>
      <p:sp>
        <p:nvSpPr>
          <p:cNvPr id="12" name="Text 10"/>
          <p:cNvSpPr/>
          <p:nvPr/>
        </p:nvSpPr>
        <p:spPr>
          <a:xfrm>
            <a:off x="812800" y="4947642"/>
            <a:ext cx="10566400" cy="624830"/>
          </a:xfrm>
          <a:prstGeom prst="roundRect">
            <a:avLst>
              <a:gd name="adj" fmla="val 20326"/>
            </a:avLst>
          </a:prstGeom>
          <a:solidFill>
            <a:srgbClr val="DCEBD5"/>
          </a:solidFill>
          <a:ln/>
        </p:spPr>
        <p:txBody>
          <a:bodyPr wrap="square" lIns="191403" tIns="115203" rIns="0" bIns="89803" rtlCol="0" anchor="t">
            <a:normAutofit/>
          </a:bodyPr>
          <a:lstStyle/>
          <a:p>
            <a:pPr algn="l" indent="0" marL="0">
              <a:lnSpc>
                <a:spcPts val="2520"/>
              </a:lnSpc>
              <a:buNone/>
            </a:pPr>
            <a:r>
              <a:rPr lang="en-US" sz="1800" b="1" dirty="0">
                <a:solidFill>
                  <a:srgbClr val="1F3A2B"/>
                </a:solidFill>
                <a:latin typeface="Nunito Sans" pitchFamily="34" charset="0"/>
                <a:ea typeface="Nunito Sans" pitchFamily="34" charset="-122"/>
                <a:cs typeface="Nunito Sans" pitchFamily="34" charset="-120"/>
              </a:rPr>
              <a:t>Today:</a:t>
            </a:r>
            <a:r>
              <a:rPr lang="en-US" sz="1800" dirty="0">
                <a:solidFill>
                  <a:srgbClr val="1F3A2B"/>
                </a:solidFill>
                <a:latin typeface="Nunito Sans" pitchFamily="34" charset="0"/>
                <a:ea typeface="Nunito Sans" pitchFamily="34" charset="-122"/>
                <a:cs typeface="Nunito Sans" pitchFamily="34" charset="-120"/>
              </a:rPr>
              <a:t> many philosophers combine views, e.g. Haack’s mix of foundationalism and coherentism.</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F3A2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F6EBC8"/>
                </a:solidFill>
                <a:latin typeface="Domine" pitchFamily="18" charset="0"/>
                <a:ea typeface="Domine" pitchFamily="18" charset="-122"/>
                <a:cs typeface="Domine" pitchFamily="18" charset="-120"/>
              </a:rPr>
              <a:t>Few believe it — so why study it?</a:t>
            </a:r>
            <a:endParaRPr lang="en-US" sz="3600" dirty="0"/>
          </a:p>
        </p:txBody>
      </p:sp>
      <p:sp>
        <p:nvSpPr>
          <p:cNvPr id="3" name="Text 1"/>
          <p:cNvSpPr/>
          <p:nvPr/>
        </p:nvSpPr>
        <p:spPr>
          <a:xfrm>
            <a:off x="812800" y="1643360"/>
            <a:ext cx="10883392"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DCEBD5"/>
                </a:solidFill>
                <a:latin typeface="Nunito Sans" pitchFamily="34" charset="0"/>
                <a:ea typeface="Nunito Sans" pitchFamily="34" charset="-122"/>
                <a:cs typeface="Nunito Sans" pitchFamily="34" charset="-120"/>
              </a:rPr>
              <a:t>Almost no philosopher thinks scepticism is </a:t>
            </a:r>
            <a:r>
              <a:rPr lang="en-US" sz="2000" b="1" dirty="0">
                <a:solidFill>
                  <a:srgbClr val="DCEBD5"/>
                </a:solidFill>
                <a:latin typeface="Nunito Sans" pitchFamily="34" charset="0"/>
                <a:ea typeface="Nunito Sans" pitchFamily="34" charset="-122"/>
                <a:cs typeface="Nunito Sans" pitchFamily="34" charset="-120"/>
              </a:rPr>
              <a:t>true</a:t>
            </a:r>
            <a:r>
              <a:rPr lang="en-US" sz="2000" dirty="0">
                <a:solidFill>
                  <a:srgbClr val="DCEBD5"/>
                </a:solidFill>
                <a:latin typeface="Nunito Sans" pitchFamily="34" charset="0"/>
                <a:ea typeface="Nunito Sans" pitchFamily="34" charset="-122"/>
                <a:cs typeface="Nunito Sans" pitchFamily="34" charset="-120"/>
              </a:rPr>
              <a:t>. It matters because its arguments are hard to answer, and the answers shape modern theories of knowledge.</a:t>
            </a:r>
            <a:endParaRPr lang="en-US" sz="2000" dirty="0"/>
          </a:p>
        </p:txBody>
      </p:sp>
      <p:sp>
        <p:nvSpPr>
          <p:cNvPr id="4" name="Shape 2"/>
          <p:cNvSpPr/>
          <p:nvPr/>
        </p:nvSpPr>
        <p:spPr>
          <a:xfrm>
            <a:off x="812800" y="2659360"/>
            <a:ext cx="3386634" cy="1953171"/>
          </a:xfrm>
          <a:prstGeom prst="roundRect">
            <a:avLst>
              <a:gd name="adj" fmla="val 6502"/>
            </a:avLst>
          </a:prstGeom>
          <a:solidFill>
            <a:srgbClr val="2E5240"/>
          </a:solidFill>
          <a:ln/>
        </p:spPr>
      </p:sp>
      <p:pic>
        <p:nvPicPr>
          <p:cNvPr id="5" name="Image 0" descr="Search">    </p:cNvPr>
          <p:cNvPicPr>
            <a:picLocks noChangeAspect="1"/>
          </p:cNvPicPr>
          <p:nvPr/>
        </p:nvPicPr>
        <p:blipFill>
          <a:blip r:embed="rId1"/>
          <a:srcRect l="0" r="0" t="0" b="0"/>
          <a:stretch/>
        </p:blipFill>
        <p:spPr>
          <a:xfrm>
            <a:off x="1041400" y="2887960"/>
            <a:ext cx="406400" cy="406400"/>
          </a:xfrm>
          <a:prstGeom prst="rect">
            <a:avLst/>
          </a:prstGeom>
        </p:spPr>
      </p:pic>
      <p:sp>
        <p:nvSpPr>
          <p:cNvPr id="6" name="Text 3"/>
          <p:cNvSpPr/>
          <p:nvPr/>
        </p:nvSpPr>
        <p:spPr>
          <a:xfrm>
            <a:off x="1041400" y="3370560"/>
            <a:ext cx="3017317" cy="700980"/>
          </a:xfrm>
          <a:prstGeom prst="rect">
            <a:avLst/>
          </a:prstGeom>
          <a:noFill/>
          <a:ln/>
        </p:spPr>
        <p:txBody>
          <a:bodyPr wrap="square" lIns="0" tIns="0" rIns="0" bIns="0" rtlCol="0" anchor="t">
            <a:normAutofit/>
          </a:bodyPr>
          <a:lstStyle/>
          <a:p>
            <a:pPr algn="l" indent="0" marL="0">
              <a:lnSpc>
                <a:spcPts val="2660"/>
              </a:lnSpc>
              <a:buNone/>
            </a:pPr>
            <a:r>
              <a:rPr lang="en-US" sz="1900" dirty="0">
                <a:solidFill>
                  <a:srgbClr val="F6EBC8"/>
                </a:solidFill>
                <a:latin typeface="Nunito Sans" pitchFamily="34" charset="0"/>
                <a:ea typeface="Nunito Sans" pitchFamily="34" charset="-122"/>
                <a:cs typeface="Nunito Sans" pitchFamily="34" charset="-120"/>
              </a:rPr>
              <a:t>Forces us to define what </a:t>
            </a:r>
            <a:r>
              <a:rPr lang="en-US" sz="1900" b="1" dirty="0">
                <a:solidFill>
                  <a:srgbClr val="F6EBC8"/>
                </a:solidFill>
                <a:latin typeface="Nunito Sans" pitchFamily="34" charset="0"/>
                <a:ea typeface="Nunito Sans" pitchFamily="34" charset="-122"/>
                <a:cs typeface="Nunito Sans" pitchFamily="34" charset="-120"/>
              </a:rPr>
              <a:t>justification</a:t>
            </a:r>
            <a:r>
              <a:rPr lang="en-US" sz="1900" dirty="0">
                <a:solidFill>
                  <a:srgbClr val="F6EBC8"/>
                </a:solidFill>
                <a:latin typeface="Nunito Sans" pitchFamily="34" charset="0"/>
                <a:ea typeface="Nunito Sans" pitchFamily="34" charset="-122"/>
                <a:cs typeface="Nunito Sans" pitchFamily="34" charset="-120"/>
              </a:rPr>
              <a:t> really is.</a:t>
            </a:r>
            <a:endParaRPr lang="en-US" sz="1900" dirty="0"/>
          </a:p>
        </p:txBody>
      </p:sp>
      <p:sp>
        <p:nvSpPr>
          <p:cNvPr id="7" name="Shape 4"/>
          <p:cNvSpPr/>
          <p:nvPr/>
        </p:nvSpPr>
        <p:spPr>
          <a:xfrm>
            <a:off x="4402634" y="2659360"/>
            <a:ext cx="3386683" cy="1953171"/>
          </a:xfrm>
          <a:prstGeom prst="roundRect">
            <a:avLst>
              <a:gd name="adj" fmla="val 6502"/>
            </a:avLst>
          </a:prstGeom>
          <a:solidFill>
            <a:srgbClr val="2E5240"/>
          </a:solidFill>
          <a:ln/>
        </p:spPr>
      </p:sp>
      <p:pic>
        <p:nvPicPr>
          <p:cNvPr id="8" name="Image 1" descr="Lightbulb">    </p:cNvPr>
          <p:cNvPicPr>
            <a:picLocks noChangeAspect="1"/>
          </p:cNvPicPr>
          <p:nvPr/>
        </p:nvPicPr>
        <p:blipFill>
          <a:blip r:embed="rId2"/>
          <a:srcRect l="0" r="0" t="0" b="0"/>
          <a:stretch/>
        </p:blipFill>
        <p:spPr>
          <a:xfrm>
            <a:off x="4631234" y="2887960"/>
            <a:ext cx="406400" cy="406400"/>
          </a:xfrm>
          <a:prstGeom prst="rect">
            <a:avLst/>
          </a:prstGeom>
        </p:spPr>
      </p:pic>
      <p:sp>
        <p:nvSpPr>
          <p:cNvPr id="9" name="Text 5"/>
          <p:cNvSpPr/>
          <p:nvPr/>
        </p:nvSpPr>
        <p:spPr>
          <a:xfrm>
            <a:off x="4631234" y="3370560"/>
            <a:ext cx="3017368" cy="1038771"/>
          </a:xfrm>
          <a:prstGeom prst="rect">
            <a:avLst/>
          </a:prstGeom>
          <a:noFill/>
          <a:ln/>
        </p:spPr>
        <p:txBody>
          <a:bodyPr wrap="square" lIns="0" tIns="0" rIns="0" bIns="0" rtlCol="0" anchor="t">
            <a:normAutofit/>
          </a:bodyPr>
          <a:lstStyle/>
          <a:p>
            <a:pPr algn="l" indent="0" marL="0">
              <a:lnSpc>
                <a:spcPts val="2660"/>
              </a:lnSpc>
              <a:buNone/>
            </a:pPr>
            <a:r>
              <a:rPr lang="en-US" sz="1900" dirty="0">
                <a:solidFill>
                  <a:srgbClr val="F6EBC8"/>
                </a:solidFill>
                <a:latin typeface="Nunito Sans" pitchFamily="34" charset="0"/>
                <a:ea typeface="Nunito Sans" pitchFamily="34" charset="-122"/>
                <a:cs typeface="Nunito Sans" pitchFamily="34" charset="-120"/>
              </a:rPr>
              <a:t>Produced foundationalism, coherentism, contextualism and more.</a:t>
            </a:r>
            <a:endParaRPr lang="en-US" sz="1900" dirty="0"/>
          </a:p>
        </p:txBody>
      </p:sp>
      <p:sp>
        <p:nvSpPr>
          <p:cNvPr id="10" name="Shape 6"/>
          <p:cNvSpPr/>
          <p:nvPr/>
        </p:nvSpPr>
        <p:spPr>
          <a:xfrm>
            <a:off x="7992517" y="2659360"/>
            <a:ext cx="3386683" cy="1953171"/>
          </a:xfrm>
          <a:prstGeom prst="roundRect">
            <a:avLst>
              <a:gd name="adj" fmla="val 6502"/>
            </a:avLst>
          </a:prstGeom>
          <a:solidFill>
            <a:srgbClr val="2E5240"/>
          </a:solidFill>
          <a:ln/>
        </p:spPr>
      </p:sp>
      <p:pic>
        <p:nvPicPr>
          <p:cNvPr id="11" name="Image 2" descr="Trust">    </p:cNvPr>
          <p:cNvPicPr>
            <a:picLocks noChangeAspect="1"/>
          </p:cNvPicPr>
          <p:nvPr/>
        </p:nvPicPr>
        <p:blipFill>
          <a:blip r:embed="rId3"/>
          <a:srcRect l="0" r="0" t="0" b="0"/>
          <a:stretch/>
        </p:blipFill>
        <p:spPr>
          <a:xfrm>
            <a:off x="8221117" y="2887960"/>
            <a:ext cx="406400" cy="406400"/>
          </a:xfrm>
          <a:prstGeom prst="rect">
            <a:avLst/>
          </a:prstGeom>
        </p:spPr>
      </p:pic>
      <p:sp>
        <p:nvSpPr>
          <p:cNvPr id="12" name="Text 7"/>
          <p:cNvSpPr/>
          <p:nvPr/>
        </p:nvSpPr>
        <p:spPr>
          <a:xfrm>
            <a:off x="8221117" y="3370560"/>
            <a:ext cx="3017368" cy="1038771"/>
          </a:xfrm>
          <a:prstGeom prst="rect">
            <a:avLst/>
          </a:prstGeom>
          <a:noFill/>
          <a:ln/>
        </p:spPr>
        <p:txBody>
          <a:bodyPr wrap="square" lIns="0" tIns="0" rIns="0" bIns="0" rtlCol="0" anchor="t">
            <a:normAutofit/>
          </a:bodyPr>
          <a:lstStyle/>
          <a:p>
            <a:pPr algn="l" indent="0" marL="0">
              <a:lnSpc>
                <a:spcPts val="2660"/>
              </a:lnSpc>
              <a:buNone/>
            </a:pPr>
            <a:r>
              <a:rPr lang="en-US" sz="1900" dirty="0">
                <a:solidFill>
                  <a:srgbClr val="F6EBC8"/>
                </a:solidFill>
                <a:latin typeface="Nunito Sans" pitchFamily="34" charset="0"/>
                <a:ea typeface="Nunito Sans" pitchFamily="34" charset="-122"/>
                <a:cs typeface="Nunito Sans" pitchFamily="34" charset="-120"/>
              </a:rPr>
              <a:t>Teaches intellectual humility about how certain we are.</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EBC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F3A2B"/>
                </a:solidFill>
                <a:latin typeface="Domine" pitchFamily="18" charset="0"/>
                <a:ea typeface="Domine" pitchFamily="18" charset="-122"/>
                <a:cs typeface="Domine" pitchFamily="18" charset="-120"/>
              </a:rPr>
              <a:t>Glossary</a:t>
            </a:r>
            <a:endParaRPr lang="en-US" sz="3600" dirty="0"/>
          </a:p>
        </p:txBody>
      </p:sp>
      <p:sp>
        <p:nvSpPr>
          <p:cNvPr id="3" name="Shape 1"/>
          <p:cNvSpPr/>
          <p:nvPr/>
        </p:nvSpPr>
        <p:spPr>
          <a:xfrm>
            <a:off x="812800" y="1541760"/>
            <a:ext cx="10566400" cy="4406106"/>
          </a:xfrm>
          <a:prstGeom prst="rect">
            <a:avLst/>
          </a:prstGeom>
          <a:solidFill>
            <a:srgbClr val="FBF6E6"/>
          </a:solidFill>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554460"/>
          <a:ext cx="10553700" cy="4393406"/>
        </p:xfrm>
        <a:graphic>
          <a:graphicData uri="http://schemas.openxmlformats.org/drawingml/2006/table">
            <a:tbl>
              <a:tblPr/>
              <a:tblGrid>
                <a:gridCol w="2955036"/>
                <a:gridCol w="7598664"/>
              </a:tblGrid>
              <a:tr h="439341">
                <a:tc>
                  <a:txBody>
                    <a:bodyPr/>
                    <a:lstStyle/>
                    <a:p>
                      <a:pPr indent="0" marL="0">
                        <a:lnSpc>
                          <a:spcPts val="2240"/>
                        </a:lnSpc>
                        <a:buNone/>
                      </a:pPr>
                      <a:r>
                        <a:rPr lang="en-US" sz="1600" b="1" dirty="0">
                          <a:solidFill>
                            <a:srgbClr val="1F3A2B"/>
                          </a:solidFill>
                          <a:latin typeface="Nunito Sans" pitchFamily="34" charset="0"/>
                          <a:ea typeface="Nunito Sans" pitchFamily="34" charset="-122"/>
                          <a:cs typeface="Nunito Sans" pitchFamily="34" charset="-120"/>
                        </a:rPr>
                        <a:t>Term</a:t>
                      </a:r>
                      <a:endParaRPr lang="en-US" sz="1600" dirty="0">
                        <a:latin typeface="Nunito Sans" charset="0"/>
                        <a:ea typeface="Nunito Sans" charset="0"/>
                        <a:cs typeface="Nunito Sans" charset="0"/>
                      </a:endParaRPr>
                    </a:p>
                  </a:txBody>
                  <a:tcPr marL="71120" marR="71120" marT="71120" marB="71120" anchor="t">
                    <a:lnL w="12700" cap="flat" cmpd="sng" algn="ctr">
                      <a:solidFill>
                        <a:srgbClr val="C8C4B8"/>
                      </a:solidFill>
                      <a:prstDash val="solid"/>
                      <a:round/>
                      <a:headEnd type="none" w="med" len="med"/>
                      <a:tailEnd type="none" w="med" len="med"/>
                    </a:lnL>
                    <a:lnR w="12700" cap="flat" cmpd="sng" algn="ctr">
                      <a:solidFill>
                        <a:srgbClr val="B0BCAA"/>
                      </a:solidFill>
                      <a:prstDash val="solid"/>
                      <a:round/>
                      <a:headEnd type="none" w="med" len="med"/>
                      <a:tailEnd type="none" w="med" len="med"/>
                    </a:lnR>
                    <a:lnT w="12700" cap="flat" cmpd="sng" algn="ctr">
                      <a:solidFill>
                        <a:srgbClr val="C8C4B8"/>
                      </a:solidFill>
                      <a:prstDash val="solid"/>
                      <a:round/>
                      <a:headEnd type="none" w="med" len="med"/>
                      <a:tailEnd type="none" w="med" len="med"/>
                    </a:lnT>
                    <a:lnB w="12700" cap="flat" cmpd="sng" algn="ctr">
                      <a:solidFill>
                        <a:srgbClr val="B0BCAA"/>
                      </a:solidFill>
                      <a:prstDash val="solid"/>
                      <a:round/>
                      <a:headEnd type="none" w="med" len="med"/>
                      <a:tailEnd type="none" w="med" len="med"/>
                    </a:lnB>
                    <a:solidFill>
                      <a:srgbClr val="DCEBD5"/>
                    </a:solidFill>
                  </a:tcPr>
                </a:tc>
                <a:tc>
                  <a:txBody>
                    <a:bodyPr/>
                    <a:lstStyle/>
                    <a:p>
                      <a:pPr indent="0" marL="0">
                        <a:lnSpc>
                          <a:spcPts val="2240"/>
                        </a:lnSpc>
                        <a:buNone/>
                      </a:pPr>
                      <a:r>
                        <a:rPr lang="en-US" sz="1600" b="1" dirty="0">
                          <a:solidFill>
                            <a:srgbClr val="1F3A2B"/>
                          </a:solidFill>
                          <a:latin typeface="Nunito Sans" pitchFamily="34" charset="0"/>
                          <a:ea typeface="Nunito Sans" pitchFamily="34" charset="-122"/>
                          <a:cs typeface="Nunito Sans" pitchFamily="34" charset="-120"/>
                        </a:rPr>
                        <a:t>Meaning</a:t>
                      </a:r>
                      <a:endParaRPr lang="en-US" sz="1600" dirty="0">
                        <a:latin typeface="Nunito Sans" charset="0"/>
                        <a:ea typeface="Nunito Sans" charset="0"/>
                        <a:cs typeface="Nunito Sans" charset="0"/>
                      </a:endParaRPr>
                    </a:p>
                  </a:txBody>
                  <a:tcPr marL="71120" marR="71120" marT="71120" marB="71120" anchor="t">
                    <a:lnL w="12700" cap="flat" cmpd="sng" algn="ctr">
                      <a:solidFill>
                        <a:srgbClr val="B0BCAA"/>
                      </a:solidFill>
                      <a:prstDash val="solid"/>
                      <a:round/>
                      <a:headEnd type="none" w="med" len="med"/>
                      <a:tailEnd type="none" w="med" len="med"/>
                    </a:lnL>
                    <a:lnR w="12700" cap="flat" cmpd="sng" algn="ctr">
                      <a:solidFill>
                        <a:srgbClr val="B0BCAA"/>
                      </a:solidFill>
                      <a:prstDash val="solid"/>
                      <a:round/>
                      <a:headEnd type="none" w="med" len="med"/>
                      <a:tailEnd type="none" w="med" len="med"/>
                    </a:lnR>
                    <a:lnT w="12700" cap="flat" cmpd="sng" algn="ctr">
                      <a:solidFill>
                        <a:srgbClr val="C8C4B8"/>
                      </a:solidFill>
                      <a:prstDash val="solid"/>
                      <a:round/>
                      <a:headEnd type="none" w="med" len="med"/>
                      <a:tailEnd type="none" w="med" len="med"/>
                    </a:lnT>
                    <a:lnB w="12700" cap="flat" cmpd="sng" algn="ctr">
                      <a:solidFill>
                        <a:srgbClr val="B0BCAA"/>
                      </a:solidFill>
                      <a:prstDash val="solid"/>
                      <a:round/>
                      <a:headEnd type="none" w="med" len="med"/>
                      <a:tailEnd type="none" w="med" len="med"/>
                    </a:lnB>
                    <a:solidFill>
                      <a:srgbClr val="DCEBD5"/>
                    </a:solidFill>
                  </a:tcPr>
                </a:tc>
              </a:tr>
              <a:tr h="439341">
                <a:tc>
                  <a:txBody>
                    <a:bodyPr/>
                    <a:lstStyle/>
                    <a:p>
                      <a:pPr indent="0" marL="0">
                        <a:lnSpc>
                          <a:spcPts val="2240"/>
                        </a:lnSpc>
                        <a:buNone/>
                      </a:pPr>
                      <a:r>
                        <a:rPr lang="en-US" sz="1600" dirty="0">
                          <a:solidFill>
                            <a:srgbClr val="1F3A2B"/>
                          </a:solidFill>
                          <a:latin typeface="Nunito Sans" pitchFamily="34" charset="0"/>
                          <a:ea typeface="Nunito Sans" pitchFamily="34" charset="-122"/>
                          <a:cs typeface="Nunito Sans" pitchFamily="34" charset="-120"/>
                        </a:rPr>
                        <a:t>Scepticism</a:t>
                      </a:r>
                      <a:endParaRPr lang="en-US" sz="1600" dirty="0">
                        <a:latin typeface="Nunito Sans" charset="0"/>
                        <a:ea typeface="Nunito Sans" charset="0"/>
                        <a:cs typeface="Nunito Sans" charset="0"/>
                      </a:endParaRPr>
                    </a:p>
                  </a:txBody>
                  <a:tcPr marL="71120" marR="71120" marT="71120" marB="71120" anchor="t">
                    <a:lnL w="12700" cap="flat" cmpd="sng" algn="ctr">
                      <a:solidFill>
                        <a:srgbClr val="C8C4B8"/>
                      </a:solidFill>
                      <a:prstDash val="solid"/>
                      <a:round/>
                      <a:headEnd type="none" w="med" len="med"/>
                      <a:tailEnd type="none" w="med" len="med"/>
                    </a:lnL>
                    <a:lnR w="12700" cap="flat" cmpd="sng" algn="ctr">
                      <a:solidFill>
                        <a:srgbClr val="C8C4B8"/>
                      </a:solidFill>
                      <a:prstDash val="solid"/>
                      <a:round/>
                      <a:headEnd type="none" w="med" len="med"/>
                      <a:tailEnd type="none" w="med" len="med"/>
                    </a:lnR>
                    <a:lnT w="12700" cap="flat" cmpd="sng" algn="ctr">
                      <a:solidFill>
                        <a:srgbClr val="B0BCAA"/>
                      </a:solidFill>
                      <a:prstDash val="solid"/>
                      <a:round/>
                      <a:headEnd type="none" w="med" len="med"/>
                      <a:tailEnd type="none" w="med" len="med"/>
                    </a:lnT>
                    <a:lnB w="12700" cap="flat" cmpd="sng" algn="ctr">
                      <a:solidFill>
                        <a:srgbClr val="C8C4B8"/>
                      </a:solidFill>
                      <a:prstDash val="solid"/>
                      <a:round/>
                      <a:headEnd type="none" w="med" len="med"/>
                      <a:tailEnd type="none" w="med" len="med"/>
                    </a:lnB>
                  </a:tcPr>
                </a:tc>
                <a:tc>
                  <a:txBody>
                    <a:bodyPr/>
                    <a:lstStyle/>
                    <a:p>
                      <a:pPr indent="0" marL="0">
                        <a:lnSpc>
                          <a:spcPts val="2240"/>
                        </a:lnSpc>
                        <a:buNone/>
                      </a:pPr>
                      <a:r>
                        <a:rPr lang="en-US" sz="1600" dirty="0">
                          <a:solidFill>
                            <a:srgbClr val="1F3A2B"/>
                          </a:solidFill>
                          <a:latin typeface="Nunito Sans" pitchFamily="34" charset="0"/>
                          <a:ea typeface="Nunito Sans" pitchFamily="34" charset="-122"/>
                          <a:cs typeface="Nunito Sans" pitchFamily="34" charset="-120"/>
                        </a:rPr>
                        <a:t>The view that we lack knowledge we usually think we have</a:t>
                      </a:r>
                      <a:endParaRPr lang="en-US" sz="1600" dirty="0">
                        <a:latin typeface="Nunito Sans" charset="0"/>
                        <a:ea typeface="Nunito Sans" charset="0"/>
                        <a:cs typeface="Nunito Sans" charset="0"/>
                      </a:endParaRPr>
                    </a:p>
                  </a:txBody>
                  <a:tcPr marL="71120" marR="71120" marT="71120" marB="71120" anchor="t">
                    <a:lnL w="12700" cap="flat" cmpd="sng" algn="ctr">
                      <a:solidFill>
                        <a:srgbClr val="C8C4B8"/>
                      </a:solidFill>
                      <a:prstDash val="solid"/>
                      <a:round/>
                      <a:headEnd type="none" w="med" len="med"/>
                      <a:tailEnd type="none" w="med" len="med"/>
                    </a:lnL>
                    <a:lnR w="12700" cap="flat" cmpd="sng" algn="ctr">
                      <a:solidFill>
                        <a:srgbClr val="C8C4B8"/>
                      </a:solidFill>
                      <a:prstDash val="solid"/>
                      <a:round/>
                      <a:headEnd type="none" w="med" len="med"/>
                      <a:tailEnd type="none" w="med" len="med"/>
                    </a:lnR>
                    <a:lnT w="12700" cap="flat" cmpd="sng" algn="ctr">
                      <a:solidFill>
                        <a:srgbClr val="B0BCAA"/>
                      </a:solidFill>
                      <a:prstDash val="solid"/>
                      <a:round/>
                      <a:headEnd type="none" w="med" len="med"/>
                      <a:tailEnd type="none" w="med" len="med"/>
                    </a:lnT>
                    <a:lnB w="12700" cap="flat" cmpd="sng" algn="ctr">
                      <a:solidFill>
                        <a:srgbClr val="C8C4B8"/>
                      </a:solidFill>
                      <a:prstDash val="solid"/>
                      <a:round/>
                      <a:headEnd type="none" w="med" len="med"/>
                      <a:tailEnd type="none" w="med" len="med"/>
                    </a:lnB>
                  </a:tcPr>
                </a:tc>
              </a:tr>
              <a:tr h="439341">
                <a:tc>
                  <a:txBody>
                    <a:bodyPr/>
                    <a:lstStyle/>
                    <a:p>
                      <a:pPr indent="0" marL="0">
                        <a:lnSpc>
                          <a:spcPts val="2240"/>
                        </a:lnSpc>
                        <a:buNone/>
                      </a:pPr>
                      <a:r>
                        <a:rPr lang="en-US" sz="1600" dirty="0">
                          <a:solidFill>
                            <a:srgbClr val="1F3A2B"/>
                          </a:solidFill>
                          <a:latin typeface="Nunito Sans" pitchFamily="34" charset="0"/>
                          <a:ea typeface="Nunito Sans" pitchFamily="34" charset="-122"/>
                          <a:cs typeface="Nunito Sans" pitchFamily="34" charset="-120"/>
                        </a:rPr>
                        <a:t>Suspension of judgement</a:t>
                      </a:r>
                      <a:endParaRPr lang="en-US" sz="1600" dirty="0">
                        <a:latin typeface="Nunito Sans" charset="0"/>
                        <a:ea typeface="Nunito Sans" charset="0"/>
                        <a:cs typeface="Nunito Sans" charset="0"/>
                      </a:endParaRPr>
                    </a:p>
                  </a:txBody>
                  <a:tcPr marL="71120" marR="71120" marT="71120" marB="71120" anchor="t">
                    <a:lnL w="12700" cap="flat" cmpd="sng" algn="ctr">
                      <a:solidFill>
                        <a:srgbClr val="C8C4B8"/>
                      </a:solidFill>
                      <a:prstDash val="solid"/>
                      <a:round/>
                      <a:headEnd type="none" w="med" len="med"/>
                      <a:tailEnd type="none" w="med" len="med"/>
                    </a:lnL>
                    <a:lnR w="12700" cap="flat" cmpd="sng" algn="ctr">
                      <a:solidFill>
                        <a:srgbClr val="C8C4B8"/>
                      </a:solidFill>
                      <a:prstDash val="solid"/>
                      <a:round/>
                      <a:headEnd type="none" w="med" len="med"/>
                      <a:tailEnd type="none" w="med" len="med"/>
                    </a:lnR>
                    <a:lnT w="12700" cap="flat" cmpd="sng" algn="ctr">
                      <a:solidFill>
                        <a:srgbClr val="C8C4B8"/>
                      </a:solidFill>
                      <a:prstDash val="solid"/>
                      <a:round/>
                      <a:headEnd type="none" w="med" len="med"/>
                      <a:tailEnd type="none" w="med" len="med"/>
                    </a:lnT>
                    <a:lnB w="12700" cap="flat" cmpd="sng" algn="ctr">
                      <a:solidFill>
                        <a:srgbClr val="C8C4B8"/>
                      </a:solidFill>
                      <a:prstDash val="solid"/>
                      <a:round/>
                      <a:headEnd type="none" w="med" len="med"/>
                      <a:tailEnd type="none" w="med" len="med"/>
                    </a:lnB>
                  </a:tcPr>
                </a:tc>
                <a:tc>
                  <a:txBody>
                    <a:bodyPr/>
                    <a:lstStyle/>
                    <a:p>
                      <a:pPr indent="0" marL="0">
                        <a:lnSpc>
                          <a:spcPts val="2240"/>
                        </a:lnSpc>
                        <a:buNone/>
                      </a:pPr>
                      <a:r>
                        <a:rPr lang="en-US" sz="1600" dirty="0">
                          <a:solidFill>
                            <a:srgbClr val="1F3A2B"/>
                          </a:solidFill>
                          <a:latin typeface="Nunito Sans" pitchFamily="34" charset="0"/>
                          <a:ea typeface="Nunito Sans" pitchFamily="34" charset="-122"/>
                          <a:cs typeface="Nunito Sans" pitchFamily="34" charset="-120"/>
                        </a:rPr>
                        <a:t>Neither believing nor disbelieving a claim</a:t>
                      </a:r>
                      <a:endParaRPr lang="en-US" sz="1600" dirty="0">
                        <a:latin typeface="Nunito Sans" charset="0"/>
                        <a:ea typeface="Nunito Sans" charset="0"/>
                        <a:cs typeface="Nunito Sans" charset="0"/>
                      </a:endParaRPr>
                    </a:p>
                  </a:txBody>
                  <a:tcPr marL="71120" marR="71120" marT="71120" marB="71120" anchor="t">
                    <a:lnL w="12700" cap="flat" cmpd="sng" algn="ctr">
                      <a:solidFill>
                        <a:srgbClr val="C8C4B8"/>
                      </a:solidFill>
                      <a:prstDash val="solid"/>
                      <a:round/>
                      <a:headEnd type="none" w="med" len="med"/>
                      <a:tailEnd type="none" w="med" len="med"/>
                    </a:lnL>
                    <a:lnR w="12700" cap="flat" cmpd="sng" algn="ctr">
                      <a:solidFill>
                        <a:srgbClr val="C8C4B8"/>
                      </a:solidFill>
                      <a:prstDash val="solid"/>
                      <a:round/>
                      <a:headEnd type="none" w="med" len="med"/>
                      <a:tailEnd type="none" w="med" len="med"/>
                    </a:lnR>
                    <a:lnT w="12700" cap="flat" cmpd="sng" algn="ctr">
                      <a:solidFill>
                        <a:srgbClr val="C8C4B8"/>
                      </a:solidFill>
                      <a:prstDash val="solid"/>
                      <a:round/>
                      <a:headEnd type="none" w="med" len="med"/>
                      <a:tailEnd type="none" w="med" len="med"/>
                    </a:lnT>
                    <a:lnB w="12700" cap="flat" cmpd="sng" algn="ctr">
                      <a:solidFill>
                        <a:srgbClr val="C8C4B8"/>
                      </a:solidFill>
                      <a:prstDash val="solid"/>
                      <a:round/>
                      <a:headEnd type="none" w="med" len="med"/>
                      <a:tailEnd type="none" w="med" len="med"/>
                    </a:lnB>
                  </a:tcPr>
                </a:tc>
              </a:tr>
              <a:tr h="439341">
                <a:tc>
                  <a:txBody>
                    <a:bodyPr/>
                    <a:lstStyle/>
                    <a:p>
                      <a:pPr indent="0" marL="0">
                        <a:lnSpc>
                          <a:spcPts val="2240"/>
                        </a:lnSpc>
                        <a:buNone/>
                      </a:pPr>
                      <a:r>
                        <a:rPr lang="en-US" sz="1600" dirty="0">
                          <a:solidFill>
                            <a:srgbClr val="1F3A2B"/>
                          </a:solidFill>
                          <a:latin typeface="Nunito Sans" pitchFamily="34" charset="0"/>
                          <a:ea typeface="Nunito Sans" pitchFamily="34" charset="-122"/>
                          <a:cs typeface="Nunito Sans" pitchFamily="34" charset="-120"/>
                        </a:rPr>
                        <a:t>Local / global</a:t>
                      </a:r>
                      <a:endParaRPr lang="en-US" sz="1600" dirty="0">
                        <a:latin typeface="Nunito Sans" charset="0"/>
                        <a:ea typeface="Nunito Sans" charset="0"/>
                        <a:cs typeface="Nunito Sans" charset="0"/>
                      </a:endParaRPr>
                    </a:p>
                  </a:txBody>
                  <a:tcPr marL="71120" marR="71120" marT="71120" marB="71120" anchor="t">
                    <a:lnL w="12700" cap="flat" cmpd="sng" algn="ctr">
                      <a:solidFill>
                        <a:srgbClr val="C8C4B8"/>
                      </a:solidFill>
                      <a:prstDash val="solid"/>
                      <a:round/>
                      <a:headEnd type="none" w="med" len="med"/>
                      <a:tailEnd type="none" w="med" len="med"/>
                    </a:lnL>
                    <a:lnR w="12700" cap="flat" cmpd="sng" algn="ctr">
                      <a:solidFill>
                        <a:srgbClr val="C8C4B8"/>
                      </a:solidFill>
                      <a:prstDash val="solid"/>
                      <a:round/>
                      <a:headEnd type="none" w="med" len="med"/>
                      <a:tailEnd type="none" w="med" len="med"/>
                    </a:lnR>
                    <a:lnT w="12700" cap="flat" cmpd="sng" algn="ctr">
                      <a:solidFill>
                        <a:srgbClr val="C8C4B8"/>
                      </a:solidFill>
                      <a:prstDash val="solid"/>
                      <a:round/>
                      <a:headEnd type="none" w="med" len="med"/>
                      <a:tailEnd type="none" w="med" len="med"/>
                    </a:lnT>
                    <a:lnB w="12700" cap="flat" cmpd="sng" algn="ctr">
                      <a:solidFill>
                        <a:srgbClr val="C8C4B8"/>
                      </a:solidFill>
                      <a:prstDash val="solid"/>
                      <a:round/>
                      <a:headEnd type="none" w="med" len="med"/>
                      <a:tailEnd type="none" w="med" len="med"/>
                    </a:lnB>
                  </a:tcPr>
                </a:tc>
                <a:tc>
                  <a:txBody>
                    <a:bodyPr/>
                    <a:lstStyle/>
                    <a:p>
                      <a:pPr indent="0" marL="0">
                        <a:lnSpc>
                          <a:spcPts val="2240"/>
                        </a:lnSpc>
                        <a:buNone/>
                      </a:pPr>
                      <a:r>
                        <a:rPr lang="en-US" sz="1600" dirty="0">
                          <a:solidFill>
                            <a:srgbClr val="1F3A2B"/>
                          </a:solidFill>
                          <a:latin typeface="Nunito Sans" pitchFamily="34" charset="0"/>
                          <a:ea typeface="Nunito Sans" pitchFamily="34" charset="-122"/>
                          <a:cs typeface="Nunito Sans" pitchFamily="34" charset="-120"/>
                        </a:rPr>
                        <a:t>Doubt about one area of knowledge / about all knowledge</a:t>
                      </a:r>
                      <a:endParaRPr lang="en-US" sz="1600" dirty="0">
                        <a:latin typeface="Nunito Sans" charset="0"/>
                        <a:ea typeface="Nunito Sans" charset="0"/>
                        <a:cs typeface="Nunito Sans" charset="0"/>
                      </a:endParaRPr>
                    </a:p>
                  </a:txBody>
                  <a:tcPr marL="71120" marR="71120" marT="71120" marB="71120" anchor="t">
                    <a:lnL w="12700" cap="flat" cmpd="sng" algn="ctr">
                      <a:solidFill>
                        <a:srgbClr val="C8C4B8"/>
                      </a:solidFill>
                      <a:prstDash val="solid"/>
                      <a:round/>
                      <a:headEnd type="none" w="med" len="med"/>
                      <a:tailEnd type="none" w="med" len="med"/>
                    </a:lnL>
                    <a:lnR w="12700" cap="flat" cmpd="sng" algn="ctr">
                      <a:solidFill>
                        <a:srgbClr val="C8C4B8"/>
                      </a:solidFill>
                      <a:prstDash val="solid"/>
                      <a:round/>
                      <a:headEnd type="none" w="med" len="med"/>
                      <a:tailEnd type="none" w="med" len="med"/>
                    </a:lnR>
                    <a:lnT w="12700" cap="flat" cmpd="sng" algn="ctr">
                      <a:solidFill>
                        <a:srgbClr val="C8C4B8"/>
                      </a:solidFill>
                      <a:prstDash val="solid"/>
                      <a:round/>
                      <a:headEnd type="none" w="med" len="med"/>
                      <a:tailEnd type="none" w="med" len="med"/>
                    </a:lnT>
                    <a:lnB w="12700" cap="flat" cmpd="sng" algn="ctr">
                      <a:solidFill>
                        <a:srgbClr val="C8C4B8"/>
                      </a:solidFill>
                      <a:prstDash val="solid"/>
                      <a:round/>
                      <a:headEnd type="none" w="med" len="med"/>
                      <a:tailEnd type="none" w="med" len="med"/>
                    </a:lnB>
                  </a:tcPr>
                </a:tc>
              </a:tr>
              <a:tr h="439341">
                <a:tc>
                  <a:txBody>
                    <a:bodyPr/>
                    <a:lstStyle/>
                    <a:p>
                      <a:pPr indent="0" marL="0">
                        <a:lnSpc>
                          <a:spcPts val="2240"/>
                        </a:lnSpc>
                        <a:buNone/>
                      </a:pPr>
                      <a:r>
                        <a:rPr lang="en-US" sz="1600" dirty="0">
                          <a:solidFill>
                            <a:srgbClr val="1F3A2B"/>
                          </a:solidFill>
                          <a:latin typeface="Nunito Sans" pitchFamily="34" charset="0"/>
                          <a:ea typeface="Nunito Sans" pitchFamily="34" charset="-122"/>
                          <a:cs typeface="Nunito Sans" pitchFamily="34" charset="-120"/>
                        </a:rPr>
                        <a:t>Induction</a:t>
                      </a:r>
                      <a:endParaRPr lang="en-US" sz="1600" dirty="0">
                        <a:latin typeface="Nunito Sans" charset="0"/>
                        <a:ea typeface="Nunito Sans" charset="0"/>
                        <a:cs typeface="Nunito Sans" charset="0"/>
                      </a:endParaRPr>
                    </a:p>
                  </a:txBody>
                  <a:tcPr marL="71120" marR="71120" marT="71120" marB="71120" anchor="t">
                    <a:lnL w="12700" cap="flat" cmpd="sng" algn="ctr">
                      <a:solidFill>
                        <a:srgbClr val="C8C4B8"/>
                      </a:solidFill>
                      <a:prstDash val="solid"/>
                      <a:round/>
                      <a:headEnd type="none" w="med" len="med"/>
                      <a:tailEnd type="none" w="med" len="med"/>
                    </a:lnL>
                    <a:lnR w="12700" cap="flat" cmpd="sng" algn="ctr">
                      <a:solidFill>
                        <a:srgbClr val="C8C4B8"/>
                      </a:solidFill>
                      <a:prstDash val="solid"/>
                      <a:round/>
                      <a:headEnd type="none" w="med" len="med"/>
                      <a:tailEnd type="none" w="med" len="med"/>
                    </a:lnR>
                    <a:lnT w="12700" cap="flat" cmpd="sng" algn="ctr">
                      <a:solidFill>
                        <a:srgbClr val="C8C4B8"/>
                      </a:solidFill>
                      <a:prstDash val="solid"/>
                      <a:round/>
                      <a:headEnd type="none" w="med" len="med"/>
                      <a:tailEnd type="none" w="med" len="med"/>
                    </a:lnT>
                    <a:lnB w="12700" cap="flat" cmpd="sng" algn="ctr">
                      <a:solidFill>
                        <a:srgbClr val="C8C4B8"/>
                      </a:solidFill>
                      <a:prstDash val="solid"/>
                      <a:round/>
                      <a:headEnd type="none" w="med" len="med"/>
                      <a:tailEnd type="none" w="med" len="med"/>
                    </a:lnB>
                  </a:tcPr>
                </a:tc>
                <a:tc>
                  <a:txBody>
                    <a:bodyPr/>
                    <a:lstStyle/>
                    <a:p>
                      <a:pPr indent="0" marL="0">
                        <a:lnSpc>
                          <a:spcPts val="2240"/>
                        </a:lnSpc>
                        <a:buNone/>
                      </a:pPr>
                      <a:r>
                        <a:rPr lang="en-US" sz="1600" dirty="0">
                          <a:solidFill>
                            <a:srgbClr val="1F3A2B"/>
                          </a:solidFill>
                          <a:latin typeface="Nunito Sans" pitchFamily="34" charset="0"/>
                          <a:ea typeface="Nunito Sans" pitchFamily="34" charset="-122"/>
                          <a:cs typeface="Nunito Sans" pitchFamily="34" charset="-120"/>
                        </a:rPr>
                        <a:t>Reasoning from past cases to new ones</a:t>
                      </a:r>
                      <a:endParaRPr lang="en-US" sz="1600" dirty="0">
                        <a:latin typeface="Nunito Sans" charset="0"/>
                        <a:ea typeface="Nunito Sans" charset="0"/>
                        <a:cs typeface="Nunito Sans" charset="0"/>
                      </a:endParaRPr>
                    </a:p>
                  </a:txBody>
                  <a:tcPr marL="71120" marR="71120" marT="71120" marB="71120" anchor="t">
                    <a:lnL w="12700" cap="flat" cmpd="sng" algn="ctr">
                      <a:solidFill>
                        <a:srgbClr val="C8C4B8"/>
                      </a:solidFill>
                      <a:prstDash val="solid"/>
                      <a:round/>
                      <a:headEnd type="none" w="med" len="med"/>
                      <a:tailEnd type="none" w="med" len="med"/>
                    </a:lnL>
                    <a:lnR w="12700" cap="flat" cmpd="sng" algn="ctr">
                      <a:solidFill>
                        <a:srgbClr val="C8C4B8"/>
                      </a:solidFill>
                      <a:prstDash val="solid"/>
                      <a:round/>
                      <a:headEnd type="none" w="med" len="med"/>
                      <a:tailEnd type="none" w="med" len="med"/>
                    </a:lnR>
                    <a:lnT w="12700" cap="flat" cmpd="sng" algn="ctr">
                      <a:solidFill>
                        <a:srgbClr val="C8C4B8"/>
                      </a:solidFill>
                      <a:prstDash val="solid"/>
                      <a:round/>
                      <a:headEnd type="none" w="med" len="med"/>
                      <a:tailEnd type="none" w="med" len="med"/>
                    </a:lnT>
                    <a:lnB w="12700" cap="flat" cmpd="sng" algn="ctr">
                      <a:solidFill>
                        <a:srgbClr val="C8C4B8"/>
                      </a:solidFill>
                      <a:prstDash val="solid"/>
                      <a:round/>
                      <a:headEnd type="none" w="med" len="med"/>
                      <a:tailEnd type="none" w="med" len="med"/>
                    </a:lnB>
                  </a:tcPr>
                </a:tc>
              </a:tr>
              <a:tr h="439341">
                <a:tc>
                  <a:txBody>
                    <a:bodyPr/>
                    <a:lstStyle/>
                    <a:p>
                      <a:pPr indent="0" marL="0">
                        <a:lnSpc>
                          <a:spcPts val="2240"/>
                        </a:lnSpc>
                        <a:buNone/>
                      </a:pPr>
                      <a:r>
                        <a:rPr lang="en-US" sz="1600" dirty="0">
                          <a:solidFill>
                            <a:srgbClr val="1F3A2B"/>
                          </a:solidFill>
                          <a:latin typeface="Nunito Sans" pitchFamily="34" charset="0"/>
                          <a:ea typeface="Nunito Sans" pitchFamily="34" charset="-122"/>
                          <a:cs typeface="Nunito Sans" pitchFamily="34" charset="-120"/>
                        </a:rPr>
                        <a:t>Uniformity of Nature</a:t>
                      </a:r>
                      <a:endParaRPr lang="en-US" sz="1600" dirty="0">
                        <a:latin typeface="Nunito Sans" charset="0"/>
                        <a:ea typeface="Nunito Sans" charset="0"/>
                        <a:cs typeface="Nunito Sans" charset="0"/>
                      </a:endParaRPr>
                    </a:p>
                  </a:txBody>
                  <a:tcPr marL="71120" marR="71120" marT="71120" marB="71120" anchor="t">
                    <a:lnL w="12700" cap="flat" cmpd="sng" algn="ctr">
                      <a:solidFill>
                        <a:srgbClr val="C8C4B8"/>
                      </a:solidFill>
                      <a:prstDash val="solid"/>
                      <a:round/>
                      <a:headEnd type="none" w="med" len="med"/>
                      <a:tailEnd type="none" w="med" len="med"/>
                    </a:lnL>
                    <a:lnR w="12700" cap="flat" cmpd="sng" algn="ctr">
                      <a:solidFill>
                        <a:srgbClr val="C8C4B8"/>
                      </a:solidFill>
                      <a:prstDash val="solid"/>
                      <a:round/>
                      <a:headEnd type="none" w="med" len="med"/>
                      <a:tailEnd type="none" w="med" len="med"/>
                    </a:lnR>
                    <a:lnT w="12700" cap="flat" cmpd="sng" algn="ctr">
                      <a:solidFill>
                        <a:srgbClr val="C8C4B8"/>
                      </a:solidFill>
                      <a:prstDash val="solid"/>
                      <a:round/>
                      <a:headEnd type="none" w="med" len="med"/>
                      <a:tailEnd type="none" w="med" len="med"/>
                    </a:lnT>
                    <a:lnB w="12700" cap="flat" cmpd="sng" algn="ctr">
                      <a:solidFill>
                        <a:srgbClr val="C8C4B8"/>
                      </a:solidFill>
                      <a:prstDash val="solid"/>
                      <a:round/>
                      <a:headEnd type="none" w="med" len="med"/>
                      <a:tailEnd type="none" w="med" len="med"/>
                    </a:lnB>
                  </a:tcPr>
                </a:tc>
                <a:tc>
                  <a:txBody>
                    <a:bodyPr/>
                    <a:lstStyle/>
                    <a:p>
                      <a:pPr indent="0" marL="0">
                        <a:lnSpc>
                          <a:spcPts val="2240"/>
                        </a:lnSpc>
                        <a:buNone/>
                      </a:pPr>
                      <a:r>
                        <a:rPr lang="en-US" sz="1600" dirty="0">
                          <a:solidFill>
                            <a:srgbClr val="1F3A2B"/>
                          </a:solidFill>
                          <a:latin typeface="Nunito Sans" pitchFamily="34" charset="0"/>
                          <a:ea typeface="Nunito Sans" pitchFamily="34" charset="-122"/>
                          <a:cs typeface="Nunito Sans" pitchFamily="34" charset="-120"/>
                        </a:rPr>
                        <a:t>The assumption that the future will resemble the past</a:t>
                      </a:r>
                      <a:endParaRPr lang="en-US" sz="1600" dirty="0">
                        <a:latin typeface="Nunito Sans" charset="0"/>
                        <a:ea typeface="Nunito Sans" charset="0"/>
                        <a:cs typeface="Nunito Sans" charset="0"/>
                      </a:endParaRPr>
                    </a:p>
                  </a:txBody>
                  <a:tcPr marL="71120" marR="71120" marT="71120" marB="71120" anchor="t">
                    <a:lnL w="12700" cap="flat" cmpd="sng" algn="ctr">
                      <a:solidFill>
                        <a:srgbClr val="C8C4B8"/>
                      </a:solidFill>
                      <a:prstDash val="solid"/>
                      <a:round/>
                      <a:headEnd type="none" w="med" len="med"/>
                      <a:tailEnd type="none" w="med" len="med"/>
                    </a:lnL>
                    <a:lnR w="12700" cap="flat" cmpd="sng" algn="ctr">
                      <a:solidFill>
                        <a:srgbClr val="C8C4B8"/>
                      </a:solidFill>
                      <a:prstDash val="solid"/>
                      <a:round/>
                      <a:headEnd type="none" w="med" len="med"/>
                      <a:tailEnd type="none" w="med" len="med"/>
                    </a:lnR>
                    <a:lnT w="12700" cap="flat" cmpd="sng" algn="ctr">
                      <a:solidFill>
                        <a:srgbClr val="C8C4B8"/>
                      </a:solidFill>
                      <a:prstDash val="solid"/>
                      <a:round/>
                      <a:headEnd type="none" w="med" len="med"/>
                      <a:tailEnd type="none" w="med" len="med"/>
                    </a:lnT>
                    <a:lnB w="12700" cap="flat" cmpd="sng" algn="ctr">
                      <a:solidFill>
                        <a:srgbClr val="C8C4B8"/>
                      </a:solidFill>
                      <a:prstDash val="solid"/>
                      <a:round/>
                      <a:headEnd type="none" w="med" len="med"/>
                      <a:tailEnd type="none" w="med" len="med"/>
                    </a:lnB>
                  </a:tcPr>
                </a:tc>
              </a:tr>
              <a:tr h="439341">
                <a:tc>
                  <a:txBody>
                    <a:bodyPr/>
                    <a:lstStyle/>
                    <a:p>
                      <a:pPr indent="0" marL="0">
                        <a:lnSpc>
                          <a:spcPts val="2240"/>
                        </a:lnSpc>
                        <a:buNone/>
                      </a:pPr>
                      <a:r>
                        <a:rPr lang="en-US" sz="1600" dirty="0">
                          <a:solidFill>
                            <a:srgbClr val="1F3A2B"/>
                          </a:solidFill>
                          <a:latin typeface="Nunito Sans" pitchFamily="34" charset="0"/>
                          <a:ea typeface="Nunito Sans" pitchFamily="34" charset="-122"/>
                          <a:cs typeface="Nunito Sans" pitchFamily="34" charset="-120"/>
                        </a:rPr>
                        <a:t>Sceptical hypothesis</a:t>
                      </a:r>
                      <a:endParaRPr lang="en-US" sz="1600" dirty="0">
                        <a:latin typeface="Nunito Sans" charset="0"/>
                        <a:ea typeface="Nunito Sans" charset="0"/>
                        <a:cs typeface="Nunito Sans" charset="0"/>
                      </a:endParaRPr>
                    </a:p>
                  </a:txBody>
                  <a:tcPr marL="71120" marR="71120" marT="71120" marB="71120" anchor="t">
                    <a:lnL w="12700" cap="flat" cmpd="sng" algn="ctr">
                      <a:solidFill>
                        <a:srgbClr val="C8C4B8"/>
                      </a:solidFill>
                      <a:prstDash val="solid"/>
                      <a:round/>
                      <a:headEnd type="none" w="med" len="med"/>
                      <a:tailEnd type="none" w="med" len="med"/>
                    </a:lnL>
                    <a:lnR w="12700" cap="flat" cmpd="sng" algn="ctr">
                      <a:solidFill>
                        <a:srgbClr val="C8C4B8"/>
                      </a:solidFill>
                      <a:prstDash val="solid"/>
                      <a:round/>
                      <a:headEnd type="none" w="med" len="med"/>
                      <a:tailEnd type="none" w="med" len="med"/>
                    </a:lnR>
                    <a:lnT w="12700" cap="flat" cmpd="sng" algn="ctr">
                      <a:solidFill>
                        <a:srgbClr val="C8C4B8"/>
                      </a:solidFill>
                      <a:prstDash val="solid"/>
                      <a:round/>
                      <a:headEnd type="none" w="med" len="med"/>
                      <a:tailEnd type="none" w="med" len="med"/>
                    </a:lnT>
                    <a:lnB w="12700" cap="flat" cmpd="sng" algn="ctr">
                      <a:solidFill>
                        <a:srgbClr val="C8C4B8"/>
                      </a:solidFill>
                      <a:prstDash val="solid"/>
                      <a:round/>
                      <a:headEnd type="none" w="med" len="med"/>
                      <a:tailEnd type="none" w="med" len="med"/>
                    </a:lnB>
                  </a:tcPr>
                </a:tc>
                <a:tc>
                  <a:txBody>
                    <a:bodyPr/>
                    <a:lstStyle/>
                    <a:p>
                      <a:pPr indent="0" marL="0">
                        <a:lnSpc>
                          <a:spcPts val="2240"/>
                        </a:lnSpc>
                        <a:buNone/>
                      </a:pPr>
                      <a:r>
                        <a:rPr lang="en-US" sz="1600" dirty="0">
                          <a:solidFill>
                            <a:srgbClr val="1F3A2B"/>
                          </a:solidFill>
                          <a:latin typeface="Nunito Sans" pitchFamily="34" charset="0"/>
                          <a:ea typeface="Nunito Sans" pitchFamily="34" charset="-122"/>
                          <a:cs typeface="Nunito Sans" pitchFamily="34" charset="-120"/>
                        </a:rPr>
                        <a:t>A scenario we can’t tell apart from reality, e.g. the evil demon</a:t>
                      </a:r>
                      <a:endParaRPr lang="en-US" sz="1600" dirty="0">
                        <a:latin typeface="Nunito Sans" charset="0"/>
                        <a:ea typeface="Nunito Sans" charset="0"/>
                        <a:cs typeface="Nunito Sans" charset="0"/>
                      </a:endParaRPr>
                    </a:p>
                  </a:txBody>
                  <a:tcPr marL="71120" marR="71120" marT="71120" marB="71120" anchor="t">
                    <a:lnL w="12700" cap="flat" cmpd="sng" algn="ctr">
                      <a:solidFill>
                        <a:srgbClr val="C8C4B8"/>
                      </a:solidFill>
                      <a:prstDash val="solid"/>
                      <a:round/>
                      <a:headEnd type="none" w="med" len="med"/>
                      <a:tailEnd type="none" w="med" len="med"/>
                    </a:lnL>
                    <a:lnR w="12700" cap="flat" cmpd="sng" algn="ctr">
                      <a:solidFill>
                        <a:srgbClr val="C8C4B8"/>
                      </a:solidFill>
                      <a:prstDash val="solid"/>
                      <a:round/>
                      <a:headEnd type="none" w="med" len="med"/>
                      <a:tailEnd type="none" w="med" len="med"/>
                    </a:lnR>
                    <a:lnT w="12700" cap="flat" cmpd="sng" algn="ctr">
                      <a:solidFill>
                        <a:srgbClr val="C8C4B8"/>
                      </a:solidFill>
                      <a:prstDash val="solid"/>
                      <a:round/>
                      <a:headEnd type="none" w="med" len="med"/>
                      <a:tailEnd type="none" w="med" len="med"/>
                    </a:lnT>
                    <a:lnB w="12700" cap="flat" cmpd="sng" algn="ctr">
                      <a:solidFill>
                        <a:srgbClr val="C8C4B8"/>
                      </a:solidFill>
                      <a:prstDash val="solid"/>
                      <a:round/>
                      <a:headEnd type="none" w="med" len="med"/>
                      <a:tailEnd type="none" w="med" len="med"/>
                    </a:lnB>
                  </a:tcPr>
                </a:tc>
              </a:tr>
              <a:tr h="439341">
                <a:tc>
                  <a:txBody>
                    <a:bodyPr/>
                    <a:lstStyle/>
                    <a:p>
                      <a:pPr indent="0" marL="0">
                        <a:lnSpc>
                          <a:spcPts val="2240"/>
                        </a:lnSpc>
                        <a:buNone/>
                      </a:pPr>
                      <a:r>
                        <a:rPr lang="en-US" sz="1600" dirty="0">
                          <a:solidFill>
                            <a:srgbClr val="1F3A2B"/>
                          </a:solidFill>
                          <a:latin typeface="Nunito Sans" pitchFamily="34" charset="0"/>
                          <a:ea typeface="Nunito Sans" pitchFamily="34" charset="-122"/>
                          <a:cs typeface="Nunito Sans" pitchFamily="34" charset="-120"/>
                        </a:rPr>
                        <a:t>Closure Principle</a:t>
                      </a:r>
                      <a:endParaRPr lang="en-US" sz="1600" dirty="0">
                        <a:latin typeface="Nunito Sans" charset="0"/>
                        <a:ea typeface="Nunito Sans" charset="0"/>
                        <a:cs typeface="Nunito Sans" charset="0"/>
                      </a:endParaRPr>
                    </a:p>
                  </a:txBody>
                  <a:tcPr marL="71120" marR="71120" marT="71120" marB="71120" anchor="t">
                    <a:lnL w="12700" cap="flat" cmpd="sng" algn="ctr">
                      <a:solidFill>
                        <a:srgbClr val="C8C4B8"/>
                      </a:solidFill>
                      <a:prstDash val="solid"/>
                      <a:round/>
                      <a:headEnd type="none" w="med" len="med"/>
                      <a:tailEnd type="none" w="med" len="med"/>
                    </a:lnL>
                    <a:lnR w="12700" cap="flat" cmpd="sng" algn="ctr">
                      <a:solidFill>
                        <a:srgbClr val="C8C4B8"/>
                      </a:solidFill>
                      <a:prstDash val="solid"/>
                      <a:round/>
                      <a:headEnd type="none" w="med" len="med"/>
                      <a:tailEnd type="none" w="med" len="med"/>
                    </a:lnR>
                    <a:lnT w="12700" cap="flat" cmpd="sng" algn="ctr">
                      <a:solidFill>
                        <a:srgbClr val="C8C4B8"/>
                      </a:solidFill>
                      <a:prstDash val="solid"/>
                      <a:round/>
                      <a:headEnd type="none" w="med" len="med"/>
                      <a:tailEnd type="none" w="med" len="med"/>
                    </a:lnT>
                    <a:lnB w="12700" cap="flat" cmpd="sng" algn="ctr">
                      <a:solidFill>
                        <a:srgbClr val="C8C4B8"/>
                      </a:solidFill>
                      <a:prstDash val="solid"/>
                      <a:round/>
                      <a:headEnd type="none" w="med" len="med"/>
                      <a:tailEnd type="none" w="med" len="med"/>
                    </a:lnB>
                  </a:tcPr>
                </a:tc>
                <a:tc>
                  <a:txBody>
                    <a:bodyPr/>
                    <a:lstStyle/>
                    <a:p>
                      <a:pPr indent="0" marL="0">
                        <a:lnSpc>
                          <a:spcPts val="2240"/>
                        </a:lnSpc>
                        <a:buNone/>
                      </a:pPr>
                      <a:r>
                        <a:rPr lang="en-US" sz="1600" dirty="0">
                          <a:solidFill>
                            <a:srgbClr val="1F3A2B"/>
                          </a:solidFill>
                          <a:latin typeface="Nunito Sans" pitchFamily="34" charset="0"/>
                          <a:ea typeface="Nunito Sans" pitchFamily="34" charset="-122"/>
                          <a:cs typeface="Nunito Sans" pitchFamily="34" charset="-120"/>
                        </a:rPr>
                        <a:t>If you’re justified in p, and p entails q, you’re justified in q</a:t>
                      </a:r>
                      <a:endParaRPr lang="en-US" sz="1600" dirty="0">
                        <a:latin typeface="Nunito Sans" charset="0"/>
                        <a:ea typeface="Nunito Sans" charset="0"/>
                        <a:cs typeface="Nunito Sans" charset="0"/>
                      </a:endParaRPr>
                    </a:p>
                  </a:txBody>
                  <a:tcPr marL="71120" marR="71120" marT="71120" marB="71120" anchor="t">
                    <a:lnL w="12700" cap="flat" cmpd="sng" algn="ctr">
                      <a:solidFill>
                        <a:srgbClr val="C8C4B8"/>
                      </a:solidFill>
                      <a:prstDash val="solid"/>
                      <a:round/>
                      <a:headEnd type="none" w="med" len="med"/>
                      <a:tailEnd type="none" w="med" len="med"/>
                    </a:lnL>
                    <a:lnR w="12700" cap="flat" cmpd="sng" algn="ctr">
                      <a:solidFill>
                        <a:srgbClr val="C8C4B8"/>
                      </a:solidFill>
                      <a:prstDash val="solid"/>
                      <a:round/>
                      <a:headEnd type="none" w="med" len="med"/>
                      <a:tailEnd type="none" w="med" len="med"/>
                    </a:lnR>
                    <a:lnT w="12700" cap="flat" cmpd="sng" algn="ctr">
                      <a:solidFill>
                        <a:srgbClr val="C8C4B8"/>
                      </a:solidFill>
                      <a:prstDash val="solid"/>
                      <a:round/>
                      <a:headEnd type="none" w="med" len="med"/>
                      <a:tailEnd type="none" w="med" len="med"/>
                    </a:lnT>
                    <a:lnB w="12700" cap="flat" cmpd="sng" algn="ctr">
                      <a:solidFill>
                        <a:srgbClr val="C8C4B8"/>
                      </a:solidFill>
                      <a:prstDash val="solid"/>
                      <a:round/>
                      <a:headEnd type="none" w="med" len="med"/>
                      <a:tailEnd type="none" w="med" len="med"/>
                    </a:lnB>
                  </a:tcPr>
                </a:tc>
              </a:tr>
              <a:tr h="439341">
                <a:tc>
                  <a:txBody>
                    <a:bodyPr/>
                    <a:lstStyle/>
                    <a:p>
                      <a:pPr indent="0" marL="0">
                        <a:lnSpc>
                          <a:spcPts val="2240"/>
                        </a:lnSpc>
                        <a:buNone/>
                      </a:pPr>
                      <a:r>
                        <a:rPr lang="en-US" sz="1600" dirty="0">
                          <a:solidFill>
                            <a:srgbClr val="1F3A2B"/>
                          </a:solidFill>
                          <a:latin typeface="Nunito Sans" pitchFamily="34" charset="0"/>
                          <a:ea typeface="Nunito Sans" pitchFamily="34" charset="-122"/>
                          <a:cs typeface="Nunito Sans" pitchFamily="34" charset="-120"/>
                        </a:rPr>
                        <a:t>Contextualism</a:t>
                      </a:r>
                      <a:endParaRPr lang="en-US" sz="1600" dirty="0">
                        <a:latin typeface="Nunito Sans" charset="0"/>
                        <a:ea typeface="Nunito Sans" charset="0"/>
                        <a:cs typeface="Nunito Sans" charset="0"/>
                      </a:endParaRPr>
                    </a:p>
                  </a:txBody>
                  <a:tcPr marL="71120" marR="71120" marT="71120" marB="71120" anchor="t">
                    <a:lnL w="12700" cap="flat" cmpd="sng" algn="ctr">
                      <a:solidFill>
                        <a:srgbClr val="C8C4B8"/>
                      </a:solidFill>
                      <a:prstDash val="solid"/>
                      <a:round/>
                      <a:headEnd type="none" w="med" len="med"/>
                      <a:tailEnd type="none" w="med" len="med"/>
                    </a:lnL>
                    <a:lnR w="12700" cap="flat" cmpd="sng" algn="ctr">
                      <a:solidFill>
                        <a:srgbClr val="C8C4B8"/>
                      </a:solidFill>
                      <a:prstDash val="solid"/>
                      <a:round/>
                      <a:headEnd type="none" w="med" len="med"/>
                      <a:tailEnd type="none" w="med" len="med"/>
                    </a:lnR>
                    <a:lnT w="12700" cap="flat" cmpd="sng" algn="ctr">
                      <a:solidFill>
                        <a:srgbClr val="C8C4B8"/>
                      </a:solidFill>
                      <a:prstDash val="solid"/>
                      <a:round/>
                      <a:headEnd type="none" w="med" len="med"/>
                      <a:tailEnd type="none" w="med" len="med"/>
                    </a:lnT>
                    <a:lnB w="12700" cap="flat" cmpd="sng" algn="ctr">
                      <a:solidFill>
                        <a:srgbClr val="C8C4B8"/>
                      </a:solidFill>
                      <a:prstDash val="solid"/>
                      <a:round/>
                      <a:headEnd type="none" w="med" len="med"/>
                      <a:tailEnd type="none" w="med" len="med"/>
                    </a:lnB>
                  </a:tcPr>
                </a:tc>
                <a:tc>
                  <a:txBody>
                    <a:bodyPr/>
                    <a:lstStyle/>
                    <a:p>
                      <a:pPr indent="0" marL="0">
                        <a:lnSpc>
                          <a:spcPts val="2240"/>
                        </a:lnSpc>
                        <a:buNone/>
                      </a:pPr>
                      <a:r>
                        <a:rPr lang="en-US" sz="1600" dirty="0">
                          <a:solidFill>
                            <a:srgbClr val="1F3A2B"/>
                          </a:solidFill>
                          <a:latin typeface="Nunito Sans" pitchFamily="34" charset="0"/>
                          <a:ea typeface="Nunito Sans" pitchFamily="34" charset="-122"/>
                          <a:cs typeface="Nunito Sans" pitchFamily="34" charset="-120"/>
                        </a:rPr>
                        <a:t>The standard for “know” changes with the conversation</a:t>
                      </a:r>
                      <a:endParaRPr lang="en-US" sz="1600" dirty="0">
                        <a:latin typeface="Nunito Sans" charset="0"/>
                        <a:ea typeface="Nunito Sans" charset="0"/>
                        <a:cs typeface="Nunito Sans" charset="0"/>
                      </a:endParaRPr>
                    </a:p>
                  </a:txBody>
                  <a:tcPr marL="71120" marR="71120" marT="71120" marB="71120" anchor="t">
                    <a:lnL w="12700" cap="flat" cmpd="sng" algn="ctr">
                      <a:solidFill>
                        <a:srgbClr val="C8C4B8"/>
                      </a:solidFill>
                      <a:prstDash val="solid"/>
                      <a:round/>
                      <a:headEnd type="none" w="med" len="med"/>
                      <a:tailEnd type="none" w="med" len="med"/>
                    </a:lnL>
                    <a:lnR w="12700" cap="flat" cmpd="sng" algn="ctr">
                      <a:solidFill>
                        <a:srgbClr val="C8C4B8"/>
                      </a:solidFill>
                      <a:prstDash val="solid"/>
                      <a:round/>
                      <a:headEnd type="none" w="med" len="med"/>
                      <a:tailEnd type="none" w="med" len="med"/>
                    </a:lnR>
                    <a:lnT w="12700" cap="flat" cmpd="sng" algn="ctr">
                      <a:solidFill>
                        <a:srgbClr val="C8C4B8"/>
                      </a:solidFill>
                      <a:prstDash val="solid"/>
                      <a:round/>
                      <a:headEnd type="none" w="med" len="med"/>
                      <a:tailEnd type="none" w="med" len="med"/>
                    </a:lnT>
                    <a:lnB w="12700" cap="flat" cmpd="sng" algn="ctr">
                      <a:solidFill>
                        <a:srgbClr val="C8C4B8"/>
                      </a:solidFill>
                      <a:prstDash val="solid"/>
                      <a:round/>
                      <a:headEnd type="none" w="med" len="med"/>
                      <a:tailEnd type="none" w="med" len="med"/>
                    </a:lnB>
                  </a:tcPr>
                </a:tc>
              </a:tr>
              <a:tr h="439341">
                <a:tc>
                  <a:txBody>
                    <a:bodyPr/>
                    <a:lstStyle/>
                    <a:p>
                      <a:pPr indent="0" marL="0">
                        <a:lnSpc>
                          <a:spcPts val="2240"/>
                        </a:lnSpc>
                        <a:buNone/>
                      </a:pPr>
                      <a:r>
                        <a:rPr lang="en-US" sz="1600" dirty="0">
                          <a:solidFill>
                            <a:srgbClr val="1F3A2B"/>
                          </a:solidFill>
                          <a:latin typeface="Nunito Sans" pitchFamily="34" charset="0"/>
                          <a:ea typeface="Nunito Sans" pitchFamily="34" charset="-122"/>
                          <a:cs typeface="Nunito Sans" pitchFamily="34" charset="-120"/>
                        </a:rPr>
                        <a:t>Agrippa’s trilemma</a:t>
                      </a:r>
                      <a:endParaRPr lang="en-US" sz="1600" dirty="0">
                        <a:latin typeface="Nunito Sans" charset="0"/>
                        <a:ea typeface="Nunito Sans" charset="0"/>
                        <a:cs typeface="Nunito Sans" charset="0"/>
                      </a:endParaRPr>
                    </a:p>
                  </a:txBody>
                  <a:tcPr marL="71120" marR="71120" marT="71120" marB="71120" anchor="t">
                    <a:lnL w="12700" cap="flat" cmpd="sng" algn="ctr">
                      <a:solidFill>
                        <a:srgbClr val="C8C4B8"/>
                      </a:solidFill>
                      <a:prstDash val="solid"/>
                      <a:round/>
                      <a:headEnd type="none" w="med" len="med"/>
                      <a:tailEnd type="none" w="med" len="med"/>
                    </a:lnL>
                    <a:lnR w="12700" cap="flat" cmpd="sng" algn="ctr">
                      <a:solidFill>
                        <a:srgbClr val="C8C4B8"/>
                      </a:solidFill>
                      <a:prstDash val="solid"/>
                      <a:round/>
                      <a:headEnd type="none" w="med" len="med"/>
                      <a:tailEnd type="none" w="med" len="med"/>
                    </a:lnR>
                    <a:lnT w="12700" cap="flat" cmpd="sng" algn="ctr">
                      <a:solidFill>
                        <a:srgbClr val="C8C4B8"/>
                      </a:solidFill>
                      <a:prstDash val="solid"/>
                      <a:round/>
                      <a:headEnd type="none" w="med" len="med"/>
                      <a:tailEnd type="none" w="med" len="med"/>
                    </a:lnT>
                    <a:lnB w="12700" cap="flat" cmpd="sng" algn="ctr">
                      <a:solidFill>
                        <a:srgbClr val="C8C4B8"/>
                      </a:solidFill>
                      <a:prstDash val="solid"/>
                      <a:round/>
                      <a:headEnd type="none" w="med" len="med"/>
                      <a:tailEnd type="none" w="med" len="med"/>
                    </a:lnB>
                  </a:tcPr>
                </a:tc>
                <a:tc>
                  <a:txBody>
                    <a:bodyPr/>
                    <a:lstStyle/>
                    <a:p>
                      <a:pPr indent="0" marL="0">
                        <a:lnSpc>
                          <a:spcPts val="2240"/>
                        </a:lnSpc>
                        <a:buNone/>
                      </a:pPr>
                      <a:r>
                        <a:rPr lang="en-US" sz="1600" dirty="0">
                          <a:solidFill>
                            <a:srgbClr val="1F3A2B"/>
                          </a:solidFill>
                          <a:latin typeface="Nunito Sans" pitchFamily="34" charset="0"/>
                          <a:ea typeface="Nunito Sans" pitchFamily="34" charset="-122"/>
                          <a:cs typeface="Nunito Sans" pitchFamily="34" charset="-120"/>
                        </a:rPr>
                        <a:t>Reasons must stop, loop, or run on forever</a:t>
                      </a:r>
                      <a:endParaRPr lang="en-US" sz="1600" dirty="0">
                        <a:latin typeface="Nunito Sans" charset="0"/>
                        <a:ea typeface="Nunito Sans" charset="0"/>
                        <a:cs typeface="Nunito Sans" charset="0"/>
                      </a:endParaRPr>
                    </a:p>
                  </a:txBody>
                  <a:tcPr marL="71120" marR="71120" marT="71120" marB="71120" anchor="t">
                    <a:lnL w="12700" cap="flat" cmpd="sng" algn="ctr">
                      <a:solidFill>
                        <a:srgbClr val="C8C4B8"/>
                      </a:solidFill>
                      <a:prstDash val="solid"/>
                      <a:round/>
                      <a:headEnd type="none" w="med" len="med"/>
                      <a:tailEnd type="none" w="med" len="med"/>
                    </a:lnL>
                    <a:lnR w="12700" cap="flat" cmpd="sng" algn="ctr">
                      <a:solidFill>
                        <a:srgbClr val="C8C4B8"/>
                      </a:solidFill>
                      <a:prstDash val="solid"/>
                      <a:round/>
                      <a:headEnd type="none" w="med" len="med"/>
                      <a:tailEnd type="none" w="med" len="med"/>
                    </a:lnR>
                    <a:lnT w="12700" cap="flat" cmpd="sng" algn="ctr">
                      <a:solidFill>
                        <a:srgbClr val="C8C4B8"/>
                      </a:solidFill>
                      <a:prstDash val="solid"/>
                      <a:round/>
                      <a:headEnd type="none" w="med" len="med"/>
                      <a:tailEnd type="none" w="med" len="med"/>
                    </a:lnT>
                    <a:lnB w="12700" cap="flat" cmpd="sng" algn="ctr">
                      <a:solidFill>
                        <a:srgbClr val="C8C4B8"/>
                      </a:solidFill>
                      <a:prstDash val="solid"/>
                      <a:round/>
                      <a:headEnd type="none" w="med" len="med"/>
                      <a:tailEnd type="none" w="med" len="med"/>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DCEBD5"/>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F3A2B"/>
                </a:solidFill>
                <a:latin typeface="Domine" pitchFamily="18" charset="0"/>
                <a:ea typeface="Domine" pitchFamily="18" charset="-122"/>
                <a:cs typeface="Domine" pitchFamily="18" charset="-120"/>
              </a:rPr>
              <a:t>Questions</a:t>
            </a:r>
            <a:endParaRPr lang="en-US" sz="3600" dirty="0"/>
          </a:p>
        </p:txBody>
      </p:sp>
      <p:sp>
        <p:nvSpPr>
          <p:cNvPr id="3" name="Text 1"/>
          <p:cNvSpPr/>
          <p:nvPr/>
        </p:nvSpPr>
        <p:spPr>
          <a:xfrm>
            <a:off x="812800" y="1541760"/>
            <a:ext cx="10566400" cy="954980"/>
          </a:xfrm>
          <a:prstGeom prst="roundRect">
            <a:avLst>
              <a:gd name="adj" fmla="val 10639"/>
            </a:avLst>
          </a:prstGeom>
          <a:solidFill>
            <a:srgbClr val="FBF6E6"/>
          </a:solidFill>
          <a:ln/>
        </p:spPr>
        <p:txBody>
          <a:bodyPr wrap="square" lIns="173442" tIns="109942" rIns="0" bIns="84542" rtlCol="0" anchor="t">
            <a:normAutofit/>
          </a:bodyPr>
          <a:lstStyle/>
          <a:p>
            <a:pPr algn="l" indent="0" marL="0">
              <a:lnSpc>
                <a:spcPts val="2660"/>
              </a:lnSpc>
              <a:buNone/>
            </a:pPr>
            <a:r>
              <a:rPr lang="en-US" sz="1900" b="1" dirty="0">
                <a:solidFill>
                  <a:srgbClr val="1F3A2B"/>
                </a:solidFill>
                <a:latin typeface="Nunito Sans" pitchFamily="34" charset="0"/>
                <a:ea typeface="Nunito Sans" pitchFamily="34" charset="-122"/>
                <a:cs typeface="Nunito Sans" pitchFamily="34" charset="-120"/>
              </a:rPr>
              <a:t>1 · Recall</a:t>
            </a:r>
            <a:r>
              <a:rPr lang="en-US" sz="1900" dirty="0">
                <a:solidFill>
                  <a:srgbClr val="1F3A2B"/>
                </a:solidFill>
                <a:latin typeface="Nunito Sans" pitchFamily="34" charset="0"/>
                <a:ea typeface="Nunito Sans" pitchFamily="34" charset="-122"/>
                <a:cs typeface="Nunito Sans" pitchFamily="34" charset="-120"/>
              </a:rPr>
              <a:t> What is the difference between ordinary and philosophical scepticism? Give an example of each.</a:t>
            </a:r>
            <a:endParaRPr lang="en-US" sz="1900" dirty="0"/>
          </a:p>
        </p:txBody>
      </p:sp>
      <p:sp>
        <p:nvSpPr>
          <p:cNvPr id="4" name="Text 2"/>
          <p:cNvSpPr/>
          <p:nvPr/>
        </p:nvSpPr>
        <p:spPr>
          <a:xfrm>
            <a:off x="812800" y="2623741"/>
            <a:ext cx="10566400" cy="617190"/>
          </a:xfrm>
          <a:prstGeom prst="roundRect">
            <a:avLst>
              <a:gd name="adj" fmla="val 16462"/>
            </a:avLst>
          </a:prstGeom>
          <a:solidFill>
            <a:srgbClr val="FBF6E6"/>
          </a:solidFill>
          <a:ln/>
        </p:spPr>
        <p:txBody>
          <a:bodyPr wrap="square" lIns="173442" tIns="109942" rIns="0" bIns="84542" rtlCol="0" anchor="t">
            <a:normAutofit/>
          </a:bodyPr>
          <a:lstStyle/>
          <a:p>
            <a:pPr algn="l" indent="0" marL="0">
              <a:lnSpc>
                <a:spcPts val="2660"/>
              </a:lnSpc>
              <a:buNone/>
            </a:pPr>
            <a:r>
              <a:rPr lang="en-US" sz="1900" b="1" dirty="0">
                <a:solidFill>
                  <a:srgbClr val="1F3A2B"/>
                </a:solidFill>
                <a:latin typeface="Nunito Sans" pitchFamily="34" charset="0"/>
                <a:ea typeface="Nunito Sans" pitchFamily="34" charset="-122"/>
                <a:cs typeface="Nunito Sans" pitchFamily="34" charset="-120"/>
              </a:rPr>
              <a:t>2 · Recall</a:t>
            </a:r>
            <a:r>
              <a:rPr lang="en-US" sz="1900" dirty="0">
                <a:solidFill>
                  <a:srgbClr val="1F3A2B"/>
                </a:solidFill>
                <a:latin typeface="Nunito Sans" pitchFamily="34" charset="0"/>
                <a:ea typeface="Nunito Sans" pitchFamily="34" charset="-122"/>
                <a:cs typeface="Nunito Sans" pitchFamily="34" charset="-120"/>
              </a:rPr>
              <a:t> Explain the difference between local and global scepticism.</a:t>
            </a:r>
            <a:endParaRPr lang="en-US" sz="1900" dirty="0"/>
          </a:p>
        </p:txBody>
      </p:sp>
      <p:sp>
        <p:nvSpPr>
          <p:cNvPr id="5" name="Text 3"/>
          <p:cNvSpPr/>
          <p:nvPr/>
        </p:nvSpPr>
        <p:spPr>
          <a:xfrm>
            <a:off x="812800" y="3367931"/>
            <a:ext cx="10566400" cy="617190"/>
          </a:xfrm>
          <a:prstGeom prst="roundRect">
            <a:avLst>
              <a:gd name="adj" fmla="val 16462"/>
            </a:avLst>
          </a:prstGeom>
          <a:solidFill>
            <a:srgbClr val="FBF6E6"/>
          </a:solidFill>
          <a:ln/>
        </p:spPr>
        <p:txBody>
          <a:bodyPr wrap="square" lIns="173442" tIns="109942" rIns="0" bIns="84542" rtlCol="0" anchor="t">
            <a:normAutofit/>
          </a:bodyPr>
          <a:lstStyle/>
          <a:p>
            <a:pPr algn="l" indent="0" marL="0">
              <a:lnSpc>
                <a:spcPts val="2660"/>
              </a:lnSpc>
              <a:buNone/>
            </a:pPr>
            <a:r>
              <a:rPr lang="en-US" sz="1900" b="1" dirty="0">
                <a:solidFill>
                  <a:srgbClr val="1F3A2B"/>
                </a:solidFill>
                <a:latin typeface="Nunito Sans" pitchFamily="34" charset="0"/>
                <a:ea typeface="Nunito Sans" pitchFamily="34" charset="-122"/>
                <a:cs typeface="Nunito Sans" pitchFamily="34" charset="-120"/>
              </a:rPr>
              <a:t>3 · Explain</a:t>
            </a:r>
            <a:r>
              <a:rPr lang="en-US" sz="1900" dirty="0">
                <a:solidFill>
                  <a:srgbClr val="1F3A2B"/>
                </a:solidFill>
                <a:latin typeface="Nunito Sans" pitchFamily="34" charset="0"/>
                <a:ea typeface="Nunito Sans" pitchFamily="34" charset="-122"/>
                <a:cs typeface="Nunito Sans" pitchFamily="34" charset="-120"/>
              </a:rPr>
              <a:t> Set out the Cartesian sceptical argument in three steps.</a:t>
            </a:r>
            <a:endParaRPr lang="en-US" sz="1900" dirty="0"/>
          </a:p>
        </p:txBody>
      </p:sp>
      <p:sp>
        <p:nvSpPr>
          <p:cNvPr id="6" name="Text 4"/>
          <p:cNvSpPr/>
          <p:nvPr/>
        </p:nvSpPr>
        <p:spPr>
          <a:xfrm>
            <a:off x="812800" y="4112121"/>
            <a:ext cx="10566400" cy="617190"/>
          </a:xfrm>
          <a:prstGeom prst="roundRect">
            <a:avLst>
              <a:gd name="adj" fmla="val 16462"/>
            </a:avLst>
          </a:prstGeom>
          <a:solidFill>
            <a:srgbClr val="FBF6E6"/>
          </a:solidFill>
          <a:ln/>
        </p:spPr>
        <p:txBody>
          <a:bodyPr wrap="square" lIns="173442" tIns="109942" rIns="0" bIns="84542" rtlCol="0" anchor="t">
            <a:normAutofit/>
          </a:bodyPr>
          <a:lstStyle/>
          <a:p>
            <a:pPr algn="l" indent="0" marL="0">
              <a:lnSpc>
                <a:spcPts val="2660"/>
              </a:lnSpc>
              <a:buNone/>
            </a:pPr>
            <a:r>
              <a:rPr lang="en-US" sz="1900" b="1" dirty="0">
                <a:solidFill>
                  <a:srgbClr val="1F3A2B"/>
                </a:solidFill>
                <a:latin typeface="Nunito Sans" pitchFamily="34" charset="0"/>
                <a:ea typeface="Nunito Sans" pitchFamily="34" charset="-122"/>
                <a:cs typeface="Nunito Sans" pitchFamily="34" charset="-120"/>
              </a:rPr>
              <a:t>4 · Apply</a:t>
            </a:r>
            <a:r>
              <a:rPr lang="en-US" sz="1900" dirty="0">
                <a:solidFill>
                  <a:srgbClr val="1F3A2B"/>
                </a:solidFill>
                <a:latin typeface="Nunito Sans" pitchFamily="34" charset="0"/>
                <a:ea typeface="Nunito Sans" pitchFamily="34" charset="-122"/>
                <a:cs typeface="Nunito Sans" pitchFamily="34" charset="-120"/>
              </a:rPr>
              <a:t> Why does Hume think induction is circular?</a:t>
            </a:r>
            <a:endParaRPr lang="en-US" sz="1900" dirty="0"/>
          </a:p>
        </p:txBody>
      </p:sp>
      <p:sp>
        <p:nvSpPr>
          <p:cNvPr id="7" name="Text 5"/>
          <p:cNvSpPr/>
          <p:nvPr/>
        </p:nvSpPr>
        <p:spPr>
          <a:xfrm>
            <a:off x="822325" y="4865836"/>
            <a:ext cx="10547350" cy="636240"/>
          </a:xfrm>
          <a:prstGeom prst="roundRect">
            <a:avLst>
              <a:gd name="adj" fmla="val 14472"/>
            </a:avLst>
          </a:prstGeom>
          <a:solidFill>
            <a:srgbClr val="F6EBC8"/>
          </a:solidFill>
          <a:ln w="19050">
            <a:solidFill>
              <a:srgbClr val="B8892B"/>
            </a:solidFill>
            <a:prstDash val="solid"/>
          </a:ln>
        </p:spPr>
        <p:txBody>
          <a:bodyPr wrap="square" lIns="185757" tIns="122257" rIns="0" bIns="96857" rtlCol="0" anchor="t">
            <a:normAutofit/>
          </a:bodyPr>
          <a:lstStyle/>
          <a:p>
            <a:pPr algn="l" indent="0" marL="0">
              <a:lnSpc>
                <a:spcPts val="2660"/>
              </a:lnSpc>
              <a:buNone/>
            </a:pPr>
            <a:r>
              <a:rPr lang="en-US" sz="1900" b="1" dirty="0">
                <a:solidFill>
                  <a:srgbClr val="1F3A2B"/>
                </a:solidFill>
                <a:latin typeface="Nunito Sans" pitchFamily="34" charset="0"/>
                <a:ea typeface="Nunito Sans" pitchFamily="34" charset="-122"/>
                <a:cs typeface="Nunito Sans" pitchFamily="34" charset="-120"/>
              </a:rPr>
              <a:t>5 · Evaluate</a:t>
            </a:r>
            <a:r>
              <a:rPr lang="en-US" sz="1900" dirty="0">
                <a:solidFill>
                  <a:srgbClr val="1F3A2B"/>
                </a:solidFill>
                <a:latin typeface="Nunito Sans" pitchFamily="34" charset="0"/>
                <a:ea typeface="Nunito Sans" pitchFamily="34" charset="-122"/>
                <a:cs typeface="Nunito Sans" pitchFamily="34" charset="-120"/>
              </a:rPr>
              <a:t> “Scepticism cannot be refuted, but it is still worth studying.” Discuss.</a:t>
            </a:r>
            <a:endParaRPr lang="en-US" sz="1900" dirty="0"/>
          </a:p>
        </p:txBody>
      </p:sp>
    </p:spTree>
  </p:cSld>
  <p:clrMapOvr>
    <a:masterClrMapping/>
  </p:clrMapOvr>
</p:sld>
</file>

<file path=ppt/theme/theme1.xml><?xml version="1.0" encoding="utf-8"?>
<a:theme xmlns:a="http://schemas.openxmlformats.org/drawingml/2006/main" name="Scepticism and Knowledge">
  <a:themeElements>
    <a:clrScheme name="Scepticism and Knowledge">
      <a:dk1>
        <a:srgbClr val="1F3A2B"/>
      </a:dk1>
      <a:lt1>
        <a:srgbClr val="F6EBC8"/>
      </a:lt1>
      <a:dk2>
        <a:srgbClr val="556652"/>
      </a:dk2>
      <a:lt2>
        <a:srgbClr val="E1D9B8"/>
      </a:lt2>
      <a:accent1>
        <a:srgbClr val="5C4410"/>
      </a:accent1>
      <a:accent2>
        <a:srgbClr val="7A5A12"/>
      </a:accent2>
      <a:accent3>
        <a:srgbClr val="FBF6E6"/>
      </a:accent3>
      <a:accent4>
        <a:srgbClr val="DCEBD5"/>
      </a:accent4>
      <a:accent5>
        <a:srgbClr val="3E5A48"/>
      </a:accent5>
      <a:accent6>
        <a:srgbClr val="9AA0A6"/>
      </a:accent6>
      <a:hlink>
        <a:srgbClr val="0563C1"/>
      </a:hlink>
      <a:folHlink>
        <a:srgbClr val="954F72"/>
      </a:folHlink>
    </a:clrScheme>
    <a:fontScheme name="Scepticism and Knowledge">
      <a:majorFont>
        <a:latin typeface="Domin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Scepticism and Knowledge</dc:title>
  <dc:subject/>
  <dc:creator/>
  <cp:lastModifiedBy/>
  <cp:revision>1</cp:revision>
  <dcterms:created xsi:type="dcterms:W3CDTF">2026-10-15T19:35:46Z</dcterms:created>
  <dcterms:modified xsi:type="dcterms:W3CDTF">2026-10-15T19:35:46Z</dcterms:modified>
</cp:coreProperties>
</file>