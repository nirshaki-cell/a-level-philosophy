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1"/>
  </p:sldMasterIdLst>
  <p:sldIdLst>
    <p:sldId id="256" r:id="rId2"/>
    <p:sldId id="257" r:id="rId3"/>
    <p:sldId id="264" r:id="rId4"/>
    <p:sldId id="258" r:id="rId5"/>
    <p:sldId id="266" r:id="rId6"/>
    <p:sldId id="259" r:id="rId7"/>
    <p:sldId id="260" r:id="rId8"/>
    <p:sldId id="261" r:id="rId9"/>
    <p:sldId id="262" r:id="rId10"/>
    <p:sldId id="263" r:id="rId11"/>
    <p:sldId id="265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599"/>
  </p:normalViewPr>
  <p:slideViewPr>
    <p:cSldViewPr snapToGrid="0">
      <p:cViewPr varScale="1">
        <p:scale>
          <a:sx n="106" d="100"/>
          <a:sy n="106" d="100"/>
        </p:scale>
        <p:origin x="79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9334D819-9F07-4261-B09B-9E467E5D9002}" type="datetimeFigureOut">
              <a:rPr lang="en-US" smtClean="0"/>
              <a:pPr/>
              <a:t>11/28/24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71766878-3199-4EAB-94E7-2D6D11070E1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255524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t>11/28/24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206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9334D819-9F07-4261-B09B-9E467E5D9002}" type="datetimeFigureOut">
              <a:rPr lang="en-US" smtClean="0"/>
              <a:pPr/>
              <a:t>11/28/24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1766878-3199-4EAB-94E7-2D6D11070E1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8614529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t>11/28/24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70881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t>11/28/24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24046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t>11/28/24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0852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t>11/28/24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2628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9334D819-9F07-4261-B09B-9E467E5D9002}" type="datetimeFigureOut">
              <a:rPr lang="en-US" smtClean="0"/>
              <a:t>11/28/24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71766878-3199-4EAB-94E7-2D6D11070E1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9078324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9334D819-9F07-4261-B09B-9E467E5D9002}" type="datetimeFigureOut">
              <a:rPr lang="en-US" smtClean="0"/>
              <a:t>11/28/24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71766878-3199-4EAB-94E7-2D6D11070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0141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t>11/28/24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938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t>11/28/24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924663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334D819-9F07-4261-B09B-9E467E5D9002}" type="datetimeFigureOut">
              <a:rPr lang="en-US" smtClean="0"/>
              <a:pPr/>
              <a:t>11/28/24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1766878-3199-4EAB-94E7-2D6D11070E1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949789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88937-0F4E-FA7B-A5EF-BD2A4FEB3A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6000" dirty="0">
                <a:latin typeface="Optima" panose="02000503060000020004" pitchFamily="2" charset="0"/>
              </a:rPr>
              <a:t>Mind-Brain identity theory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B9914-7CBB-4335-68EA-B0777982A2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4537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5BC37-07E0-7548-CEA0-997ABC578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669851"/>
            <a:ext cx="10178322" cy="1204666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Optima" panose="02000503060000020004" pitchFamily="2" charset="0"/>
              </a:rPr>
              <a:t>Key thesis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967890-921A-4A15-0F4C-9EF6554535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2286001"/>
            <a:ext cx="9709090" cy="3593591"/>
          </a:xfrm>
        </p:spPr>
        <p:txBody>
          <a:bodyPr>
            <a:normAutofit fontScale="77500" lnSpcReduction="20000"/>
          </a:bodyPr>
          <a:lstStyle/>
          <a:p>
            <a:pPr marL="742950" indent="-742950" algn="just">
              <a:lnSpc>
                <a:spcPct val="160000"/>
              </a:lnSpc>
              <a:buAutoNum type="arabicParenBoth"/>
            </a:pPr>
            <a:r>
              <a:rPr lang="en-US" sz="3600" dirty="0">
                <a:solidFill>
                  <a:srgbClr val="002060"/>
                </a:solidFill>
                <a:latin typeface="Avenir Book" panose="02000503020000020003" pitchFamily="2" charset="0"/>
              </a:rPr>
              <a:t>This is the thesis that sensations, such as the experience of seeing ‘a red patch’ or ‘feeling pain’, are identical to physical-chemical brain processes. </a:t>
            </a:r>
          </a:p>
          <a:p>
            <a:pPr marL="742950" indent="-742950" algn="just">
              <a:lnSpc>
                <a:spcPct val="160000"/>
              </a:lnSpc>
              <a:buAutoNum type="arabicParenBoth"/>
            </a:pPr>
            <a:endParaRPr lang="en-US" sz="3600" dirty="0">
              <a:solidFill>
                <a:srgbClr val="002060"/>
              </a:solidFill>
              <a:latin typeface="Avenir Book" panose="02000503020000020003" pitchFamily="2" charset="0"/>
            </a:endParaRPr>
          </a:p>
          <a:p>
            <a:pPr marL="742950" indent="-742950" algn="just">
              <a:lnSpc>
                <a:spcPct val="160000"/>
              </a:lnSpc>
              <a:buAutoNum type="arabicParenBoth"/>
            </a:pPr>
            <a:r>
              <a:rPr lang="en-US" sz="3600" dirty="0">
                <a:solidFill>
                  <a:srgbClr val="002060"/>
                </a:solidFill>
                <a:latin typeface="Avenir Book" panose="02000503020000020003" pitchFamily="2" charset="0"/>
              </a:rPr>
              <a:t>It is a physicalist theory.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0623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rain with lightning coming out of it&#10;&#10;Description automatically generated">
            <a:extLst>
              <a:ext uri="{FF2B5EF4-FFF2-40B4-BE49-F238E27FC236}">
                <a16:creationId xmlns:a16="http://schemas.microsoft.com/office/drawing/2014/main" id="{2293AB5C-1E26-2CBD-B09B-7D923AD31A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714" r="16517"/>
          <a:stretch/>
        </p:blipFill>
        <p:spPr>
          <a:xfrm>
            <a:off x="7338646" y="10"/>
            <a:ext cx="4853354" cy="6857990"/>
          </a:xfrm>
          <a:prstGeom prst="rect">
            <a:avLst/>
          </a:prstGeom>
        </p:spPr>
      </p:pic>
      <p:sp>
        <p:nvSpPr>
          <p:cNvPr id="10" name="Freeform 10">
            <a:extLst>
              <a:ext uri="{FF2B5EF4-FFF2-40B4-BE49-F238E27FC236}">
                <a16:creationId xmlns:a16="http://schemas.microsoft.com/office/drawing/2014/main" id="{FF606621-EDD0-4CB0-B5A0-2BD458842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7569200" cy="6858000"/>
          </a:xfrm>
          <a:custGeom>
            <a:avLst/>
            <a:gdLst>
              <a:gd name="connsiteX0" fmla="*/ 0 w 7569200"/>
              <a:gd name="connsiteY0" fmla="*/ 0 h 6858000"/>
              <a:gd name="connsiteX1" fmla="*/ 7389812 w 7569200"/>
              <a:gd name="connsiteY1" fmla="*/ 0 h 6858000"/>
              <a:gd name="connsiteX2" fmla="*/ 7394575 w 7569200"/>
              <a:gd name="connsiteY2" fmla="*/ 66675 h 6858000"/>
              <a:gd name="connsiteX3" fmla="*/ 7402512 w 7569200"/>
              <a:gd name="connsiteY3" fmla="*/ 122237 h 6858000"/>
              <a:gd name="connsiteX4" fmla="*/ 7412037 w 7569200"/>
              <a:gd name="connsiteY4" fmla="*/ 174625 h 6858000"/>
              <a:gd name="connsiteX5" fmla="*/ 7427912 w 7569200"/>
              <a:gd name="connsiteY5" fmla="*/ 217487 h 6858000"/>
              <a:gd name="connsiteX6" fmla="*/ 7443787 w 7569200"/>
              <a:gd name="connsiteY6" fmla="*/ 260350 h 6858000"/>
              <a:gd name="connsiteX7" fmla="*/ 7462837 w 7569200"/>
              <a:gd name="connsiteY7" fmla="*/ 296862 h 6858000"/>
              <a:gd name="connsiteX8" fmla="*/ 7481887 w 7569200"/>
              <a:gd name="connsiteY8" fmla="*/ 334962 h 6858000"/>
              <a:gd name="connsiteX9" fmla="*/ 7499350 w 7569200"/>
              <a:gd name="connsiteY9" fmla="*/ 369887 h 6858000"/>
              <a:gd name="connsiteX10" fmla="*/ 7516812 w 7569200"/>
              <a:gd name="connsiteY10" fmla="*/ 409575 h 6858000"/>
              <a:gd name="connsiteX11" fmla="*/ 7532687 w 7569200"/>
              <a:gd name="connsiteY11" fmla="*/ 450850 h 6858000"/>
              <a:gd name="connsiteX12" fmla="*/ 7546975 w 7569200"/>
              <a:gd name="connsiteY12" fmla="*/ 496887 h 6858000"/>
              <a:gd name="connsiteX13" fmla="*/ 7558087 w 7569200"/>
              <a:gd name="connsiteY13" fmla="*/ 546100 h 6858000"/>
              <a:gd name="connsiteX14" fmla="*/ 7566025 w 7569200"/>
              <a:gd name="connsiteY14" fmla="*/ 606425 h 6858000"/>
              <a:gd name="connsiteX15" fmla="*/ 7569200 w 7569200"/>
              <a:gd name="connsiteY15" fmla="*/ 673100 h 6858000"/>
              <a:gd name="connsiteX16" fmla="*/ 7566025 w 7569200"/>
              <a:gd name="connsiteY16" fmla="*/ 744537 h 6858000"/>
              <a:gd name="connsiteX17" fmla="*/ 7558087 w 7569200"/>
              <a:gd name="connsiteY17" fmla="*/ 801687 h 6858000"/>
              <a:gd name="connsiteX18" fmla="*/ 7546975 w 7569200"/>
              <a:gd name="connsiteY18" fmla="*/ 854075 h 6858000"/>
              <a:gd name="connsiteX19" fmla="*/ 7532687 w 7569200"/>
              <a:gd name="connsiteY19" fmla="*/ 901700 h 6858000"/>
              <a:gd name="connsiteX20" fmla="*/ 7516812 w 7569200"/>
              <a:gd name="connsiteY20" fmla="*/ 942975 h 6858000"/>
              <a:gd name="connsiteX21" fmla="*/ 7497762 w 7569200"/>
              <a:gd name="connsiteY21" fmla="*/ 981075 h 6858000"/>
              <a:gd name="connsiteX22" fmla="*/ 7478712 w 7569200"/>
              <a:gd name="connsiteY22" fmla="*/ 1017587 h 6858000"/>
              <a:gd name="connsiteX23" fmla="*/ 7459662 w 7569200"/>
              <a:gd name="connsiteY23" fmla="*/ 1055687 h 6858000"/>
              <a:gd name="connsiteX24" fmla="*/ 7442200 w 7569200"/>
              <a:gd name="connsiteY24" fmla="*/ 1095375 h 6858000"/>
              <a:gd name="connsiteX25" fmla="*/ 7424737 w 7569200"/>
              <a:gd name="connsiteY25" fmla="*/ 1136650 h 6858000"/>
              <a:gd name="connsiteX26" fmla="*/ 7410450 w 7569200"/>
              <a:gd name="connsiteY26" fmla="*/ 1182687 h 6858000"/>
              <a:gd name="connsiteX27" fmla="*/ 7400925 w 7569200"/>
              <a:gd name="connsiteY27" fmla="*/ 1235075 h 6858000"/>
              <a:gd name="connsiteX28" fmla="*/ 7391400 w 7569200"/>
              <a:gd name="connsiteY28" fmla="*/ 1295400 h 6858000"/>
              <a:gd name="connsiteX29" fmla="*/ 7389812 w 7569200"/>
              <a:gd name="connsiteY29" fmla="*/ 1363662 h 6858000"/>
              <a:gd name="connsiteX30" fmla="*/ 7391400 w 7569200"/>
              <a:gd name="connsiteY30" fmla="*/ 1431925 h 6858000"/>
              <a:gd name="connsiteX31" fmla="*/ 7400925 w 7569200"/>
              <a:gd name="connsiteY31" fmla="*/ 1492250 h 6858000"/>
              <a:gd name="connsiteX32" fmla="*/ 7410450 w 7569200"/>
              <a:gd name="connsiteY32" fmla="*/ 1544637 h 6858000"/>
              <a:gd name="connsiteX33" fmla="*/ 7424737 w 7569200"/>
              <a:gd name="connsiteY33" fmla="*/ 1589087 h 6858000"/>
              <a:gd name="connsiteX34" fmla="*/ 7442200 w 7569200"/>
              <a:gd name="connsiteY34" fmla="*/ 1631950 h 6858000"/>
              <a:gd name="connsiteX35" fmla="*/ 7459662 w 7569200"/>
              <a:gd name="connsiteY35" fmla="*/ 1671637 h 6858000"/>
              <a:gd name="connsiteX36" fmla="*/ 7478712 w 7569200"/>
              <a:gd name="connsiteY36" fmla="*/ 1708150 h 6858000"/>
              <a:gd name="connsiteX37" fmla="*/ 7497762 w 7569200"/>
              <a:gd name="connsiteY37" fmla="*/ 1743075 h 6858000"/>
              <a:gd name="connsiteX38" fmla="*/ 7516812 w 7569200"/>
              <a:gd name="connsiteY38" fmla="*/ 1782762 h 6858000"/>
              <a:gd name="connsiteX39" fmla="*/ 7532687 w 7569200"/>
              <a:gd name="connsiteY39" fmla="*/ 1824037 h 6858000"/>
              <a:gd name="connsiteX40" fmla="*/ 7546975 w 7569200"/>
              <a:gd name="connsiteY40" fmla="*/ 1870075 h 6858000"/>
              <a:gd name="connsiteX41" fmla="*/ 7558087 w 7569200"/>
              <a:gd name="connsiteY41" fmla="*/ 1922462 h 6858000"/>
              <a:gd name="connsiteX42" fmla="*/ 7566025 w 7569200"/>
              <a:gd name="connsiteY42" fmla="*/ 1982787 h 6858000"/>
              <a:gd name="connsiteX43" fmla="*/ 7569200 w 7569200"/>
              <a:gd name="connsiteY43" fmla="*/ 2051050 h 6858000"/>
              <a:gd name="connsiteX44" fmla="*/ 7566025 w 7569200"/>
              <a:gd name="connsiteY44" fmla="*/ 2119312 h 6858000"/>
              <a:gd name="connsiteX45" fmla="*/ 7558087 w 7569200"/>
              <a:gd name="connsiteY45" fmla="*/ 2179637 h 6858000"/>
              <a:gd name="connsiteX46" fmla="*/ 7546975 w 7569200"/>
              <a:gd name="connsiteY46" fmla="*/ 2232025 h 6858000"/>
              <a:gd name="connsiteX47" fmla="*/ 7532687 w 7569200"/>
              <a:gd name="connsiteY47" fmla="*/ 2278062 h 6858000"/>
              <a:gd name="connsiteX48" fmla="*/ 7516812 w 7569200"/>
              <a:gd name="connsiteY48" fmla="*/ 2319337 h 6858000"/>
              <a:gd name="connsiteX49" fmla="*/ 7497762 w 7569200"/>
              <a:gd name="connsiteY49" fmla="*/ 2359025 h 6858000"/>
              <a:gd name="connsiteX50" fmla="*/ 7478712 w 7569200"/>
              <a:gd name="connsiteY50" fmla="*/ 2395537 h 6858000"/>
              <a:gd name="connsiteX51" fmla="*/ 7459662 w 7569200"/>
              <a:gd name="connsiteY51" fmla="*/ 2433637 h 6858000"/>
              <a:gd name="connsiteX52" fmla="*/ 7442200 w 7569200"/>
              <a:gd name="connsiteY52" fmla="*/ 2471737 h 6858000"/>
              <a:gd name="connsiteX53" fmla="*/ 7424737 w 7569200"/>
              <a:gd name="connsiteY53" fmla="*/ 2513012 h 6858000"/>
              <a:gd name="connsiteX54" fmla="*/ 7410450 w 7569200"/>
              <a:gd name="connsiteY54" fmla="*/ 2560637 h 6858000"/>
              <a:gd name="connsiteX55" fmla="*/ 7400925 w 7569200"/>
              <a:gd name="connsiteY55" fmla="*/ 2613025 h 6858000"/>
              <a:gd name="connsiteX56" fmla="*/ 7391400 w 7569200"/>
              <a:gd name="connsiteY56" fmla="*/ 2671762 h 6858000"/>
              <a:gd name="connsiteX57" fmla="*/ 7389812 w 7569200"/>
              <a:gd name="connsiteY57" fmla="*/ 2741612 h 6858000"/>
              <a:gd name="connsiteX58" fmla="*/ 7391400 w 7569200"/>
              <a:gd name="connsiteY58" fmla="*/ 2809875 h 6858000"/>
              <a:gd name="connsiteX59" fmla="*/ 7400925 w 7569200"/>
              <a:gd name="connsiteY59" fmla="*/ 2868612 h 6858000"/>
              <a:gd name="connsiteX60" fmla="*/ 7410450 w 7569200"/>
              <a:gd name="connsiteY60" fmla="*/ 2922587 h 6858000"/>
              <a:gd name="connsiteX61" fmla="*/ 7424737 w 7569200"/>
              <a:gd name="connsiteY61" fmla="*/ 2967037 h 6858000"/>
              <a:gd name="connsiteX62" fmla="*/ 7442200 w 7569200"/>
              <a:gd name="connsiteY62" fmla="*/ 3009900 h 6858000"/>
              <a:gd name="connsiteX63" fmla="*/ 7459662 w 7569200"/>
              <a:gd name="connsiteY63" fmla="*/ 3046412 h 6858000"/>
              <a:gd name="connsiteX64" fmla="*/ 7478712 w 7569200"/>
              <a:gd name="connsiteY64" fmla="*/ 3084512 h 6858000"/>
              <a:gd name="connsiteX65" fmla="*/ 7497762 w 7569200"/>
              <a:gd name="connsiteY65" fmla="*/ 3121025 h 6858000"/>
              <a:gd name="connsiteX66" fmla="*/ 7516812 w 7569200"/>
              <a:gd name="connsiteY66" fmla="*/ 3160712 h 6858000"/>
              <a:gd name="connsiteX67" fmla="*/ 7532687 w 7569200"/>
              <a:gd name="connsiteY67" fmla="*/ 3201987 h 6858000"/>
              <a:gd name="connsiteX68" fmla="*/ 7546975 w 7569200"/>
              <a:gd name="connsiteY68" fmla="*/ 3248025 h 6858000"/>
              <a:gd name="connsiteX69" fmla="*/ 7558087 w 7569200"/>
              <a:gd name="connsiteY69" fmla="*/ 3300412 h 6858000"/>
              <a:gd name="connsiteX70" fmla="*/ 7566025 w 7569200"/>
              <a:gd name="connsiteY70" fmla="*/ 3360737 h 6858000"/>
              <a:gd name="connsiteX71" fmla="*/ 7569200 w 7569200"/>
              <a:gd name="connsiteY71" fmla="*/ 3427412 h 6858000"/>
              <a:gd name="connsiteX72" fmla="*/ 7566025 w 7569200"/>
              <a:gd name="connsiteY72" fmla="*/ 3497262 h 6858000"/>
              <a:gd name="connsiteX73" fmla="*/ 7558087 w 7569200"/>
              <a:gd name="connsiteY73" fmla="*/ 3557587 h 6858000"/>
              <a:gd name="connsiteX74" fmla="*/ 7546975 w 7569200"/>
              <a:gd name="connsiteY74" fmla="*/ 3609975 h 6858000"/>
              <a:gd name="connsiteX75" fmla="*/ 7532687 w 7569200"/>
              <a:gd name="connsiteY75" fmla="*/ 3656012 h 6858000"/>
              <a:gd name="connsiteX76" fmla="*/ 7516812 w 7569200"/>
              <a:gd name="connsiteY76" fmla="*/ 3697287 h 6858000"/>
              <a:gd name="connsiteX77" fmla="*/ 7497762 w 7569200"/>
              <a:gd name="connsiteY77" fmla="*/ 3736975 h 6858000"/>
              <a:gd name="connsiteX78" fmla="*/ 7459662 w 7569200"/>
              <a:gd name="connsiteY78" fmla="*/ 3811587 h 6858000"/>
              <a:gd name="connsiteX79" fmla="*/ 7442200 w 7569200"/>
              <a:gd name="connsiteY79" fmla="*/ 3848100 h 6858000"/>
              <a:gd name="connsiteX80" fmla="*/ 7424737 w 7569200"/>
              <a:gd name="connsiteY80" fmla="*/ 3890962 h 6858000"/>
              <a:gd name="connsiteX81" fmla="*/ 7410450 w 7569200"/>
              <a:gd name="connsiteY81" fmla="*/ 3935412 h 6858000"/>
              <a:gd name="connsiteX82" fmla="*/ 7400925 w 7569200"/>
              <a:gd name="connsiteY82" fmla="*/ 3987800 h 6858000"/>
              <a:gd name="connsiteX83" fmla="*/ 7391400 w 7569200"/>
              <a:gd name="connsiteY83" fmla="*/ 4048125 h 6858000"/>
              <a:gd name="connsiteX84" fmla="*/ 7389812 w 7569200"/>
              <a:gd name="connsiteY84" fmla="*/ 4116387 h 6858000"/>
              <a:gd name="connsiteX85" fmla="*/ 7391400 w 7569200"/>
              <a:gd name="connsiteY85" fmla="*/ 4186237 h 6858000"/>
              <a:gd name="connsiteX86" fmla="*/ 7400925 w 7569200"/>
              <a:gd name="connsiteY86" fmla="*/ 4244975 h 6858000"/>
              <a:gd name="connsiteX87" fmla="*/ 7410450 w 7569200"/>
              <a:gd name="connsiteY87" fmla="*/ 4297362 h 6858000"/>
              <a:gd name="connsiteX88" fmla="*/ 7424737 w 7569200"/>
              <a:gd name="connsiteY88" fmla="*/ 4343400 h 6858000"/>
              <a:gd name="connsiteX89" fmla="*/ 7442200 w 7569200"/>
              <a:gd name="connsiteY89" fmla="*/ 4386262 h 6858000"/>
              <a:gd name="connsiteX90" fmla="*/ 7459662 w 7569200"/>
              <a:gd name="connsiteY90" fmla="*/ 4424362 h 6858000"/>
              <a:gd name="connsiteX91" fmla="*/ 7497762 w 7569200"/>
              <a:gd name="connsiteY91" fmla="*/ 4498975 h 6858000"/>
              <a:gd name="connsiteX92" fmla="*/ 7516812 w 7569200"/>
              <a:gd name="connsiteY92" fmla="*/ 4537075 h 6858000"/>
              <a:gd name="connsiteX93" fmla="*/ 7532687 w 7569200"/>
              <a:gd name="connsiteY93" fmla="*/ 4579937 h 6858000"/>
              <a:gd name="connsiteX94" fmla="*/ 7546975 w 7569200"/>
              <a:gd name="connsiteY94" fmla="*/ 4625975 h 6858000"/>
              <a:gd name="connsiteX95" fmla="*/ 7558087 w 7569200"/>
              <a:gd name="connsiteY95" fmla="*/ 4678362 h 6858000"/>
              <a:gd name="connsiteX96" fmla="*/ 7566025 w 7569200"/>
              <a:gd name="connsiteY96" fmla="*/ 4738687 h 6858000"/>
              <a:gd name="connsiteX97" fmla="*/ 7569200 w 7569200"/>
              <a:gd name="connsiteY97" fmla="*/ 4806950 h 6858000"/>
              <a:gd name="connsiteX98" fmla="*/ 7566025 w 7569200"/>
              <a:gd name="connsiteY98" fmla="*/ 4875212 h 6858000"/>
              <a:gd name="connsiteX99" fmla="*/ 7558087 w 7569200"/>
              <a:gd name="connsiteY99" fmla="*/ 4935537 h 6858000"/>
              <a:gd name="connsiteX100" fmla="*/ 7546975 w 7569200"/>
              <a:gd name="connsiteY100" fmla="*/ 4987925 h 6858000"/>
              <a:gd name="connsiteX101" fmla="*/ 7532687 w 7569200"/>
              <a:gd name="connsiteY101" fmla="*/ 5033962 h 6858000"/>
              <a:gd name="connsiteX102" fmla="*/ 7516812 w 7569200"/>
              <a:gd name="connsiteY102" fmla="*/ 5075237 h 6858000"/>
              <a:gd name="connsiteX103" fmla="*/ 7497762 w 7569200"/>
              <a:gd name="connsiteY103" fmla="*/ 5114925 h 6858000"/>
              <a:gd name="connsiteX104" fmla="*/ 7478712 w 7569200"/>
              <a:gd name="connsiteY104" fmla="*/ 5149850 h 6858000"/>
              <a:gd name="connsiteX105" fmla="*/ 7459662 w 7569200"/>
              <a:gd name="connsiteY105" fmla="*/ 5186362 h 6858000"/>
              <a:gd name="connsiteX106" fmla="*/ 7442200 w 7569200"/>
              <a:gd name="connsiteY106" fmla="*/ 5226050 h 6858000"/>
              <a:gd name="connsiteX107" fmla="*/ 7424737 w 7569200"/>
              <a:gd name="connsiteY107" fmla="*/ 5268912 h 6858000"/>
              <a:gd name="connsiteX108" fmla="*/ 7410450 w 7569200"/>
              <a:gd name="connsiteY108" fmla="*/ 5313362 h 6858000"/>
              <a:gd name="connsiteX109" fmla="*/ 7400925 w 7569200"/>
              <a:gd name="connsiteY109" fmla="*/ 5365750 h 6858000"/>
              <a:gd name="connsiteX110" fmla="*/ 7391400 w 7569200"/>
              <a:gd name="connsiteY110" fmla="*/ 5426075 h 6858000"/>
              <a:gd name="connsiteX111" fmla="*/ 7389812 w 7569200"/>
              <a:gd name="connsiteY111" fmla="*/ 5494337 h 6858000"/>
              <a:gd name="connsiteX112" fmla="*/ 7391400 w 7569200"/>
              <a:gd name="connsiteY112" fmla="*/ 5562600 h 6858000"/>
              <a:gd name="connsiteX113" fmla="*/ 7400925 w 7569200"/>
              <a:gd name="connsiteY113" fmla="*/ 5622925 h 6858000"/>
              <a:gd name="connsiteX114" fmla="*/ 7410450 w 7569200"/>
              <a:gd name="connsiteY114" fmla="*/ 5675312 h 6858000"/>
              <a:gd name="connsiteX115" fmla="*/ 7424737 w 7569200"/>
              <a:gd name="connsiteY115" fmla="*/ 5721350 h 6858000"/>
              <a:gd name="connsiteX116" fmla="*/ 7442200 w 7569200"/>
              <a:gd name="connsiteY116" fmla="*/ 5762625 h 6858000"/>
              <a:gd name="connsiteX117" fmla="*/ 7459662 w 7569200"/>
              <a:gd name="connsiteY117" fmla="*/ 5802312 h 6858000"/>
              <a:gd name="connsiteX118" fmla="*/ 7478712 w 7569200"/>
              <a:gd name="connsiteY118" fmla="*/ 5840412 h 6858000"/>
              <a:gd name="connsiteX119" fmla="*/ 7497762 w 7569200"/>
              <a:gd name="connsiteY119" fmla="*/ 5876925 h 6858000"/>
              <a:gd name="connsiteX120" fmla="*/ 7516812 w 7569200"/>
              <a:gd name="connsiteY120" fmla="*/ 5915025 h 6858000"/>
              <a:gd name="connsiteX121" fmla="*/ 7532687 w 7569200"/>
              <a:gd name="connsiteY121" fmla="*/ 5956300 h 6858000"/>
              <a:gd name="connsiteX122" fmla="*/ 7546975 w 7569200"/>
              <a:gd name="connsiteY122" fmla="*/ 6003925 h 6858000"/>
              <a:gd name="connsiteX123" fmla="*/ 7558087 w 7569200"/>
              <a:gd name="connsiteY123" fmla="*/ 6056312 h 6858000"/>
              <a:gd name="connsiteX124" fmla="*/ 7566025 w 7569200"/>
              <a:gd name="connsiteY124" fmla="*/ 6113462 h 6858000"/>
              <a:gd name="connsiteX125" fmla="*/ 7569200 w 7569200"/>
              <a:gd name="connsiteY125" fmla="*/ 6183312 h 6858000"/>
              <a:gd name="connsiteX126" fmla="*/ 7566025 w 7569200"/>
              <a:gd name="connsiteY126" fmla="*/ 6251575 h 6858000"/>
              <a:gd name="connsiteX127" fmla="*/ 7558087 w 7569200"/>
              <a:gd name="connsiteY127" fmla="*/ 6311900 h 6858000"/>
              <a:gd name="connsiteX128" fmla="*/ 7546975 w 7569200"/>
              <a:gd name="connsiteY128" fmla="*/ 6361112 h 6858000"/>
              <a:gd name="connsiteX129" fmla="*/ 7532687 w 7569200"/>
              <a:gd name="connsiteY129" fmla="*/ 6407150 h 6858000"/>
              <a:gd name="connsiteX130" fmla="*/ 7516812 w 7569200"/>
              <a:gd name="connsiteY130" fmla="*/ 6448425 h 6858000"/>
              <a:gd name="connsiteX131" fmla="*/ 7499350 w 7569200"/>
              <a:gd name="connsiteY131" fmla="*/ 6488112 h 6858000"/>
              <a:gd name="connsiteX132" fmla="*/ 7481887 w 7569200"/>
              <a:gd name="connsiteY132" fmla="*/ 6523037 h 6858000"/>
              <a:gd name="connsiteX133" fmla="*/ 7462837 w 7569200"/>
              <a:gd name="connsiteY133" fmla="*/ 6561137 h 6858000"/>
              <a:gd name="connsiteX134" fmla="*/ 7443787 w 7569200"/>
              <a:gd name="connsiteY134" fmla="*/ 6597650 h 6858000"/>
              <a:gd name="connsiteX135" fmla="*/ 7427912 w 7569200"/>
              <a:gd name="connsiteY135" fmla="*/ 6640512 h 6858000"/>
              <a:gd name="connsiteX136" fmla="*/ 7412037 w 7569200"/>
              <a:gd name="connsiteY136" fmla="*/ 6683375 h 6858000"/>
              <a:gd name="connsiteX137" fmla="*/ 7402512 w 7569200"/>
              <a:gd name="connsiteY137" fmla="*/ 6735762 h 6858000"/>
              <a:gd name="connsiteX138" fmla="*/ 7394575 w 7569200"/>
              <a:gd name="connsiteY138" fmla="*/ 6791325 h 6858000"/>
              <a:gd name="connsiteX139" fmla="*/ 7389812 w 7569200"/>
              <a:gd name="connsiteY139" fmla="*/ 6858000 h 6858000"/>
              <a:gd name="connsiteX140" fmla="*/ 0 w 7569200"/>
              <a:gd name="connsiteY140" fmla="*/ 6858000 h 6858000"/>
              <a:gd name="connsiteX141" fmla="*/ 0 w 7569200"/>
              <a:gd name="connsiteY14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7569200" h="6858000">
                <a:moveTo>
                  <a:pt x="0" y="0"/>
                </a:moveTo>
                <a:lnTo>
                  <a:pt x="7389812" y="0"/>
                </a:lnTo>
                <a:lnTo>
                  <a:pt x="7394575" y="66675"/>
                </a:lnTo>
                <a:lnTo>
                  <a:pt x="7402512" y="122237"/>
                </a:lnTo>
                <a:lnTo>
                  <a:pt x="7412037" y="174625"/>
                </a:lnTo>
                <a:lnTo>
                  <a:pt x="7427912" y="217487"/>
                </a:lnTo>
                <a:lnTo>
                  <a:pt x="7443787" y="260350"/>
                </a:lnTo>
                <a:lnTo>
                  <a:pt x="7462837" y="296862"/>
                </a:lnTo>
                <a:lnTo>
                  <a:pt x="7481887" y="334962"/>
                </a:lnTo>
                <a:lnTo>
                  <a:pt x="7499350" y="369887"/>
                </a:lnTo>
                <a:lnTo>
                  <a:pt x="7516812" y="409575"/>
                </a:lnTo>
                <a:lnTo>
                  <a:pt x="7532687" y="450850"/>
                </a:lnTo>
                <a:lnTo>
                  <a:pt x="7546975" y="496887"/>
                </a:lnTo>
                <a:lnTo>
                  <a:pt x="7558087" y="546100"/>
                </a:lnTo>
                <a:lnTo>
                  <a:pt x="7566025" y="606425"/>
                </a:lnTo>
                <a:lnTo>
                  <a:pt x="7569200" y="673100"/>
                </a:lnTo>
                <a:lnTo>
                  <a:pt x="7566025" y="744537"/>
                </a:lnTo>
                <a:lnTo>
                  <a:pt x="7558087" y="801687"/>
                </a:lnTo>
                <a:lnTo>
                  <a:pt x="7546975" y="854075"/>
                </a:lnTo>
                <a:lnTo>
                  <a:pt x="7532687" y="901700"/>
                </a:lnTo>
                <a:lnTo>
                  <a:pt x="7516812" y="942975"/>
                </a:lnTo>
                <a:lnTo>
                  <a:pt x="7497762" y="981075"/>
                </a:lnTo>
                <a:lnTo>
                  <a:pt x="7478712" y="1017587"/>
                </a:lnTo>
                <a:lnTo>
                  <a:pt x="7459662" y="1055687"/>
                </a:lnTo>
                <a:lnTo>
                  <a:pt x="7442200" y="1095375"/>
                </a:lnTo>
                <a:lnTo>
                  <a:pt x="7424737" y="1136650"/>
                </a:lnTo>
                <a:lnTo>
                  <a:pt x="7410450" y="1182687"/>
                </a:lnTo>
                <a:lnTo>
                  <a:pt x="7400925" y="1235075"/>
                </a:lnTo>
                <a:lnTo>
                  <a:pt x="7391400" y="1295400"/>
                </a:lnTo>
                <a:lnTo>
                  <a:pt x="7389812" y="1363662"/>
                </a:lnTo>
                <a:lnTo>
                  <a:pt x="7391400" y="1431925"/>
                </a:lnTo>
                <a:lnTo>
                  <a:pt x="7400925" y="1492250"/>
                </a:lnTo>
                <a:lnTo>
                  <a:pt x="7410450" y="1544637"/>
                </a:lnTo>
                <a:lnTo>
                  <a:pt x="7424737" y="1589087"/>
                </a:lnTo>
                <a:lnTo>
                  <a:pt x="7442200" y="1631950"/>
                </a:lnTo>
                <a:lnTo>
                  <a:pt x="7459662" y="1671637"/>
                </a:lnTo>
                <a:lnTo>
                  <a:pt x="7478712" y="1708150"/>
                </a:lnTo>
                <a:lnTo>
                  <a:pt x="7497762" y="1743075"/>
                </a:lnTo>
                <a:lnTo>
                  <a:pt x="7516812" y="1782762"/>
                </a:lnTo>
                <a:lnTo>
                  <a:pt x="7532687" y="1824037"/>
                </a:lnTo>
                <a:lnTo>
                  <a:pt x="7546975" y="1870075"/>
                </a:lnTo>
                <a:lnTo>
                  <a:pt x="7558087" y="1922462"/>
                </a:lnTo>
                <a:lnTo>
                  <a:pt x="7566025" y="1982787"/>
                </a:lnTo>
                <a:lnTo>
                  <a:pt x="7569200" y="2051050"/>
                </a:lnTo>
                <a:lnTo>
                  <a:pt x="7566025" y="2119312"/>
                </a:lnTo>
                <a:lnTo>
                  <a:pt x="7558087" y="2179637"/>
                </a:lnTo>
                <a:lnTo>
                  <a:pt x="7546975" y="2232025"/>
                </a:lnTo>
                <a:lnTo>
                  <a:pt x="7532687" y="2278062"/>
                </a:lnTo>
                <a:lnTo>
                  <a:pt x="7516812" y="2319337"/>
                </a:lnTo>
                <a:lnTo>
                  <a:pt x="7497762" y="2359025"/>
                </a:lnTo>
                <a:lnTo>
                  <a:pt x="7478712" y="2395537"/>
                </a:lnTo>
                <a:lnTo>
                  <a:pt x="7459662" y="2433637"/>
                </a:lnTo>
                <a:lnTo>
                  <a:pt x="7442200" y="2471737"/>
                </a:lnTo>
                <a:lnTo>
                  <a:pt x="7424737" y="2513012"/>
                </a:lnTo>
                <a:lnTo>
                  <a:pt x="7410450" y="2560637"/>
                </a:lnTo>
                <a:lnTo>
                  <a:pt x="7400925" y="2613025"/>
                </a:lnTo>
                <a:lnTo>
                  <a:pt x="7391400" y="2671762"/>
                </a:lnTo>
                <a:lnTo>
                  <a:pt x="7389812" y="2741612"/>
                </a:lnTo>
                <a:lnTo>
                  <a:pt x="7391400" y="2809875"/>
                </a:lnTo>
                <a:lnTo>
                  <a:pt x="7400925" y="2868612"/>
                </a:lnTo>
                <a:lnTo>
                  <a:pt x="7410450" y="2922587"/>
                </a:lnTo>
                <a:lnTo>
                  <a:pt x="7424737" y="2967037"/>
                </a:lnTo>
                <a:lnTo>
                  <a:pt x="7442200" y="3009900"/>
                </a:lnTo>
                <a:lnTo>
                  <a:pt x="7459662" y="3046412"/>
                </a:lnTo>
                <a:lnTo>
                  <a:pt x="7478712" y="3084512"/>
                </a:lnTo>
                <a:lnTo>
                  <a:pt x="7497762" y="3121025"/>
                </a:lnTo>
                <a:lnTo>
                  <a:pt x="7516812" y="3160712"/>
                </a:lnTo>
                <a:lnTo>
                  <a:pt x="7532687" y="3201987"/>
                </a:lnTo>
                <a:lnTo>
                  <a:pt x="7546975" y="3248025"/>
                </a:lnTo>
                <a:lnTo>
                  <a:pt x="7558087" y="3300412"/>
                </a:lnTo>
                <a:lnTo>
                  <a:pt x="7566025" y="3360737"/>
                </a:lnTo>
                <a:lnTo>
                  <a:pt x="7569200" y="3427412"/>
                </a:lnTo>
                <a:lnTo>
                  <a:pt x="7566025" y="3497262"/>
                </a:lnTo>
                <a:lnTo>
                  <a:pt x="7558087" y="3557587"/>
                </a:lnTo>
                <a:lnTo>
                  <a:pt x="7546975" y="3609975"/>
                </a:lnTo>
                <a:lnTo>
                  <a:pt x="7532687" y="3656012"/>
                </a:lnTo>
                <a:lnTo>
                  <a:pt x="7516812" y="3697287"/>
                </a:lnTo>
                <a:lnTo>
                  <a:pt x="7497762" y="3736975"/>
                </a:lnTo>
                <a:lnTo>
                  <a:pt x="7459662" y="3811587"/>
                </a:lnTo>
                <a:lnTo>
                  <a:pt x="7442200" y="3848100"/>
                </a:lnTo>
                <a:lnTo>
                  <a:pt x="7424737" y="3890962"/>
                </a:lnTo>
                <a:lnTo>
                  <a:pt x="7410450" y="3935412"/>
                </a:lnTo>
                <a:lnTo>
                  <a:pt x="7400925" y="3987800"/>
                </a:lnTo>
                <a:lnTo>
                  <a:pt x="7391400" y="4048125"/>
                </a:lnTo>
                <a:lnTo>
                  <a:pt x="7389812" y="4116387"/>
                </a:lnTo>
                <a:lnTo>
                  <a:pt x="7391400" y="4186237"/>
                </a:lnTo>
                <a:lnTo>
                  <a:pt x="7400925" y="4244975"/>
                </a:lnTo>
                <a:lnTo>
                  <a:pt x="7410450" y="4297362"/>
                </a:lnTo>
                <a:lnTo>
                  <a:pt x="7424737" y="4343400"/>
                </a:lnTo>
                <a:lnTo>
                  <a:pt x="7442200" y="4386262"/>
                </a:lnTo>
                <a:lnTo>
                  <a:pt x="7459662" y="4424362"/>
                </a:lnTo>
                <a:lnTo>
                  <a:pt x="7497762" y="4498975"/>
                </a:lnTo>
                <a:lnTo>
                  <a:pt x="7516812" y="4537075"/>
                </a:lnTo>
                <a:lnTo>
                  <a:pt x="7532687" y="4579937"/>
                </a:lnTo>
                <a:lnTo>
                  <a:pt x="7546975" y="4625975"/>
                </a:lnTo>
                <a:lnTo>
                  <a:pt x="7558087" y="4678362"/>
                </a:lnTo>
                <a:lnTo>
                  <a:pt x="7566025" y="4738687"/>
                </a:lnTo>
                <a:lnTo>
                  <a:pt x="7569200" y="4806950"/>
                </a:lnTo>
                <a:lnTo>
                  <a:pt x="7566025" y="4875212"/>
                </a:lnTo>
                <a:lnTo>
                  <a:pt x="7558087" y="4935537"/>
                </a:lnTo>
                <a:lnTo>
                  <a:pt x="7546975" y="4987925"/>
                </a:lnTo>
                <a:lnTo>
                  <a:pt x="7532687" y="5033962"/>
                </a:lnTo>
                <a:lnTo>
                  <a:pt x="7516812" y="5075237"/>
                </a:lnTo>
                <a:lnTo>
                  <a:pt x="7497762" y="5114925"/>
                </a:lnTo>
                <a:lnTo>
                  <a:pt x="7478712" y="5149850"/>
                </a:lnTo>
                <a:lnTo>
                  <a:pt x="7459662" y="5186362"/>
                </a:lnTo>
                <a:lnTo>
                  <a:pt x="7442200" y="5226050"/>
                </a:lnTo>
                <a:lnTo>
                  <a:pt x="7424737" y="5268912"/>
                </a:lnTo>
                <a:lnTo>
                  <a:pt x="7410450" y="5313362"/>
                </a:lnTo>
                <a:lnTo>
                  <a:pt x="7400925" y="5365750"/>
                </a:lnTo>
                <a:lnTo>
                  <a:pt x="7391400" y="5426075"/>
                </a:lnTo>
                <a:lnTo>
                  <a:pt x="7389812" y="5494337"/>
                </a:lnTo>
                <a:lnTo>
                  <a:pt x="7391400" y="5562600"/>
                </a:lnTo>
                <a:lnTo>
                  <a:pt x="7400925" y="5622925"/>
                </a:lnTo>
                <a:lnTo>
                  <a:pt x="7410450" y="5675312"/>
                </a:lnTo>
                <a:lnTo>
                  <a:pt x="7424737" y="5721350"/>
                </a:lnTo>
                <a:lnTo>
                  <a:pt x="7442200" y="5762625"/>
                </a:lnTo>
                <a:lnTo>
                  <a:pt x="7459662" y="5802312"/>
                </a:lnTo>
                <a:lnTo>
                  <a:pt x="7478712" y="5840412"/>
                </a:lnTo>
                <a:lnTo>
                  <a:pt x="7497762" y="5876925"/>
                </a:lnTo>
                <a:lnTo>
                  <a:pt x="7516812" y="5915025"/>
                </a:lnTo>
                <a:lnTo>
                  <a:pt x="7532687" y="5956300"/>
                </a:lnTo>
                <a:lnTo>
                  <a:pt x="7546975" y="6003925"/>
                </a:lnTo>
                <a:lnTo>
                  <a:pt x="7558087" y="6056312"/>
                </a:lnTo>
                <a:lnTo>
                  <a:pt x="7566025" y="6113462"/>
                </a:lnTo>
                <a:lnTo>
                  <a:pt x="7569200" y="6183312"/>
                </a:lnTo>
                <a:lnTo>
                  <a:pt x="7566025" y="6251575"/>
                </a:lnTo>
                <a:lnTo>
                  <a:pt x="7558087" y="6311900"/>
                </a:lnTo>
                <a:lnTo>
                  <a:pt x="7546975" y="6361112"/>
                </a:lnTo>
                <a:lnTo>
                  <a:pt x="7532687" y="6407150"/>
                </a:lnTo>
                <a:lnTo>
                  <a:pt x="7516812" y="6448425"/>
                </a:lnTo>
                <a:lnTo>
                  <a:pt x="7499350" y="6488112"/>
                </a:lnTo>
                <a:lnTo>
                  <a:pt x="7481887" y="6523037"/>
                </a:lnTo>
                <a:lnTo>
                  <a:pt x="7462837" y="6561137"/>
                </a:lnTo>
                <a:lnTo>
                  <a:pt x="7443787" y="6597650"/>
                </a:lnTo>
                <a:lnTo>
                  <a:pt x="7427912" y="6640512"/>
                </a:lnTo>
                <a:lnTo>
                  <a:pt x="7412037" y="6683375"/>
                </a:lnTo>
                <a:lnTo>
                  <a:pt x="7402512" y="6735762"/>
                </a:lnTo>
                <a:lnTo>
                  <a:pt x="7394575" y="6791325"/>
                </a:lnTo>
                <a:lnTo>
                  <a:pt x="7389812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CD0C94-F115-3CAE-41C6-A02955243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051" y="621791"/>
            <a:ext cx="6015897" cy="1252725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Optima" panose="02000503060000020004" pitchFamily="2" charset="0"/>
              </a:rPr>
              <a:t>Sensations and brain processes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7E0AF57-42C6-4312-BEDF-A384DC8E42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A14981-CF26-DE65-9B8F-AF5C02C8FF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188" y="2034540"/>
            <a:ext cx="6269733" cy="3593591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‘Insofar as ‘after-image’ or ‘ache’ is a report of a process, it is a report of a process that happens to be a brain process…All it claims is that in so far as a sensation statement is a reporting of something, that something is in fact a brain process. Sensations are nothing over and above brain processes.’ (In the same way that nations are nothing ‘over and above’ their citizens). J.J.C. Smart, ‘Sensations and Brain Processes’ (1959)</a:t>
            </a:r>
          </a:p>
        </p:txBody>
      </p:sp>
    </p:spTree>
    <p:extLst>
      <p:ext uri="{BB962C8B-B14F-4D97-AF65-F5344CB8AC3E}">
        <p14:creationId xmlns:p14="http://schemas.microsoft.com/office/powerpoint/2010/main" val="10512432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A5DA7-5409-7CCD-3942-60C2303AC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478465"/>
            <a:ext cx="10178322" cy="829340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Avenir Book" panose="02000503020000020003" pitchFamily="2" charset="0"/>
              </a:rPr>
              <a:t>Two types of mind-brain identity theory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FFF67-7BEF-772F-F13D-82B6A329B2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2052084"/>
            <a:ext cx="10178322" cy="3827508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3200" dirty="0">
                <a:solidFill>
                  <a:srgbClr val="002060"/>
                </a:solidFill>
                <a:latin typeface="Avenir Book" panose="02000503020000020003" pitchFamily="2" charset="0"/>
              </a:rPr>
              <a:t>(1) The theory that mental states are just certain kinds of brain states.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3200" dirty="0">
              <a:solidFill>
                <a:srgbClr val="002060"/>
              </a:solidFill>
              <a:latin typeface="Avenir Book" panose="02000503020000020003" pitchFamily="2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3200" dirty="0">
                <a:solidFill>
                  <a:srgbClr val="002060"/>
                </a:solidFill>
                <a:latin typeface="Avenir Book" panose="02000503020000020003" pitchFamily="2" charset="0"/>
              </a:rPr>
              <a:t>(2) The theory that mental states are specific individual brain events. </a:t>
            </a:r>
          </a:p>
        </p:txBody>
      </p:sp>
    </p:spTree>
    <p:extLst>
      <p:ext uri="{BB962C8B-B14F-4D97-AF65-F5344CB8AC3E}">
        <p14:creationId xmlns:p14="http://schemas.microsoft.com/office/powerpoint/2010/main" val="2137902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EB4A8-1AAE-29F8-06B7-9E0304E37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694943"/>
            <a:ext cx="10178322" cy="1179573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Optima" panose="02000503060000020004" pitchFamily="2" charset="0"/>
              </a:rPr>
              <a:t>Advantage 1: it solves the problem of causation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39AFE-9967-2AED-2BC9-4BAF933F69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8046" y="2286001"/>
            <a:ext cx="9324753" cy="3593591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3200" dirty="0">
                <a:solidFill>
                  <a:srgbClr val="002060"/>
                </a:solidFill>
                <a:latin typeface="Avenir Book" panose="02000503020000020003" pitchFamily="2" charset="0"/>
              </a:rPr>
              <a:t>If sensations are identical with brain processes, then we do not need to postulate any non-physical cause of human behaviour. This means we can explain the two-way link between the mind and the world in a way consistent with physics. </a:t>
            </a:r>
          </a:p>
        </p:txBody>
      </p:sp>
    </p:spTree>
    <p:extLst>
      <p:ext uri="{BB962C8B-B14F-4D97-AF65-F5344CB8AC3E}">
        <p14:creationId xmlns:p14="http://schemas.microsoft.com/office/powerpoint/2010/main" val="2321393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62A7-F4CC-6A50-7461-40893B098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48585"/>
            <a:ext cx="10058400" cy="988829"/>
          </a:xfrm>
        </p:spPr>
        <p:txBody>
          <a:bodyPr/>
          <a:lstStyle/>
          <a:p>
            <a:r>
              <a:rPr lang="en-US" dirty="0">
                <a:latin typeface="Optima" panose="02000503060000020004" pitchFamily="2" charset="0"/>
              </a:rPr>
              <a:t>Identity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A5DF65-293D-C7B3-DD65-D3F38D4A51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2328531"/>
            <a:ext cx="10178322" cy="3593591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3200" i="1" dirty="0">
                <a:solidFill>
                  <a:srgbClr val="002060"/>
                </a:solidFill>
                <a:latin typeface="Avenir Book" panose="02000503020000020003" pitchFamily="2" charset="0"/>
              </a:rPr>
              <a:t>“When I say that a sensation is a brain process or that lightning is an electrical discharge, I am using ‘is’ in the sense of strict identity” J.J.C. Smart, ‘Sensations and Brain Processes’ (1959)</a:t>
            </a:r>
          </a:p>
        </p:txBody>
      </p:sp>
    </p:spTree>
    <p:extLst>
      <p:ext uri="{BB962C8B-B14F-4D97-AF65-F5344CB8AC3E}">
        <p14:creationId xmlns:p14="http://schemas.microsoft.com/office/powerpoint/2010/main" val="33209207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10DE0-F526-E3EB-B2F6-1BE7C0203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723013"/>
            <a:ext cx="10178322" cy="1151503"/>
          </a:xfrm>
        </p:spPr>
        <p:txBody>
          <a:bodyPr/>
          <a:lstStyle/>
          <a:p>
            <a:r>
              <a:rPr lang="en-US" dirty="0">
                <a:latin typeface="Optima" panose="02000503060000020004" pitchFamily="2" charset="0"/>
              </a:rPr>
              <a:t>Objection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182994-9024-EA9F-775C-64EF0668FC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2023873"/>
            <a:ext cx="10178322" cy="3855720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800" dirty="0">
                <a:solidFill>
                  <a:srgbClr val="002060"/>
                </a:solidFill>
                <a:latin typeface="Avenir Book" panose="02000503020000020003" pitchFamily="2" charset="0"/>
              </a:rPr>
              <a:t>‘Any illiterate peasant can talk perfectly well about his after-images, or how things look or feel to him, or about his aches and pains, and yet he may know nothing whatsoever about neurophysiology’. 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2800" dirty="0">
              <a:solidFill>
                <a:srgbClr val="002060"/>
              </a:solidFill>
              <a:latin typeface="Avenir Book" panose="02000503020000020003" pitchFamily="2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800" dirty="0">
                <a:solidFill>
                  <a:srgbClr val="002060"/>
                </a:solidFill>
                <a:latin typeface="Avenir Book" panose="02000503020000020003" pitchFamily="2" charset="0"/>
              </a:rPr>
              <a:t>Response: You may as well say that someone who never saw the morning star and only ever saw the evening star, never spoke about the same entity. You can refer to X and not know that X is also Y. </a:t>
            </a:r>
          </a:p>
        </p:txBody>
      </p:sp>
    </p:spTree>
    <p:extLst>
      <p:ext uri="{BB962C8B-B14F-4D97-AF65-F5344CB8AC3E}">
        <p14:creationId xmlns:p14="http://schemas.microsoft.com/office/powerpoint/2010/main" val="39814905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05735-F851-CE16-78EA-04C94CB5F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548639"/>
            <a:ext cx="10178322" cy="670561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Optima" panose="02000503060000020004" pitchFamily="2" charset="0"/>
              </a:rPr>
              <a:t>Objection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94468-A643-5DDD-CA43-4CC3D97987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520457"/>
            <a:ext cx="10178322" cy="43591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002060"/>
                </a:solidFill>
                <a:latin typeface="Avenir Book" panose="02000503020000020003" pitchFamily="2" charset="0"/>
              </a:rPr>
              <a:t>Maybe science will move on and prove that sensations are not brain processes. So, when we report a sensation, we do not report a mental state. </a:t>
            </a:r>
          </a:p>
          <a:p>
            <a:pPr>
              <a:lnSpc>
                <a:spcPct val="150000"/>
              </a:lnSpc>
            </a:pPr>
            <a:endParaRPr lang="en-US" sz="2400" dirty="0">
              <a:solidFill>
                <a:srgbClr val="002060"/>
              </a:solidFill>
              <a:latin typeface="Avenir Book" panose="02000503020000020003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002060"/>
                </a:solidFill>
                <a:latin typeface="Avenir Book" panose="02000503020000020003" pitchFamily="2" charset="0"/>
              </a:rPr>
              <a:t>Reply: “The objection only proves that when we say ‘I have an after-image’ we cannot mean something of the form ‘I have such and such a brain process’.” The same can be said about lightning and a discharge of electricity. </a:t>
            </a:r>
          </a:p>
        </p:txBody>
      </p:sp>
    </p:spTree>
    <p:extLst>
      <p:ext uri="{BB962C8B-B14F-4D97-AF65-F5344CB8AC3E}">
        <p14:creationId xmlns:p14="http://schemas.microsoft.com/office/powerpoint/2010/main" val="21329307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E4839-A7ED-0AC4-0B88-161B76FB6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563526"/>
            <a:ext cx="10178322" cy="967562"/>
          </a:xfrm>
        </p:spPr>
        <p:txBody>
          <a:bodyPr/>
          <a:lstStyle/>
          <a:p>
            <a:r>
              <a:rPr lang="en-US" dirty="0">
                <a:latin typeface="Optima" panose="02000503060000020004" pitchFamily="2" charset="0"/>
              </a:rPr>
              <a:t>Objection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571B41-EB1D-10DA-27BE-2BC70F47E8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733107"/>
            <a:ext cx="10178322" cy="4146485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sz="2800" dirty="0">
                <a:solidFill>
                  <a:srgbClr val="002060"/>
                </a:solidFill>
                <a:latin typeface="Avenir Book" panose="02000503020000020003" pitchFamily="2" charset="0"/>
              </a:rPr>
              <a:t>‘The after-image is not in physical space but the brain process is. So, the after-image is not the brain process.’</a:t>
            </a:r>
          </a:p>
          <a:p>
            <a:pPr marL="0" indent="0">
              <a:lnSpc>
                <a:spcPct val="170000"/>
              </a:lnSpc>
              <a:buNone/>
            </a:pPr>
            <a:endParaRPr lang="en-US" sz="2800" dirty="0">
              <a:solidFill>
                <a:srgbClr val="002060"/>
              </a:solidFill>
              <a:latin typeface="Avenir Book" panose="02000503020000020003" pitchFamily="2" charset="0"/>
            </a:endParaRPr>
          </a:p>
          <a:p>
            <a:pPr marL="0" indent="0">
              <a:lnSpc>
                <a:spcPct val="170000"/>
              </a:lnSpc>
              <a:buNone/>
            </a:pPr>
            <a:r>
              <a:rPr lang="en-US" sz="2800" dirty="0">
                <a:solidFill>
                  <a:srgbClr val="002060"/>
                </a:solidFill>
                <a:latin typeface="Avenir Book" panose="02000503020000020003" pitchFamily="2" charset="0"/>
              </a:rPr>
              <a:t>Reply: “I am not arguing that an after-image is a brain process but that the experience of an after-image is a brain process. It is the experience which is reported in the introspective report”. 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2800" dirty="0">
                <a:solidFill>
                  <a:srgbClr val="002060"/>
                </a:solidFill>
                <a:latin typeface="Avenir Book" panose="02000503020000020003" pitchFamily="2" charset="0"/>
              </a:rPr>
              <a:t>In one sense an after-image does not exist, only the experience of it exists. </a:t>
            </a:r>
          </a:p>
          <a:p>
            <a:pPr marL="0" indent="0">
              <a:buNone/>
            </a:pPr>
            <a:endParaRPr lang="en-US" sz="28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16676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F5AE6-889A-02BC-2118-9A47B72A2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574157"/>
            <a:ext cx="10178322" cy="1300359"/>
          </a:xfrm>
        </p:spPr>
        <p:txBody>
          <a:bodyPr/>
          <a:lstStyle/>
          <a:p>
            <a:r>
              <a:rPr lang="en-US" dirty="0">
                <a:latin typeface="Optima" panose="02000503060000020004" pitchFamily="2" charset="0"/>
              </a:rPr>
              <a:t>Objection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00D22-C4C4-07AA-349C-C48B57BE5A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775637"/>
            <a:ext cx="10178322" cy="4103955"/>
          </a:xfrm>
        </p:spPr>
        <p:txBody>
          <a:bodyPr>
            <a:normAutofit fontScale="85000" lnSpcReduction="1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800" dirty="0">
                <a:solidFill>
                  <a:schemeClr val="tx1"/>
                </a:solidFill>
                <a:latin typeface="Avenir Book" panose="02000503020000020003" pitchFamily="2" charset="0"/>
              </a:rPr>
              <a:t>Sensations are private and brain processes are public. I can never be wrong about what I am experiencing, but even if a neuroscientist could see the processes of my brain, they could not know with the same certainty what my sensation was. 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2800" dirty="0">
              <a:solidFill>
                <a:schemeClr val="tx1"/>
              </a:solidFill>
              <a:latin typeface="Avenir Book" panose="02000503020000020003" pitchFamily="2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800" dirty="0">
                <a:solidFill>
                  <a:schemeClr val="tx1"/>
                </a:solidFill>
                <a:latin typeface="Avenir Book" panose="02000503020000020003" pitchFamily="2" charset="0"/>
              </a:rPr>
              <a:t>Reply: We do not yet know enough about brain processes, but when we do, we may well get equal access to the sensations of another person. </a:t>
            </a:r>
          </a:p>
        </p:txBody>
      </p:sp>
    </p:spTree>
    <p:extLst>
      <p:ext uri="{BB962C8B-B14F-4D97-AF65-F5344CB8AC3E}">
        <p14:creationId xmlns:p14="http://schemas.microsoft.com/office/powerpoint/2010/main" val="22945410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AF736-938B-01A4-7D50-6877BEA80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648585"/>
            <a:ext cx="10178322" cy="1225931"/>
          </a:xfrm>
        </p:spPr>
        <p:txBody>
          <a:bodyPr/>
          <a:lstStyle/>
          <a:p>
            <a:r>
              <a:rPr lang="en-US" dirty="0">
                <a:latin typeface="Optima" panose="02000503060000020004" pitchFamily="2" charset="0"/>
              </a:rPr>
              <a:t>Objection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71830-3A76-F1B3-C489-247530A4D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874517"/>
            <a:ext cx="10178322" cy="4005075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dirty="0">
                <a:solidFill>
                  <a:schemeClr val="tx1"/>
                </a:solidFill>
                <a:latin typeface="Avenir Book" panose="02000503020000020003" pitchFamily="2" charset="0"/>
              </a:rPr>
              <a:t>I can imagine having sensations without having brain processes. So, sensations and brain processes are not identical. 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800" dirty="0">
              <a:solidFill>
                <a:schemeClr val="tx1"/>
              </a:solidFill>
              <a:latin typeface="Avenir Book" panose="02000503020000020003" pitchFamily="2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800" dirty="0">
                <a:solidFill>
                  <a:schemeClr val="tx1"/>
                </a:solidFill>
                <a:latin typeface="Avenir Book" panose="02000503020000020003" pitchFamily="2" charset="0"/>
              </a:rPr>
              <a:t>Reply: Conceivability does not prove truths about physical reality. It only proves that we cannot know a priori that brain processes are identical to sensations. However, the identity is necessary, but we only know it a posteriori. The same is true of water and H₂O. </a:t>
            </a:r>
          </a:p>
        </p:txBody>
      </p:sp>
    </p:spTree>
    <p:extLst>
      <p:ext uri="{BB962C8B-B14F-4D97-AF65-F5344CB8AC3E}">
        <p14:creationId xmlns:p14="http://schemas.microsoft.com/office/powerpoint/2010/main" val="38177825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og licking its paw on a bed&#10;&#10;Description automatically generated">
            <a:extLst>
              <a:ext uri="{FF2B5EF4-FFF2-40B4-BE49-F238E27FC236}">
                <a16:creationId xmlns:a16="http://schemas.microsoft.com/office/drawing/2014/main" id="{F46DDDC7-BC3E-0CDE-332D-858529C4D6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832" r="12399"/>
          <a:stretch/>
        </p:blipFill>
        <p:spPr>
          <a:xfrm>
            <a:off x="7338646" y="10"/>
            <a:ext cx="4853354" cy="6857990"/>
          </a:xfrm>
          <a:prstGeom prst="rect">
            <a:avLst/>
          </a:prstGeom>
        </p:spPr>
      </p:pic>
      <p:sp>
        <p:nvSpPr>
          <p:cNvPr id="9" name="Freeform 10">
            <a:extLst>
              <a:ext uri="{FF2B5EF4-FFF2-40B4-BE49-F238E27FC236}">
                <a16:creationId xmlns:a16="http://schemas.microsoft.com/office/drawing/2014/main" id="{FF606621-EDD0-4CB0-B5A0-2BD458842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7569200" cy="6858000"/>
          </a:xfrm>
          <a:custGeom>
            <a:avLst/>
            <a:gdLst>
              <a:gd name="connsiteX0" fmla="*/ 0 w 7569200"/>
              <a:gd name="connsiteY0" fmla="*/ 0 h 6858000"/>
              <a:gd name="connsiteX1" fmla="*/ 7389812 w 7569200"/>
              <a:gd name="connsiteY1" fmla="*/ 0 h 6858000"/>
              <a:gd name="connsiteX2" fmla="*/ 7394575 w 7569200"/>
              <a:gd name="connsiteY2" fmla="*/ 66675 h 6858000"/>
              <a:gd name="connsiteX3" fmla="*/ 7402512 w 7569200"/>
              <a:gd name="connsiteY3" fmla="*/ 122237 h 6858000"/>
              <a:gd name="connsiteX4" fmla="*/ 7412037 w 7569200"/>
              <a:gd name="connsiteY4" fmla="*/ 174625 h 6858000"/>
              <a:gd name="connsiteX5" fmla="*/ 7427912 w 7569200"/>
              <a:gd name="connsiteY5" fmla="*/ 217487 h 6858000"/>
              <a:gd name="connsiteX6" fmla="*/ 7443787 w 7569200"/>
              <a:gd name="connsiteY6" fmla="*/ 260350 h 6858000"/>
              <a:gd name="connsiteX7" fmla="*/ 7462837 w 7569200"/>
              <a:gd name="connsiteY7" fmla="*/ 296862 h 6858000"/>
              <a:gd name="connsiteX8" fmla="*/ 7481887 w 7569200"/>
              <a:gd name="connsiteY8" fmla="*/ 334962 h 6858000"/>
              <a:gd name="connsiteX9" fmla="*/ 7499350 w 7569200"/>
              <a:gd name="connsiteY9" fmla="*/ 369887 h 6858000"/>
              <a:gd name="connsiteX10" fmla="*/ 7516812 w 7569200"/>
              <a:gd name="connsiteY10" fmla="*/ 409575 h 6858000"/>
              <a:gd name="connsiteX11" fmla="*/ 7532687 w 7569200"/>
              <a:gd name="connsiteY11" fmla="*/ 450850 h 6858000"/>
              <a:gd name="connsiteX12" fmla="*/ 7546975 w 7569200"/>
              <a:gd name="connsiteY12" fmla="*/ 496887 h 6858000"/>
              <a:gd name="connsiteX13" fmla="*/ 7558087 w 7569200"/>
              <a:gd name="connsiteY13" fmla="*/ 546100 h 6858000"/>
              <a:gd name="connsiteX14" fmla="*/ 7566025 w 7569200"/>
              <a:gd name="connsiteY14" fmla="*/ 606425 h 6858000"/>
              <a:gd name="connsiteX15" fmla="*/ 7569200 w 7569200"/>
              <a:gd name="connsiteY15" fmla="*/ 673100 h 6858000"/>
              <a:gd name="connsiteX16" fmla="*/ 7566025 w 7569200"/>
              <a:gd name="connsiteY16" fmla="*/ 744537 h 6858000"/>
              <a:gd name="connsiteX17" fmla="*/ 7558087 w 7569200"/>
              <a:gd name="connsiteY17" fmla="*/ 801687 h 6858000"/>
              <a:gd name="connsiteX18" fmla="*/ 7546975 w 7569200"/>
              <a:gd name="connsiteY18" fmla="*/ 854075 h 6858000"/>
              <a:gd name="connsiteX19" fmla="*/ 7532687 w 7569200"/>
              <a:gd name="connsiteY19" fmla="*/ 901700 h 6858000"/>
              <a:gd name="connsiteX20" fmla="*/ 7516812 w 7569200"/>
              <a:gd name="connsiteY20" fmla="*/ 942975 h 6858000"/>
              <a:gd name="connsiteX21" fmla="*/ 7497762 w 7569200"/>
              <a:gd name="connsiteY21" fmla="*/ 981075 h 6858000"/>
              <a:gd name="connsiteX22" fmla="*/ 7478712 w 7569200"/>
              <a:gd name="connsiteY22" fmla="*/ 1017587 h 6858000"/>
              <a:gd name="connsiteX23" fmla="*/ 7459662 w 7569200"/>
              <a:gd name="connsiteY23" fmla="*/ 1055687 h 6858000"/>
              <a:gd name="connsiteX24" fmla="*/ 7442200 w 7569200"/>
              <a:gd name="connsiteY24" fmla="*/ 1095375 h 6858000"/>
              <a:gd name="connsiteX25" fmla="*/ 7424737 w 7569200"/>
              <a:gd name="connsiteY25" fmla="*/ 1136650 h 6858000"/>
              <a:gd name="connsiteX26" fmla="*/ 7410450 w 7569200"/>
              <a:gd name="connsiteY26" fmla="*/ 1182687 h 6858000"/>
              <a:gd name="connsiteX27" fmla="*/ 7400925 w 7569200"/>
              <a:gd name="connsiteY27" fmla="*/ 1235075 h 6858000"/>
              <a:gd name="connsiteX28" fmla="*/ 7391400 w 7569200"/>
              <a:gd name="connsiteY28" fmla="*/ 1295400 h 6858000"/>
              <a:gd name="connsiteX29" fmla="*/ 7389812 w 7569200"/>
              <a:gd name="connsiteY29" fmla="*/ 1363662 h 6858000"/>
              <a:gd name="connsiteX30" fmla="*/ 7391400 w 7569200"/>
              <a:gd name="connsiteY30" fmla="*/ 1431925 h 6858000"/>
              <a:gd name="connsiteX31" fmla="*/ 7400925 w 7569200"/>
              <a:gd name="connsiteY31" fmla="*/ 1492250 h 6858000"/>
              <a:gd name="connsiteX32" fmla="*/ 7410450 w 7569200"/>
              <a:gd name="connsiteY32" fmla="*/ 1544637 h 6858000"/>
              <a:gd name="connsiteX33" fmla="*/ 7424737 w 7569200"/>
              <a:gd name="connsiteY33" fmla="*/ 1589087 h 6858000"/>
              <a:gd name="connsiteX34" fmla="*/ 7442200 w 7569200"/>
              <a:gd name="connsiteY34" fmla="*/ 1631950 h 6858000"/>
              <a:gd name="connsiteX35" fmla="*/ 7459662 w 7569200"/>
              <a:gd name="connsiteY35" fmla="*/ 1671637 h 6858000"/>
              <a:gd name="connsiteX36" fmla="*/ 7478712 w 7569200"/>
              <a:gd name="connsiteY36" fmla="*/ 1708150 h 6858000"/>
              <a:gd name="connsiteX37" fmla="*/ 7497762 w 7569200"/>
              <a:gd name="connsiteY37" fmla="*/ 1743075 h 6858000"/>
              <a:gd name="connsiteX38" fmla="*/ 7516812 w 7569200"/>
              <a:gd name="connsiteY38" fmla="*/ 1782762 h 6858000"/>
              <a:gd name="connsiteX39" fmla="*/ 7532687 w 7569200"/>
              <a:gd name="connsiteY39" fmla="*/ 1824037 h 6858000"/>
              <a:gd name="connsiteX40" fmla="*/ 7546975 w 7569200"/>
              <a:gd name="connsiteY40" fmla="*/ 1870075 h 6858000"/>
              <a:gd name="connsiteX41" fmla="*/ 7558087 w 7569200"/>
              <a:gd name="connsiteY41" fmla="*/ 1922462 h 6858000"/>
              <a:gd name="connsiteX42" fmla="*/ 7566025 w 7569200"/>
              <a:gd name="connsiteY42" fmla="*/ 1982787 h 6858000"/>
              <a:gd name="connsiteX43" fmla="*/ 7569200 w 7569200"/>
              <a:gd name="connsiteY43" fmla="*/ 2051050 h 6858000"/>
              <a:gd name="connsiteX44" fmla="*/ 7566025 w 7569200"/>
              <a:gd name="connsiteY44" fmla="*/ 2119312 h 6858000"/>
              <a:gd name="connsiteX45" fmla="*/ 7558087 w 7569200"/>
              <a:gd name="connsiteY45" fmla="*/ 2179637 h 6858000"/>
              <a:gd name="connsiteX46" fmla="*/ 7546975 w 7569200"/>
              <a:gd name="connsiteY46" fmla="*/ 2232025 h 6858000"/>
              <a:gd name="connsiteX47" fmla="*/ 7532687 w 7569200"/>
              <a:gd name="connsiteY47" fmla="*/ 2278062 h 6858000"/>
              <a:gd name="connsiteX48" fmla="*/ 7516812 w 7569200"/>
              <a:gd name="connsiteY48" fmla="*/ 2319337 h 6858000"/>
              <a:gd name="connsiteX49" fmla="*/ 7497762 w 7569200"/>
              <a:gd name="connsiteY49" fmla="*/ 2359025 h 6858000"/>
              <a:gd name="connsiteX50" fmla="*/ 7478712 w 7569200"/>
              <a:gd name="connsiteY50" fmla="*/ 2395537 h 6858000"/>
              <a:gd name="connsiteX51" fmla="*/ 7459662 w 7569200"/>
              <a:gd name="connsiteY51" fmla="*/ 2433637 h 6858000"/>
              <a:gd name="connsiteX52" fmla="*/ 7442200 w 7569200"/>
              <a:gd name="connsiteY52" fmla="*/ 2471737 h 6858000"/>
              <a:gd name="connsiteX53" fmla="*/ 7424737 w 7569200"/>
              <a:gd name="connsiteY53" fmla="*/ 2513012 h 6858000"/>
              <a:gd name="connsiteX54" fmla="*/ 7410450 w 7569200"/>
              <a:gd name="connsiteY54" fmla="*/ 2560637 h 6858000"/>
              <a:gd name="connsiteX55" fmla="*/ 7400925 w 7569200"/>
              <a:gd name="connsiteY55" fmla="*/ 2613025 h 6858000"/>
              <a:gd name="connsiteX56" fmla="*/ 7391400 w 7569200"/>
              <a:gd name="connsiteY56" fmla="*/ 2671762 h 6858000"/>
              <a:gd name="connsiteX57" fmla="*/ 7389812 w 7569200"/>
              <a:gd name="connsiteY57" fmla="*/ 2741612 h 6858000"/>
              <a:gd name="connsiteX58" fmla="*/ 7391400 w 7569200"/>
              <a:gd name="connsiteY58" fmla="*/ 2809875 h 6858000"/>
              <a:gd name="connsiteX59" fmla="*/ 7400925 w 7569200"/>
              <a:gd name="connsiteY59" fmla="*/ 2868612 h 6858000"/>
              <a:gd name="connsiteX60" fmla="*/ 7410450 w 7569200"/>
              <a:gd name="connsiteY60" fmla="*/ 2922587 h 6858000"/>
              <a:gd name="connsiteX61" fmla="*/ 7424737 w 7569200"/>
              <a:gd name="connsiteY61" fmla="*/ 2967037 h 6858000"/>
              <a:gd name="connsiteX62" fmla="*/ 7442200 w 7569200"/>
              <a:gd name="connsiteY62" fmla="*/ 3009900 h 6858000"/>
              <a:gd name="connsiteX63" fmla="*/ 7459662 w 7569200"/>
              <a:gd name="connsiteY63" fmla="*/ 3046412 h 6858000"/>
              <a:gd name="connsiteX64" fmla="*/ 7478712 w 7569200"/>
              <a:gd name="connsiteY64" fmla="*/ 3084512 h 6858000"/>
              <a:gd name="connsiteX65" fmla="*/ 7497762 w 7569200"/>
              <a:gd name="connsiteY65" fmla="*/ 3121025 h 6858000"/>
              <a:gd name="connsiteX66" fmla="*/ 7516812 w 7569200"/>
              <a:gd name="connsiteY66" fmla="*/ 3160712 h 6858000"/>
              <a:gd name="connsiteX67" fmla="*/ 7532687 w 7569200"/>
              <a:gd name="connsiteY67" fmla="*/ 3201987 h 6858000"/>
              <a:gd name="connsiteX68" fmla="*/ 7546975 w 7569200"/>
              <a:gd name="connsiteY68" fmla="*/ 3248025 h 6858000"/>
              <a:gd name="connsiteX69" fmla="*/ 7558087 w 7569200"/>
              <a:gd name="connsiteY69" fmla="*/ 3300412 h 6858000"/>
              <a:gd name="connsiteX70" fmla="*/ 7566025 w 7569200"/>
              <a:gd name="connsiteY70" fmla="*/ 3360737 h 6858000"/>
              <a:gd name="connsiteX71" fmla="*/ 7569200 w 7569200"/>
              <a:gd name="connsiteY71" fmla="*/ 3427412 h 6858000"/>
              <a:gd name="connsiteX72" fmla="*/ 7566025 w 7569200"/>
              <a:gd name="connsiteY72" fmla="*/ 3497262 h 6858000"/>
              <a:gd name="connsiteX73" fmla="*/ 7558087 w 7569200"/>
              <a:gd name="connsiteY73" fmla="*/ 3557587 h 6858000"/>
              <a:gd name="connsiteX74" fmla="*/ 7546975 w 7569200"/>
              <a:gd name="connsiteY74" fmla="*/ 3609975 h 6858000"/>
              <a:gd name="connsiteX75" fmla="*/ 7532687 w 7569200"/>
              <a:gd name="connsiteY75" fmla="*/ 3656012 h 6858000"/>
              <a:gd name="connsiteX76" fmla="*/ 7516812 w 7569200"/>
              <a:gd name="connsiteY76" fmla="*/ 3697287 h 6858000"/>
              <a:gd name="connsiteX77" fmla="*/ 7497762 w 7569200"/>
              <a:gd name="connsiteY77" fmla="*/ 3736975 h 6858000"/>
              <a:gd name="connsiteX78" fmla="*/ 7459662 w 7569200"/>
              <a:gd name="connsiteY78" fmla="*/ 3811587 h 6858000"/>
              <a:gd name="connsiteX79" fmla="*/ 7442200 w 7569200"/>
              <a:gd name="connsiteY79" fmla="*/ 3848100 h 6858000"/>
              <a:gd name="connsiteX80" fmla="*/ 7424737 w 7569200"/>
              <a:gd name="connsiteY80" fmla="*/ 3890962 h 6858000"/>
              <a:gd name="connsiteX81" fmla="*/ 7410450 w 7569200"/>
              <a:gd name="connsiteY81" fmla="*/ 3935412 h 6858000"/>
              <a:gd name="connsiteX82" fmla="*/ 7400925 w 7569200"/>
              <a:gd name="connsiteY82" fmla="*/ 3987800 h 6858000"/>
              <a:gd name="connsiteX83" fmla="*/ 7391400 w 7569200"/>
              <a:gd name="connsiteY83" fmla="*/ 4048125 h 6858000"/>
              <a:gd name="connsiteX84" fmla="*/ 7389812 w 7569200"/>
              <a:gd name="connsiteY84" fmla="*/ 4116387 h 6858000"/>
              <a:gd name="connsiteX85" fmla="*/ 7391400 w 7569200"/>
              <a:gd name="connsiteY85" fmla="*/ 4186237 h 6858000"/>
              <a:gd name="connsiteX86" fmla="*/ 7400925 w 7569200"/>
              <a:gd name="connsiteY86" fmla="*/ 4244975 h 6858000"/>
              <a:gd name="connsiteX87" fmla="*/ 7410450 w 7569200"/>
              <a:gd name="connsiteY87" fmla="*/ 4297362 h 6858000"/>
              <a:gd name="connsiteX88" fmla="*/ 7424737 w 7569200"/>
              <a:gd name="connsiteY88" fmla="*/ 4343400 h 6858000"/>
              <a:gd name="connsiteX89" fmla="*/ 7442200 w 7569200"/>
              <a:gd name="connsiteY89" fmla="*/ 4386262 h 6858000"/>
              <a:gd name="connsiteX90" fmla="*/ 7459662 w 7569200"/>
              <a:gd name="connsiteY90" fmla="*/ 4424362 h 6858000"/>
              <a:gd name="connsiteX91" fmla="*/ 7497762 w 7569200"/>
              <a:gd name="connsiteY91" fmla="*/ 4498975 h 6858000"/>
              <a:gd name="connsiteX92" fmla="*/ 7516812 w 7569200"/>
              <a:gd name="connsiteY92" fmla="*/ 4537075 h 6858000"/>
              <a:gd name="connsiteX93" fmla="*/ 7532687 w 7569200"/>
              <a:gd name="connsiteY93" fmla="*/ 4579937 h 6858000"/>
              <a:gd name="connsiteX94" fmla="*/ 7546975 w 7569200"/>
              <a:gd name="connsiteY94" fmla="*/ 4625975 h 6858000"/>
              <a:gd name="connsiteX95" fmla="*/ 7558087 w 7569200"/>
              <a:gd name="connsiteY95" fmla="*/ 4678362 h 6858000"/>
              <a:gd name="connsiteX96" fmla="*/ 7566025 w 7569200"/>
              <a:gd name="connsiteY96" fmla="*/ 4738687 h 6858000"/>
              <a:gd name="connsiteX97" fmla="*/ 7569200 w 7569200"/>
              <a:gd name="connsiteY97" fmla="*/ 4806950 h 6858000"/>
              <a:gd name="connsiteX98" fmla="*/ 7566025 w 7569200"/>
              <a:gd name="connsiteY98" fmla="*/ 4875212 h 6858000"/>
              <a:gd name="connsiteX99" fmla="*/ 7558087 w 7569200"/>
              <a:gd name="connsiteY99" fmla="*/ 4935537 h 6858000"/>
              <a:gd name="connsiteX100" fmla="*/ 7546975 w 7569200"/>
              <a:gd name="connsiteY100" fmla="*/ 4987925 h 6858000"/>
              <a:gd name="connsiteX101" fmla="*/ 7532687 w 7569200"/>
              <a:gd name="connsiteY101" fmla="*/ 5033962 h 6858000"/>
              <a:gd name="connsiteX102" fmla="*/ 7516812 w 7569200"/>
              <a:gd name="connsiteY102" fmla="*/ 5075237 h 6858000"/>
              <a:gd name="connsiteX103" fmla="*/ 7497762 w 7569200"/>
              <a:gd name="connsiteY103" fmla="*/ 5114925 h 6858000"/>
              <a:gd name="connsiteX104" fmla="*/ 7478712 w 7569200"/>
              <a:gd name="connsiteY104" fmla="*/ 5149850 h 6858000"/>
              <a:gd name="connsiteX105" fmla="*/ 7459662 w 7569200"/>
              <a:gd name="connsiteY105" fmla="*/ 5186362 h 6858000"/>
              <a:gd name="connsiteX106" fmla="*/ 7442200 w 7569200"/>
              <a:gd name="connsiteY106" fmla="*/ 5226050 h 6858000"/>
              <a:gd name="connsiteX107" fmla="*/ 7424737 w 7569200"/>
              <a:gd name="connsiteY107" fmla="*/ 5268912 h 6858000"/>
              <a:gd name="connsiteX108" fmla="*/ 7410450 w 7569200"/>
              <a:gd name="connsiteY108" fmla="*/ 5313362 h 6858000"/>
              <a:gd name="connsiteX109" fmla="*/ 7400925 w 7569200"/>
              <a:gd name="connsiteY109" fmla="*/ 5365750 h 6858000"/>
              <a:gd name="connsiteX110" fmla="*/ 7391400 w 7569200"/>
              <a:gd name="connsiteY110" fmla="*/ 5426075 h 6858000"/>
              <a:gd name="connsiteX111" fmla="*/ 7389812 w 7569200"/>
              <a:gd name="connsiteY111" fmla="*/ 5494337 h 6858000"/>
              <a:gd name="connsiteX112" fmla="*/ 7391400 w 7569200"/>
              <a:gd name="connsiteY112" fmla="*/ 5562600 h 6858000"/>
              <a:gd name="connsiteX113" fmla="*/ 7400925 w 7569200"/>
              <a:gd name="connsiteY113" fmla="*/ 5622925 h 6858000"/>
              <a:gd name="connsiteX114" fmla="*/ 7410450 w 7569200"/>
              <a:gd name="connsiteY114" fmla="*/ 5675312 h 6858000"/>
              <a:gd name="connsiteX115" fmla="*/ 7424737 w 7569200"/>
              <a:gd name="connsiteY115" fmla="*/ 5721350 h 6858000"/>
              <a:gd name="connsiteX116" fmla="*/ 7442200 w 7569200"/>
              <a:gd name="connsiteY116" fmla="*/ 5762625 h 6858000"/>
              <a:gd name="connsiteX117" fmla="*/ 7459662 w 7569200"/>
              <a:gd name="connsiteY117" fmla="*/ 5802312 h 6858000"/>
              <a:gd name="connsiteX118" fmla="*/ 7478712 w 7569200"/>
              <a:gd name="connsiteY118" fmla="*/ 5840412 h 6858000"/>
              <a:gd name="connsiteX119" fmla="*/ 7497762 w 7569200"/>
              <a:gd name="connsiteY119" fmla="*/ 5876925 h 6858000"/>
              <a:gd name="connsiteX120" fmla="*/ 7516812 w 7569200"/>
              <a:gd name="connsiteY120" fmla="*/ 5915025 h 6858000"/>
              <a:gd name="connsiteX121" fmla="*/ 7532687 w 7569200"/>
              <a:gd name="connsiteY121" fmla="*/ 5956300 h 6858000"/>
              <a:gd name="connsiteX122" fmla="*/ 7546975 w 7569200"/>
              <a:gd name="connsiteY122" fmla="*/ 6003925 h 6858000"/>
              <a:gd name="connsiteX123" fmla="*/ 7558087 w 7569200"/>
              <a:gd name="connsiteY123" fmla="*/ 6056312 h 6858000"/>
              <a:gd name="connsiteX124" fmla="*/ 7566025 w 7569200"/>
              <a:gd name="connsiteY124" fmla="*/ 6113462 h 6858000"/>
              <a:gd name="connsiteX125" fmla="*/ 7569200 w 7569200"/>
              <a:gd name="connsiteY125" fmla="*/ 6183312 h 6858000"/>
              <a:gd name="connsiteX126" fmla="*/ 7566025 w 7569200"/>
              <a:gd name="connsiteY126" fmla="*/ 6251575 h 6858000"/>
              <a:gd name="connsiteX127" fmla="*/ 7558087 w 7569200"/>
              <a:gd name="connsiteY127" fmla="*/ 6311900 h 6858000"/>
              <a:gd name="connsiteX128" fmla="*/ 7546975 w 7569200"/>
              <a:gd name="connsiteY128" fmla="*/ 6361112 h 6858000"/>
              <a:gd name="connsiteX129" fmla="*/ 7532687 w 7569200"/>
              <a:gd name="connsiteY129" fmla="*/ 6407150 h 6858000"/>
              <a:gd name="connsiteX130" fmla="*/ 7516812 w 7569200"/>
              <a:gd name="connsiteY130" fmla="*/ 6448425 h 6858000"/>
              <a:gd name="connsiteX131" fmla="*/ 7499350 w 7569200"/>
              <a:gd name="connsiteY131" fmla="*/ 6488112 h 6858000"/>
              <a:gd name="connsiteX132" fmla="*/ 7481887 w 7569200"/>
              <a:gd name="connsiteY132" fmla="*/ 6523037 h 6858000"/>
              <a:gd name="connsiteX133" fmla="*/ 7462837 w 7569200"/>
              <a:gd name="connsiteY133" fmla="*/ 6561137 h 6858000"/>
              <a:gd name="connsiteX134" fmla="*/ 7443787 w 7569200"/>
              <a:gd name="connsiteY134" fmla="*/ 6597650 h 6858000"/>
              <a:gd name="connsiteX135" fmla="*/ 7427912 w 7569200"/>
              <a:gd name="connsiteY135" fmla="*/ 6640512 h 6858000"/>
              <a:gd name="connsiteX136" fmla="*/ 7412037 w 7569200"/>
              <a:gd name="connsiteY136" fmla="*/ 6683375 h 6858000"/>
              <a:gd name="connsiteX137" fmla="*/ 7402512 w 7569200"/>
              <a:gd name="connsiteY137" fmla="*/ 6735762 h 6858000"/>
              <a:gd name="connsiteX138" fmla="*/ 7394575 w 7569200"/>
              <a:gd name="connsiteY138" fmla="*/ 6791325 h 6858000"/>
              <a:gd name="connsiteX139" fmla="*/ 7389812 w 7569200"/>
              <a:gd name="connsiteY139" fmla="*/ 6858000 h 6858000"/>
              <a:gd name="connsiteX140" fmla="*/ 0 w 7569200"/>
              <a:gd name="connsiteY140" fmla="*/ 6858000 h 6858000"/>
              <a:gd name="connsiteX141" fmla="*/ 0 w 7569200"/>
              <a:gd name="connsiteY14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7569200" h="6858000">
                <a:moveTo>
                  <a:pt x="0" y="0"/>
                </a:moveTo>
                <a:lnTo>
                  <a:pt x="7389812" y="0"/>
                </a:lnTo>
                <a:lnTo>
                  <a:pt x="7394575" y="66675"/>
                </a:lnTo>
                <a:lnTo>
                  <a:pt x="7402512" y="122237"/>
                </a:lnTo>
                <a:lnTo>
                  <a:pt x="7412037" y="174625"/>
                </a:lnTo>
                <a:lnTo>
                  <a:pt x="7427912" y="217487"/>
                </a:lnTo>
                <a:lnTo>
                  <a:pt x="7443787" y="260350"/>
                </a:lnTo>
                <a:lnTo>
                  <a:pt x="7462837" y="296862"/>
                </a:lnTo>
                <a:lnTo>
                  <a:pt x="7481887" y="334962"/>
                </a:lnTo>
                <a:lnTo>
                  <a:pt x="7499350" y="369887"/>
                </a:lnTo>
                <a:lnTo>
                  <a:pt x="7516812" y="409575"/>
                </a:lnTo>
                <a:lnTo>
                  <a:pt x="7532687" y="450850"/>
                </a:lnTo>
                <a:lnTo>
                  <a:pt x="7546975" y="496887"/>
                </a:lnTo>
                <a:lnTo>
                  <a:pt x="7558087" y="546100"/>
                </a:lnTo>
                <a:lnTo>
                  <a:pt x="7566025" y="606425"/>
                </a:lnTo>
                <a:lnTo>
                  <a:pt x="7569200" y="673100"/>
                </a:lnTo>
                <a:lnTo>
                  <a:pt x="7566025" y="744537"/>
                </a:lnTo>
                <a:lnTo>
                  <a:pt x="7558087" y="801687"/>
                </a:lnTo>
                <a:lnTo>
                  <a:pt x="7546975" y="854075"/>
                </a:lnTo>
                <a:lnTo>
                  <a:pt x="7532687" y="901700"/>
                </a:lnTo>
                <a:lnTo>
                  <a:pt x="7516812" y="942975"/>
                </a:lnTo>
                <a:lnTo>
                  <a:pt x="7497762" y="981075"/>
                </a:lnTo>
                <a:lnTo>
                  <a:pt x="7478712" y="1017587"/>
                </a:lnTo>
                <a:lnTo>
                  <a:pt x="7459662" y="1055687"/>
                </a:lnTo>
                <a:lnTo>
                  <a:pt x="7442200" y="1095375"/>
                </a:lnTo>
                <a:lnTo>
                  <a:pt x="7424737" y="1136650"/>
                </a:lnTo>
                <a:lnTo>
                  <a:pt x="7410450" y="1182687"/>
                </a:lnTo>
                <a:lnTo>
                  <a:pt x="7400925" y="1235075"/>
                </a:lnTo>
                <a:lnTo>
                  <a:pt x="7391400" y="1295400"/>
                </a:lnTo>
                <a:lnTo>
                  <a:pt x="7389812" y="1363662"/>
                </a:lnTo>
                <a:lnTo>
                  <a:pt x="7391400" y="1431925"/>
                </a:lnTo>
                <a:lnTo>
                  <a:pt x="7400925" y="1492250"/>
                </a:lnTo>
                <a:lnTo>
                  <a:pt x="7410450" y="1544637"/>
                </a:lnTo>
                <a:lnTo>
                  <a:pt x="7424737" y="1589087"/>
                </a:lnTo>
                <a:lnTo>
                  <a:pt x="7442200" y="1631950"/>
                </a:lnTo>
                <a:lnTo>
                  <a:pt x="7459662" y="1671637"/>
                </a:lnTo>
                <a:lnTo>
                  <a:pt x="7478712" y="1708150"/>
                </a:lnTo>
                <a:lnTo>
                  <a:pt x="7497762" y="1743075"/>
                </a:lnTo>
                <a:lnTo>
                  <a:pt x="7516812" y="1782762"/>
                </a:lnTo>
                <a:lnTo>
                  <a:pt x="7532687" y="1824037"/>
                </a:lnTo>
                <a:lnTo>
                  <a:pt x="7546975" y="1870075"/>
                </a:lnTo>
                <a:lnTo>
                  <a:pt x="7558087" y="1922462"/>
                </a:lnTo>
                <a:lnTo>
                  <a:pt x="7566025" y="1982787"/>
                </a:lnTo>
                <a:lnTo>
                  <a:pt x="7569200" y="2051050"/>
                </a:lnTo>
                <a:lnTo>
                  <a:pt x="7566025" y="2119312"/>
                </a:lnTo>
                <a:lnTo>
                  <a:pt x="7558087" y="2179637"/>
                </a:lnTo>
                <a:lnTo>
                  <a:pt x="7546975" y="2232025"/>
                </a:lnTo>
                <a:lnTo>
                  <a:pt x="7532687" y="2278062"/>
                </a:lnTo>
                <a:lnTo>
                  <a:pt x="7516812" y="2319337"/>
                </a:lnTo>
                <a:lnTo>
                  <a:pt x="7497762" y="2359025"/>
                </a:lnTo>
                <a:lnTo>
                  <a:pt x="7478712" y="2395537"/>
                </a:lnTo>
                <a:lnTo>
                  <a:pt x="7459662" y="2433637"/>
                </a:lnTo>
                <a:lnTo>
                  <a:pt x="7442200" y="2471737"/>
                </a:lnTo>
                <a:lnTo>
                  <a:pt x="7424737" y="2513012"/>
                </a:lnTo>
                <a:lnTo>
                  <a:pt x="7410450" y="2560637"/>
                </a:lnTo>
                <a:lnTo>
                  <a:pt x="7400925" y="2613025"/>
                </a:lnTo>
                <a:lnTo>
                  <a:pt x="7391400" y="2671762"/>
                </a:lnTo>
                <a:lnTo>
                  <a:pt x="7389812" y="2741612"/>
                </a:lnTo>
                <a:lnTo>
                  <a:pt x="7391400" y="2809875"/>
                </a:lnTo>
                <a:lnTo>
                  <a:pt x="7400925" y="2868612"/>
                </a:lnTo>
                <a:lnTo>
                  <a:pt x="7410450" y="2922587"/>
                </a:lnTo>
                <a:lnTo>
                  <a:pt x="7424737" y="2967037"/>
                </a:lnTo>
                <a:lnTo>
                  <a:pt x="7442200" y="3009900"/>
                </a:lnTo>
                <a:lnTo>
                  <a:pt x="7459662" y="3046412"/>
                </a:lnTo>
                <a:lnTo>
                  <a:pt x="7478712" y="3084512"/>
                </a:lnTo>
                <a:lnTo>
                  <a:pt x="7497762" y="3121025"/>
                </a:lnTo>
                <a:lnTo>
                  <a:pt x="7516812" y="3160712"/>
                </a:lnTo>
                <a:lnTo>
                  <a:pt x="7532687" y="3201987"/>
                </a:lnTo>
                <a:lnTo>
                  <a:pt x="7546975" y="3248025"/>
                </a:lnTo>
                <a:lnTo>
                  <a:pt x="7558087" y="3300412"/>
                </a:lnTo>
                <a:lnTo>
                  <a:pt x="7566025" y="3360737"/>
                </a:lnTo>
                <a:lnTo>
                  <a:pt x="7569200" y="3427412"/>
                </a:lnTo>
                <a:lnTo>
                  <a:pt x="7566025" y="3497262"/>
                </a:lnTo>
                <a:lnTo>
                  <a:pt x="7558087" y="3557587"/>
                </a:lnTo>
                <a:lnTo>
                  <a:pt x="7546975" y="3609975"/>
                </a:lnTo>
                <a:lnTo>
                  <a:pt x="7532687" y="3656012"/>
                </a:lnTo>
                <a:lnTo>
                  <a:pt x="7516812" y="3697287"/>
                </a:lnTo>
                <a:lnTo>
                  <a:pt x="7497762" y="3736975"/>
                </a:lnTo>
                <a:lnTo>
                  <a:pt x="7459662" y="3811587"/>
                </a:lnTo>
                <a:lnTo>
                  <a:pt x="7442200" y="3848100"/>
                </a:lnTo>
                <a:lnTo>
                  <a:pt x="7424737" y="3890962"/>
                </a:lnTo>
                <a:lnTo>
                  <a:pt x="7410450" y="3935412"/>
                </a:lnTo>
                <a:lnTo>
                  <a:pt x="7400925" y="3987800"/>
                </a:lnTo>
                <a:lnTo>
                  <a:pt x="7391400" y="4048125"/>
                </a:lnTo>
                <a:lnTo>
                  <a:pt x="7389812" y="4116387"/>
                </a:lnTo>
                <a:lnTo>
                  <a:pt x="7391400" y="4186237"/>
                </a:lnTo>
                <a:lnTo>
                  <a:pt x="7400925" y="4244975"/>
                </a:lnTo>
                <a:lnTo>
                  <a:pt x="7410450" y="4297362"/>
                </a:lnTo>
                <a:lnTo>
                  <a:pt x="7424737" y="4343400"/>
                </a:lnTo>
                <a:lnTo>
                  <a:pt x="7442200" y="4386262"/>
                </a:lnTo>
                <a:lnTo>
                  <a:pt x="7459662" y="4424362"/>
                </a:lnTo>
                <a:lnTo>
                  <a:pt x="7497762" y="4498975"/>
                </a:lnTo>
                <a:lnTo>
                  <a:pt x="7516812" y="4537075"/>
                </a:lnTo>
                <a:lnTo>
                  <a:pt x="7532687" y="4579937"/>
                </a:lnTo>
                <a:lnTo>
                  <a:pt x="7546975" y="4625975"/>
                </a:lnTo>
                <a:lnTo>
                  <a:pt x="7558087" y="4678362"/>
                </a:lnTo>
                <a:lnTo>
                  <a:pt x="7566025" y="4738687"/>
                </a:lnTo>
                <a:lnTo>
                  <a:pt x="7569200" y="4806950"/>
                </a:lnTo>
                <a:lnTo>
                  <a:pt x="7566025" y="4875212"/>
                </a:lnTo>
                <a:lnTo>
                  <a:pt x="7558087" y="4935537"/>
                </a:lnTo>
                <a:lnTo>
                  <a:pt x="7546975" y="4987925"/>
                </a:lnTo>
                <a:lnTo>
                  <a:pt x="7532687" y="5033962"/>
                </a:lnTo>
                <a:lnTo>
                  <a:pt x="7516812" y="5075237"/>
                </a:lnTo>
                <a:lnTo>
                  <a:pt x="7497762" y="5114925"/>
                </a:lnTo>
                <a:lnTo>
                  <a:pt x="7478712" y="5149850"/>
                </a:lnTo>
                <a:lnTo>
                  <a:pt x="7459662" y="5186362"/>
                </a:lnTo>
                <a:lnTo>
                  <a:pt x="7442200" y="5226050"/>
                </a:lnTo>
                <a:lnTo>
                  <a:pt x="7424737" y="5268912"/>
                </a:lnTo>
                <a:lnTo>
                  <a:pt x="7410450" y="5313362"/>
                </a:lnTo>
                <a:lnTo>
                  <a:pt x="7400925" y="5365750"/>
                </a:lnTo>
                <a:lnTo>
                  <a:pt x="7391400" y="5426075"/>
                </a:lnTo>
                <a:lnTo>
                  <a:pt x="7389812" y="5494337"/>
                </a:lnTo>
                <a:lnTo>
                  <a:pt x="7391400" y="5562600"/>
                </a:lnTo>
                <a:lnTo>
                  <a:pt x="7400925" y="5622925"/>
                </a:lnTo>
                <a:lnTo>
                  <a:pt x="7410450" y="5675312"/>
                </a:lnTo>
                <a:lnTo>
                  <a:pt x="7424737" y="5721350"/>
                </a:lnTo>
                <a:lnTo>
                  <a:pt x="7442200" y="5762625"/>
                </a:lnTo>
                <a:lnTo>
                  <a:pt x="7459662" y="5802312"/>
                </a:lnTo>
                <a:lnTo>
                  <a:pt x="7478712" y="5840412"/>
                </a:lnTo>
                <a:lnTo>
                  <a:pt x="7497762" y="5876925"/>
                </a:lnTo>
                <a:lnTo>
                  <a:pt x="7516812" y="5915025"/>
                </a:lnTo>
                <a:lnTo>
                  <a:pt x="7532687" y="5956300"/>
                </a:lnTo>
                <a:lnTo>
                  <a:pt x="7546975" y="6003925"/>
                </a:lnTo>
                <a:lnTo>
                  <a:pt x="7558087" y="6056312"/>
                </a:lnTo>
                <a:lnTo>
                  <a:pt x="7566025" y="6113462"/>
                </a:lnTo>
                <a:lnTo>
                  <a:pt x="7569200" y="6183312"/>
                </a:lnTo>
                <a:lnTo>
                  <a:pt x="7566025" y="6251575"/>
                </a:lnTo>
                <a:lnTo>
                  <a:pt x="7558087" y="6311900"/>
                </a:lnTo>
                <a:lnTo>
                  <a:pt x="7546975" y="6361112"/>
                </a:lnTo>
                <a:lnTo>
                  <a:pt x="7532687" y="6407150"/>
                </a:lnTo>
                <a:lnTo>
                  <a:pt x="7516812" y="6448425"/>
                </a:lnTo>
                <a:lnTo>
                  <a:pt x="7499350" y="6488112"/>
                </a:lnTo>
                <a:lnTo>
                  <a:pt x="7481887" y="6523037"/>
                </a:lnTo>
                <a:lnTo>
                  <a:pt x="7462837" y="6561137"/>
                </a:lnTo>
                <a:lnTo>
                  <a:pt x="7443787" y="6597650"/>
                </a:lnTo>
                <a:lnTo>
                  <a:pt x="7427912" y="6640512"/>
                </a:lnTo>
                <a:lnTo>
                  <a:pt x="7412037" y="6683375"/>
                </a:lnTo>
                <a:lnTo>
                  <a:pt x="7402512" y="6735762"/>
                </a:lnTo>
                <a:lnTo>
                  <a:pt x="7394575" y="6791325"/>
                </a:lnTo>
                <a:lnTo>
                  <a:pt x="7389812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7766F1-7731-4257-2E4A-81389D78A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051" y="730077"/>
            <a:ext cx="6015897" cy="1144439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Avenir Book" panose="02000503020000020003" pitchFamily="2" charset="0"/>
              </a:rPr>
              <a:t>Objection 6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E0AF57-42C6-4312-BEDF-A384DC8E42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4BE60A-F6DC-E4A1-F79C-DFE65B96B8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051" y="2069431"/>
            <a:ext cx="6015897" cy="3810161"/>
          </a:xfrm>
        </p:spPr>
        <p:txBody>
          <a:bodyPr>
            <a:noAutofit/>
          </a:bodyPr>
          <a:lstStyle/>
          <a:p>
            <a:pPr algn="just"/>
            <a:r>
              <a:rPr lang="en-US" sz="2400" dirty="0">
                <a:solidFill>
                  <a:srgbClr val="002060"/>
                </a:solidFill>
                <a:latin typeface="Avenir Book" panose="02000503020000020003" pitchFamily="2" charset="0"/>
              </a:rPr>
              <a:t>Animals can also suffer pain, and their brains are totally different from ours, so it cannot make sense to think that brain states are identical with mental states. </a:t>
            </a:r>
          </a:p>
          <a:p>
            <a:pPr marL="0" indent="0" algn="just">
              <a:buNone/>
            </a:pPr>
            <a:endParaRPr lang="en-US" sz="2400" dirty="0">
              <a:solidFill>
                <a:srgbClr val="002060"/>
              </a:solidFill>
              <a:latin typeface="Avenir Book" panose="02000503020000020003" pitchFamily="2" charset="0"/>
            </a:endParaRPr>
          </a:p>
          <a:p>
            <a:pPr algn="just"/>
            <a:r>
              <a:rPr lang="en-US" sz="2400" dirty="0">
                <a:solidFill>
                  <a:srgbClr val="002060"/>
                </a:solidFill>
                <a:latin typeface="Avenir Book" panose="02000503020000020003" pitchFamily="2" charset="0"/>
              </a:rPr>
              <a:t>This is called the argument from ‘multiple realisability’. </a:t>
            </a:r>
          </a:p>
        </p:txBody>
      </p:sp>
    </p:spTree>
    <p:extLst>
      <p:ext uri="{BB962C8B-B14F-4D97-AF65-F5344CB8AC3E}">
        <p14:creationId xmlns:p14="http://schemas.microsoft.com/office/powerpoint/2010/main" val="30355328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3769B-E02C-13D9-47FA-38AF55969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978407"/>
            <a:ext cx="10178322" cy="896109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Avenir Book" panose="02000503020000020003" pitchFamily="2" charset="0"/>
              </a:rPr>
              <a:t>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9C9B63-77A3-7548-E546-AD19B6E6D2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chemeClr val="tx1"/>
                </a:solidFill>
                <a:latin typeface="Avenir Book" panose="02000503020000020003" pitchFamily="2" charset="0"/>
              </a:rPr>
              <a:t>1. Explain mind-brain identity theory (5)</a:t>
            </a:r>
          </a:p>
          <a:p>
            <a:r>
              <a:rPr lang="en-US" sz="2400" dirty="0">
                <a:solidFill>
                  <a:schemeClr val="tx1"/>
                </a:solidFill>
                <a:latin typeface="Avenir Book" panose="02000503020000020003" pitchFamily="2" charset="0"/>
              </a:rPr>
              <a:t>2. Outline and explain the objections to mind-brain identity theory (12)</a:t>
            </a:r>
          </a:p>
          <a:p>
            <a:r>
              <a:rPr lang="en-US" sz="2400" dirty="0">
                <a:solidFill>
                  <a:schemeClr val="tx1"/>
                </a:solidFill>
                <a:latin typeface="Avenir Book" panose="02000503020000020003" pitchFamily="2" charset="0"/>
              </a:rPr>
              <a:t>3. What are some responses to these objections? (12) </a:t>
            </a:r>
          </a:p>
        </p:txBody>
      </p:sp>
    </p:spTree>
    <p:extLst>
      <p:ext uri="{BB962C8B-B14F-4D97-AF65-F5344CB8AC3E}">
        <p14:creationId xmlns:p14="http://schemas.microsoft.com/office/powerpoint/2010/main" val="1720896056"/>
      </p:ext>
    </p:extLst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0B082E"/>
      </a:dk2>
      <a:lt2>
        <a:srgbClr val="F3F3F2"/>
      </a:lt2>
      <a:accent1>
        <a:srgbClr val="62B4C6"/>
      </a:accent1>
      <a:accent2>
        <a:srgbClr val="1B376E"/>
      </a:accent2>
      <a:accent3>
        <a:srgbClr val="9EBE55"/>
      </a:accent3>
      <a:accent4>
        <a:srgbClr val="C65E5E"/>
      </a:accent4>
      <a:accent5>
        <a:srgbClr val="D3BA55"/>
      </a:accent5>
      <a:accent6>
        <a:srgbClr val="96648A"/>
      </a:accent6>
      <a:hlink>
        <a:srgbClr val="62B4C6"/>
      </a:hlink>
      <a:folHlink>
        <a:srgbClr val="96648A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D71F8F05-6246-47AF-9E68-E57F6C93F79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Badge</Template>
  <TotalTime>412</TotalTime>
  <Words>739</Words>
  <Application>Microsoft Macintosh PowerPoint</Application>
  <PresentationFormat>Widescreen</PresentationFormat>
  <Paragraphs>44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Avenir Book</vt:lpstr>
      <vt:lpstr>Gill Sans MT</vt:lpstr>
      <vt:lpstr>Impact</vt:lpstr>
      <vt:lpstr>Optima</vt:lpstr>
      <vt:lpstr>Badge</vt:lpstr>
      <vt:lpstr>Mind-Brain identity theory</vt:lpstr>
      <vt:lpstr>Key thesis</vt:lpstr>
      <vt:lpstr>Sensations and brain processes</vt:lpstr>
      <vt:lpstr>Two types of mind-brain identity theory</vt:lpstr>
      <vt:lpstr>Advantage (1) It solves the problem of causation</vt:lpstr>
      <vt:lpstr>Identity</vt:lpstr>
      <vt:lpstr>Objection 1</vt:lpstr>
      <vt:lpstr>Objection 2</vt:lpstr>
      <vt:lpstr>Objection 3</vt:lpstr>
      <vt:lpstr>OBJECTIONS 4</vt:lpstr>
      <vt:lpstr>Objection 5</vt:lpstr>
      <vt:lpstr>Objection 6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Nir Shaki</dc:creator>
  <cp:lastModifiedBy>Nir Shaki</cp:lastModifiedBy>
  <cp:revision>6</cp:revision>
  <dcterms:created xsi:type="dcterms:W3CDTF">2024-06-25T07:58:18Z</dcterms:created>
  <dcterms:modified xsi:type="dcterms:W3CDTF">2024-11-28T10:21:11Z</dcterms:modified>
</cp:coreProperties>
</file>