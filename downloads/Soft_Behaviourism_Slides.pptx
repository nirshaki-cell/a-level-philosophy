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63" r:id="rId3"/>
    <p:sldId id="257" r:id="rId4"/>
    <p:sldId id="258" r:id="rId5"/>
    <p:sldId id="259" r:id="rId6"/>
    <p:sldId id="260" r:id="rId7"/>
    <p:sldId id="261" r:id="rId8"/>
    <p:sldId id="262"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07"/>
  </p:normalViewPr>
  <p:slideViewPr>
    <p:cSldViewPr snapToGrid="0">
      <p:cViewPr varScale="1">
        <p:scale>
          <a:sx n="106" d="100"/>
          <a:sy n="106" d="100"/>
        </p:scale>
        <p:origin x="79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47815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925355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24351723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18805409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8/10/24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25081563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8/10/24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891998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8/10/24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017320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87099076"/>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192523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839367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50650462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82343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D1E4-93C1-A1AB-953A-36CBEFF78D0B}"/>
              </a:ext>
            </a:extLst>
          </p:cNvPr>
          <p:cNvSpPr>
            <a:spLocks noGrp="1"/>
          </p:cNvSpPr>
          <p:nvPr>
            <p:ph type="ctrTitle"/>
          </p:nvPr>
        </p:nvSpPr>
        <p:spPr/>
        <p:txBody>
          <a:bodyPr/>
          <a:lstStyle/>
          <a:p>
            <a:r>
              <a:rPr lang="en-US" sz="4800" dirty="0">
                <a:latin typeface="Avenir Book" panose="02000503020000020003" pitchFamily="2" charset="0"/>
              </a:rPr>
              <a:t>Soft Behaviourism</a:t>
            </a:r>
            <a:br>
              <a:rPr lang="en-US" sz="4800" dirty="0">
                <a:latin typeface="Avenir Book" panose="02000503020000020003" pitchFamily="2" charset="0"/>
              </a:rPr>
            </a:br>
            <a:br>
              <a:rPr lang="en-US" sz="4800" dirty="0">
                <a:latin typeface="Avenir Book" panose="02000503020000020003" pitchFamily="2" charset="0"/>
              </a:rPr>
            </a:br>
            <a:br>
              <a:rPr lang="en-US" sz="4800" dirty="0">
                <a:latin typeface="Avenir Book" panose="02000503020000020003" pitchFamily="2" charset="0"/>
              </a:rPr>
            </a:br>
            <a:r>
              <a:rPr lang="en-US" sz="4800" dirty="0">
                <a:latin typeface="Avenir Book" panose="02000503020000020003" pitchFamily="2" charset="0"/>
              </a:rPr>
              <a:t>Philosophy of Mind</a:t>
            </a:r>
          </a:p>
        </p:txBody>
      </p:sp>
      <p:sp>
        <p:nvSpPr>
          <p:cNvPr id="3" name="Subtitle 2">
            <a:extLst>
              <a:ext uri="{FF2B5EF4-FFF2-40B4-BE49-F238E27FC236}">
                <a16:creationId xmlns:a16="http://schemas.microsoft.com/office/drawing/2014/main" id="{F6B1010D-6A3D-ACFF-6B9E-0CB0E82446A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726394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80ACE-1863-B4B0-8B69-8F424319C0A0}"/>
              </a:ext>
            </a:extLst>
          </p:cNvPr>
          <p:cNvSpPr>
            <a:spLocks noGrp="1"/>
          </p:cNvSpPr>
          <p:nvPr>
            <p:ph type="title"/>
          </p:nvPr>
        </p:nvSpPr>
        <p:spPr>
          <a:xfrm>
            <a:off x="1251678" y="890337"/>
            <a:ext cx="10178322" cy="984180"/>
          </a:xfrm>
        </p:spPr>
        <p:txBody>
          <a:bodyPr/>
          <a:lstStyle/>
          <a:p>
            <a:r>
              <a:rPr lang="en-US" dirty="0">
                <a:latin typeface="Avenir Book" panose="02000503020000020003" pitchFamily="2" charset="0"/>
              </a:rPr>
              <a:t>Soft Behaviourism</a:t>
            </a:r>
          </a:p>
        </p:txBody>
      </p:sp>
      <p:sp>
        <p:nvSpPr>
          <p:cNvPr id="3" name="Content Placeholder 2">
            <a:extLst>
              <a:ext uri="{FF2B5EF4-FFF2-40B4-BE49-F238E27FC236}">
                <a16:creationId xmlns:a16="http://schemas.microsoft.com/office/drawing/2014/main" id="{4B5D04CE-D8DC-BB7F-487F-5A9ABE3342D6}"/>
              </a:ext>
            </a:extLst>
          </p:cNvPr>
          <p:cNvSpPr>
            <a:spLocks noGrp="1"/>
          </p:cNvSpPr>
          <p:nvPr>
            <p:ph idx="1"/>
          </p:nvPr>
        </p:nvSpPr>
        <p:spPr/>
        <p:txBody>
          <a:bodyPr/>
          <a:lstStyle/>
          <a:p>
            <a:pPr marL="0" indent="0" algn="just">
              <a:buNone/>
            </a:pPr>
            <a:r>
              <a:rPr lang="en-GB" sz="2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Key idea: Soft behaviourism is a non-reductive physicalist theory which claims that talk of a person’s mind is hypothetical talk (about how they may behave) </a:t>
            </a:r>
            <a:r>
              <a:rPr lang="en-GB" sz="2800" kern="100" dirty="0">
                <a:solidFill>
                  <a:schemeClr val="tx1"/>
                </a:solidFill>
                <a:latin typeface="Avenir Book" panose="02000503020000020003" pitchFamily="2" charset="0"/>
                <a:ea typeface="Calibri" panose="020F0502020204030204" pitchFamily="34" charset="0"/>
                <a:cs typeface="Times New Roman" panose="02020603050405020304" pitchFamily="18" charset="0"/>
              </a:rPr>
              <a:t>in</a:t>
            </a:r>
            <a:r>
              <a:rPr lang="en-GB" sz="2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certain conditions. These mental states are understood as different kinds of behavioural dispositions that cannot be translated without loss into physical language that does not contain mental concepts. </a:t>
            </a:r>
          </a:p>
          <a:p>
            <a:pPr marL="0" indent="0">
              <a:buNone/>
            </a:pPr>
            <a:endParaRPr lang="en-US" dirty="0"/>
          </a:p>
        </p:txBody>
      </p:sp>
    </p:spTree>
    <p:extLst>
      <p:ext uri="{BB962C8B-B14F-4D97-AF65-F5344CB8AC3E}">
        <p14:creationId xmlns:p14="http://schemas.microsoft.com/office/powerpoint/2010/main" val="2369909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950D7-1A28-E8FE-672F-00CBBC61F7AC}"/>
              </a:ext>
            </a:extLst>
          </p:cNvPr>
          <p:cNvSpPr>
            <a:spLocks noGrp="1"/>
          </p:cNvSpPr>
          <p:nvPr>
            <p:ph type="title"/>
          </p:nvPr>
        </p:nvSpPr>
        <p:spPr>
          <a:xfrm>
            <a:off x="1251678" y="661737"/>
            <a:ext cx="10178322" cy="1212780"/>
          </a:xfrm>
        </p:spPr>
        <p:txBody>
          <a:bodyPr>
            <a:normAutofit fontScale="90000"/>
          </a:bodyPr>
          <a:lstStyle/>
          <a:p>
            <a:r>
              <a:rPr lang="en-US" dirty="0">
                <a:latin typeface="Avenir Book" panose="02000503020000020003" pitchFamily="2" charset="0"/>
              </a:rPr>
              <a:t>Soft Behaviourism compared to hard behaviourism</a:t>
            </a:r>
          </a:p>
        </p:txBody>
      </p:sp>
      <p:sp>
        <p:nvSpPr>
          <p:cNvPr id="3" name="Content Placeholder 2">
            <a:extLst>
              <a:ext uri="{FF2B5EF4-FFF2-40B4-BE49-F238E27FC236}">
                <a16:creationId xmlns:a16="http://schemas.microsoft.com/office/drawing/2014/main" id="{7E778F54-3DE3-6795-EC91-DDD50539C25F}"/>
              </a:ext>
            </a:extLst>
          </p:cNvPr>
          <p:cNvSpPr>
            <a:spLocks noGrp="1"/>
          </p:cNvSpPr>
          <p:nvPr>
            <p:ph idx="1"/>
          </p:nvPr>
        </p:nvSpPr>
        <p:spPr/>
        <p:txBody>
          <a:bodyPr>
            <a:normAutofit/>
          </a:bodyPr>
          <a:lstStyle/>
          <a:p>
            <a:pPr marL="0" lvl="0" indent="0" algn="just">
              <a:lnSpc>
                <a:spcPct val="150000"/>
              </a:lnSpc>
              <a:buNone/>
            </a:pPr>
            <a:r>
              <a:rPr lang="en-GB" sz="24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1. Soft behaviourism places a lot of focus on dispositions. These are tendencies for something to happen or for someone to do something.</a:t>
            </a:r>
          </a:p>
          <a:p>
            <a:pPr marL="0" lvl="0" indent="0" algn="just">
              <a:lnSpc>
                <a:spcPct val="150000"/>
              </a:lnSpc>
              <a:buNone/>
            </a:pPr>
            <a:r>
              <a:rPr lang="en-GB" sz="24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2. Soft behaviourists do not think we can reduce language about the mind to language about the physical. </a:t>
            </a:r>
          </a:p>
          <a:p>
            <a:pPr marL="0" lvl="0" indent="0" algn="just">
              <a:lnSpc>
                <a:spcPct val="150000"/>
              </a:lnSpc>
              <a:buNone/>
            </a:pPr>
            <a:r>
              <a:rPr lang="en-GB" sz="24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3. Soft behaviourism is not influenced by the logical positivist theory of meaning. </a:t>
            </a:r>
          </a:p>
          <a:p>
            <a:endParaRPr lang="en-US" dirty="0"/>
          </a:p>
        </p:txBody>
      </p:sp>
    </p:spTree>
    <p:extLst>
      <p:ext uri="{BB962C8B-B14F-4D97-AF65-F5344CB8AC3E}">
        <p14:creationId xmlns:p14="http://schemas.microsoft.com/office/powerpoint/2010/main" val="2839316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A77D789-9DE0-43A3-B196-F13CFECFA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56FFB3-15DF-2120-1416-1865B12673C4}"/>
              </a:ext>
            </a:extLst>
          </p:cNvPr>
          <p:cNvSpPr>
            <a:spLocks noGrp="1"/>
          </p:cNvSpPr>
          <p:nvPr>
            <p:ph type="title"/>
          </p:nvPr>
        </p:nvSpPr>
        <p:spPr>
          <a:xfrm>
            <a:off x="765051" y="637673"/>
            <a:ext cx="6015897" cy="1236843"/>
          </a:xfrm>
        </p:spPr>
        <p:txBody>
          <a:bodyPr>
            <a:normAutofit/>
          </a:bodyPr>
          <a:lstStyle/>
          <a:p>
            <a:r>
              <a:rPr lang="en-US" dirty="0">
                <a:latin typeface="Avenir Book" panose="02000503020000020003" pitchFamily="2" charset="0"/>
              </a:rPr>
              <a:t>Dispositions</a:t>
            </a:r>
          </a:p>
        </p:txBody>
      </p:sp>
      <p:sp>
        <p:nvSpPr>
          <p:cNvPr id="12" name="Rectangle 11">
            <a:extLst>
              <a:ext uri="{FF2B5EF4-FFF2-40B4-BE49-F238E27FC236}">
                <a16:creationId xmlns:a16="http://schemas.microsoft.com/office/drawing/2014/main" id="{F9BC648B-BC3C-4674-B1FD-2F9F1C6D7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DBAF7614-CC35-AE52-0C0B-C246A3FF04BE}"/>
              </a:ext>
            </a:extLst>
          </p:cNvPr>
          <p:cNvSpPr>
            <a:spLocks noGrp="1"/>
          </p:cNvSpPr>
          <p:nvPr>
            <p:ph idx="1"/>
          </p:nvPr>
        </p:nvSpPr>
        <p:spPr>
          <a:xfrm>
            <a:off x="765051" y="1479884"/>
            <a:ext cx="6345612" cy="5101389"/>
          </a:xfrm>
        </p:spPr>
        <p:txBody>
          <a:bodyPr>
            <a:normAutofit fontScale="62500" lnSpcReduction="20000"/>
          </a:bodyPr>
          <a:lstStyle/>
          <a:p>
            <a:pPr marL="0" indent="0">
              <a:lnSpc>
                <a:spcPct val="100000"/>
              </a:lnSpc>
              <a:buNone/>
            </a:pPr>
            <a:endParaRPr lang="en-GB" sz="23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endParaRPr>
          </a:p>
          <a:p>
            <a:pPr marL="0" indent="0">
              <a:lnSpc>
                <a:spcPct val="170000"/>
              </a:lnSpc>
              <a:buNone/>
            </a:pPr>
            <a:r>
              <a:rPr lang="en-GB" sz="23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A disposition is a tendency for something to happen or for someone to do something. For example, salt will dissolve in water (unless the water is already too salty) and a person is likely to drink water if they are thirsty. These propositions can be understood as context-sensitive. This means that salt has a disposition to dissolve if it’s put in a certain kind of water, or that a person is going to drink if they have a liquid available to them. We can apply the same idea to people, when we consider their mental states. If a person believes that they are looking at a red apple, all things being equal, if you ask them what they are looking at, they will have a tendency to say that ‘they are looking at a red apple’, unless there is a specific reason why this will not happen. The reason that we cannot fully translate claims about mental states into physical language about what a person does is that there is not a perfect fit between beliefs and actions. </a:t>
            </a:r>
          </a:p>
          <a:p>
            <a:pPr>
              <a:lnSpc>
                <a:spcPct val="100000"/>
              </a:lnSpc>
            </a:pPr>
            <a:endParaRPr lang="en-US" sz="1600" dirty="0"/>
          </a:p>
        </p:txBody>
      </p:sp>
      <p:pic>
        <p:nvPicPr>
          <p:cNvPr id="5" name="Picture 4" descr="Bubbles in water with sunlight&#10;&#10;Description automatically generated">
            <a:extLst>
              <a:ext uri="{FF2B5EF4-FFF2-40B4-BE49-F238E27FC236}">
                <a16:creationId xmlns:a16="http://schemas.microsoft.com/office/drawing/2014/main" id="{0C5A1D66-A80A-C9AA-A94F-5F41B5EF60F0}"/>
              </a:ext>
            </a:extLst>
          </p:cNvPr>
          <p:cNvPicPr>
            <a:picLocks noChangeAspect="1"/>
          </p:cNvPicPr>
          <p:nvPr/>
        </p:nvPicPr>
        <p:blipFill>
          <a:blip r:embed="rId2"/>
          <a:srcRect l="15015" r="14962"/>
          <a:stretch/>
        </p:blipFill>
        <p:spPr>
          <a:xfrm>
            <a:off x="7389812" y="10"/>
            <a:ext cx="4802188" cy="6857990"/>
          </a:xfrm>
          <a:custGeom>
            <a:avLst/>
            <a:gdLst/>
            <a:ahLst/>
            <a:cxnLst/>
            <a:rect l="l" t="t" r="r" b="b"/>
            <a:pathLst>
              <a:path w="4802188" h="6858000">
                <a:moveTo>
                  <a:pt x="0" y="0"/>
                </a:moveTo>
                <a:lnTo>
                  <a:pt x="4802188" y="0"/>
                </a:lnTo>
                <a:lnTo>
                  <a:pt x="4802188" y="6858000"/>
                </a:lnTo>
                <a:lnTo>
                  <a:pt x="0" y="6858000"/>
                </a:lnTo>
                <a:lnTo>
                  <a:pt x="4763" y="6791325"/>
                </a:lnTo>
                <a:lnTo>
                  <a:pt x="12700" y="6735762"/>
                </a:lnTo>
                <a:lnTo>
                  <a:pt x="22225" y="6683375"/>
                </a:lnTo>
                <a:lnTo>
                  <a:pt x="38100" y="6640512"/>
                </a:lnTo>
                <a:lnTo>
                  <a:pt x="53975" y="6597650"/>
                </a:lnTo>
                <a:lnTo>
                  <a:pt x="73025" y="6561137"/>
                </a:lnTo>
                <a:lnTo>
                  <a:pt x="92075" y="6523037"/>
                </a:lnTo>
                <a:lnTo>
                  <a:pt x="109538" y="6488112"/>
                </a:lnTo>
                <a:lnTo>
                  <a:pt x="127000" y="6448425"/>
                </a:lnTo>
                <a:lnTo>
                  <a:pt x="142875" y="6407150"/>
                </a:lnTo>
                <a:lnTo>
                  <a:pt x="157163" y="6361112"/>
                </a:lnTo>
                <a:lnTo>
                  <a:pt x="168275" y="6311900"/>
                </a:lnTo>
                <a:lnTo>
                  <a:pt x="176213" y="6251575"/>
                </a:lnTo>
                <a:lnTo>
                  <a:pt x="179388" y="6183312"/>
                </a:lnTo>
                <a:lnTo>
                  <a:pt x="176213" y="6113462"/>
                </a:lnTo>
                <a:lnTo>
                  <a:pt x="168275" y="6056312"/>
                </a:lnTo>
                <a:lnTo>
                  <a:pt x="157163" y="6003925"/>
                </a:lnTo>
                <a:lnTo>
                  <a:pt x="142875" y="5956300"/>
                </a:lnTo>
                <a:lnTo>
                  <a:pt x="127000" y="5915025"/>
                </a:lnTo>
                <a:lnTo>
                  <a:pt x="107950" y="5876925"/>
                </a:lnTo>
                <a:lnTo>
                  <a:pt x="88900" y="5840412"/>
                </a:lnTo>
                <a:lnTo>
                  <a:pt x="69850" y="5802312"/>
                </a:lnTo>
                <a:lnTo>
                  <a:pt x="52388" y="5762625"/>
                </a:lnTo>
                <a:lnTo>
                  <a:pt x="34925" y="5721350"/>
                </a:lnTo>
                <a:lnTo>
                  <a:pt x="20638" y="5675312"/>
                </a:lnTo>
                <a:lnTo>
                  <a:pt x="11113" y="5622925"/>
                </a:lnTo>
                <a:lnTo>
                  <a:pt x="1588" y="5562600"/>
                </a:lnTo>
                <a:lnTo>
                  <a:pt x="0" y="5494337"/>
                </a:lnTo>
                <a:lnTo>
                  <a:pt x="1588" y="5426075"/>
                </a:lnTo>
                <a:lnTo>
                  <a:pt x="11113" y="5365750"/>
                </a:lnTo>
                <a:lnTo>
                  <a:pt x="20638" y="5313362"/>
                </a:lnTo>
                <a:lnTo>
                  <a:pt x="34925" y="5268912"/>
                </a:lnTo>
                <a:lnTo>
                  <a:pt x="52388" y="5226050"/>
                </a:lnTo>
                <a:lnTo>
                  <a:pt x="69850" y="5186362"/>
                </a:lnTo>
                <a:lnTo>
                  <a:pt x="88900" y="5149850"/>
                </a:lnTo>
                <a:lnTo>
                  <a:pt x="107950" y="5114925"/>
                </a:lnTo>
                <a:lnTo>
                  <a:pt x="127000" y="5075237"/>
                </a:lnTo>
                <a:lnTo>
                  <a:pt x="142875" y="5033962"/>
                </a:lnTo>
                <a:lnTo>
                  <a:pt x="157163" y="4987925"/>
                </a:lnTo>
                <a:lnTo>
                  <a:pt x="168275" y="4935537"/>
                </a:lnTo>
                <a:lnTo>
                  <a:pt x="176213" y="4875212"/>
                </a:lnTo>
                <a:lnTo>
                  <a:pt x="179388" y="4806950"/>
                </a:lnTo>
                <a:lnTo>
                  <a:pt x="176213" y="4738687"/>
                </a:lnTo>
                <a:lnTo>
                  <a:pt x="168275" y="4678362"/>
                </a:lnTo>
                <a:lnTo>
                  <a:pt x="157163" y="4625975"/>
                </a:lnTo>
                <a:lnTo>
                  <a:pt x="142875" y="4579937"/>
                </a:lnTo>
                <a:lnTo>
                  <a:pt x="127000" y="4537075"/>
                </a:lnTo>
                <a:lnTo>
                  <a:pt x="107950" y="4498975"/>
                </a:lnTo>
                <a:lnTo>
                  <a:pt x="69850" y="4424362"/>
                </a:lnTo>
                <a:lnTo>
                  <a:pt x="52388" y="4386262"/>
                </a:lnTo>
                <a:lnTo>
                  <a:pt x="34925" y="4343400"/>
                </a:lnTo>
                <a:lnTo>
                  <a:pt x="20638" y="4297362"/>
                </a:lnTo>
                <a:lnTo>
                  <a:pt x="11113" y="4244975"/>
                </a:lnTo>
                <a:lnTo>
                  <a:pt x="1588" y="4186237"/>
                </a:lnTo>
                <a:lnTo>
                  <a:pt x="0" y="4116387"/>
                </a:lnTo>
                <a:lnTo>
                  <a:pt x="1588" y="4048125"/>
                </a:lnTo>
                <a:lnTo>
                  <a:pt x="11113" y="3987800"/>
                </a:lnTo>
                <a:lnTo>
                  <a:pt x="20638" y="3935412"/>
                </a:lnTo>
                <a:lnTo>
                  <a:pt x="34925" y="3890962"/>
                </a:lnTo>
                <a:lnTo>
                  <a:pt x="52388" y="3848100"/>
                </a:lnTo>
                <a:lnTo>
                  <a:pt x="69850" y="3811587"/>
                </a:lnTo>
                <a:lnTo>
                  <a:pt x="107950" y="3736975"/>
                </a:lnTo>
                <a:lnTo>
                  <a:pt x="127000" y="3697287"/>
                </a:lnTo>
                <a:lnTo>
                  <a:pt x="142875" y="3656012"/>
                </a:lnTo>
                <a:lnTo>
                  <a:pt x="157163" y="3609975"/>
                </a:lnTo>
                <a:lnTo>
                  <a:pt x="168275" y="3557587"/>
                </a:lnTo>
                <a:lnTo>
                  <a:pt x="176213" y="3497262"/>
                </a:lnTo>
                <a:lnTo>
                  <a:pt x="179388" y="3427412"/>
                </a:lnTo>
                <a:lnTo>
                  <a:pt x="176213" y="3360737"/>
                </a:lnTo>
                <a:lnTo>
                  <a:pt x="168275" y="3300412"/>
                </a:lnTo>
                <a:lnTo>
                  <a:pt x="157163" y="3248025"/>
                </a:lnTo>
                <a:lnTo>
                  <a:pt x="142875" y="3201987"/>
                </a:lnTo>
                <a:lnTo>
                  <a:pt x="127000" y="3160712"/>
                </a:lnTo>
                <a:lnTo>
                  <a:pt x="107950" y="3121025"/>
                </a:lnTo>
                <a:lnTo>
                  <a:pt x="88900" y="3084512"/>
                </a:lnTo>
                <a:lnTo>
                  <a:pt x="69850" y="3046412"/>
                </a:lnTo>
                <a:lnTo>
                  <a:pt x="52388" y="3009900"/>
                </a:lnTo>
                <a:lnTo>
                  <a:pt x="34925" y="2967037"/>
                </a:lnTo>
                <a:lnTo>
                  <a:pt x="20638" y="2922587"/>
                </a:lnTo>
                <a:lnTo>
                  <a:pt x="11113" y="2868612"/>
                </a:lnTo>
                <a:lnTo>
                  <a:pt x="1588" y="2809875"/>
                </a:lnTo>
                <a:lnTo>
                  <a:pt x="0" y="2741612"/>
                </a:lnTo>
                <a:lnTo>
                  <a:pt x="1588" y="2671762"/>
                </a:lnTo>
                <a:lnTo>
                  <a:pt x="11113" y="2613025"/>
                </a:lnTo>
                <a:lnTo>
                  <a:pt x="20638" y="2560637"/>
                </a:lnTo>
                <a:lnTo>
                  <a:pt x="34925" y="2513012"/>
                </a:lnTo>
                <a:lnTo>
                  <a:pt x="52388" y="2471737"/>
                </a:lnTo>
                <a:lnTo>
                  <a:pt x="69850" y="2433637"/>
                </a:lnTo>
                <a:lnTo>
                  <a:pt x="88900" y="2395537"/>
                </a:lnTo>
                <a:lnTo>
                  <a:pt x="107950" y="2359025"/>
                </a:lnTo>
                <a:lnTo>
                  <a:pt x="127000" y="2319337"/>
                </a:lnTo>
                <a:lnTo>
                  <a:pt x="142875" y="2278062"/>
                </a:lnTo>
                <a:lnTo>
                  <a:pt x="157163" y="2232025"/>
                </a:lnTo>
                <a:lnTo>
                  <a:pt x="168275" y="2179637"/>
                </a:lnTo>
                <a:lnTo>
                  <a:pt x="176213" y="2119312"/>
                </a:lnTo>
                <a:lnTo>
                  <a:pt x="179388" y="2051050"/>
                </a:lnTo>
                <a:lnTo>
                  <a:pt x="176213" y="1982787"/>
                </a:lnTo>
                <a:lnTo>
                  <a:pt x="168275" y="1922462"/>
                </a:lnTo>
                <a:lnTo>
                  <a:pt x="157163" y="1870075"/>
                </a:lnTo>
                <a:lnTo>
                  <a:pt x="142875" y="1824037"/>
                </a:lnTo>
                <a:lnTo>
                  <a:pt x="127000" y="1782762"/>
                </a:lnTo>
                <a:lnTo>
                  <a:pt x="107950" y="1743075"/>
                </a:lnTo>
                <a:lnTo>
                  <a:pt x="88900" y="1708150"/>
                </a:lnTo>
                <a:lnTo>
                  <a:pt x="69850" y="1671637"/>
                </a:lnTo>
                <a:lnTo>
                  <a:pt x="52388" y="1631950"/>
                </a:lnTo>
                <a:lnTo>
                  <a:pt x="34925" y="1589087"/>
                </a:lnTo>
                <a:lnTo>
                  <a:pt x="20638" y="1544637"/>
                </a:lnTo>
                <a:lnTo>
                  <a:pt x="11113" y="1492250"/>
                </a:lnTo>
                <a:lnTo>
                  <a:pt x="1588" y="1431925"/>
                </a:lnTo>
                <a:lnTo>
                  <a:pt x="0" y="1363662"/>
                </a:lnTo>
                <a:lnTo>
                  <a:pt x="1588" y="1295400"/>
                </a:lnTo>
                <a:lnTo>
                  <a:pt x="11113" y="1235075"/>
                </a:lnTo>
                <a:lnTo>
                  <a:pt x="20638" y="1182687"/>
                </a:lnTo>
                <a:lnTo>
                  <a:pt x="34925" y="1136650"/>
                </a:lnTo>
                <a:lnTo>
                  <a:pt x="52388" y="1095375"/>
                </a:lnTo>
                <a:lnTo>
                  <a:pt x="69850" y="1055687"/>
                </a:lnTo>
                <a:lnTo>
                  <a:pt x="88900" y="1017587"/>
                </a:lnTo>
                <a:lnTo>
                  <a:pt x="107950" y="981075"/>
                </a:lnTo>
                <a:lnTo>
                  <a:pt x="127000" y="942975"/>
                </a:lnTo>
                <a:lnTo>
                  <a:pt x="142875" y="901700"/>
                </a:lnTo>
                <a:lnTo>
                  <a:pt x="157163" y="854075"/>
                </a:lnTo>
                <a:lnTo>
                  <a:pt x="168275" y="801687"/>
                </a:lnTo>
                <a:lnTo>
                  <a:pt x="176213" y="744537"/>
                </a:lnTo>
                <a:lnTo>
                  <a:pt x="179388" y="673100"/>
                </a:lnTo>
                <a:lnTo>
                  <a:pt x="176213" y="606425"/>
                </a:lnTo>
                <a:lnTo>
                  <a:pt x="168275" y="546100"/>
                </a:lnTo>
                <a:lnTo>
                  <a:pt x="157163" y="496887"/>
                </a:lnTo>
                <a:lnTo>
                  <a:pt x="142875" y="450850"/>
                </a:lnTo>
                <a:lnTo>
                  <a:pt x="127000" y="409575"/>
                </a:lnTo>
                <a:lnTo>
                  <a:pt x="109538" y="369887"/>
                </a:lnTo>
                <a:lnTo>
                  <a:pt x="92075" y="334962"/>
                </a:lnTo>
                <a:lnTo>
                  <a:pt x="73025" y="296862"/>
                </a:lnTo>
                <a:lnTo>
                  <a:pt x="53975" y="260350"/>
                </a:lnTo>
                <a:lnTo>
                  <a:pt x="38100" y="217487"/>
                </a:lnTo>
                <a:lnTo>
                  <a:pt x="22225" y="174625"/>
                </a:lnTo>
                <a:lnTo>
                  <a:pt x="12700" y="122237"/>
                </a:lnTo>
                <a:lnTo>
                  <a:pt x="4763" y="66675"/>
                </a:lnTo>
                <a:close/>
              </a:path>
            </a:pathLst>
          </a:custGeom>
        </p:spPr>
      </p:pic>
    </p:spTree>
    <p:extLst>
      <p:ext uri="{BB962C8B-B14F-4D97-AF65-F5344CB8AC3E}">
        <p14:creationId xmlns:p14="http://schemas.microsoft.com/office/powerpoint/2010/main" val="1998866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7B361-7681-A09E-FB1A-E94DBFBBE868}"/>
              </a:ext>
            </a:extLst>
          </p:cNvPr>
          <p:cNvSpPr>
            <a:spLocks noGrp="1"/>
          </p:cNvSpPr>
          <p:nvPr>
            <p:ph type="title"/>
          </p:nvPr>
        </p:nvSpPr>
        <p:spPr>
          <a:xfrm>
            <a:off x="1251678" y="661737"/>
            <a:ext cx="10178322" cy="1212780"/>
          </a:xfrm>
        </p:spPr>
        <p:txBody>
          <a:bodyPr>
            <a:normAutofit/>
          </a:bodyPr>
          <a:lstStyle/>
          <a:p>
            <a:r>
              <a:rPr lang="en-US" sz="3600" dirty="0">
                <a:latin typeface="Avenir Book" panose="02000503020000020003" pitchFamily="2" charset="0"/>
              </a:rPr>
              <a:t>Single and multi-track dispositions</a:t>
            </a:r>
          </a:p>
        </p:txBody>
      </p:sp>
      <p:sp>
        <p:nvSpPr>
          <p:cNvPr id="3" name="Content Placeholder 2">
            <a:extLst>
              <a:ext uri="{FF2B5EF4-FFF2-40B4-BE49-F238E27FC236}">
                <a16:creationId xmlns:a16="http://schemas.microsoft.com/office/drawing/2014/main" id="{133D18E6-6F89-6605-40BF-EE963034FE90}"/>
              </a:ext>
            </a:extLst>
          </p:cNvPr>
          <p:cNvSpPr>
            <a:spLocks noGrp="1"/>
          </p:cNvSpPr>
          <p:nvPr>
            <p:ph idx="1"/>
          </p:nvPr>
        </p:nvSpPr>
        <p:spPr>
          <a:xfrm>
            <a:off x="1251678" y="1636295"/>
            <a:ext cx="10178322" cy="4559968"/>
          </a:xfrm>
        </p:spPr>
        <p:txBody>
          <a:bodyPr>
            <a:normAutofit lnSpcReduction="10000"/>
          </a:bodyPr>
          <a:lstStyle/>
          <a:p>
            <a:pPr marL="0" indent="0">
              <a:lnSpc>
                <a:spcPct val="150000"/>
              </a:lnSpc>
              <a:buNone/>
            </a:pPr>
            <a:r>
              <a:rPr lang="en-GB"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For example, salt will dissolve in water in the right circumstances (this is called a single-track disposition, because only one thing is predicted to happen), but humans, being complex and having the ability to override their drives, can respond in a variety of ways. This can be either out of ignorance, or as a result of other beliefs they hold. For example, if I see a jackal running towards me, I am likely to run away, but whether I turn to run or stand there will depend on a number of circumstances. Do I have a gun? Have I been told to stay and face the jackal, or to walk back slowly? What is the size of the jackal? All these will be factors in my behaviour and so my disposition is multi-tracked. It could produce a rather large number of outcomes. </a:t>
            </a:r>
            <a:endParaRPr lang="en-GB"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87609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0DB72-30B7-1641-6DF0-6018B470F0E5}"/>
              </a:ext>
            </a:extLst>
          </p:cNvPr>
          <p:cNvSpPr>
            <a:spLocks noGrp="1"/>
          </p:cNvSpPr>
          <p:nvPr>
            <p:ph type="title"/>
          </p:nvPr>
        </p:nvSpPr>
        <p:spPr>
          <a:xfrm>
            <a:off x="1251678" y="661737"/>
            <a:ext cx="10178322" cy="1212780"/>
          </a:xfrm>
        </p:spPr>
        <p:txBody>
          <a:bodyPr>
            <a:normAutofit fontScale="90000"/>
          </a:bodyPr>
          <a:lstStyle/>
          <a:p>
            <a:r>
              <a:rPr lang="en-US" dirty="0">
                <a:latin typeface="Avenir Book" panose="02000503020000020003" pitchFamily="2" charset="0"/>
              </a:rPr>
              <a:t>The objections to soft behaviourism </a:t>
            </a:r>
          </a:p>
        </p:txBody>
      </p:sp>
      <p:sp>
        <p:nvSpPr>
          <p:cNvPr id="3" name="Content Placeholder 2">
            <a:extLst>
              <a:ext uri="{FF2B5EF4-FFF2-40B4-BE49-F238E27FC236}">
                <a16:creationId xmlns:a16="http://schemas.microsoft.com/office/drawing/2014/main" id="{7C3D80AF-E3D9-193E-AFED-26CC8D865EC6}"/>
              </a:ext>
            </a:extLst>
          </p:cNvPr>
          <p:cNvSpPr>
            <a:spLocks noGrp="1"/>
          </p:cNvSpPr>
          <p:nvPr>
            <p:ph idx="1"/>
          </p:nvPr>
        </p:nvSpPr>
        <p:spPr>
          <a:xfrm>
            <a:off x="1251678" y="1636295"/>
            <a:ext cx="10178322" cy="4243297"/>
          </a:xfrm>
        </p:spPr>
        <p:txBody>
          <a:bodyPr>
            <a:normAutofit/>
          </a:bodyPr>
          <a:lstStyle/>
          <a:p>
            <a:pPr marL="0" indent="0" algn="just">
              <a:lnSpc>
                <a:spcPct val="150000"/>
              </a:lnSpc>
              <a:buNone/>
            </a:pPr>
            <a:r>
              <a:rPr lang="en-GB" sz="2400" kern="100" dirty="0">
                <a:solidFill>
                  <a:srgbClr val="0070C0"/>
                </a:solidFill>
                <a:effectLst/>
                <a:latin typeface="Avenir Book" panose="02000503020000020003" pitchFamily="2" charset="0"/>
                <a:ea typeface="Calibri" panose="020F0502020204030204" pitchFamily="34" charset="0"/>
                <a:cs typeface="Times New Roman" panose="02020603050405020304" pitchFamily="18" charset="0"/>
              </a:rPr>
              <a:t> </a:t>
            </a:r>
            <a:endParaRPr lang="en-GB"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Clr>
                <a:srgbClr val="0070C0"/>
              </a:buClr>
              <a:buFont typeface="+mj-lt"/>
              <a:buAutoNum type="arabicParenBoth"/>
            </a:pPr>
            <a:r>
              <a:rPr lang="en-GB" sz="24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The multiple realisability of mental states. </a:t>
            </a:r>
            <a:endParaRPr lang="en-GB" sz="24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Clr>
                <a:srgbClr val="0070C0"/>
              </a:buClr>
              <a:buFont typeface="+mj-lt"/>
              <a:buAutoNum type="arabicParenBoth"/>
            </a:pPr>
            <a:r>
              <a:rPr lang="en-GB" sz="24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The problem of circularity. </a:t>
            </a:r>
            <a:endParaRPr lang="en-GB" sz="24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Clr>
                <a:srgbClr val="0070C0"/>
              </a:buClr>
              <a:buFont typeface="+mj-lt"/>
              <a:buAutoNum type="arabicParenBoth"/>
            </a:pPr>
            <a:r>
              <a:rPr lang="en-GB" sz="24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How do we define mental states? </a:t>
            </a:r>
            <a:endParaRPr lang="en-GB" sz="24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Clr>
                <a:srgbClr val="0070C0"/>
              </a:buClr>
              <a:buFont typeface="+mj-lt"/>
              <a:buAutoNum type="arabicParenBoth"/>
            </a:pPr>
            <a:r>
              <a:rPr lang="en-GB" sz="24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The asymmetry problem. </a:t>
            </a:r>
            <a:endParaRPr lang="en-GB" sz="24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Clr>
                <a:srgbClr val="0070C0"/>
              </a:buClr>
              <a:buFont typeface="+mj-lt"/>
              <a:buAutoNum type="arabicParenBoth"/>
            </a:pPr>
            <a:r>
              <a:rPr lang="en-GB" sz="24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The easy and hard problem of consciousness</a:t>
            </a:r>
            <a:endParaRPr lang="en-GB" sz="2400" kern="1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16988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9E57B-9F05-A999-E65A-58EFEC94BD4C}"/>
              </a:ext>
            </a:extLst>
          </p:cNvPr>
          <p:cNvSpPr>
            <a:spLocks noGrp="1"/>
          </p:cNvSpPr>
          <p:nvPr>
            <p:ph type="title"/>
          </p:nvPr>
        </p:nvSpPr>
        <p:spPr>
          <a:xfrm>
            <a:off x="1251678" y="806115"/>
            <a:ext cx="10178322" cy="1068401"/>
          </a:xfrm>
        </p:spPr>
        <p:txBody>
          <a:bodyPr/>
          <a:lstStyle/>
          <a:p>
            <a:r>
              <a:rPr lang="en-US" dirty="0">
                <a:latin typeface="Avenir Book" panose="02000503020000020003" pitchFamily="2" charset="0"/>
              </a:rPr>
              <a:t>Multiple realisability</a:t>
            </a:r>
          </a:p>
        </p:txBody>
      </p:sp>
      <p:sp>
        <p:nvSpPr>
          <p:cNvPr id="3" name="Content Placeholder 2">
            <a:extLst>
              <a:ext uri="{FF2B5EF4-FFF2-40B4-BE49-F238E27FC236}">
                <a16:creationId xmlns:a16="http://schemas.microsoft.com/office/drawing/2014/main" id="{385F960B-4C46-09D6-A37A-0B50F1874183}"/>
              </a:ext>
            </a:extLst>
          </p:cNvPr>
          <p:cNvSpPr>
            <a:spLocks noGrp="1"/>
          </p:cNvSpPr>
          <p:nvPr>
            <p:ph idx="1"/>
          </p:nvPr>
        </p:nvSpPr>
        <p:spPr>
          <a:xfrm>
            <a:off x="1082842" y="1985211"/>
            <a:ext cx="10347158" cy="4379494"/>
          </a:xfrm>
        </p:spPr>
        <p:txBody>
          <a:bodyPr>
            <a:normAutofit fontScale="25000" lnSpcReduction="20000"/>
          </a:bodyPr>
          <a:lstStyle/>
          <a:p>
            <a:pPr algn="just">
              <a:lnSpc>
                <a:spcPct val="150000"/>
              </a:lnSpc>
            </a:pPr>
            <a:r>
              <a:rPr lang="en-GB" sz="62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The problem here was already alluded to above. Because there are multiple ways one’s belief that one is in danger can be expressed, how are we supposed to define what it is to be afraid? We couldn’t possibly say that ‘to be afraid means X’ because X would be infinitely long. </a:t>
            </a:r>
          </a:p>
          <a:p>
            <a:pPr marL="0" indent="0" algn="just">
              <a:lnSpc>
                <a:spcPct val="150000"/>
              </a:lnSpc>
              <a:buNone/>
            </a:pPr>
            <a:endParaRPr lang="en-GB" sz="62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endParaRPr>
          </a:p>
          <a:p>
            <a:pPr algn="just">
              <a:lnSpc>
                <a:spcPct val="150000"/>
              </a:lnSpc>
            </a:pPr>
            <a:r>
              <a:rPr lang="en-GB" sz="62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This also cuts across our understanding of a mental state as applied to different people. So, for example, if I do one thing when I see a jackal and you do another in the same circumstances as me, how can we both have the same mental state? </a:t>
            </a:r>
          </a:p>
          <a:p>
            <a:pPr marL="0" indent="0" algn="just">
              <a:lnSpc>
                <a:spcPct val="150000"/>
              </a:lnSpc>
              <a:buNone/>
            </a:pPr>
            <a:endParaRPr lang="en-GB" sz="62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endParaRPr>
          </a:p>
          <a:p>
            <a:pPr algn="just">
              <a:lnSpc>
                <a:spcPct val="150000"/>
              </a:lnSpc>
            </a:pPr>
            <a:r>
              <a:rPr lang="en-GB" sz="62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It is also possible </a:t>
            </a:r>
            <a:r>
              <a:rPr lang="en-GB" sz="6200" kern="100" dirty="0">
                <a:solidFill>
                  <a:srgbClr val="002060"/>
                </a:solidFill>
                <a:latin typeface="Avenir Book" panose="02000503020000020003" pitchFamily="2" charset="0"/>
                <a:ea typeface="Calibri" panose="020F0502020204030204" pitchFamily="34" charset="0"/>
                <a:cs typeface="Times New Roman" panose="02020603050405020304" pitchFamily="18" charset="0"/>
              </a:rPr>
              <a:t>to behave in</a:t>
            </a:r>
            <a:r>
              <a:rPr lang="en-GB" sz="62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 </a:t>
            </a:r>
            <a:r>
              <a:rPr lang="en-GB" sz="6200" i="1"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the same way in different mental states</a:t>
            </a:r>
            <a:r>
              <a:rPr lang="en-GB" sz="62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 I may run towards my pet because I love it, or I may run towards my family pet because I am concerned for it. This means that we have two mental states that create one behaviour, or one mental state that creates two behaviours. Either way we are hopelessly lost. </a:t>
            </a:r>
          </a:p>
          <a:p>
            <a:endParaRPr lang="en-US" dirty="0"/>
          </a:p>
        </p:txBody>
      </p:sp>
    </p:spTree>
    <p:extLst>
      <p:ext uri="{BB962C8B-B14F-4D97-AF65-F5344CB8AC3E}">
        <p14:creationId xmlns:p14="http://schemas.microsoft.com/office/powerpoint/2010/main" val="1177724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96C2-9891-14C8-8F23-41F265870F26}"/>
              </a:ext>
            </a:extLst>
          </p:cNvPr>
          <p:cNvSpPr>
            <a:spLocks noGrp="1"/>
          </p:cNvSpPr>
          <p:nvPr>
            <p:ph type="title"/>
          </p:nvPr>
        </p:nvSpPr>
        <p:spPr>
          <a:xfrm>
            <a:off x="1251678" y="806115"/>
            <a:ext cx="10178322" cy="1068401"/>
          </a:xfrm>
        </p:spPr>
        <p:txBody>
          <a:bodyPr>
            <a:normAutofit fontScale="90000"/>
          </a:bodyPr>
          <a:lstStyle/>
          <a:p>
            <a:r>
              <a:rPr lang="en-US" dirty="0">
                <a:latin typeface="Avenir Book" panose="02000503020000020003" pitchFamily="2" charset="0"/>
              </a:rPr>
              <a:t>The problem of circularity</a:t>
            </a:r>
          </a:p>
        </p:txBody>
      </p:sp>
      <p:sp>
        <p:nvSpPr>
          <p:cNvPr id="3" name="Content Placeholder 2">
            <a:extLst>
              <a:ext uri="{FF2B5EF4-FFF2-40B4-BE49-F238E27FC236}">
                <a16:creationId xmlns:a16="http://schemas.microsoft.com/office/drawing/2014/main" id="{79FE1915-6210-C796-ED4E-46E70C7679B4}"/>
              </a:ext>
            </a:extLst>
          </p:cNvPr>
          <p:cNvSpPr>
            <a:spLocks noGrp="1"/>
          </p:cNvSpPr>
          <p:nvPr>
            <p:ph idx="1"/>
          </p:nvPr>
        </p:nvSpPr>
        <p:spPr/>
        <p:txBody>
          <a:bodyPr/>
          <a:lstStyle/>
          <a:p>
            <a:pPr marL="0" indent="0">
              <a:buNone/>
            </a:pPr>
            <a:r>
              <a:rPr lang="en-GB"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This problem can be put simply as follows. The things we seek to define cannot be in the sentence we are seeking to define them with. So, for example, if we define water as H₂O we have H₂O and that does not mention water in it. Remember, it can’t, because if it did, we would be back to square one. </a:t>
            </a:r>
          </a:p>
          <a:p>
            <a:pPr marL="0" indent="0">
              <a:buNone/>
            </a:pPr>
            <a:r>
              <a:rPr lang="en-GB"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Now imagine I tried to define trees by saying that ‘trees are plants that are tall, hard, and have leaves on them, and other trees also’; that definition would have trees in it, and we can’t use the word we want to explain in the explanation. Now, when we say that someone who believes X will do Y because the person also believes Z, then we have belief in the definition again. And remember that is just what soft behaviourists must do to make sense of multiple realisability. </a:t>
            </a:r>
          </a:p>
          <a:p>
            <a:endParaRPr lang="en-US" dirty="0"/>
          </a:p>
        </p:txBody>
      </p:sp>
    </p:spTree>
    <p:extLst>
      <p:ext uri="{BB962C8B-B14F-4D97-AF65-F5344CB8AC3E}">
        <p14:creationId xmlns:p14="http://schemas.microsoft.com/office/powerpoint/2010/main" val="3247133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5E804-5539-79A7-ACF1-0F03755C26C0}"/>
              </a:ext>
            </a:extLst>
          </p:cNvPr>
          <p:cNvSpPr>
            <a:spLocks noGrp="1"/>
          </p:cNvSpPr>
          <p:nvPr>
            <p:ph type="title"/>
          </p:nvPr>
        </p:nvSpPr>
        <p:spPr>
          <a:xfrm>
            <a:off x="1251678" y="577515"/>
            <a:ext cx="10178322" cy="1297001"/>
          </a:xfrm>
        </p:spPr>
        <p:txBody>
          <a:bodyPr>
            <a:normAutofit fontScale="90000"/>
          </a:bodyPr>
          <a:lstStyle/>
          <a:p>
            <a:r>
              <a:rPr lang="en-US" dirty="0">
                <a:latin typeface="Avenir Book" panose="02000503020000020003" pitchFamily="2" charset="0"/>
              </a:rPr>
              <a:t>How can we identify mental states?</a:t>
            </a:r>
          </a:p>
        </p:txBody>
      </p:sp>
      <p:sp>
        <p:nvSpPr>
          <p:cNvPr id="3" name="Content Placeholder 2">
            <a:extLst>
              <a:ext uri="{FF2B5EF4-FFF2-40B4-BE49-F238E27FC236}">
                <a16:creationId xmlns:a16="http://schemas.microsoft.com/office/drawing/2014/main" id="{82D4F106-1E69-1745-F00E-2B5B3FA77579}"/>
              </a:ext>
            </a:extLst>
          </p:cNvPr>
          <p:cNvSpPr>
            <a:spLocks noGrp="1"/>
          </p:cNvSpPr>
          <p:nvPr>
            <p:ph idx="1"/>
          </p:nvPr>
        </p:nvSpPr>
        <p:spPr/>
        <p:txBody>
          <a:bodyPr/>
          <a:lstStyle/>
          <a:p>
            <a:pPr marL="0" indent="0">
              <a:lnSpc>
                <a:spcPct val="150000"/>
              </a:lnSpc>
              <a:buNone/>
            </a:pPr>
            <a:r>
              <a:rPr lang="en-GB" sz="2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We need to tie a mental state to a behaviour, either empirically or at least in principle. It is not clear this can be done. This is either because, as we have noticed, there is not one behaviour tied to a mental state, or one mental state tied to a behaviour. Also, there is the issue of circularity. </a:t>
            </a:r>
            <a:endParaRPr lang="en-GB" sz="2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31399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A8717-51BF-27FE-1957-F3269F00F366}"/>
              </a:ext>
            </a:extLst>
          </p:cNvPr>
          <p:cNvSpPr>
            <a:spLocks noGrp="1"/>
          </p:cNvSpPr>
          <p:nvPr>
            <p:ph type="title"/>
          </p:nvPr>
        </p:nvSpPr>
        <p:spPr>
          <a:xfrm>
            <a:off x="1251678" y="647079"/>
            <a:ext cx="10178322" cy="712489"/>
          </a:xfrm>
        </p:spPr>
        <p:txBody>
          <a:bodyPr>
            <a:normAutofit/>
          </a:bodyPr>
          <a:lstStyle/>
          <a:p>
            <a:r>
              <a:rPr lang="en-US" sz="3600" dirty="0">
                <a:latin typeface="Avenir Book" panose="02000503020000020003" pitchFamily="2" charset="0"/>
              </a:rPr>
              <a:t>Asymmetry of mind and body</a:t>
            </a:r>
          </a:p>
        </p:txBody>
      </p:sp>
      <p:sp>
        <p:nvSpPr>
          <p:cNvPr id="3" name="Content Placeholder 2">
            <a:extLst>
              <a:ext uri="{FF2B5EF4-FFF2-40B4-BE49-F238E27FC236}">
                <a16:creationId xmlns:a16="http://schemas.microsoft.com/office/drawing/2014/main" id="{302B4763-7894-2D6E-FB69-EA4D084C3113}"/>
              </a:ext>
            </a:extLst>
          </p:cNvPr>
          <p:cNvSpPr>
            <a:spLocks noGrp="1"/>
          </p:cNvSpPr>
          <p:nvPr>
            <p:ph idx="1"/>
          </p:nvPr>
        </p:nvSpPr>
        <p:spPr>
          <a:xfrm>
            <a:off x="1251678" y="1672389"/>
            <a:ext cx="10178322" cy="4803226"/>
          </a:xfrm>
        </p:spPr>
        <p:txBody>
          <a:bodyPr>
            <a:normAutofit/>
          </a:bodyPr>
          <a:lstStyle/>
          <a:p>
            <a:pPr algn="just">
              <a:lnSpc>
                <a:spcPct val="150000"/>
              </a:lnSpc>
            </a:pPr>
            <a:r>
              <a:rPr lang="en-GB" sz="1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We consider ourselves to have special access to our own mental states: first, they are private to us, at least to a significant degree, and, secondly, they are immediate: we know when we are in pain without having to infer from our own behaviour that we are in pain. Both of these are different with regard to another person. I have access to someone’s mental state, but it is indirect, and usually seen through behaviour, and even then this cannot be fully trusted. Also, I must infer the mental states of others, and can in principle never have their access to their mental states. </a:t>
            </a:r>
            <a:endParaRPr lang="en-GB"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GB" sz="1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Now, since I have knowledge of my mental states</a:t>
            </a:r>
            <a:r>
              <a:rPr lang="en-GB" sz="1800" i="1"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a:r>
            <a:r>
              <a:rPr lang="en-GB" sz="1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without having to infer from my behaviour, or seek some evidence for the fact I feel the way I do, this asymmetry undermines soft behaviourism. In other words, soft behaviourism can never do justice to ‘what it is like to have’ a mental state, and thus misses out a large part of what is intrinsic to mind. </a:t>
            </a:r>
            <a:endParaRPr lang="en-GB"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565475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286FE-CBDF-A5B3-66CB-3E2BC3A8BDF4}"/>
              </a:ext>
            </a:extLst>
          </p:cNvPr>
          <p:cNvSpPr>
            <a:spLocks noGrp="1"/>
          </p:cNvSpPr>
          <p:nvPr>
            <p:ph type="title"/>
          </p:nvPr>
        </p:nvSpPr>
        <p:spPr>
          <a:xfrm>
            <a:off x="1251678" y="673767"/>
            <a:ext cx="10178322" cy="1200749"/>
          </a:xfrm>
        </p:spPr>
        <p:txBody>
          <a:bodyPr>
            <a:normAutofit/>
          </a:bodyPr>
          <a:lstStyle/>
          <a:p>
            <a:r>
              <a:rPr lang="en-US" sz="3600" dirty="0">
                <a:latin typeface="Avenir Book" panose="02000503020000020003" pitchFamily="2" charset="0"/>
              </a:rPr>
              <a:t>The easy and the hard problem of consciousness</a:t>
            </a:r>
          </a:p>
        </p:txBody>
      </p:sp>
      <p:sp>
        <p:nvSpPr>
          <p:cNvPr id="3" name="Content Placeholder 2">
            <a:extLst>
              <a:ext uri="{FF2B5EF4-FFF2-40B4-BE49-F238E27FC236}">
                <a16:creationId xmlns:a16="http://schemas.microsoft.com/office/drawing/2014/main" id="{D680B11F-4428-542B-E707-3E240BE44047}"/>
              </a:ext>
            </a:extLst>
          </p:cNvPr>
          <p:cNvSpPr>
            <a:spLocks noGrp="1"/>
          </p:cNvSpPr>
          <p:nvPr>
            <p:ph idx="1"/>
          </p:nvPr>
        </p:nvSpPr>
        <p:spPr>
          <a:xfrm>
            <a:off x="1251678" y="2286001"/>
            <a:ext cx="10178322" cy="4030578"/>
          </a:xfrm>
        </p:spPr>
        <p:txBody>
          <a:bodyPr>
            <a:normAutofit fontScale="92500"/>
          </a:bodyPr>
          <a:lstStyle/>
          <a:p>
            <a:pPr marL="0" indent="0">
              <a:lnSpc>
                <a:spcPct val="150000"/>
              </a:lnSpc>
              <a:buNone/>
            </a:pPr>
            <a:r>
              <a:rPr lang="en-GB" sz="24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The final criticism is that although soft behaviourism does go some way, like all physicalist theories, to constructing a third-person theory of the mind, it fails to adequately explain and make sense of the hard problem of consciousness: how qualia could be the product of the brain. Remember that Thomas Nagel pointed out that any ‘objective’ theory of the mind that leaves out ‘what it is like to be’, say, afraid,</a:t>
            </a:r>
            <a:r>
              <a:rPr lang="en-GB" sz="2400" i="1"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
            </a:r>
            <a:r>
              <a:rPr lang="en-GB" sz="24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 or what it is like ‘</a:t>
            </a:r>
            <a:r>
              <a:rPr lang="en-GB" sz="2400" i="1"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for </a:t>
            </a:r>
            <a:r>
              <a:rPr lang="en-GB" sz="24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something to be a bat’ leaves out something essential about consciousness that cannot be ignored. </a:t>
            </a:r>
          </a:p>
          <a:p>
            <a:endParaRPr lang="en-US" dirty="0"/>
          </a:p>
        </p:txBody>
      </p:sp>
    </p:spTree>
    <p:extLst>
      <p:ext uri="{BB962C8B-B14F-4D97-AF65-F5344CB8AC3E}">
        <p14:creationId xmlns:p14="http://schemas.microsoft.com/office/powerpoint/2010/main" val="3511248381"/>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docProps/app.xml><?xml version="1.0" encoding="utf-8"?>
<Properties xmlns="http://schemas.openxmlformats.org/officeDocument/2006/extended-properties" xmlns:vt="http://schemas.openxmlformats.org/officeDocument/2006/docPropsVTypes">
  <Template>Badge</Template>
  <TotalTime>28</TotalTime>
  <Words>1284</Words>
  <Application>Microsoft Macintosh PowerPoint</Application>
  <PresentationFormat>Widescreen</PresentationFormat>
  <Paragraphs>35</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Avenir Book</vt:lpstr>
      <vt:lpstr>Calibri</vt:lpstr>
      <vt:lpstr>Gill Sans MT</vt:lpstr>
      <vt:lpstr>Impact</vt:lpstr>
      <vt:lpstr>Badge</vt:lpstr>
      <vt:lpstr>Soft Behaviorism   Philosophy of Mind</vt:lpstr>
      <vt:lpstr>Soft Behaviorism</vt:lpstr>
      <vt:lpstr>Soft Behaviorism compared to hard behaviorism</vt:lpstr>
      <vt:lpstr>Dispositions</vt:lpstr>
      <vt:lpstr>Single and multi-track dispositions</vt:lpstr>
      <vt:lpstr>The objections to soft behaviorism </vt:lpstr>
      <vt:lpstr>Multiple realizability</vt:lpstr>
      <vt:lpstr>The problem of circularity</vt:lpstr>
      <vt:lpstr>How can we identify mental states?</vt:lpstr>
      <vt:lpstr>Asymmetry of mind and body</vt:lpstr>
      <vt:lpstr>The easy and the hard problem of consciousness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3</cp:revision>
  <dcterms:created xsi:type="dcterms:W3CDTF">2024-07-22T10:47:08Z</dcterms:created>
  <dcterms:modified xsi:type="dcterms:W3CDTF">2024-08-10T13:46:42Z</dcterms:modified>
</cp:coreProperties>
</file>