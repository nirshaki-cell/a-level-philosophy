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1"/>
  </p:sldMasterIdLst>
  <p:sldIdLst>
    <p:sldId id="256" r:id="rId2"/>
    <p:sldId id="270" r:id="rId3"/>
    <p:sldId id="267" r:id="rId4"/>
    <p:sldId id="268" r:id="rId5"/>
    <p:sldId id="257" r:id="rId6"/>
    <p:sldId id="258" r:id="rId7"/>
    <p:sldId id="259" r:id="rId8"/>
    <p:sldId id="260" r:id="rId9"/>
    <p:sldId id="269" r:id="rId10"/>
    <p:sldId id="261" r:id="rId11"/>
    <p:sldId id="262" r:id="rId12"/>
    <p:sldId id="271" r:id="rId13"/>
    <p:sldId id="263" r:id="rId14"/>
    <p:sldId id="27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787"/>
  </p:normalViewPr>
  <p:slideViewPr>
    <p:cSldViewPr snapToGrid="0">
      <p:cViewPr varScale="1">
        <p:scale>
          <a:sx n="90" d="100"/>
          <a:sy n="90" d="100"/>
        </p:scale>
        <p:origin x="232" y="8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solidFill>
                  <a:schemeClr val="tx1">
                    <a:lumMod val="85000"/>
                    <a:lumOff val="1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tx1">
                    <a:lumMod val="65000"/>
                    <a:lumOff val="35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tx1">
                    <a:lumMod val="65000"/>
                    <a:lumOff val="35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37815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96561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14046036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48204756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1">
                    <a:lumMod val="85000"/>
                    <a:lumOff val="1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1">
                    <a:lumMod val="85000"/>
                    <a:lumOff val="1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8/10/24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61535617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8/10/24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829858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8/10/24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854028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1">
              <a:lumMod val="85000"/>
              <a:lumOff val="15000"/>
            </a:schemeClr>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24173158"/>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1">
              <a:lumMod val="85000"/>
              <a:lumOff val="15000"/>
            </a:schemeClr>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343602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091885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498024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1">
              <a:lumMod val="85000"/>
              <a:lumOff val="15000"/>
            </a:schemeClr>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6708928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51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088BC-D958-49EE-2123-CDAD9A791BCB}"/>
              </a:ext>
            </a:extLst>
          </p:cNvPr>
          <p:cNvSpPr>
            <a:spLocks noGrp="1"/>
          </p:cNvSpPr>
          <p:nvPr>
            <p:ph type="ctrTitle"/>
          </p:nvPr>
        </p:nvSpPr>
        <p:spPr>
          <a:xfrm>
            <a:off x="644849" y="954923"/>
            <a:ext cx="5875694" cy="4656552"/>
          </a:xfrm>
        </p:spPr>
        <p:txBody>
          <a:bodyPr>
            <a:normAutofit/>
          </a:bodyPr>
          <a:lstStyle/>
          <a:p>
            <a:r>
              <a:rPr lang="en-US" sz="4400" dirty="0">
                <a:latin typeface="Avenir Book" panose="02000503020000020003" pitchFamily="2" charset="0"/>
              </a:rPr>
              <a:t>Substance dualism </a:t>
            </a:r>
            <a:br>
              <a:rPr lang="en-US" sz="3600" dirty="0">
                <a:latin typeface="Avenir Book" panose="02000503020000020003" pitchFamily="2" charset="0"/>
              </a:rPr>
            </a:br>
            <a:br>
              <a:rPr lang="en-US" sz="3600" dirty="0">
                <a:latin typeface="Avenir Book" panose="02000503020000020003" pitchFamily="2" charset="0"/>
              </a:rPr>
            </a:br>
            <a:r>
              <a:rPr lang="en-US" sz="3600" dirty="0">
                <a:latin typeface="Avenir Book" panose="02000503020000020003" pitchFamily="2" charset="0"/>
              </a:rPr>
              <a:t>and </a:t>
            </a:r>
            <a:br>
              <a:rPr lang="en-US" sz="3600" dirty="0">
                <a:latin typeface="Avenir Book" panose="02000503020000020003" pitchFamily="2" charset="0"/>
              </a:rPr>
            </a:br>
            <a:br>
              <a:rPr lang="en-US" sz="3600" dirty="0">
                <a:latin typeface="Avenir Book" panose="02000503020000020003" pitchFamily="2" charset="0"/>
              </a:rPr>
            </a:br>
            <a:r>
              <a:rPr lang="en-US" sz="3600" dirty="0">
                <a:latin typeface="Avenir Book" panose="02000503020000020003" pitchFamily="2" charset="0"/>
              </a:rPr>
              <a:t>The problem of other minds</a:t>
            </a:r>
          </a:p>
        </p:txBody>
      </p:sp>
      <p:sp>
        <p:nvSpPr>
          <p:cNvPr id="3" name="Subtitle 2">
            <a:extLst>
              <a:ext uri="{FF2B5EF4-FFF2-40B4-BE49-F238E27FC236}">
                <a16:creationId xmlns:a16="http://schemas.microsoft.com/office/drawing/2014/main" id="{572A1AF7-B164-F02E-5851-1939BDA92271}"/>
              </a:ext>
            </a:extLst>
          </p:cNvPr>
          <p:cNvSpPr>
            <a:spLocks noGrp="1"/>
          </p:cNvSpPr>
          <p:nvPr>
            <p:ph type="subTitle" idx="1"/>
          </p:nvPr>
        </p:nvSpPr>
        <p:spPr>
          <a:xfrm>
            <a:off x="643157" y="6218452"/>
            <a:ext cx="5877385" cy="196015"/>
          </a:xfrm>
        </p:spPr>
        <p:txBody>
          <a:bodyPr>
            <a:normAutofit fontScale="40000" lnSpcReduction="20000"/>
          </a:bodyPr>
          <a:lstStyle/>
          <a:p>
            <a:endParaRPr lang="en-US" dirty="0">
              <a:solidFill>
                <a:schemeClr val="bg2"/>
              </a:solidFill>
            </a:endParaRPr>
          </a:p>
        </p:txBody>
      </p:sp>
      <p:pic>
        <p:nvPicPr>
          <p:cNvPr id="5" name="Picture 4" descr="A cartoon of a child and a child looking at a brain&#10;&#10;Description automatically generated">
            <a:extLst>
              <a:ext uri="{FF2B5EF4-FFF2-40B4-BE49-F238E27FC236}">
                <a16:creationId xmlns:a16="http://schemas.microsoft.com/office/drawing/2014/main" id="{2C3335DE-5FF1-8097-1D20-B494C687E26E}"/>
              </a:ext>
            </a:extLst>
          </p:cNvPr>
          <p:cNvPicPr>
            <a:picLocks noChangeAspect="1"/>
          </p:cNvPicPr>
          <p:nvPr/>
        </p:nvPicPr>
        <p:blipFill rotWithShape="1">
          <a:blip r:embed="rId2"/>
          <a:srcRect l="9150" r="19177" b="-3"/>
          <a:stretch/>
        </p:blipFill>
        <p:spPr>
          <a:xfrm>
            <a:off x="7552944" y="643464"/>
            <a:ext cx="3995589" cy="5574989"/>
          </a:xfrm>
          <a:prstGeom prst="rect">
            <a:avLst/>
          </a:prstGeom>
        </p:spPr>
      </p:pic>
    </p:spTree>
    <p:extLst>
      <p:ext uri="{BB962C8B-B14F-4D97-AF65-F5344CB8AC3E}">
        <p14:creationId xmlns:p14="http://schemas.microsoft.com/office/powerpoint/2010/main" val="831540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341AD-63E3-294F-89E5-59667F22BC56}"/>
              </a:ext>
            </a:extLst>
          </p:cNvPr>
          <p:cNvSpPr>
            <a:spLocks noGrp="1"/>
          </p:cNvSpPr>
          <p:nvPr>
            <p:ph type="title"/>
          </p:nvPr>
        </p:nvSpPr>
        <p:spPr>
          <a:xfrm>
            <a:off x="1251678" y="520995"/>
            <a:ext cx="10178322" cy="584791"/>
          </a:xfrm>
        </p:spPr>
        <p:txBody>
          <a:bodyPr>
            <a:normAutofit fontScale="90000"/>
          </a:bodyPr>
          <a:lstStyle/>
          <a:p>
            <a:r>
              <a:rPr lang="en-US" sz="4400" dirty="0">
                <a:latin typeface="Avenir Book" panose="02000503020000020003" pitchFamily="2" charset="0"/>
              </a:rPr>
              <a:t>The argument </a:t>
            </a:r>
          </a:p>
        </p:txBody>
      </p:sp>
      <p:sp>
        <p:nvSpPr>
          <p:cNvPr id="3" name="Content Placeholder 2">
            <a:extLst>
              <a:ext uri="{FF2B5EF4-FFF2-40B4-BE49-F238E27FC236}">
                <a16:creationId xmlns:a16="http://schemas.microsoft.com/office/drawing/2014/main" id="{555068E8-353A-E35E-FA47-7F6CC57902E7}"/>
              </a:ext>
            </a:extLst>
          </p:cNvPr>
          <p:cNvSpPr>
            <a:spLocks noGrp="1"/>
          </p:cNvSpPr>
          <p:nvPr>
            <p:ph idx="1"/>
          </p:nvPr>
        </p:nvSpPr>
        <p:spPr>
          <a:xfrm>
            <a:off x="1251678" y="1467293"/>
            <a:ext cx="10178322" cy="4869712"/>
          </a:xfrm>
        </p:spPr>
        <p:txBody>
          <a:bodyPr>
            <a:normAutofit fontScale="92500" lnSpcReduction="10000"/>
          </a:bodyPr>
          <a:lstStyle/>
          <a:p>
            <a:pPr>
              <a:lnSpc>
                <a:spcPct val="150000"/>
              </a:lnSpc>
            </a:pPr>
            <a:r>
              <a:rPr lang="en-US" sz="2800" dirty="0">
                <a:solidFill>
                  <a:schemeClr val="tx1"/>
                </a:solidFill>
                <a:latin typeface="Avenir Book" panose="02000503020000020003" pitchFamily="2" charset="0"/>
              </a:rPr>
              <a:t>Because substance dualism claims that the mind is immaterial and non-extended, and that the body is material and extended, we can see the body and we cannot see the mind. This means we can only know the existence of our mind and not the existence of other minds. </a:t>
            </a:r>
          </a:p>
          <a:p>
            <a:pPr>
              <a:lnSpc>
                <a:spcPct val="150000"/>
              </a:lnSpc>
            </a:pPr>
            <a:r>
              <a:rPr lang="en-US" sz="2800" dirty="0">
                <a:solidFill>
                  <a:schemeClr val="tx1"/>
                </a:solidFill>
                <a:latin typeface="Avenir Book" panose="02000503020000020003" pitchFamily="2" charset="0"/>
              </a:rPr>
              <a:t>To understand this, we need to understand what it means (1) to have first-person access to my mind and (2) to understand that we can only see physical objects. </a:t>
            </a:r>
          </a:p>
        </p:txBody>
      </p:sp>
    </p:spTree>
    <p:extLst>
      <p:ext uri="{BB962C8B-B14F-4D97-AF65-F5344CB8AC3E}">
        <p14:creationId xmlns:p14="http://schemas.microsoft.com/office/powerpoint/2010/main" val="1972657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7ED95-6559-75BB-3D3A-B6B6A158B5CF}"/>
              </a:ext>
            </a:extLst>
          </p:cNvPr>
          <p:cNvSpPr>
            <a:spLocks noGrp="1"/>
          </p:cNvSpPr>
          <p:nvPr>
            <p:ph type="title"/>
          </p:nvPr>
        </p:nvSpPr>
        <p:spPr>
          <a:xfrm>
            <a:off x="1251679" y="645107"/>
            <a:ext cx="3384329" cy="1640894"/>
          </a:xfrm>
        </p:spPr>
        <p:txBody>
          <a:bodyPr anchor="t">
            <a:normAutofit/>
          </a:bodyPr>
          <a:lstStyle/>
          <a:p>
            <a:r>
              <a:rPr lang="en-US" sz="4000" dirty="0">
                <a:latin typeface="Avenir Book" panose="02000503020000020003" pitchFamily="2" charset="0"/>
              </a:rPr>
              <a:t>Access to my mind</a:t>
            </a:r>
          </a:p>
        </p:txBody>
      </p:sp>
      <p:sp>
        <p:nvSpPr>
          <p:cNvPr id="9" name="Content Placeholder 8">
            <a:extLst>
              <a:ext uri="{FF2B5EF4-FFF2-40B4-BE49-F238E27FC236}">
                <a16:creationId xmlns:a16="http://schemas.microsoft.com/office/drawing/2014/main" id="{63421A02-67B9-4A90-52F2-547500B3DEC6}"/>
              </a:ext>
            </a:extLst>
          </p:cNvPr>
          <p:cNvSpPr>
            <a:spLocks noGrp="1"/>
          </p:cNvSpPr>
          <p:nvPr>
            <p:ph idx="1"/>
          </p:nvPr>
        </p:nvSpPr>
        <p:spPr>
          <a:xfrm>
            <a:off x="1251679" y="2286000"/>
            <a:ext cx="3384329" cy="3689497"/>
          </a:xfrm>
        </p:spPr>
        <p:txBody>
          <a:bodyPr>
            <a:normAutofit fontScale="92500"/>
          </a:bodyPr>
          <a:lstStyle/>
          <a:p>
            <a:pPr marL="0" indent="0">
              <a:lnSpc>
                <a:spcPct val="150000"/>
              </a:lnSpc>
              <a:buNone/>
            </a:pPr>
            <a:r>
              <a:rPr lang="en-US" sz="3200" dirty="0">
                <a:solidFill>
                  <a:schemeClr val="tx1"/>
                </a:solidFill>
                <a:latin typeface="Avenir Book" panose="02000503020000020003" pitchFamily="2" charset="0"/>
              </a:rPr>
              <a:t>I have first person and immediate access to the ‘goings on in my mind’. </a:t>
            </a:r>
          </a:p>
        </p:txBody>
      </p:sp>
      <p:pic>
        <p:nvPicPr>
          <p:cNvPr id="5" name="Content Placeholder 4" descr="A person's feet on a couch&#10;&#10;Description automatically generated">
            <a:extLst>
              <a:ext uri="{FF2B5EF4-FFF2-40B4-BE49-F238E27FC236}">
                <a16:creationId xmlns:a16="http://schemas.microsoft.com/office/drawing/2014/main" id="{9C868CD3-FB52-26E9-377F-9201A624C88C}"/>
              </a:ext>
            </a:extLst>
          </p:cNvPr>
          <p:cNvPicPr>
            <a:picLocks noChangeAspect="1"/>
          </p:cNvPicPr>
          <p:nvPr/>
        </p:nvPicPr>
        <p:blipFill rotWithShape="1">
          <a:blip r:embed="rId2"/>
          <a:srcRect l="13069" r="19945" b="-1"/>
          <a:stretch/>
        </p:blipFill>
        <p:spPr>
          <a:xfrm>
            <a:off x="5279472" y="645107"/>
            <a:ext cx="5995465" cy="5594047"/>
          </a:xfrm>
          <a:prstGeom prst="rect">
            <a:avLst/>
          </a:prstGeom>
        </p:spPr>
      </p:pic>
    </p:spTree>
    <p:extLst>
      <p:ext uri="{BB962C8B-B14F-4D97-AF65-F5344CB8AC3E}">
        <p14:creationId xmlns:p14="http://schemas.microsoft.com/office/powerpoint/2010/main" val="1392926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C4328-9C8E-9409-82FC-0416BB17975F}"/>
              </a:ext>
            </a:extLst>
          </p:cNvPr>
          <p:cNvSpPr>
            <a:spLocks noGrp="1"/>
          </p:cNvSpPr>
          <p:nvPr>
            <p:ph type="title"/>
          </p:nvPr>
        </p:nvSpPr>
        <p:spPr>
          <a:xfrm>
            <a:off x="1337381" y="791411"/>
            <a:ext cx="3620359" cy="1640894"/>
          </a:xfrm>
        </p:spPr>
        <p:txBody>
          <a:bodyPr anchor="t">
            <a:normAutofit fontScale="90000"/>
          </a:bodyPr>
          <a:lstStyle/>
          <a:p>
            <a:pPr>
              <a:lnSpc>
                <a:spcPct val="150000"/>
              </a:lnSpc>
            </a:pPr>
            <a:r>
              <a:rPr lang="en-US" sz="4000" dirty="0">
                <a:latin typeface="Avenir Book" panose="02000503020000020003" pitchFamily="2" charset="0"/>
              </a:rPr>
              <a:t>I only see the body, not the soul.</a:t>
            </a:r>
          </a:p>
        </p:txBody>
      </p:sp>
      <p:sp>
        <p:nvSpPr>
          <p:cNvPr id="8" name="Content Placeholder 7">
            <a:extLst>
              <a:ext uri="{FF2B5EF4-FFF2-40B4-BE49-F238E27FC236}">
                <a16:creationId xmlns:a16="http://schemas.microsoft.com/office/drawing/2014/main" id="{EDCD6091-2502-DEA3-E95C-62B1CAC98F75}"/>
              </a:ext>
            </a:extLst>
          </p:cNvPr>
          <p:cNvSpPr>
            <a:spLocks noGrp="1"/>
          </p:cNvSpPr>
          <p:nvPr>
            <p:ph idx="1"/>
          </p:nvPr>
        </p:nvSpPr>
        <p:spPr>
          <a:xfrm>
            <a:off x="1251679" y="4585950"/>
            <a:ext cx="3384330" cy="1640894"/>
          </a:xfrm>
        </p:spPr>
        <p:txBody>
          <a:bodyPr>
            <a:normAutofit/>
          </a:bodyPr>
          <a:lstStyle/>
          <a:p>
            <a:endParaRPr lang="en-US" dirty="0"/>
          </a:p>
        </p:txBody>
      </p:sp>
      <p:pic>
        <p:nvPicPr>
          <p:cNvPr id="4" name="Content Placeholder 3" descr="A cartoon of a child and a child looking at a brain&#10;&#10;Description automatically generated">
            <a:extLst>
              <a:ext uri="{FF2B5EF4-FFF2-40B4-BE49-F238E27FC236}">
                <a16:creationId xmlns:a16="http://schemas.microsoft.com/office/drawing/2014/main" id="{6320F2A7-9CA1-A01A-3178-A480DACF8845}"/>
              </a:ext>
            </a:extLst>
          </p:cNvPr>
          <p:cNvPicPr>
            <a:picLocks noChangeAspect="1"/>
          </p:cNvPicPr>
          <p:nvPr/>
        </p:nvPicPr>
        <p:blipFill rotWithShape="1">
          <a:blip r:embed="rId2"/>
          <a:srcRect t="1467" r="2" b="5230"/>
          <a:stretch/>
        </p:blipFill>
        <p:spPr>
          <a:xfrm>
            <a:off x="5279472" y="645107"/>
            <a:ext cx="5995465" cy="5594047"/>
          </a:xfrm>
          <a:prstGeom prst="rect">
            <a:avLst/>
          </a:prstGeom>
        </p:spPr>
      </p:pic>
    </p:spTree>
    <p:extLst>
      <p:ext uri="{BB962C8B-B14F-4D97-AF65-F5344CB8AC3E}">
        <p14:creationId xmlns:p14="http://schemas.microsoft.com/office/powerpoint/2010/main" val="3836889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03D5E-FC64-6297-B8B7-F64F778FBE96}"/>
              </a:ext>
            </a:extLst>
          </p:cNvPr>
          <p:cNvSpPr>
            <a:spLocks noGrp="1"/>
          </p:cNvSpPr>
          <p:nvPr>
            <p:ph type="title"/>
          </p:nvPr>
        </p:nvSpPr>
        <p:spPr>
          <a:xfrm>
            <a:off x="1251678" y="382385"/>
            <a:ext cx="10178322" cy="829727"/>
          </a:xfrm>
        </p:spPr>
        <p:txBody>
          <a:bodyPr>
            <a:normAutofit/>
          </a:bodyPr>
          <a:lstStyle/>
          <a:p>
            <a:r>
              <a:rPr lang="en-US" sz="4000" dirty="0">
                <a:latin typeface="Optima" panose="02000503060000020004" pitchFamily="2" charset="0"/>
              </a:rPr>
              <a:t>The problem of other minds</a:t>
            </a:r>
          </a:p>
        </p:txBody>
      </p:sp>
      <p:sp>
        <p:nvSpPr>
          <p:cNvPr id="3" name="Content Placeholder 2">
            <a:extLst>
              <a:ext uri="{FF2B5EF4-FFF2-40B4-BE49-F238E27FC236}">
                <a16:creationId xmlns:a16="http://schemas.microsoft.com/office/drawing/2014/main" id="{16B39147-D56F-3ACE-5309-0733FAF74056}"/>
              </a:ext>
            </a:extLst>
          </p:cNvPr>
          <p:cNvSpPr>
            <a:spLocks noGrp="1"/>
          </p:cNvSpPr>
          <p:nvPr>
            <p:ph idx="1"/>
          </p:nvPr>
        </p:nvSpPr>
        <p:spPr>
          <a:xfrm>
            <a:off x="1251678" y="1403499"/>
            <a:ext cx="10178322" cy="4476094"/>
          </a:xfrm>
        </p:spPr>
        <p:txBody>
          <a:bodyPr>
            <a:normAutofit fontScale="92500"/>
          </a:bodyPr>
          <a:lstStyle/>
          <a:p>
            <a:pPr marL="0" indent="0" algn="just">
              <a:buNone/>
            </a:pPr>
            <a:r>
              <a:rPr lang="en-US" sz="2800" dirty="0">
                <a:solidFill>
                  <a:schemeClr val="tx1"/>
                </a:solidFill>
                <a:latin typeface="Optima" panose="02000503060000020004" pitchFamily="2" charset="0"/>
              </a:rPr>
              <a:t>1. </a:t>
            </a:r>
            <a:r>
              <a:rPr lang="en-US" sz="2800" dirty="0">
                <a:solidFill>
                  <a:schemeClr val="tx1"/>
                </a:solidFill>
                <a:latin typeface="Avenir Book" panose="02000503020000020003" pitchFamily="2" charset="0"/>
              </a:rPr>
              <a:t>If substance dualism is true, then we have direct and intuitive knowledge of the existence of our own mind. The access to our own mind is privileged, in that only I have direct access to it, which includes what is going on in it at any one time. </a:t>
            </a:r>
          </a:p>
          <a:p>
            <a:pPr marL="0" indent="0" algn="just">
              <a:buNone/>
            </a:pPr>
            <a:r>
              <a:rPr lang="en-US" sz="2800" dirty="0">
                <a:solidFill>
                  <a:schemeClr val="tx1"/>
                </a:solidFill>
                <a:latin typeface="Optima" panose="02000503060000020004" pitchFamily="2" charset="0"/>
              </a:rPr>
              <a:t>2. </a:t>
            </a:r>
            <a:r>
              <a:rPr lang="en-US" sz="2800" dirty="0">
                <a:solidFill>
                  <a:schemeClr val="tx1"/>
                </a:solidFill>
                <a:latin typeface="Avenir Book" panose="02000503020000020003" pitchFamily="2" charset="0"/>
              </a:rPr>
              <a:t>The mental events going on in my mind are private and are separate from the events going on in the physical world. </a:t>
            </a:r>
          </a:p>
          <a:p>
            <a:pPr marL="0" indent="0" algn="just">
              <a:buNone/>
            </a:pPr>
            <a:r>
              <a:rPr lang="en-US" sz="2800" dirty="0">
                <a:solidFill>
                  <a:schemeClr val="tx1"/>
                </a:solidFill>
                <a:latin typeface="Avenir Book" panose="02000503020000020003" pitchFamily="2" charset="0"/>
              </a:rPr>
              <a:t>3. Given that my mind and all minds are immaterial substances, it is not possible for another person to have access to my mind, and they cannot have evidence of it from sense experience. </a:t>
            </a:r>
          </a:p>
        </p:txBody>
      </p:sp>
    </p:spTree>
    <p:extLst>
      <p:ext uri="{BB962C8B-B14F-4D97-AF65-F5344CB8AC3E}">
        <p14:creationId xmlns:p14="http://schemas.microsoft.com/office/powerpoint/2010/main" val="1022603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076D0-5218-A050-CC57-FEFD14BD681B}"/>
              </a:ext>
            </a:extLst>
          </p:cNvPr>
          <p:cNvSpPr>
            <a:spLocks noGrp="1"/>
          </p:cNvSpPr>
          <p:nvPr>
            <p:ph type="title"/>
          </p:nvPr>
        </p:nvSpPr>
        <p:spPr>
          <a:xfrm>
            <a:off x="1251678" y="595423"/>
            <a:ext cx="10178322" cy="1279094"/>
          </a:xfrm>
        </p:spPr>
        <p:txBody>
          <a:bodyPr>
            <a:normAutofit/>
          </a:bodyPr>
          <a:lstStyle/>
          <a:p>
            <a:r>
              <a:rPr lang="en-US" sz="3600" dirty="0">
                <a:latin typeface="Avenir Book" panose="02000503020000020003" pitchFamily="2" charset="0"/>
              </a:rPr>
              <a:t>An epistemic problem arises due to this theory </a:t>
            </a:r>
          </a:p>
        </p:txBody>
      </p:sp>
      <p:sp>
        <p:nvSpPr>
          <p:cNvPr id="3" name="Content Placeholder 2">
            <a:extLst>
              <a:ext uri="{FF2B5EF4-FFF2-40B4-BE49-F238E27FC236}">
                <a16:creationId xmlns:a16="http://schemas.microsoft.com/office/drawing/2014/main" id="{AB53E635-C389-A650-6265-45433A066787}"/>
              </a:ext>
            </a:extLst>
          </p:cNvPr>
          <p:cNvSpPr>
            <a:spLocks noGrp="1"/>
          </p:cNvSpPr>
          <p:nvPr>
            <p:ph idx="1"/>
          </p:nvPr>
        </p:nvSpPr>
        <p:spPr/>
        <p:txBody>
          <a:bodyPr>
            <a:noAutofit/>
          </a:bodyPr>
          <a:lstStyle/>
          <a:p>
            <a:r>
              <a:rPr lang="en-US" sz="2800" dirty="0">
                <a:solidFill>
                  <a:schemeClr val="tx1"/>
                </a:solidFill>
                <a:latin typeface="Avenir Book" panose="02000503020000020003" pitchFamily="2" charset="0"/>
              </a:rPr>
              <a:t>1. I can have no rational intuition of the existence of your mind.</a:t>
            </a:r>
          </a:p>
          <a:p>
            <a:endParaRPr lang="en-US" sz="2800" dirty="0">
              <a:solidFill>
                <a:schemeClr val="tx1"/>
              </a:solidFill>
              <a:latin typeface="Avenir Book" panose="02000503020000020003" pitchFamily="2" charset="0"/>
            </a:endParaRPr>
          </a:p>
          <a:p>
            <a:r>
              <a:rPr lang="en-US" sz="2800" dirty="0">
                <a:solidFill>
                  <a:schemeClr val="tx1"/>
                </a:solidFill>
                <a:latin typeface="Avenir Book" panose="02000503020000020003" pitchFamily="2" charset="0"/>
              </a:rPr>
              <a:t>AND</a:t>
            </a:r>
          </a:p>
          <a:p>
            <a:endParaRPr lang="en-US" sz="2800" dirty="0">
              <a:solidFill>
                <a:schemeClr val="tx1"/>
              </a:solidFill>
              <a:latin typeface="Avenir Book" panose="02000503020000020003" pitchFamily="2" charset="0"/>
            </a:endParaRPr>
          </a:p>
          <a:p>
            <a:r>
              <a:rPr lang="en-US" sz="2800" dirty="0">
                <a:solidFill>
                  <a:schemeClr val="tx1"/>
                </a:solidFill>
                <a:latin typeface="Avenir Book" panose="02000503020000020003" pitchFamily="2" charset="0"/>
              </a:rPr>
              <a:t>2. I can have no sense experience of your mind, given that it is immaterial. </a:t>
            </a:r>
          </a:p>
        </p:txBody>
      </p:sp>
    </p:spTree>
    <p:extLst>
      <p:ext uri="{BB962C8B-B14F-4D97-AF65-F5344CB8AC3E}">
        <p14:creationId xmlns:p14="http://schemas.microsoft.com/office/powerpoint/2010/main" val="1601633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F1149-E025-B876-6A64-7232D1A00628}"/>
              </a:ext>
            </a:extLst>
          </p:cNvPr>
          <p:cNvSpPr>
            <a:spLocks noGrp="1"/>
          </p:cNvSpPr>
          <p:nvPr>
            <p:ph type="title"/>
          </p:nvPr>
        </p:nvSpPr>
        <p:spPr>
          <a:xfrm>
            <a:off x="1251678" y="633983"/>
            <a:ext cx="10178322" cy="1240533"/>
          </a:xfrm>
        </p:spPr>
        <p:txBody>
          <a:bodyPr>
            <a:normAutofit/>
          </a:bodyPr>
          <a:lstStyle/>
          <a:p>
            <a:r>
              <a:rPr lang="en-US" sz="3200" dirty="0">
                <a:latin typeface="Avenir Book" panose="02000503020000020003" pitchFamily="2" charset="0"/>
              </a:rPr>
              <a:t>How can I know that anyone else has a mind/soul?</a:t>
            </a:r>
          </a:p>
        </p:txBody>
      </p:sp>
      <p:sp>
        <p:nvSpPr>
          <p:cNvPr id="3" name="Content Placeholder 2">
            <a:extLst>
              <a:ext uri="{FF2B5EF4-FFF2-40B4-BE49-F238E27FC236}">
                <a16:creationId xmlns:a16="http://schemas.microsoft.com/office/drawing/2014/main" id="{D3EBAE9A-077F-2B53-2409-1C0B253BB66E}"/>
              </a:ext>
            </a:extLst>
          </p:cNvPr>
          <p:cNvSpPr>
            <a:spLocks noGrp="1"/>
          </p:cNvSpPr>
          <p:nvPr>
            <p:ph idx="1"/>
          </p:nvPr>
        </p:nvSpPr>
        <p:spPr/>
        <p:txBody>
          <a:bodyPr>
            <a:normAutofit/>
          </a:bodyPr>
          <a:lstStyle/>
          <a:p>
            <a:pPr marL="514350" indent="-514350">
              <a:buAutoNum type="arabicPeriod"/>
            </a:pPr>
            <a:r>
              <a:rPr lang="en-US" sz="3200" dirty="0">
                <a:solidFill>
                  <a:schemeClr val="tx1"/>
                </a:solidFill>
                <a:latin typeface="Avenir Book" panose="02000503020000020003" pitchFamily="2" charset="0"/>
              </a:rPr>
              <a:t>The mind is immaterial and cannot be sensed with our physical senses. </a:t>
            </a:r>
          </a:p>
          <a:p>
            <a:pPr marL="514350" indent="-514350">
              <a:buAutoNum type="arabicPeriod"/>
            </a:pPr>
            <a:r>
              <a:rPr lang="en-US" sz="3200" dirty="0">
                <a:solidFill>
                  <a:schemeClr val="tx1"/>
                </a:solidFill>
                <a:latin typeface="Avenir Book" panose="02000503020000020003" pitchFamily="2" charset="0"/>
              </a:rPr>
              <a:t>The only access I can have to a mind is my own.</a:t>
            </a:r>
          </a:p>
          <a:p>
            <a:pPr marL="514350" indent="-514350">
              <a:buAutoNum type="arabicPeriod"/>
            </a:pPr>
            <a:r>
              <a:rPr lang="en-US" sz="3200" dirty="0">
                <a:solidFill>
                  <a:schemeClr val="tx1"/>
                </a:solidFill>
                <a:latin typeface="Avenir Book" panose="02000503020000020003" pitchFamily="2" charset="0"/>
              </a:rPr>
              <a:t>I cannot then claim to know for certain that there is any other mind in existence. </a:t>
            </a:r>
          </a:p>
        </p:txBody>
      </p:sp>
    </p:spTree>
    <p:extLst>
      <p:ext uri="{BB962C8B-B14F-4D97-AF65-F5344CB8AC3E}">
        <p14:creationId xmlns:p14="http://schemas.microsoft.com/office/powerpoint/2010/main" val="221281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87626-5B7E-CB37-363B-281068066090}"/>
              </a:ext>
            </a:extLst>
          </p:cNvPr>
          <p:cNvSpPr>
            <a:spLocks noGrp="1"/>
          </p:cNvSpPr>
          <p:nvPr>
            <p:ph type="title"/>
          </p:nvPr>
        </p:nvSpPr>
        <p:spPr>
          <a:xfrm>
            <a:off x="1048512" y="382385"/>
            <a:ext cx="6428976" cy="1492132"/>
          </a:xfrm>
        </p:spPr>
        <p:txBody>
          <a:bodyPr>
            <a:normAutofit fontScale="90000"/>
          </a:bodyPr>
          <a:lstStyle/>
          <a:p>
            <a:r>
              <a:rPr lang="en-US" sz="4300" dirty="0">
                <a:latin typeface="Avenir Book" panose="02000503020000020003" pitchFamily="2" charset="0"/>
              </a:rPr>
              <a:t>There are two possible responses. </a:t>
            </a:r>
          </a:p>
        </p:txBody>
      </p:sp>
      <p:sp>
        <p:nvSpPr>
          <p:cNvPr id="3" name="Content Placeholder 2">
            <a:extLst>
              <a:ext uri="{FF2B5EF4-FFF2-40B4-BE49-F238E27FC236}">
                <a16:creationId xmlns:a16="http://schemas.microsoft.com/office/drawing/2014/main" id="{BF5B0BF6-81D8-B619-4E32-FA12B0A38FE6}"/>
              </a:ext>
            </a:extLst>
          </p:cNvPr>
          <p:cNvSpPr>
            <a:spLocks noGrp="1"/>
          </p:cNvSpPr>
          <p:nvPr>
            <p:ph idx="1"/>
          </p:nvPr>
        </p:nvSpPr>
        <p:spPr>
          <a:xfrm>
            <a:off x="1316736" y="1874517"/>
            <a:ext cx="5464212" cy="4005075"/>
          </a:xfrm>
        </p:spPr>
        <p:txBody>
          <a:bodyPr>
            <a:normAutofit/>
          </a:bodyPr>
          <a:lstStyle/>
          <a:p>
            <a:pPr marL="0" indent="0">
              <a:buNone/>
            </a:pPr>
            <a:r>
              <a:rPr lang="en-US" dirty="0" err="1">
                <a:solidFill>
                  <a:schemeClr val="tx1"/>
                </a:solidFill>
                <a:latin typeface="Avenir Book" panose="02000503020000020003" pitchFamily="2" charset="0"/>
              </a:rPr>
              <a:t>J.S. Mill: the analogical response</a:t>
            </a:r>
            <a:r>
              <a:rPr lang="en-US" dirty="0">
                <a:solidFill>
                  <a:schemeClr val="tx1"/>
                </a:solidFill>
                <a:latin typeface="Avenir Book" panose="02000503020000020003" pitchFamily="2" charset="0"/>
              </a:rPr>
              <a:t/>
            </a:r>
          </a:p>
          <a:p>
            <a:pPr marL="0" indent="0">
              <a:buNone/>
            </a:pPr>
            <a:endParaRPr lang="en-US" dirty="0">
              <a:solidFill>
                <a:schemeClr val="tx1"/>
              </a:solidFill>
              <a:latin typeface="Avenir Book" panose="02000503020000020003" pitchFamily="2" charset="0"/>
            </a:endParaRPr>
          </a:p>
          <a:p>
            <a:pPr marL="514350" indent="-514350">
              <a:buAutoNum type="arabicPeriod"/>
            </a:pPr>
            <a:r>
              <a:rPr lang="en-US" dirty="0">
                <a:solidFill>
                  <a:schemeClr val="tx1"/>
                </a:solidFill>
                <a:latin typeface="Avenir Book" panose="02000503020000020003" pitchFamily="2" charset="0"/>
              </a:rPr>
              <a:t>I have a soul.</a:t>
            </a:r>
          </a:p>
          <a:p>
            <a:pPr marL="514350" indent="-514350">
              <a:buAutoNum type="arabicPeriod"/>
            </a:pPr>
            <a:r>
              <a:rPr lang="en-US" dirty="0">
                <a:solidFill>
                  <a:schemeClr val="tx1"/>
                </a:solidFill>
                <a:latin typeface="Avenir Book" panose="02000503020000020003" pitchFamily="2" charset="0"/>
              </a:rPr>
              <a:t>I know from my experience that my soul and my body interact with one another. </a:t>
            </a:r>
          </a:p>
          <a:p>
            <a:pPr marL="514350" indent="-514350">
              <a:buAutoNum type="arabicPeriod"/>
            </a:pPr>
            <a:r>
              <a:rPr lang="en-US" dirty="0">
                <a:solidFill>
                  <a:schemeClr val="tx1"/>
                </a:solidFill>
                <a:latin typeface="Avenir Book" panose="02000503020000020003" pitchFamily="2" charset="0"/>
              </a:rPr>
              <a:t>I can see the actions of other bodies.</a:t>
            </a:r>
          </a:p>
          <a:p>
            <a:pPr marL="514350" indent="-514350">
              <a:buAutoNum type="arabicPeriod"/>
            </a:pPr>
            <a:r>
              <a:rPr lang="en-US" dirty="0">
                <a:solidFill>
                  <a:schemeClr val="tx1"/>
                </a:solidFill>
                <a:latin typeface="Avenir Book" panose="02000503020000020003" pitchFamily="2" charset="0"/>
              </a:rPr>
              <a:t>Given that similar effects have similar causes, I can safely assume that other bodies are attached to souls.</a:t>
            </a:r>
          </a:p>
          <a:p>
            <a:pPr marL="514350" indent="-514350">
              <a:buAutoNum type="arabicPeriod"/>
            </a:pPr>
            <a:r>
              <a:rPr lang="en-US" dirty="0">
                <a:solidFill>
                  <a:schemeClr val="tx1"/>
                </a:solidFill>
                <a:latin typeface="Avenir Book" panose="02000503020000020003" pitchFamily="2" charset="0"/>
              </a:rPr>
              <a:t>Ergo other souls exist. </a:t>
            </a:r>
          </a:p>
          <a:p>
            <a:endParaRPr lang="en-US" dirty="0">
              <a:latin typeface="Avenir Book" panose="02000503020000020003" pitchFamily="2" charset="0"/>
            </a:endParaRPr>
          </a:p>
          <a:p>
            <a:endParaRPr lang="en-US" dirty="0"/>
          </a:p>
        </p:txBody>
      </p:sp>
      <p:pic>
        <p:nvPicPr>
          <p:cNvPr id="5" name="Picture 4" descr="John Stuart Mill&#10;&#10;&#10;Description automatically generated">
            <a:extLst>
              <a:ext uri="{FF2B5EF4-FFF2-40B4-BE49-F238E27FC236}">
                <a16:creationId xmlns:a16="http://schemas.microsoft.com/office/drawing/2014/main" id="{FCCBFDB6-18E5-F9A7-0D75-E7F3FCE998FB}"/>
              </a:ext>
            </a:extLst>
          </p:cNvPr>
          <p:cNvPicPr>
            <a:picLocks noChangeAspect="1"/>
          </p:cNvPicPr>
          <p:nvPr/>
        </p:nvPicPr>
        <p:blipFill rotWithShape="1">
          <a:blip r:embed="rId2"/>
          <a:srcRect l="27323" r="28913"/>
          <a:stretch/>
        </p:blipFill>
        <p:spPr>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p:spPr>
      </p:pic>
      <p:pic>
        <p:nvPicPr>
          <p:cNvPr id="6" name="Picture 5" descr="John Stuart Mill&#10;&#10;&#10;Description automatically generated">
            <a:extLst>
              <a:ext uri="{FF2B5EF4-FFF2-40B4-BE49-F238E27FC236}">
                <a16:creationId xmlns:a16="http://schemas.microsoft.com/office/drawing/2014/main" id="{DB998CF2-187A-89D0-2DD9-870343382EB3}"/>
              </a:ext>
            </a:extLst>
          </p:cNvPr>
          <p:cNvPicPr>
            <a:picLocks noChangeAspect="1"/>
          </p:cNvPicPr>
          <p:nvPr/>
        </p:nvPicPr>
        <p:blipFill rotWithShape="1">
          <a:blip r:embed="rId2"/>
          <a:srcRect l="27323" r="28913"/>
          <a:stretch/>
        </p:blipFill>
        <p:spPr>
          <a:xfrm>
            <a:off x="7477488" y="125210"/>
            <a:ext cx="4714512" cy="673278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p:spPr>
      </p:pic>
    </p:spTree>
    <p:extLst>
      <p:ext uri="{BB962C8B-B14F-4D97-AF65-F5344CB8AC3E}">
        <p14:creationId xmlns:p14="http://schemas.microsoft.com/office/powerpoint/2010/main" val="3725862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F476C-03CA-7957-CFA3-BF8B925F7333}"/>
              </a:ext>
            </a:extLst>
          </p:cNvPr>
          <p:cNvSpPr>
            <a:spLocks noGrp="1"/>
          </p:cNvSpPr>
          <p:nvPr>
            <p:ph type="title"/>
          </p:nvPr>
        </p:nvSpPr>
        <p:spPr>
          <a:xfrm>
            <a:off x="1251678" y="670559"/>
            <a:ext cx="10178322" cy="1203957"/>
          </a:xfrm>
        </p:spPr>
        <p:txBody>
          <a:bodyPr/>
          <a:lstStyle/>
          <a:p>
            <a:r>
              <a:rPr lang="en-US" dirty="0">
                <a:latin typeface="Avenir Book" panose="02000503020000020003" pitchFamily="2" charset="0"/>
              </a:rPr>
              <a:t>Response</a:t>
            </a:r>
          </a:p>
        </p:txBody>
      </p:sp>
      <p:sp>
        <p:nvSpPr>
          <p:cNvPr id="3" name="Content Placeholder 2">
            <a:extLst>
              <a:ext uri="{FF2B5EF4-FFF2-40B4-BE49-F238E27FC236}">
                <a16:creationId xmlns:a16="http://schemas.microsoft.com/office/drawing/2014/main" id="{A6A8A108-5342-B366-19D2-0AA0597236E3}"/>
              </a:ext>
            </a:extLst>
          </p:cNvPr>
          <p:cNvSpPr>
            <a:spLocks noGrp="1"/>
          </p:cNvSpPr>
          <p:nvPr>
            <p:ph idx="1"/>
          </p:nvPr>
        </p:nvSpPr>
        <p:spPr>
          <a:xfrm>
            <a:off x="1251678" y="1874517"/>
            <a:ext cx="10178322" cy="4005075"/>
          </a:xfrm>
        </p:spPr>
        <p:txBody>
          <a:bodyPr>
            <a:normAutofit/>
          </a:bodyPr>
          <a:lstStyle/>
          <a:p>
            <a:pPr marL="0" indent="0" algn="just">
              <a:buNone/>
            </a:pPr>
            <a:r>
              <a:rPr lang="en-US" sz="3600" dirty="0">
                <a:solidFill>
                  <a:schemeClr val="tx1"/>
                </a:solidFill>
                <a:latin typeface="Avenir Book" panose="02000503020000020003" pitchFamily="2" charset="0"/>
              </a:rPr>
              <a:t>We only have one example of our mind, and thus basing our knowledge of the existence of other minds on that is weak. </a:t>
            </a:r>
          </a:p>
        </p:txBody>
      </p:sp>
    </p:spTree>
    <p:extLst>
      <p:ext uri="{BB962C8B-B14F-4D97-AF65-F5344CB8AC3E}">
        <p14:creationId xmlns:p14="http://schemas.microsoft.com/office/powerpoint/2010/main" val="2436420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7D84A-3979-1E5B-49C3-DEA14A6098B1}"/>
              </a:ext>
            </a:extLst>
          </p:cNvPr>
          <p:cNvSpPr>
            <a:spLocks noGrp="1"/>
          </p:cNvSpPr>
          <p:nvPr>
            <p:ph type="title"/>
          </p:nvPr>
        </p:nvSpPr>
        <p:spPr>
          <a:xfrm>
            <a:off x="1207008" y="382385"/>
            <a:ext cx="5573940" cy="1492132"/>
          </a:xfrm>
        </p:spPr>
        <p:txBody>
          <a:bodyPr>
            <a:normAutofit fontScale="90000"/>
          </a:bodyPr>
          <a:lstStyle/>
          <a:p>
            <a:r>
              <a:rPr lang="en-US" sz="3200" dirty="0">
                <a:latin typeface="Avenir Book" panose="02000503020000020003" pitchFamily="2" charset="0"/>
              </a:rPr>
              <a:t>A second attempt at proving the existence of other minds </a:t>
            </a:r>
          </a:p>
        </p:txBody>
      </p:sp>
      <p:sp>
        <p:nvSpPr>
          <p:cNvPr id="3" name="Content Placeholder 2">
            <a:extLst>
              <a:ext uri="{FF2B5EF4-FFF2-40B4-BE49-F238E27FC236}">
                <a16:creationId xmlns:a16="http://schemas.microsoft.com/office/drawing/2014/main" id="{31184985-6B0D-1D56-0B98-87E098CA29AF}"/>
              </a:ext>
            </a:extLst>
          </p:cNvPr>
          <p:cNvSpPr>
            <a:spLocks noGrp="1"/>
          </p:cNvSpPr>
          <p:nvPr>
            <p:ph idx="1"/>
          </p:nvPr>
        </p:nvSpPr>
        <p:spPr>
          <a:xfrm>
            <a:off x="1207008" y="2286001"/>
            <a:ext cx="5573940" cy="3593591"/>
          </a:xfrm>
        </p:spPr>
        <p:txBody>
          <a:bodyPr>
            <a:noAutofit/>
          </a:bodyPr>
          <a:lstStyle/>
          <a:p>
            <a:pPr marL="457200" indent="-457200">
              <a:buAutoNum type="arabicPeriod"/>
            </a:pPr>
            <a:r>
              <a:rPr lang="en-US" dirty="0">
                <a:solidFill>
                  <a:schemeClr val="tx1"/>
                </a:solidFill>
                <a:latin typeface="Avenir Book" panose="02000503020000020003" pitchFamily="2" charset="0"/>
              </a:rPr>
              <a:t>I have many experiences of my mind causing different behaviours. </a:t>
            </a:r>
          </a:p>
          <a:p>
            <a:pPr marL="457200" indent="-457200">
              <a:buAutoNum type="arabicPeriod"/>
            </a:pPr>
            <a:r>
              <a:rPr lang="en-US" dirty="0">
                <a:solidFill>
                  <a:schemeClr val="tx1"/>
                </a:solidFill>
                <a:latin typeface="Avenir Book" panose="02000503020000020003" pitchFamily="2" charset="0"/>
              </a:rPr>
              <a:t>Therefore, many behaviours have a mental cause. </a:t>
            </a:r>
          </a:p>
          <a:p>
            <a:pPr marL="457200" indent="-457200">
              <a:buAutoNum type="arabicPeriod"/>
            </a:pPr>
            <a:r>
              <a:rPr lang="en-US" dirty="0">
                <a:solidFill>
                  <a:schemeClr val="tx1"/>
                </a:solidFill>
                <a:latin typeface="Avenir Book" panose="02000503020000020003" pitchFamily="2" charset="0"/>
              </a:rPr>
              <a:t>Other people behave in the ways I do.</a:t>
            </a:r>
          </a:p>
          <a:p>
            <a:pPr marL="457200" indent="-457200">
              <a:buAutoNum type="arabicPeriod"/>
            </a:pPr>
            <a:r>
              <a:rPr lang="en-US" dirty="0">
                <a:solidFill>
                  <a:schemeClr val="tx1"/>
                </a:solidFill>
                <a:latin typeface="Avenir Book" panose="02000503020000020003" pitchFamily="2" charset="0"/>
              </a:rPr>
              <a:t>Therefore, those behaviours also have a mental cause.</a:t>
            </a:r>
          </a:p>
          <a:p>
            <a:pPr marL="457200" indent="-457200">
              <a:buAutoNum type="arabicPeriod"/>
            </a:pPr>
            <a:r>
              <a:rPr lang="en-US" dirty="0">
                <a:solidFill>
                  <a:schemeClr val="tx1"/>
                </a:solidFill>
                <a:latin typeface="Avenir Book" panose="02000503020000020003" pitchFamily="2" charset="0"/>
              </a:rPr>
              <a:t>Therefore, other people have minds. </a:t>
            </a:r>
          </a:p>
        </p:txBody>
      </p:sp>
      <p:pic>
        <p:nvPicPr>
          <p:cNvPr id="4" name="Picture 3" descr="John Stuart Mill&#10;&#10;&#10;Description automatically generated">
            <a:extLst>
              <a:ext uri="{FF2B5EF4-FFF2-40B4-BE49-F238E27FC236}">
                <a16:creationId xmlns:a16="http://schemas.microsoft.com/office/drawing/2014/main" id="{EEC959E2-B8C3-FAA7-9FB0-EC7C8420ED1B}"/>
              </a:ext>
            </a:extLst>
          </p:cNvPr>
          <p:cNvPicPr>
            <a:picLocks noChangeAspect="1"/>
          </p:cNvPicPr>
          <p:nvPr/>
        </p:nvPicPr>
        <p:blipFill rotWithShape="1">
          <a:blip r:embed="rId2"/>
          <a:srcRect l="27323" r="28913"/>
          <a:stretch/>
        </p:blipFill>
        <p:spPr>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p:spPr>
      </p:pic>
    </p:spTree>
    <p:extLst>
      <p:ext uri="{BB962C8B-B14F-4D97-AF65-F5344CB8AC3E}">
        <p14:creationId xmlns:p14="http://schemas.microsoft.com/office/powerpoint/2010/main" val="754217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6C262-DAA9-4C3A-F305-415C4EEDD47D}"/>
              </a:ext>
            </a:extLst>
          </p:cNvPr>
          <p:cNvSpPr>
            <a:spLocks noGrp="1"/>
          </p:cNvSpPr>
          <p:nvPr>
            <p:ph type="title"/>
          </p:nvPr>
        </p:nvSpPr>
        <p:spPr>
          <a:xfrm>
            <a:off x="1251677" y="541421"/>
            <a:ext cx="10791933" cy="685800"/>
          </a:xfrm>
        </p:spPr>
        <p:txBody>
          <a:bodyPr>
            <a:normAutofit fontScale="90000"/>
          </a:bodyPr>
          <a:lstStyle/>
          <a:p>
            <a:r>
              <a:rPr lang="en-US" dirty="0">
                <a:latin typeface="Avenir Book" panose="02000503020000020003" pitchFamily="2" charset="0"/>
              </a:rPr>
              <a:t>Problems with the arguments</a:t>
            </a:r>
          </a:p>
        </p:txBody>
      </p:sp>
      <p:sp>
        <p:nvSpPr>
          <p:cNvPr id="3" name="Content Placeholder 2">
            <a:extLst>
              <a:ext uri="{FF2B5EF4-FFF2-40B4-BE49-F238E27FC236}">
                <a16:creationId xmlns:a16="http://schemas.microsoft.com/office/drawing/2014/main" id="{09BC942A-A1E5-91F4-9D05-21026AF2506C}"/>
              </a:ext>
            </a:extLst>
          </p:cNvPr>
          <p:cNvSpPr>
            <a:spLocks noGrp="1"/>
          </p:cNvSpPr>
          <p:nvPr>
            <p:ph idx="1"/>
          </p:nvPr>
        </p:nvSpPr>
        <p:spPr>
          <a:xfrm>
            <a:off x="1251678" y="1949117"/>
            <a:ext cx="10178322" cy="3930476"/>
          </a:xfrm>
        </p:spPr>
        <p:txBody>
          <a:bodyPr>
            <a:normAutofit/>
          </a:bodyPr>
          <a:lstStyle/>
          <a:p>
            <a:pPr marL="457200" indent="-457200">
              <a:buAutoNum type="arabicParenBoth"/>
            </a:pPr>
            <a:r>
              <a:rPr lang="en-US" sz="3200" dirty="0">
                <a:solidFill>
                  <a:schemeClr val="tx1"/>
                </a:solidFill>
                <a:latin typeface="Avenir Book" panose="02000503020000020003" pitchFamily="2" charset="0"/>
              </a:rPr>
              <a:t>Analogical arguments are not proofs, because they rely on the assumption of like effects and like causes. </a:t>
            </a:r>
          </a:p>
          <a:p>
            <a:pPr marL="457200" indent="-457200">
              <a:buAutoNum type="arabicParenBoth"/>
            </a:pPr>
            <a:r>
              <a:rPr lang="en-US" sz="3200" dirty="0">
                <a:solidFill>
                  <a:schemeClr val="tx1"/>
                </a:solidFill>
                <a:latin typeface="Avenir Book" panose="02000503020000020003" pitchFamily="2" charset="0"/>
              </a:rPr>
              <a:t>The argument is really just an instance of ‘inference to the best explanation’ and cannot act as a proof. </a:t>
            </a:r>
          </a:p>
          <a:p>
            <a:pPr marL="457200" indent="-457200">
              <a:buAutoNum type="arabicParenBoth"/>
            </a:pPr>
            <a:endParaRPr lang="en-US" sz="2400" dirty="0">
              <a:solidFill>
                <a:srgbClr val="002060"/>
              </a:solidFill>
              <a:latin typeface="Optima" panose="02000503060000020004" pitchFamily="2" charset="0"/>
            </a:endParaRPr>
          </a:p>
        </p:txBody>
      </p:sp>
    </p:spTree>
    <p:extLst>
      <p:ext uri="{BB962C8B-B14F-4D97-AF65-F5344CB8AC3E}">
        <p14:creationId xmlns:p14="http://schemas.microsoft.com/office/powerpoint/2010/main" val="2524143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0EF8C-7851-FF13-8105-E220D9DC2937}"/>
              </a:ext>
            </a:extLst>
          </p:cNvPr>
          <p:cNvSpPr>
            <a:spLocks noGrp="1"/>
          </p:cNvSpPr>
          <p:nvPr>
            <p:ph type="title"/>
          </p:nvPr>
        </p:nvSpPr>
        <p:spPr>
          <a:xfrm>
            <a:off x="1251678" y="614363"/>
            <a:ext cx="10178322" cy="1260154"/>
          </a:xfrm>
        </p:spPr>
        <p:txBody>
          <a:bodyPr>
            <a:normAutofit fontScale="90000"/>
          </a:bodyPr>
          <a:lstStyle/>
          <a:p>
            <a:r>
              <a:rPr lang="en-US" dirty="0">
                <a:latin typeface="Avenir Book" panose="02000503020000020003" pitchFamily="2" charset="0"/>
              </a:rPr>
              <a:t>An argument for other minds from Wittgenstein.</a:t>
            </a:r>
          </a:p>
        </p:txBody>
      </p:sp>
      <p:sp>
        <p:nvSpPr>
          <p:cNvPr id="3" name="Content Placeholder 2">
            <a:extLst>
              <a:ext uri="{FF2B5EF4-FFF2-40B4-BE49-F238E27FC236}">
                <a16:creationId xmlns:a16="http://schemas.microsoft.com/office/drawing/2014/main" id="{816AE569-0153-C417-D82E-D6144BC9010B}"/>
              </a:ext>
            </a:extLst>
          </p:cNvPr>
          <p:cNvSpPr>
            <a:spLocks noGrp="1"/>
          </p:cNvSpPr>
          <p:nvPr>
            <p:ph idx="1"/>
          </p:nvPr>
        </p:nvSpPr>
        <p:spPr/>
        <p:txBody>
          <a:bodyPr>
            <a:normAutofit/>
          </a:bodyPr>
          <a:lstStyle/>
          <a:p>
            <a:pPr>
              <a:lnSpc>
                <a:spcPct val="150000"/>
              </a:lnSpc>
            </a:pPr>
            <a:r>
              <a:rPr lang="en-US" sz="2800" dirty="0">
                <a:solidFill>
                  <a:schemeClr val="tx1"/>
                </a:solidFill>
                <a:latin typeface="Avenir Book" panose="02000503020000020003" pitchFamily="2" charset="0"/>
              </a:rPr>
              <a:t>Wittgenstein tries to prove that to doubt the existence of other minds is absurd, and he uses the private language argument to do this. </a:t>
            </a:r>
          </a:p>
        </p:txBody>
      </p:sp>
    </p:spTree>
    <p:extLst>
      <p:ext uri="{BB962C8B-B14F-4D97-AF65-F5344CB8AC3E}">
        <p14:creationId xmlns:p14="http://schemas.microsoft.com/office/powerpoint/2010/main" val="1189342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poster of a person&#10;&#10;Description automatically generated">
            <a:extLst>
              <a:ext uri="{FF2B5EF4-FFF2-40B4-BE49-F238E27FC236}">
                <a16:creationId xmlns:a16="http://schemas.microsoft.com/office/drawing/2014/main" id="{75649C0E-8BE7-4333-75C9-45C6DC4CFC56}"/>
              </a:ext>
            </a:extLst>
          </p:cNvPr>
          <p:cNvPicPr>
            <a:picLocks noChangeAspect="1"/>
          </p:cNvPicPr>
          <p:nvPr/>
        </p:nvPicPr>
        <p:blipFill rotWithShape="1">
          <a:blip r:embed="rId2"/>
          <a:srcRect l="25760" r="30010"/>
          <a:stretch/>
        </p:blipFill>
        <p:spPr>
          <a:xfrm>
            <a:off x="7338646" y="10"/>
            <a:ext cx="4853354" cy="6857990"/>
          </a:xfrm>
          <a:prstGeom prst="rect">
            <a:avLst/>
          </a:prstGeom>
        </p:spPr>
      </p:pic>
      <p:sp>
        <p:nvSpPr>
          <p:cNvPr id="2" name="Title 1">
            <a:extLst>
              <a:ext uri="{FF2B5EF4-FFF2-40B4-BE49-F238E27FC236}">
                <a16:creationId xmlns:a16="http://schemas.microsoft.com/office/drawing/2014/main" id="{F2BCFAC3-A37B-9E17-5B65-692F0641111C}"/>
              </a:ext>
            </a:extLst>
          </p:cNvPr>
          <p:cNvSpPr>
            <a:spLocks noGrp="1"/>
          </p:cNvSpPr>
          <p:nvPr>
            <p:ph type="title"/>
          </p:nvPr>
        </p:nvSpPr>
        <p:spPr>
          <a:xfrm>
            <a:off x="1255776" y="382385"/>
            <a:ext cx="5525172" cy="1492132"/>
          </a:xfrm>
        </p:spPr>
        <p:txBody>
          <a:bodyPr>
            <a:normAutofit/>
          </a:bodyPr>
          <a:lstStyle/>
          <a:p>
            <a:r>
              <a:rPr lang="en-US" sz="3600" dirty="0">
                <a:latin typeface="Avenir Book" panose="02000503020000020003" pitchFamily="2" charset="0"/>
              </a:rPr>
              <a:t>There is no ‘private language’</a:t>
            </a:r>
          </a:p>
        </p:txBody>
      </p:sp>
      <p:sp>
        <p:nvSpPr>
          <p:cNvPr id="3" name="Content Placeholder 2">
            <a:extLst>
              <a:ext uri="{FF2B5EF4-FFF2-40B4-BE49-F238E27FC236}">
                <a16:creationId xmlns:a16="http://schemas.microsoft.com/office/drawing/2014/main" id="{75EA8D27-794C-289B-1066-6AB6E9C1F187}"/>
              </a:ext>
            </a:extLst>
          </p:cNvPr>
          <p:cNvSpPr>
            <a:spLocks noGrp="1"/>
          </p:cNvSpPr>
          <p:nvPr>
            <p:ph idx="1"/>
          </p:nvPr>
        </p:nvSpPr>
        <p:spPr>
          <a:xfrm>
            <a:off x="1255776" y="1874517"/>
            <a:ext cx="5525172" cy="4005075"/>
          </a:xfrm>
        </p:spPr>
        <p:txBody>
          <a:bodyPr>
            <a:noAutofit/>
          </a:bodyPr>
          <a:lstStyle/>
          <a:p>
            <a:pPr marL="0" indent="0">
              <a:buNone/>
            </a:pPr>
            <a:r>
              <a:rPr lang="en-US" sz="2800" dirty="0">
                <a:solidFill>
                  <a:schemeClr val="tx1"/>
                </a:solidFill>
                <a:latin typeface="Avenir Book" panose="02000503020000020003" pitchFamily="2" charset="0"/>
              </a:rPr>
              <a:t>To understand what a mental state is we must assume others exist. In other words, our very ability to understand and think needs the existence of other people who bring us into the language game that gives meaning to propositions. </a:t>
            </a:r>
          </a:p>
          <a:p>
            <a:pPr marL="0" indent="0">
              <a:buNone/>
            </a:pPr>
            <a:r>
              <a:rPr lang="en-US" sz="2800" dirty="0">
                <a:solidFill>
                  <a:schemeClr val="tx1"/>
                </a:solidFill>
                <a:latin typeface="Avenir Book" panose="02000503020000020003" pitchFamily="2" charset="0"/>
              </a:rPr>
              <a:t>So, there must be other people. </a:t>
            </a:r>
          </a:p>
        </p:txBody>
      </p:sp>
    </p:spTree>
    <p:extLst>
      <p:ext uri="{BB962C8B-B14F-4D97-AF65-F5344CB8AC3E}">
        <p14:creationId xmlns:p14="http://schemas.microsoft.com/office/powerpoint/2010/main" val="2980755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F3A5A-8AF9-2DC5-8284-B91ACB13D3E3}"/>
              </a:ext>
            </a:extLst>
          </p:cNvPr>
          <p:cNvSpPr>
            <a:spLocks noGrp="1"/>
          </p:cNvSpPr>
          <p:nvPr>
            <p:ph type="title"/>
          </p:nvPr>
        </p:nvSpPr>
        <p:spPr>
          <a:xfrm>
            <a:off x="1251678" y="685799"/>
            <a:ext cx="5806347" cy="1188717"/>
          </a:xfrm>
        </p:spPr>
        <p:txBody>
          <a:bodyPr>
            <a:normAutofit/>
          </a:bodyPr>
          <a:lstStyle/>
          <a:p>
            <a:r>
              <a:rPr lang="en-US" sz="3200" dirty="0">
                <a:latin typeface="Avenir Book" panose="02000503020000020003" pitchFamily="2" charset="0"/>
              </a:rPr>
              <a:t>Private language continued </a:t>
            </a:r>
          </a:p>
        </p:txBody>
      </p:sp>
      <p:sp>
        <p:nvSpPr>
          <p:cNvPr id="3" name="Content Placeholder 2">
            <a:extLst>
              <a:ext uri="{FF2B5EF4-FFF2-40B4-BE49-F238E27FC236}">
                <a16:creationId xmlns:a16="http://schemas.microsoft.com/office/drawing/2014/main" id="{34853B75-BF89-EB88-CEBD-BBDE411F3B2C}"/>
              </a:ext>
            </a:extLst>
          </p:cNvPr>
          <p:cNvSpPr>
            <a:spLocks noGrp="1"/>
          </p:cNvSpPr>
          <p:nvPr>
            <p:ph idx="1"/>
          </p:nvPr>
        </p:nvSpPr>
        <p:spPr>
          <a:xfrm>
            <a:off x="1251678" y="2286001"/>
            <a:ext cx="5077685" cy="3593591"/>
          </a:xfrm>
        </p:spPr>
        <p:txBody>
          <a:bodyPr>
            <a:normAutofit/>
          </a:bodyPr>
          <a:lstStyle/>
          <a:p>
            <a:r>
              <a:rPr lang="en-US" sz="2400" dirty="0">
                <a:solidFill>
                  <a:schemeClr val="tx1"/>
                </a:solidFill>
                <a:latin typeface="Avenir Book" panose="02000503020000020003" pitchFamily="2" charset="0"/>
              </a:rPr>
              <a:t>In other words, Wittgenstein is saying that the very ability to doubt the existence of other minds means you have an idea of another mind, and that can only come from having been brought up by other people with minds. </a:t>
            </a:r>
          </a:p>
        </p:txBody>
      </p:sp>
      <p:pic>
        <p:nvPicPr>
          <p:cNvPr id="4" name="Picture 3" descr="A poster of a person&#10;&#10;Description automatically generated">
            <a:extLst>
              <a:ext uri="{FF2B5EF4-FFF2-40B4-BE49-F238E27FC236}">
                <a16:creationId xmlns:a16="http://schemas.microsoft.com/office/drawing/2014/main" id="{84FF9C15-85DC-52C4-2F5A-6FF432E0E1A4}"/>
              </a:ext>
            </a:extLst>
          </p:cNvPr>
          <p:cNvPicPr>
            <a:picLocks noChangeAspect="1"/>
          </p:cNvPicPr>
          <p:nvPr/>
        </p:nvPicPr>
        <p:blipFill rotWithShape="1">
          <a:blip r:embed="rId2"/>
          <a:srcRect l="25760" r="30010"/>
          <a:stretch/>
        </p:blipFill>
        <p:spPr>
          <a:xfrm>
            <a:off x="7338646" y="10"/>
            <a:ext cx="4853354" cy="6857990"/>
          </a:xfrm>
          <a:prstGeom prst="rect">
            <a:avLst/>
          </a:prstGeom>
        </p:spPr>
      </p:pic>
    </p:spTree>
    <p:extLst>
      <p:ext uri="{BB962C8B-B14F-4D97-AF65-F5344CB8AC3E}">
        <p14:creationId xmlns:p14="http://schemas.microsoft.com/office/powerpoint/2010/main" val="2154145143"/>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1B2F36"/>
      </a:dk2>
      <a:lt2>
        <a:srgbClr val="F3F3F2"/>
      </a:lt2>
      <a:accent1>
        <a:srgbClr val="A38D51"/>
      </a:accent1>
      <a:accent2>
        <a:srgbClr val="5A3D40"/>
      </a:accent2>
      <a:accent3>
        <a:srgbClr val="5D988C"/>
      </a:accent3>
      <a:accent4>
        <a:srgbClr val="A85752"/>
      </a:accent4>
      <a:accent5>
        <a:srgbClr val="809A67"/>
      </a:accent5>
      <a:accent6>
        <a:srgbClr val="67645A"/>
      </a:accent6>
      <a:hlink>
        <a:srgbClr val="5D988C"/>
      </a:hlink>
      <a:folHlink>
        <a:srgbClr val="8467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9E77EDF1-0821-4215-BD6E-A2D49F02550D}"/>
    </a:ext>
  </a:extLst>
</a:theme>
</file>

<file path=docProps/app.xml><?xml version="1.0" encoding="utf-8"?>
<Properties xmlns="http://schemas.openxmlformats.org/officeDocument/2006/extended-properties" xmlns:vt="http://schemas.openxmlformats.org/officeDocument/2006/docPropsVTypes">
  <Template>Badge</Template>
  <TotalTime>582</TotalTime>
  <Words>688</Words>
  <Application>Microsoft Macintosh PowerPoint</Application>
  <PresentationFormat>Widescreen</PresentationFormat>
  <Paragraphs>47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Avenir Book</vt:lpstr>
      <vt:lpstr>Gill Sans MT</vt:lpstr>
      <vt:lpstr>Impact</vt:lpstr>
      <vt:lpstr>Optima</vt:lpstr>
      <vt:lpstr>Badge</vt:lpstr>
      <vt:lpstr>Substance dualism   and   The problem of other minds</vt:lpstr>
      <vt:lpstr>The argument </vt:lpstr>
      <vt:lpstr>Access to my mind</vt:lpstr>
      <vt:lpstr>I only see the body not the soul.</vt:lpstr>
      <vt:lpstr>The problem of other minds</vt:lpstr>
      <vt:lpstr>An epistemic problem arises due to this theory  </vt:lpstr>
      <vt:lpstr>How can I know that anyone else has a mind/soul?</vt:lpstr>
      <vt:lpstr>There are two possible responses. </vt:lpstr>
      <vt:lpstr>Response</vt:lpstr>
      <vt:lpstr>A second attempt at proving the existence of other minds </vt:lpstr>
      <vt:lpstr>Problems with the arguments</vt:lpstr>
      <vt:lpstr>An argument for other minds from Wittgenstein.</vt:lpstr>
      <vt:lpstr>There is No ‘private language’</vt:lpstr>
      <vt:lpstr>Private language continued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6</cp:revision>
  <dcterms:created xsi:type="dcterms:W3CDTF">2024-06-22T14:55:57Z</dcterms:created>
  <dcterms:modified xsi:type="dcterms:W3CDTF">2024-08-10T12:45:37Z</dcterms:modified>
</cp:coreProperties>
</file>