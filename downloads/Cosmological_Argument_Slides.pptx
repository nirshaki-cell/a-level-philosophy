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sldIdLst>
    <p:sldId id="256" r:id="rId2"/>
    <p:sldId id="274" r:id="rId3"/>
    <p:sldId id="257" r:id="rId4"/>
    <p:sldId id="261" r:id="rId5"/>
    <p:sldId id="262" r:id="rId6"/>
    <p:sldId id="260" r:id="rId7"/>
    <p:sldId id="263" r:id="rId8"/>
    <p:sldId id="258" r:id="rId9"/>
    <p:sldId id="259" r:id="rId10"/>
    <p:sldId id="264" r:id="rId11"/>
    <p:sldId id="265" r:id="rId12"/>
    <p:sldId id="266" r:id="rId13"/>
    <p:sldId id="267" r:id="rId14"/>
    <p:sldId id="268" r:id="rId15"/>
    <p:sldId id="269" r:id="rId16"/>
    <p:sldId id="270" r:id="rId17"/>
    <p:sldId id="273" r:id="rId18"/>
    <p:sldId id="271" r:id="rId19"/>
    <p:sldId id="272"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761"/>
  </p:normalViewPr>
  <p:slideViewPr>
    <p:cSldViewPr snapToGrid="0">
      <p:cViewPr varScale="1">
        <p:scale>
          <a:sx n="106" d="100"/>
          <a:sy n="106" d="100"/>
        </p:scale>
        <p:origin x="79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GB"/>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1094512D-8AB6-A848-A15B-E5195470FC73}" type="datetimeFigureOut">
              <a:rPr lang="en-US" smtClean="0"/>
              <a:t>10/17/24</a:t>
            </a:fld>
            <a:endParaRPr 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8611E7AE-6675-F24A-83FF-3100E9763439}" type="slidenum">
              <a:rPr lang="en-US" smtClean="0"/>
              <a:t>‹#›</a:t>
            </a:fld>
            <a:endParaRPr 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61391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094512D-8AB6-A848-A15B-E5195470FC73}" type="datetimeFigureOut">
              <a:rPr lang="en-US" smtClean="0"/>
              <a:t>10/17/24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11E7AE-6675-F24A-83FF-3100E9763439}" type="slidenum">
              <a:rPr lang="en-US" smtClean="0"/>
              <a:t>‹#›</a:t>
            </a:fld>
            <a:endParaRPr lang="en-US"/>
          </a:p>
        </p:txBody>
      </p:sp>
    </p:spTree>
    <p:extLst>
      <p:ext uri="{BB962C8B-B14F-4D97-AF65-F5344CB8AC3E}">
        <p14:creationId xmlns:p14="http://schemas.microsoft.com/office/powerpoint/2010/main" val="1802546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1094512D-8AB6-A848-A15B-E5195470FC73}" type="datetimeFigureOut">
              <a:rPr lang="en-US" smtClean="0"/>
              <a:t>10/17/24</a:t>
            </a:fld>
            <a:endParaRPr 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8611E7AE-6675-F24A-83FF-3100E9763439}" type="slidenum">
              <a:rPr lang="en-US" smtClean="0"/>
              <a:t>‹#›</a:t>
            </a:fld>
            <a:endParaRPr lang="en-US"/>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228097731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1094512D-8AB6-A848-A15B-E5195470FC73}" type="datetimeFigureOut">
              <a:rPr lang="en-US" smtClean="0"/>
              <a:t>10/17/24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11E7AE-6675-F24A-83FF-3100E9763439}" type="slidenum">
              <a:rPr lang="en-US" smtClean="0"/>
              <a:t>‹#›</a:t>
            </a:fld>
            <a:endParaRPr lang="en-US"/>
          </a:p>
        </p:txBody>
      </p:sp>
    </p:spTree>
    <p:extLst>
      <p:ext uri="{BB962C8B-B14F-4D97-AF65-F5344CB8AC3E}">
        <p14:creationId xmlns:p14="http://schemas.microsoft.com/office/powerpoint/2010/main" val="38159592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1094512D-8AB6-A848-A15B-E5195470FC73}" type="datetimeFigureOut">
              <a:rPr lang="en-US" smtClean="0"/>
              <a:t>10/17/24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11E7AE-6675-F24A-83FF-3100E9763439}" type="slidenum">
              <a:rPr lang="en-US" smtClean="0"/>
              <a:t>‹#›</a:t>
            </a:fld>
            <a:endParaRPr lang="en-US"/>
          </a:p>
        </p:txBody>
      </p:sp>
    </p:spTree>
    <p:extLst>
      <p:ext uri="{BB962C8B-B14F-4D97-AF65-F5344CB8AC3E}">
        <p14:creationId xmlns:p14="http://schemas.microsoft.com/office/powerpoint/2010/main" val="726610395"/>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1094512D-8AB6-A848-A15B-E5195470FC73}" type="datetimeFigureOut">
              <a:rPr lang="en-US" smtClean="0"/>
              <a:t>10/17/24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11E7AE-6675-F24A-83FF-3100E9763439}" type="slidenum">
              <a:rPr lang="en-US" smtClean="0"/>
              <a:t>‹#›</a:t>
            </a:fld>
            <a:endParaRPr lang="en-US"/>
          </a:p>
        </p:txBody>
      </p:sp>
    </p:spTree>
    <p:extLst>
      <p:ext uri="{BB962C8B-B14F-4D97-AF65-F5344CB8AC3E}">
        <p14:creationId xmlns:p14="http://schemas.microsoft.com/office/powerpoint/2010/main" val="579935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94512D-8AB6-A848-A15B-E5195470FC73}" type="datetimeFigureOut">
              <a:rPr lang="en-US" smtClean="0"/>
              <a:t>10/17/24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611E7AE-6675-F24A-83FF-3100E9763439}" type="slidenum">
              <a:rPr lang="en-US" smtClean="0"/>
              <a:t>‹#›</a:t>
            </a:fld>
            <a:endParaRPr lang="en-US"/>
          </a:p>
        </p:txBody>
      </p:sp>
    </p:spTree>
    <p:extLst>
      <p:ext uri="{BB962C8B-B14F-4D97-AF65-F5344CB8AC3E}">
        <p14:creationId xmlns:p14="http://schemas.microsoft.com/office/powerpoint/2010/main" val="486395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GB"/>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1094512D-8AB6-A848-A15B-E5195470FC73}" type="datetimeFigureOut">
              <a:rPr lang="en-US" smtClean="0"/>
              <a:t>10/17/24</a:t>
            </a:fld>
            <a:endParaRPr lang="en-US"/>
          </a:p>
        </p:txBody>
      </p:sp>
      <p:sp>
        <p:nvSpPr>
          <p:cNvPr id="6" name="Footer Placeholder 5"/>
          <p:cNvSpPr>
            <a:spLocks noGrp="1"/>
          </p:cNvSpPr>
          <p:nvPr>
            <p:ph type="ftr" sz="quarter" idx="11"/>
          </p:nvPr>
        </p:nvSpPr>
        <p:spPr>
          <a:xfrm>
            <a:off x="2103620" y="6375679"/>
            <a:ext cx="3482179" cy="345796"/>
          </a:xfrm>
        </p:spPr>
        <p:txBody>
          <a:bodyPr/>
          <a:lstStyle/>
          <a:p>
            <a:endParaRPr lang="en-US"/>
          </a:p>
        </p:txBody>
      </p:sp>
      <p:sp>
        <p:nvSpPr>
          <p:cNvPr id="7" name="Slide Number Placeholder 6"/>
          <p:cNvSpPr>
            <a:spLocks noGrp="1"/>
          </p:cNvSpPr>
          <p:nvPr>
            <p:ph type="sldNum" sz="quarter" idx="12"/>
          </p:nvPr>
        </p:nvSpPr>
        <p:spPr>
          <a:xfrm>
            <a:off x="5691014" y="6375679"/>
            <a:ext cx="1232456" cy="345796"/>
          </a:xfrm>
        </p:spPr>
        <p:txBody>
          <a:bodyPr/>
          <a:lstStyle/>
          <a:p>
            <a:fld id="{8611E7AE-6675-F24A-83FF-3100E9763439}" type="slidenum">
              <a:rPr lang="en-US" smtClean="0"/>
              <a:t>‹#›</a:t>
            </a:fld>
            <a:endParaRPr 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98453854"/>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GB"/>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1094512D-8AB6-A848-A15B-E5195470FC73}" type="datetimeFigureOut">
              <a:rPr lang="en-US" smtClean="0"/>
              <a:t>10/17/24</a:t>
            </a:fld>
            <a:endParaRPr lang="en-US"/>
          </a:p>
        </p:txBody>
      </p:sp>
      <p:sp>
        <p:nvSpPr>
          <p:cNvPr id="6" name="Footer Placeholder 5"/>
          <p:cNvSpPr>
            <a:spLocks noGrp="1"/>
          </p:cNvSpPr>
          <p:nvPr>
            <p:ph type="ftr" sz="quarter" idx="11"/>
          </p:nvPr>
        </p:nvSpPr>
        <p:spPr>
          <a:xfrm>
            <a:off x="2103621" y="6375679"/>
            <a:ext cx="3482178" cy="345796"/>
          </a:xfrm>
        </p:spPr>
        <p:txBody>
          <a:bodyPr/>
          <a:lstStyle/>
          <a:p>
            <a:endParaRPr lang="en-US"/>
          </a:p>
        </p:txBody>
      </p:sp>
      <p:sp>
        <p:nvSpPr>
          <p:cNvPr id="7" name="Slide Number Placeholder 6"/>
          <p:cNvSpPr>
            <a:spLocks noGrp="1"/>
          </p:cNvSpPr>
          <p:nvPr>
            <p:ph type="sldNum" sz="quarter" idx="12"/>
          </p:nvPr>
        </p:nvSpPr>
        <p:spPr>
          <a:xfrm>
            <a:off x="5687568" y="6375679"/>
            <a:ext cx="1234440" cy="345796"/>
          </a:xfrm>
        </p:spPr>
        <p:txBody>
          <a:bodyPr/>
          <a:lstStyle/>
          <a:p>
            <a:fld id="{8611E7AE-6675-F24A-83FF-3100E9763439}" type="slidenum">
              <a:rPr lang="en-US" smtClean="0"/>
              <a:t>‹#›</a:t>
            </a:fld>
            <a:endParaRPr lang="en-US"/>
          </a:p>
        </p:txBody>
      </p:sp>
    </p:spTree>
    <p:extLst>
      <p:ext uri="{BB962C8B-B14F-4D97-AF65-F5344CB8AC3E}">
        <p14:creationId xmlns:p14="http://schemas.microsoft.com/office/powerpoint/2010/main" val="580695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094512D-8AB6-A848-A15B-E5195470FC73}" type="datetimeFigureOut">
              <a:rPr lang="en-US" smtClean="0"/>
              <a:t>10/17/24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11E7AE-6675-F24A-83FF-3100E9763439}" type="slidenum">
              <a:rPr lang="en-US" smtClean="0"/>
              <a:t>‹#›</a:t>
            </a:fld>
            <a:endParaRPr lang="en-US"/>
          </a:p>
        </p:txBody>
      </p:sp>
    </p:spTree>
    <p:extLst>
      <p:ext uri="{BB962C8B-B14F-4D97-AF65-F5344CB8AC3E}">
        <p14:creationId xmlns:p14="http://schemas.microsoft.com/office/powerpoint/2010/main" val="12085217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094512D-8AB6-A848-A15B-E5195470FC73}" type="datetimeFigureOut">
              <a:rPr lang="en-US" smtClean="0"/>
              <a:t>10/17/24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11E7AE-6675-F24A-83FF-3100E9763439}" type="slidenum">
              <a:rPr lang="en-US" smtClean="0"/>
              <a:t>‹#›</a:t>
            </a:fld>
            <a:endParaRPr lang="en-US"/>
          </a:p>
        </p:txBody>
      </p:sp>
    </p:spTree>
    <p:extLst>
      <p:ext uri="{BB962C8B-B14F-4D97-AF65-F5344CB8AC3E}">
        <p14:creationId xmlns:p14="http://schemas.microsoft.com/office/powerpoint/2010/main" val="1225267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1094512D-8AB6-A848-A15B-E5195470FC73}" type="datetimeFigureOut">
              <a:rPr lang="en-US" smtClean="0"/>
              <a:t>10/17/24</a:t>
            </a:fld>
            <a:endParaRPr lang="en-US"/>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8611E7AE-6675-F24A-83FF-3100E9763439}" type="slidenum">
              <a:rPr lang="en-US" smtClean="0"/>
              <a:t>‹#›</a:t>
            </a:fld>
            <a:endParaRPr lang="en-US"/>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11373555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540B0-C885-0E08-0D0F-8419D4B351B6}"/>
              </a:ext>
            </a:extLst>
          </p:cNvPr>
          <p:cNvSpPr>
            <a:spLocks noGrp="1"/>
          </p:cNvSpPr>
          <p:nvPr>
            <p:ph type="ctrTitle"/>
          </p:nvPr>
        </p:nvSpPr>
        <p:spPr/>
        <p:txBody>
          <a:bodyPr/>
          <a:lstStyle/>
          <a:p>
            <a:r>
              <a:rPr lang="en-US" sz="5400" dirty="0">
                <a:latin typeface="Avenir Book" panose="02000503020000020003" pitchFamily="2" charset="0"/>
              </a:rPr>
              <a:t>Cosmological argument </a:t>
            </a:r>
          </a:p>
        </p:txBody>
      </p:sp>
      <p:sp>
        <p:nvSpPr>
          <p:cNvPr id="3" name="Subtitle 2">
            <a:extLst>
              <a:ext uri="{FF2B5EF4-FFF2-40B4-BE49-F238E27FC236}">
                <a16:creationId xmlns:a16="http://schemas.microsoft.com/office/drawing/2014/main" id="{41A054C9-FE3E-011A-0483-5E22756B10EB}"/>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287099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5E582-67EF-E10A-B67B-2BE551907D4E}"/>
              </a:ext>
            </a:extLst>
          </p:cNvPr>
          <p:cNvSpPr>
            <a:spLocks noGrp="1"/>
          </p:cNvSpPr>
          <p:nvPr>
            <p:ph type="title"/>
          </p:nvPr>
        </p:nvSpPr>
        <p:spPr>
          <a:xfrm>
            <a:off x="1251678" y="890337"/>
            <a:ext cx="10178322" cy="984180"/>
          </a:xfrm>
        </p:spPr>
        <p:txBody>
          <a:bodyPr>
            <a:normAutofit/>
          </a:bodyPr>
          <a:lstStyle/>
          <a:p>
            <a:r>
              <a:rPr lang="en-US" sz="4400" dirty="0">
                <a:latin typeface="Avenir Book" panose="02000503020000020003" pitchFamily="2" charset="0"/>
              </a:rPr>
              <a:t>Technical terminology</a:t>
            </a:r>
          </a:p>
        </p:txBody>
      </p:sp>
      <p:sp>
        <p:nvSpPr>
          <p:cNvPr id="3" name="Content Placeholder 2">
            <a:extLst>
              <a:ext uri="{FF2B5EF4-FFF2-40B4-BE49-F238E27FC236}">
                <a16:creationId xmlns:a16="http://schemas.microsoft.com/office/drawing/2014/main" id="{B09C1E5C-9A33-DD5C-C415-5E7288DD087E}"/>
              </a:ext>
            </a:extLst>
          </p:cNvPr>
          <p:cNvSpPr>
            <a:spLocks noGrp="1"/>
          </p:cNvSpPr>
          <p:nvPr>
            <p:ph idx="1"/>
          </p:nvPr>
        </p:nvSpPr>
        <p:spPr/>
        <p:txBody>
          <a:bodyPr>
            <a:normAutofit fontScale="92500"/>
          </a:bodyPr>
          <a:lstStyle/>
          <a:p>
            <a:r>
              <a:rPr lang="en-US" sz="2400" b="1" dirty="0">
                <a:solidFill>
                  <a:schemeClr val="tx1"/>
                </a:solidFill>
                <a:latin typeface="Avenir Book" panose="02000503020000020003" pitchFamily="2" charset="0"/>
              </a:rPr>
              <a:t>Necessary</a:t>
            </a:r>
            <a:r>
              <a:rPr lang="en-US" sz="2400" dirty="0">
                <a:solidFill>
                  <a:schemeClr val="tx1"/>
                </a:solidFill>
                <a:latin typeface="Avenir Book" panose="02000503020000020003" pitchFamily="2" charset="0"/>
              </a:rPr>
              <a:t> - a proposition that must be true or false, a state of affairs that must hold. </a:t>
            </a:r>
          </a:p>
          <a:p>
            <a:r>
              <a:rPr lang="en-US" sz="2400" b="1" dirty="0">
                <a:solidFill>
                  <a:schemeClr val="tx1"/>
                </a:solidFill>
                <a:latin typeface="Avenir Book" panose="02000503020000020003" pitchFamily="2" charset="0"/>
              </a:rPr>
              <a:t>Contingent </a:t>
            </a:r>
            <a:r>
              <a:rPr lang="en-US" sz="2400" dirty="0">
                <a:solidFill>
                  <a:schemeClr val="tx1"/>
                </a:solidFill>
                <a:latin typeface="Avenir Book" panose="02000503020000020003" pitchFamily="2" charset="0"/>
              </a:rPr>
              <a:t>– a proposition that may or may not hold. </a:t>
            </a:r>
          </a:p>
          <a:p>
            <a:r>
              <a:rPr lang="en-US" sz="2400" b="1" dirty="0">
                <a:solidFill>
                  <a:schemeClr val="tx1"/>
                </a:solidFill>
                <a:latin typeface="Avenir Book" panose="02000503020000020003" pitchFamily="2" charset="0"/>
              </a:rPr>
              <a:t>Sufficient reason </a:t>
            </a:r>
            <a:r>
              <a:rPr lang="en-US" sz="2400" dirty="0">
                <a:solidFill>
                  <a:schemeClr val="tx1"/>
                </a:solidFill>
                <a:latin typeface="Avenir Book" panose="02000503020000020003" pitchFamily="2" charset="0"/>
              </a:rPr>
              <a:t>– a reason that explains why something is X and not Y. </a:t>
            </a:r>
          </a:p>
          <a:p>
            <a:r>
              <a:rPr lang="en-US" sz="2400" b="1" dirty="0">
                <a:solidFill>
                  <a:schemeClr val="tx1"/>
                </a:solidFill>
                <a:latin typeface="Avenir Book" panose="02000503020000020003" pitchFamily="2" charset="0"/>
              </a:rPr>
              <a:t>Temporal cause </a:t>
            </a:r>
            <a:r>
              <a:rPr lang="en-US" sz="2400" dirty="0">
                <a:solidFill>
                  <a:schemeClr val="tx1"/>
                </a:solidFill>
                <a:latin typeface="Avenir Book" panose="02000503020000020003" pitchFamily="2" charset="0"/>
              </a:rPr>
              <a:t>– a cause of an event, that comes first in a temporal sequence. </a:t>
            </a:r>
          </a:p>
          <a:p>
            <a:r>
              <a:rPr lang="en-US" sz="2400" b="1" dirty="0">
                <a:solidFill>
                  <a:schemeClr val="tx1"/>
                </a:solidFill>
                <a:latin typeface="Avenir Book" panose="02000503020000020003" pitchFamily="2" charset="0"/>
              </a:rPr>
              <a:t>A sustaining cause </a:t>
            </a:r>
            <a:r>
              <a:rPr lang="en-US" sz="2400" dirty="0">
                <a:solidFill>
                  <a:schemeClr val="tx1"/>
                </a:solidFill>
                <a:latin typeface="Avenir Book" panose="02000503020000020003" pitchFamily="2" charset="0"/>
              </a:rPr>
              <a:t>– a process that sustains another thing in existence over a period of time. </a:t>
            </a:r>
          </a:p>
        </p:txBody>
      </p:sp>
    </p:spTree>
    <p:extLst>
      <p:ext uri="{BB962C8B-B14F-4D97-AF65-F5344CB8AC3E}">
        <p14:creationId xmlns:p14="http://schemas.microsoft.com/office/powerpoint/2010/main" val="2484917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E8F1F-D9BC-3FCE-DF45-85B934FF65CC}"/>
              </a:ext>
            </a:extLst>
          </p:cNvPr>
          <p:cNvSpPr>
            <a:spLocks noGrp="1"/>
          </p:cNvSpPr>
          <p:nvPr>
            <p:ph type="title"/>
          </p:nvPr>
        </p:nvSpPr>
        <p:spPr>
          <a:xfrm>
            <a:off x="1251678" y="978408"/>
            <a:ext cx="10178322" cy="896108"/>
          </a:xfrm>
        </p:spPr>
        <p:txBody>
          <a:bodyPr>
            <a:normAutofit/>
          </a:bodyPr>
          <a:lstStyle/>
          <a:p>
            <a:r>
              <a:rPr lang="en-US" sz="4800" dirty="0">
                <a:latin typeface="Avenir Book" panose="02000503020000020003" pitchFamily="2" charset="0"/>
              </a:rPr>
              <a:t>Cosmological argument </a:t>
            </a:r>
          </a:p>
        </p:txBody>
      </p:sp>
      <p:sp>
        <p:nvSpPr>
          <p:cNvPr id="3" name="Content Placeholder 2">
            <a:extLst>
              <a:ext uri="{FF2B5EF4-FFF2-40B4-BE49-F238E27FC236}">
                <a16:creationId xmlns:a16="http://schemas.microsoft.com/office/drawing/2014/main" id="{B70454B2-BF23-FFD1-D5EF-AC609E4236A4}"/>
              </a:ext>
            </a:extLst>
          </p:cNvPr>
          <p:cNvSpPr>
            <a:spLocks noGrp="1"/>
          </p:cNvSpPr>
          <p:nvPr>
            <p:ph idx="1"/>
          </p:nvPr>
        </p:nvSpPr>
        <p:spPr/>
        <p:txBody>
          <a:bodyPr>
            <a:normAutofit fontScale="92500" lnSpcReduction="10000"/>
          </a:bodyPr>
          <a:lstStyle/>
          <a:p>
            <a:pPr marL="0" indent="0" algn="just">
              <a:lnSpc>
                <a:spcPct val="150000"/>
              </a:lnSpc>
              <a:buNone/>
            </a:pPr>
            <a:r>
              <a:rPr lang="en-US" sz="2400" dirty="0">
                <a:solidFill>
                  <a:schemeClr val="tx1"/>
                </a:solidFill>
                <a:latin typeface="Avenir Book" panose="02000503020000020003" pitchFamily="2" charset="0"/>
              </a:rPr>
              <a:t>The cosmological argument for the existence of God is an argument that in some sense reaches right back to Aristotle, who understood there to be a first mover of all things in the world. However,  Aristotle was working in a pre-Christian age and understood the world to be eternal. </a:t>
            </a:r>
          </a:p>
          <a:p>
            <a:pPr marL="0" indent="0" algn="just">
              <a:lnSpc>
                <a:spcPct val="150000"/>
              </a:lnSpc>
              <a:buNone/>
            </a:pPr>
            <a:endParaRPr lang="en-US" sz="2400" dirty="0">
              <a:solidFill>
                <a:schemeClr val="tx1"/>
              </a:solidFill>
              <a:latin typeface="Avenir Book" panose="02000503020000020003" pitchFamily="2" charset="0"/>
            </a:endParaRPr>
          </a:p>
          <a:p>
            <a:pPr marL="0" indent="0" algn="just">
              <a:lnSpc>
                <a:spcPct val="150000"/>
              </a:lnSpc>
              <a:buNone/>
            </a:pPr>
            <a:r>
              <a:rPr lang="en-US" sz="2400" dirty="0">
                <a:solidFill>
                  <a:schemeClr val="tx1"/>
                </a:solidFill>
                <a:latin typeface="Avenir Book" panose="02000503020000020003" pitchFamily="2" charset="0"/>
              </a:rPr>
              <a:t>In the words of Anselm, the argument wants to prove the existence of a first ‘supreme’ being, that exists </a:t>
            </a:r>
            <a:r>
              <a:rPr lang="en-US" sz="2400" i="1" dirty="0">
                <a:solidFill>
                  <a:schemeClr val="tx1"/>
                </a:solidFill>
                <a:latin typeface="Avenir Book" panose="02000503020000020003" pitchFamily="2" charset="0"/>
              </a:rPr>
              <a:t>through itself’. </a:t>
            </a:r>
          </a:p>
        </p:txBody>
      </p:sp>
    </p:spTree>
    <p:extLst>
      <p:ext uri="{BB962C8B-B14F-4D97-AF65-F5344CB8AC3E}">
        <p14:creationId xmlns:p14="http://schemas.microsoft.com/office/powerpoint/2010/main" val="2829224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BE237-E65B-B186-EC2B-141E03C8D8DC}"/>
              </a:ext>
            </a:extLst>
          </p:cNvPr>
          <p:cNvSpPr>
            <a:spLocks noGrp="1"/>
          </p:cNvSpPr>
          <p:nvPr>
            <p:ph type="title"/>
          </p:nvPr>
        </p:nvSpPr>
        <p:spPr>
          <a:xfrm>
            <a:off x="1251678" y="786809"/>
            <a:ext cx="10178322" cy="1087708"/>
          </a:xfrm>
        </p:spPr>
        <p:txBody>
          <a:bodyPr>
            <a:normAutofit/>
          </a:bodyPr>
          <a:lstStyle/>
          <a:p>
            <a:r>
              <a:rPr lang="en-US" sz="4400" dirty="0">
                <a:latin typeface="Avenir Book" panose="02000503020000020003" pitchFamily="2" charset="0"/>
              </a:rPr>
              <a:t>Anselm writes that… </a:t>
            </a:r>
          </a:p>
        </p:txBody>
      </p:sp>
      <p:sp>
        <p:nvSpPr>
          <p:cNvPr id="3" name="Content Placeholder 2">
            <a:extLst>
              <a:ext uri="{FF2B5EF4-FFF2-40B4-BE49-F238E27FC236}">
                <a16:creationId xmlns:a16="http://schemas.microsoft.com/office/drawing/2014/main" id="{2C817F1F-A407-7D7D-C7E3-5FE031B25F1F}"/>
              </a:ext>
            </a:extLst>
          </p:cNvPr>
          <p:cNvSpPr>
            <a:spLocks noGrp="1"/>
          </p:cNvSpPr>
          <p:nvPr>
            <p:ph idx="1"/>
          </p:nvPr>
        </p:nvSpPr>
        <p:spPr/>
        <p:txBody>
          <a:bodyPr>
            <a:normAutofit/>
          </a:bodyPr>
          <a:lstStyle/>
          <a:p>
            <a:pPr marL="0" indent="0" algn="just">
              <a:buNone/>
            </a:pPr>
            <a:r>
              <a:rPr lang="en-US" sz="2800" dirty="0">
                <a:solidFill>
                  <a:schemeClr val="tx1"/>
                </a:solidFill>
                <a:latin typeface="Avenir Book" panose="02000503020000020003" pitchFamily="2" charset="0"/>
              </a:rPr>
              <a:t>‘That there exists a nature, through which everything that exists exists, which exists through itself, and which is, of all things that exist, supreme.’ </a:t>
            </a:r>
          </a:p>
          <a:p>
            <a:pPr marL="0" indent="0" algn="just">
              <a:buNone/>
            </a:pPr>
            <a:endParaRPr lang="en-US" sz="2800" dirty="0">
              <a:solidFill>
                <a:schemeClr val="tx1"/>
              </a:solidFill>
              <a:latin typeface="Avenir Book" panose="02000503020000020003" pitchFamily="2" charset="0"/>
            </a:endParaRPr>
          </a:p>
          <a:p>
            <a:pPr marL="0" indent="0" algn="just">
              <a:buNone/>
            </a:pPr>
            <a:r>
              <a:rPr lang="en-US" sz="2800" dirty="0">
                <a:solidFill>
                  <a:schemeClr val="tx1"/>
                </a:solidFill>
                <a:latin typeface="Avenir Book" panose="02000503020000020003" pitchFamily="2" charset="0"/>
              </a:rPr>
              <a:t>Anslem of Canterbury; The </a:t>
            </a:r>
            <a:r>
              <a:rPr lang="en-US" sz="2800" dirty="0" err="1">
                <a:solidFill>
                  <a:schemeClr val="tx1"/>
                </a:solidFill>
                <a:latin typeface="Avenir Book" panose="02000503020000020003" pitchFamily="2" charset="0"/>
              </a:rPr>
              <a:t>monologion</a:t>
            </a:r>
            <a:endParaRPr lang="en-US" sz="2800" dirty="0">
              <a:solidFill>
                <a:schemeClr val="tx1"/>
              </a:solidFill>
              <a:latin typeface="Avenir Book" panose="02000503020000020003" pitchFamily="2" charset="0"/>
            </a:endParaRPr>
          </a:p>
        </p:txBody>
      </p:sp>
    </p:spTree>
    <p:extLst>
      <p:ext uri="{BB962C8B-B14F-4D97-AF65-F5344CB8AC3E}">
        <p14:creationId xmlns:p14="http://schemas.microsoft.com/office/powerpoint/2010/main" val="4265622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88C64-D2AA-F50B-6FC6-52514529A951}"/>
              </a:ext>
            </a:extLst>
          </p:cNvPr>
          <p:cNvSpPr>
            <a:spLocks noGrp="1"/>
          </p:cNvSpPr>
          <p:nvPr>
            <p:ph type="title"/>
          </p:nvPr>
        </p:nvSpPr>
        <p:spPr>
          <a:xfrm>
            <a:off x="1251678" y="707135"/>
            <a:ext cx="10178322" cy="1167381"/>
          </a:xfrm>
        </p:spPr>
        <p:txBody>
          <a:bodyPr>
            <a:normAutofit/>
          </a:bodyPr>
          <a:lstStyle/>
          <a:p>
            <a:r>
              <a:rPr lang="en-US" sz="3200" dirty="0">
                <a:latin typeface="Avenir Book" panose="02000503020000020003" pitchFamily="2" charset="0"/>
              </a:rPr>
              <a:t>There are some basic mediaeval axioms that were accepted.</a:t>
            </a:r>
          </a:p>
        </p:txBody>
      </p:sp>
      <p:sp>
        <p:nvSpPr>
          <p:cNvPr id="3" name="Content Placeholder 2">
            <a:extLst>
              <a:ext uri="{FF2B5EF4-FFF2-40B4-BE49-F238E27FC236}">
                <a16:creationId xmlns:a16="http://schemas.microsoft.com/office/drawing/2014/main" id="{5A9A2CB3-BC8F-16D4-0FA8-A207CB3984D1}"/>
              </a:ext>
            </a:extLst>
          </p:cNvPr>
          <p:cNvSpPr>
            <a:spLocks noGrp="1"/>
          </p:cNvSpPr>
          <p:nvPr>
            <p:ph idx="1"/>
          </p:nvPr>
        </p:nvSpPr>
        <p:spPr/>
        <p:txBody>
          <a:bodyPr>
            <a:normAutofit/>
          </a:bodyPr>
          <a:lstStyle/>
          <a:p>
            <a:pPr marL="457200" indent="-457200">
              <a:buAutoNum type="arabicPeriod"/>
            </a:pPr>
            <a:r>
              <a:rPr lang="en-US" sz="2400" dirty="0">
                <a:solidFill>
                  <a:schemeClr val="tx1"/>
                </a:solidFill>
                <a:latin typeface="Avenir Book" panose="02000503020000020003" pitchFamily="2" charset="0"/>
              </a:rPr>
              <a:t>‘Everything that exists, exists either through something or through nothing. But nothing exists through nothing.’ </a:t>
            </a:r>
          </a:p>
          <a:p>
            <a:pPr marL="457200" indent="-457200">
              <a:buAutoNum type="arabicPeriod"/>
            </a:pPr>
            <a:endParaRPr lang="en-US" sz="2400" dirty="0">
              <a:solidFill>
                <a:schemeClr val="tx1"/>
              </a:solidFill>
              <a:latin typeface="Avenir Book" panose="02000503020000020003" pitchFamily="2" charset="0"/>
            </a:endParaRPr>
          </a:p>
          <a:p>
            <a:pPr marL="457200" indent="-457200">
              <a:buAutoNum type="arabicPeriod"/>
            </a:pPr>
            <a:r>
              <a:rPr lang="en-US" sz="2400" dirty="0">
                <a:solidFill>
                  <a:schemeClr val="tx1"/>
                </a:solidFill>
                <a:latin typeface="Avenir Book" panose="02000503020000020003" pitchFamily="2" charset="0"/>
              </a:rPr>
              <a:t>That everything that exists, has a cause of its existence. </a:t>
            </a:r>
          </a:p>
          <a:p>
            <a:pPr marL="457200" indent="-457200">
              <a:buAutoNum type="arabicPeriod"/>
            </a:pPr>
            <a:endParaRPr lang="en-US" sz="2400" dirty="0">
              <a:solidFill>
                <a:schemeClr val="tx1"/>
              </a:solidFill>
              <a:latin typeface="Avenir Book" panose="02000503020000020003" pitchFamily="2" charset="0"/>
            </a:endParaRPr>
          </a:p>
          <a:p>
            <a:pPr marL="457200" indent="-457200">
              <a:buAutoNum type="arabicPeriod"/>
            </a:pPr>
            <a:r>
              <a:rPr lang="en-US" sz="2400" dirty="0">
                <a:solidFill>
                  <a:schemeClr val="tx1"/>
                </a:solidFill>
                <a:latin typeface="Avenir Book" panose="02000503020000020003" pitchFamily="2" charset="0"/>
              </a:rPr>
              <a:t>An infinite regress of causes is not possible. There must be some one thing that is the cause of itself. </a:t>
            </a:r>
          </a:p>
          <a:p>
            <a:pPr marL="0" indent="0">
              <a:buNone/>
            </a:pPr>
            <a:endParaRPr lang="en-US" sz="2400" dirty="0">
              <a:solidFill>
                <a:schemeClr val="tx1"/>
              </a:solidFill>
              <a:latin typeface="Avenir Book" panose="02000503020000020003" pitchFamily="2" charset="0"/>
            </a:endParaRPr>
          </a:p>
        </p:txBody>
      </p:sp>
    </p:spTree>
    <p:extLst>
      <p:ext uri="{BB962C8B-B14F-4D97-AF65-F5344CB8AC3E}">
        <p14:creationId xmlns:p14="http://schemas.microsoft.com/office/powerpoint/2010/main" val="2234929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B2705-989F-EE7C-8562-69DCADEE3AA4}"/>
              </a:ext>
            </a:extLst>
          </p:cNvPr>
          <p:cNvSpPr>
            <a:spLocks noGrp="1"/>
          </p:cNvSpPr>
          <p:nvPr>
            <p:ph type="title"/>
          </p:nvPr>
        </p:nvSpPr>
        <p:spPr>
          <a:xfrm>
            <a:off x="1251678" y="882501"/>
            <a:ext cx="10178322" cy="992015"/>
          </a:xfrm>
        </p:spPr>
        <p:txBody>
          <a:bodyPr>
            <a:normAutofit/>
          </a:bodyPr>
          <a:lstStyle/>
          <a:p>
            <a:r>
              <a:rPr lang="en-US" sz="3600" dirty="0">
                <a:latin typeface="Avenir Book" panose="02000503020000020003" pitchFamily="2" charset="0"/>
              </a:rPr>
              <a:t>The first form of the argument…</a:t>
            </a:r>
          </a:p>
        </p:txBody>
      </p:sp>
      <p:sp>
        <p:nvSpPr>
          <p:cNvPr id="3" name="Content Placeholder 2">
            <a:extLst>
              <a:ext uri="{FF2B5EF4-FFF2-40B4-BE49-F238E27FC236}">
                <a16:creationId xmlns:a16="http://schemas.microsoft.com/office/drawing/2014/main" id="{DC5AB4A9-3560-C26A-95CB-B6B5FAD68F92}"/>
              </a:ext>
            </a:extLst>
          </p:cNvPr>
          <p:cNvSpPr>
            <a:spLocks noGrp="1"/>
          </p:cNvSpPr>
          <p:nvPr>
            <p:ph idx="1"/>
          </p:nvPr>
        </p:nvSpPr>
        <p:spPr>
          <a:xfrm>
            <a:off x="1251678" y="1977657"/>
            <a:ext cx="10178322" cy="3901936"/>
          </a:xfrm>
        </p:spPr>
        <p:txBody>
          <a:bodyPr>
            <a:normAutofit fontScale="92500" lnSpcReduction="10000"/>
          </a:bodyPr>
          <a:lstStyle/>
          <a:p>
            <a:pPr algn="just">
              <a:lnSpc>
                <a:spcPct val="150000"/>
              </a:lnSpc>
            </a:pPr>
            <a:r>
              <a:rPr lang="en-US" sz="2400" dirty="0">
                <a:solidFill>
                  <a:schemeClr val="tx1"/>
                </a:solidFill>
                <a:latin typeface="Avenir Book" panose="02000503020000020003" pitchFamily="2" charset="0"/>
              </a:rPr>
              <a:t>The first form of the argument we are aware of, is the Kalam argument, developed by the Islamic schools of the early middle ages. This argument can be put as follows. </a:t>
            </a:r>
          </a:p>
          <a:p>
            <a:pPr marL="0" indent="0" algn="just">
              <a:lnSpc>
                <a:spcPct val="150000"/>
              </a:lnSpc>
              <a:buNone/>
            </a:pPr>
            <a:endParaRPr lang="en-US" sz="2400" dirty="0">
              <a:solidFill>
                <a:schemeClr val="tx1"/>
              </a:solidFill>
              <a:latin typeface="Avenir Book" panose="02000503020000020003" pitchFamily="2" charset="0"/>
            </a:endParaRPr>
          </a:p>
          <a:p>
            <a:pPr marL="0" indent="0" algn="just">
              <a:lnSpc>
                <a:spcPct val="150000"/>
              </a:lnSpc>
              <a:buNone/>
            </a:pPr>
            <a:r>
              <a:rPr lang="en-US" sz="2400" dirty="0">
                <a:solidFill>
                  <a:schemeClr val="tx1"/>
                </a:solidFill>
                <a:latin typeface="Avenir Book" panose="02000503020000020003" pitchFamily="2" charset="0"/>
              </a:rPr>
              <a:t>1. Everything that exists has a cause. </a:t>
            </a:r>
          </a:p>
          <a:p>
            <a:pPr marL="0" indent="0" algn="just">
              <a:lnSpc>
                <a:spcPct val="150000"/>
              </a:lnSpc>
              <a:buNone/>
            </a:pPr>
            <a:r>
              <a:rPr lang="en-US" sz="2400" dirty="0">
                <a:solidFill>
                  <a:schemeClr val="tx1"/>
                </a:solidFill>
                <a:latin typeface="Avenir Book" panose="02000503020000020003" pitchFamily="2" charset="0"/>
              </a:rPr>
              <a:t>2. The world (universe) exists.</a:t>
            </a:r>
          </a:p>
          <a:p>
            <a:pPr marL="0" indent="0" algn="just">
              <a:lnSpc>
                <a:spcPct val="150000"/>
              </a:lnSpc>
              <a:buNone/>
            </a:pPr>
            <a:r>
              <a:rPr lang="en-US" sz="2400" dirty="0">
                <a:solidFill>
                  <a:schemeClr val="tx1"/>
                </a:solidFill>
                <a:latin typeface="Avenir Book" panose="02000503020000020003" pitchFamily="2" charset="0"/>
              </a:rPr>
              <a:t>3. Therefore, the world (universe) has a cause.  </a:t>
            </a:r>
          </a:p>
        </p:txBody>
      </p:sp>
    </p:spTree>
    <p:extLst>
      <p:ext uri="{BB962C8B-B14F-4D97-AF65-F5344CB8AC3E}">
        <p14:creationId xmlns:p14="http://schemas.microsoft.com/office/powerpoint/2010/main" val="2061454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0638F-7BAF-0925-7124-E2863AE59165}"/>
              </a:ext>
            </a:extLst>
          </p:cNvPr>
          <p:cNvSpPr>
            <a:spLocks noGrp="1"/>
          </p:cNvSpPr>
          <p:nvPr>
            <p:ph type="title"/>
          </p:nvPr>
        </p:nvSpPr>
        <p:spPr>
          <a:xfrm>
            <a:off x="1251678" y="853440"/>
            <a:ext cx="10178322" cy="1021076"/>
          </a:xfrm>
        </p:spPr>
        <p:txBody>
          <a:bodyPr>
            <a:normAutofit/>
          </a:bodyPr>
          <a:lstStyle/>
          <a:p>
            <a:r>
              <a:rPr lang="en-US" sz="3200" dirty="0">
                <a:latin typeface="Avenir Book" panose="02000503020000020003" pitchFamily="2" charset="0"/>
              </a:rPr>
              <a:t>Temporal and sustaining cause.</a:t>
            </a:r>
          </a:p>
        </p:txBody>
      </p:sp>
      <p:sp>
        <p:nvSpPr>
          <p:cNvPr id="3" name="Content Placeholder 2">
            <a:extLst>
              <a:ext uri="{FF2B5EF4-FFF2-40B4-BE49-F238E27FC236}">
                <a16:creationId xmlns:a16="http://schemas.microsoft.com/office/drawing/2014/main" id="{C038C0DC-75F1-2A9F-22C0-C272BA92921E}"/>
              </a:ext>
            </a:extLst>
          </p:cNvPr>
          <p:cNvSpPr>
            <a:spLocks noGrp="1"/>
          </p:cNvSpPr>
          <p:nvPr>
            <p:ph idx="1"/>
          </p:nvPr>
        </p:nvSpPr>
        <p:spPr>
          <a:xfrm>
            <a:off x="1251678" y="1706881"/>
            <a:ext cx="10178322" cy="4172712"/>
          </a:xfrm>
        </p:spPr>
        <p:txBody>
          <a:bodyPr>
            <a:normAutofit/>
          </a:bodyPr>
          <a:lstStyle/>
          <a:p>
            <a:pPr marL="0" indent="0" algn="just">
              <a:buNone/>
            </a:pPr>
            <a:r>
              <a:rPr lang="en-US" sz="2400" dirty="0">
                <a:solidFill>
                  <a:schemeClr val="tx1"/>
                </a:solidFill>
                <a:latin typeface="Avenir Book" panose="02000503020000020003" pitchFamily="2" charset="0"/>
              </a:rPr>
              <a:t>In order to fully understand the cosmological argument as developed by Aquinas, it is necessary to understand the distinction between a temporal and a sustaining cause. </a:t>
            </a:r>
          </a:p>
          <a:p>
            <a:pPr marL="0" indent="0" algn="just">
              <a:buNone/>
            </a:pPr>
            <a:endParaRPr lang="en-US" sz="2400" dirty="0">
              <a:solidFill>
                <a:schemeClr val="tx1"/>
              </a:solidFill>
              <a:latin typeface="Avenir Book" panose="02000503020000020003" pitchFamily="2" charset="0"/>
            </a:endParaRPr>
          </a:p>
          <a:p>
            <a:pPr marL="0" indent="0" algn="just">
              <a:buNone/>
            </a:pPr>
            <a:r>
              <a:rPr lang="en-US" sz="2400" dirty="0">
                <a:solidFill>
                  <a:schemeClr val="tx1"/>
                </a:solidFill>
                <a:latin typeface="Avenir Book" panose="02000503020000020003" pitchFamily="2" charset="0"/>
              </a:rPr>
              <a:t>1. A temporal cause is a cause which can cease to exist, even while its effect continues. </a:t>
            </a:r>
          </a:p>
          <a:p>
            <a:pPr marL="0" indent="0" algn="just">
              <a:buNone/>
            </a:pPr>
            <a:r>
              <a:rPr lang="en-US" sz="2400" dirty="0">
                <a:solidFill>
                  <a:schemeClr val="tx1"/>
                </a:solidFill>
                <a:latin typeface="Avenir Book" panose="02000503020000020003" pitchFamily="2" charset="0"/>
              </a:rPr>
              <a:t>2. A sustaining cause, is a cause that is concomitant with its effect. </a:t>
            </a:r>
          </a:p>
          <a:p>
            <a:pPr marL="0" indent="0" algn="just">
              <a:buNone/>
            </a:pPr>
            <a:endParaRPr lang="en-US" sz="2400" dirty="0">
              <a:solidFill>
                <a:schemeClr val="tx1"/>
              </a:solidFill>
              <a:latin typeface="Avenir Book" panose="02000503020000020003" pitchFamily="2" charset="0"/>
            </a:endParaRPr>
          </a:p>
          <a:p>
            <a:pPr marL="0" indent="0" algn="just">
              <a:buNone/>
            </a:pPr>
            <a:r>
              <a:rPr lang="en-US" sz="2400" dirty="0">
                <a:solidFill>
                  <a:schemeClr val="tx1"/>
                </a:solidFill>
                <a:latin typeface="Avenir Book" panose="02000503020000020003" pitchFamily="2" charset="0"/>
              </a:rPr>
              <a:t>In both arguments it is </a:t>
            </a:r>
            <a:r>
              <a:rPr lang="en-US" sz="2400" i="1" dirty="0">
                <a:solidFill>
                  <a:schemeClr val="tx1"/>
                </a:solidFill>
                <a:latin typeface="Avenir Book" panose="02000503020000020003" pitchFamily="2" charset="0"/>
              </a:rPr>
              <a:t>sustaining</a:t>
            </a:r>
            <a:r>
              <a:rPr lang="en-US" sz="2400" dirty="0">
                <a:solidFill>
                  <a:schemeClr val="tx1"/>
                </a:solidFill>
                <a:latin typeface="Avenir Book" panose="02000503020000020003" pitchFamily="2" charset="0"/>
              </a:rPr>
              <a:t> cause that he is interested in. </a:t>
            </a:r>
          </a:p>
        </p:txBody>
      </p:sp>
    </p:spTree>
    <p:extLst>
      <p:ext uri="{BB962C8B-B14F-4D97-AF65-F5344CB8AC3E}">
        <p14:creationId xmlns:p14="http://schemas.microsoft.com/office/powerpoint/2010/main" val="3956289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BC4E5-E2D7-C320-8117-D176EC6E5CDF}"/>
              </a:ext>
            </a:extLst>
          </p:cNvPr>
          <p:cNvSpPr>
            <a:spLocks noGrp="1"/>
          </p:cNvSpPr>
          <p:nvPr>
            <p:ph type="title"/>
          </p:nvPr>
        </p:nvSpPr>
        <p:spPr>
          <a:xfrm>
            <a:off x="1251678" y="978407"/>
            <a:ext cx="10178322" cy="896109"/>
          </a:xfrm>
        </p:spPr>
        <p:txBody>
          <a:bodyPr>
            <a:normAutofit/>
          </a:bodyPr>
          <a:lstStyle/>
          <a:p>
            <a:r>
              <a:rPr lang="en-US" sz="3600" dirty="0">
                <a:latin typeface="Avenir Book" panose="02000503020000020003" pitchFamily="2" charset="0"/>
              </a:rPr>
              <a:t>Aquinas’ argument from motion</a:t>
            </a:r>
          </a:p>
        </p:txBody>
      </p:sp>
      <p:sp>
        <p:nvSpPr>
          <p:cNvPr id="3" name="Content Placeholder 2">
            <a:extLst>
              <a:ext uri="{FF2B5EF4-FFF2-40B4-BE49-F238E27FC236}">
                <a16:creationId xmlns:a16="http://schemas.microsoft.com/office/drawing/2014/main" id="{C3D4C874-3AD9-19FE-D629-314E29F44DCA}"/>
              </a:ext>
            </a:extLst>
          </p:cNvPr>
          <p:cNvSpPr>
            <a:spLocks noGrp="1"/>
          </p:cNvSpPr>
          <p:nvPr>
            <p:ph idx="1"/>
          </p:nvPr>
        </p:nvSpPr>
        <p:spPr/>
        <p:txBody>
          <a:bodyPr>
            <a:normAutofit fontScale="92500" lnSpcReduction="20000"/>
          </a:bodyPr>
          <a:lstStyle/>
          <a:p>
            <a:pPr marL="0" indent="0">
              <a:buNone/>
            </a:pPr>
            <a:r>
              <a:rPr lang="en-US" dirty="0">
                <a:solidFill>
                  <a:schemeClr val="tx1"/>
                </a:solidFill>
                <a:latin typeface="Avenir Book" panose="02000503020000020003" pitchFamily="2" charset="0"/>
              </a:rPr>
              <a:t>1.    We find in the world sustaining causes and effects. </a:t>
            </a:r>
          </a:p>
          <a:p>
            <a:pPr marL="457200" indent="-457200">
              <a:buAutoNum type="arabicPeriod" startAt="2"/>
            </a:pPr>
            <a:r>
              <a:rPr lang="en-US" dirty="0">
                <a:solidFill>
                  <a:schemeClr val="tx1"/>
                </a:solidFill>
                <a:latin typeface="Avenir Book" panose="02000503020000020003" pitchFamily="2" charset="0"/>
              </a:rPr>
              <a:t>Nothing can causally sustain itself and thus depend on itself. </a:t>
            </a:r>
          </a:p>
          <a:p>
            <a:pPr marL="457200" indent="-457200">
              <a:buAutoNum type="arabicPeriod" startAt="2"/>
            </a:pPr>
            <a:r>
              <a:rPr lang="en-US" dirty="0">
                <a:solidFill>
                  <a:schemeClr val="tx1"/>
                </a:solidFill>
                <a:latin typeface="Avenir Book" panose="02000503020000020003" pitchFamily="2" charset="0"/>
              </a:rPr>
              <a:t>Sustaining causes follow in order, the first causes, the second which, causes the third. </a:t>
            </a:r>
          </a:p>
          <a:p>
            <a:pPr marL="457200" indent="-457200">
              <a:buAutoNum type="arabicPeriod" startAt="2"/>
            </a:pPr>
            <a:r>
              <a:rPr lang="en-US" dirty="0">
                <a:solidFill>
                  <a:schemeClr val="tx1"/>
                </a:solidFill>
                <a:latin typeface="Avenir Book" panose="02000503020000020003" pitchFamily="2" charset="0"/>
              </a:rPr>
              <a:t>If you remove the cause, you remove the effect. </a:t>
            </a:r>
          </a:p>
          <a:p>
            <a:pPr marL="457200" indent="-457200">
              <a:buAutoNum type="arabicPeriod" startAt="2"/>
            </a:pPr>
            <a:r>
              <a:rPr lang="en-US" dirty="0">
                <a:solidFill>
                  <a:schemeClr val="tx1"/>
                </a:solidFill>
                <a:latin typeface="Avenir Book" panose="02000503020000020003" pitchFamily="2" charset="0"/>
              </a:rPr>
              <a:t>If there is no one cause that does not depend on any other causes we have an infinite regress.</a:t>
            </a:r>
          </a:p>
          <a:p>
            <a:pPr marL="457200" indent="-457200">
              <a:buAutoNum type="arabicPeriod" startAt="2"/>
            </a:pPr>
            <a:r>
              <a:rPr lang="en-US" dirty="0">
                <a:solidFill>
                  <a:schemeClr val="tx1"/>
                </a:solidFill>
                <a:latin typeface="Avenir Book" panose="02000503020000020003" pitchFamily="2" charset="0"/>
              </a:rPr>
              <a:t>There cannot be an infinite regress. </a:t>
            </a:r>
          </a:p>
          <a:p>
            <a:pPr marL="457200" indent="-457200">
              <a:buAutoNum type="arabicPeriod" startAt="2"/>
            </a:pPr>
            <a:r>
              <a:rPr lang="en-US" dirty="0">
                <a:solidFill>
                  <a:schemeClr val="tx1"/>
                </a:solidFill>
                <a:latin typeface="Avenir Book" panose="02000503020000020003" pitchFamily="2" charset="0"/>
              </a:rPr>
              <a:t>So, there must be a first sustaining cause, which is not itself caused. </a:t>
            </a:r>
          </a:p>
          <a:p>
            <a:pPr marL="457200" indent="-457200">
              <a:buAutoNum type="arabicPeriod" startAt="2"/>
            </a:pPr>
            <a:r>
              <a:rPr lang="en-US" dirty="0">
                <a:solidFill>
                  <a:schemeClr val="tx1"/>
                </a:solidFill>
                <a:latin typeface="Avenir Book" panose="02000503020000020003" pitchFamily="2" charset="0"/>
              </a:rPr>
              <a:t>God is the first sustaining cause. </a:t>
            </a:r>
          </a:p>
          <a:p>
            <a:pPr marL="457200" indent="-457200">
              <a:buAutoNum type="arabicPeriod" startAt="2"/>
            </a:pPr>
            <a:r>
              <a:rPr lang="en-US" dirty="0">
                <a:solidFill>
                  <a:schemeClr val="tx1"/>
                </a:solidFill>
                <a:latin typeface="Avenir Book" panose="02000503020000020003" pitchFamily="2" charset="0"/>
              </a:rPr>
              <a:t>Ergo, God exists. </a:t>
            </a:r>
          </a:p>
        </p:txBody>
      </p:sp>
    </p:spTree>
    <p:extLst>
      <p:ext uri="{BB962C8B-B14F-4D97-AF65-F5344CB8AC3E}">
        <p14:creationId xmlns:p14="http://schemas.microsoft.com/office/powerpoint/2010/main" val="96543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31C52B-DEF9-4845-9A79-72C9330F49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reeform 10">
            <a:extLst>
              <a:ext uri="{FF2B5EF4-FFF2-40B4-BE49-F238E27FC236}">
                <a16:creationId xmlns:a16="http://schemas.microsoft.com/office/drawing/2014/main" id="{63DACD0E-B2B1-49C4-B085-D93AC5F6E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6B56F28D-C78F-6729-96A0-1F88A074891A}"/>
              </a:ext>
            </a:extLst>
          </p:cNvPr>
          <p:cNvSpPr>
            <a:spLocks noGrp="1"/>
          </p:cNvSpPr>
          <p:nvPr>
            <p:ph type="title"/>
          </p:nvPr>
        </p:nvSpPr>
        <p:spPr>
          <a:xfrm>
            <a:off x="754144" y="878305"/>
            <a:ext cx="6340519" cy="1244795"/>
          </a:xfrm>
        </p:spPr>
        <p:txBody>
          <a:bodyPr>
            <a:normAutofit/>
          </a:bodyPr>
          <a:lstStyle/>
          <a:p>
            <a:r>
              <a:rPr lang="en-US" sz="4000" dirty="0">
                <a:latin typeface="Avenir Book" panose="02000503020000020003" pitchFamily="2" charset="0"/>
              </a:rPr>
              <a:t>Commentary</a:t>
            </a:r>
          </a:p>
        </p:txBody>
      </p:sp>
      <p:sp>
        <p:nvSpPr>
          <p:cNvPr id="13" name="Rectangle 12">
            <a:extLst>
              <a:ext uri="{FF2B5EF4-FFF2-40B4-BE49-F238E27FC236}">
                <a16:creationId xmlns:a16="http://schemas.microsoft.com/office/drawing/2014/main" id="{F2F5074D-2B0A-40BB-B69E-C08F65EC3C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01ADAB19-215C-B2E2-2400-14CBF6D609AE}"/>
              </a:ext>
            </a:extLst>
          </p:cNvPr>
          <p:cNvSpPr>
            <a:spLocks noGrp="1"/>
          </p:cNvSpPr>
          <p:nvPr>
            <p:ph idx="1"/>
          </p:nvPr>
        </p:nvSpPr>
        <p:spPr>
          <a:xfrm>
            <a:off x="765051" y="1853852"/>
            <a:ext cx="6306309" cy="4519515"/>
          </a:xfrm>
        </p:spPr>
        <p:txBody>
          <a:bodyPr>
            <a:normAutofit fontScale="92500"/>
          </a:bodyPr>
          <a:lstStyle/>
          <a:p>
            <a:pPr marL="0" indent="0">
              <a:lnSpc>
                <a:spcPct val="160000"/>
              </a:lnSpc>
              <a:buNone/>
            </a:pPr>
            <a:r>
              <a:rPr lang="en-US" dirty="0">
                <a:solidFill>
                  <a:srgbClr val="000000"/>
                </a:solidFill>
                <a:latin typeface="Avenir Book" panose="02000503020000020003" pitchFamily="2" charset="0"/>
              </a:rPr>
              <a:t>Aquinas used the following passage from the Bible, Romans in which we read, </a:t>
            </a:r>
            <a:r>
              <a:rPr lang="en-US" i="1" dirty="0">
                <a:solidFill>
                  <a:srgbClr val="000000"/>
                </a:solidFill>
                <a:latin typeface="Avenir Book" panose="02000503020000020003" pitchFamily="2" charset="0"/>
              </a:rPr>
              <a:t>‘For from Him and through him and unto him are all things’. </a:t>
            </a:r>
          </a:p>
          <a:p>
            <a:pPr>
              <a:lnSpc>
                <a:spcPct val="160000"/>
              </a:lnSpc>
            </a:pPr>
            <a:endParaRPr lang="en-US" i="1" dirty="0">
              <a:solidFill>
                <a:srgbClr val="000000"/>
              </a:solidFill>
              <a:latin typeface="Avenir Book" panose="02000503020000020003" pitchFamily="2" charset="0"/>
            </a:endParaRPr>
          </a:p>
          <a:p>
            <a:pPr marL="0" indent="0">
              <a:lnSpc>
                <a:spcPct val="160000"/>
              </a:lnSpc>
              <a:buNone/>
            </a:pPr>
            <a:r>
              <a:rPr lang="en-US" i="1" dirty="0">
                <a:solidFill>
                  <a:srgbClr val="000000"/>
                </a:solidFill>
                <a:latin typeface="Avenir Book" panose="02000503020000020003" pitchFamily="2" charset="0"/>
              </a:rPr>
              <a:t>We are bound to conclude that everything that is at all real, is from God. For when we encounter a subject which shares in a reality then this reality must needs be caused there by a thing which possesses it of its nature, as when, for example, iron is made red-hot by fire’. </a:t>
            </a:r>
          </a:p>
        </p:txBody>
      </p:sp>
      <p:pic>
        <p:nvPicPr>
          <p:cNvPr id="4" name="Picture 3" descr="A hand holding a rectangular object over a fire&#10;&#10;Description automatically generated">
            <a:extLst>
              <a:ext uri="{FF2B5EF4-FFF2-40B4-BE49-F238E27FC236}">
                <a16:creationId xmlns:a16="http://schemas.microsoft.com/office/drawing/2014/main" id="{3840B6C7-00E6-F601-2792-E93CE68AD7E2}"/>
              </a:ext>
            </a:extLst>
          </p:cNvPr>
          <p:cNvPicPr>
            <a:picLocks noChangeAspect="1"/>
          </p:cNvPicPr>
          <p:nvPr/>
        </p:nvPicPr>
        <p:blipFill>
          <a:blip r:embed="rId2"/>
          <a:stretch>
            <a:fillRect/>
          </a:stretch>
        </p:blipFill>
        <p:spPr>
          <a:xfrm>
            <a:off x="8050787" y="1600709"/>
            <a:ext cx="3656581" cy="3656581"/>
          </a:xfrm>
          <a:prstGeom prst="rect">
            <a:avLst/>
          </a:prstGeom>
        </p:spPr>
      </p:pic>
    </p:spTree>
    <p:extLst>
      <p:ext uri="{BB962C8B-B14F-4D97-AF65-F5344CB8AC3E}">
        <p14:creationId xmlns:p14="http://schemas.microsoft.com/office/powerpoint/2010/main" val="1785937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1E374-9328-0597-D186-EF998473061C}"/>
              </a:ext>
            </a:extLst>
          </p:cNvPr>
          <p:cNvSpPr>
            <a:spLocks noGrp="1"/>
          </p:cNvSpPr>
          <p:nvPr>
            <p:ph type="title"/>
          </p:nvPr>
        </p:nvSpPr>
        <p:spPr>
          <a:xfrm>
            <a:off x="1251678" y="876822"/>
            <a:ext cx="10178322" cy="997694"/>
          </a:xfrm>
        </p:spPr>
        <p:txBody>
          <a:bodyPr>
            <a:normAutofit/>
          </a:bodyPr>
          <a:lstStyle/>
          <a:p>
            <a:r>
              <a:rPr lang="en-US" sz="4400" dirty="0">
                <a:latin typeface="Avenir Book" panose="02000503020000020003" pitchFamily="2" charset="0"/>
              </a:rPr>
              <a:t>Aquinas continued</a:t>
            </a:r>
          </a:p>
        </p:txBody>
      </p:sp>
      <p:sp>
        <p:nvSpPr>
          <p:cNvPr id="3" name="Content Placeholder 2">
            <a:extLst>
              <a:ext uri="{FF2B5EF4-FFF2-40B4-BE49-F238E27FC236}">
                <a16:creationId xmlns:a16="http://schemas.microsoft.com/office/drawing/2014/main" id="{20B0BEFF-92B3-7F2C-A485-4634926B68D2}"/>
              </a:ext>
            </a:extLst>
          </p:cNvPr>
          <p:cNvSpPr>
            <a:spLocks noGrp="1"/>
          </p:cNvSpPr>
          <p:nvPr>
            <p:ph idx="1"/>
          </p:nvPr>
        </p:nvSpPr>
        <p:spPr/>
        <p:txBody>
          <a:bodyPr>
            <a:normAutofit/>
          </a:bodyPr>
          <a:lstStyle/>
          <a:p>
            <a:pPr marL="0" indent="0" algn="just">
              <a:lnSpc>
                <a:spcPct val="150000"/>
              </a:lnSpc>
              <a:buNone/>
            </a:pPr>
            <a:r>
              <a:rPr lang="en-US" sz="2400" dirty="0">
                <a:solidFill>
                  <a:schemeClr val="tx1"/>
                </a:solidFill>
                <a:latin typeface="Avenir Book" panose="02000503020000020003" pitchFamily="2" charset="0"/>
              </a:rPr>
              <a:t>‘It follows that all things that are diversified by their diverse sharing in existence, so that some are fuller beings than others, are caused by one first being which simply is in the fullest sense of the word.’  Aquinas</a:t>
            </a:r>
          </a:p>
        </p:txBody>
      </p:sp>
    </p:spTree>
    <p:extLst>
      <p:ext uri="{BB962C8B-B14F-4D97-AF65-F5344CB8AC3E}">
        <p14:creationId xmlns:p14="http://schemas.microsoft.com/office/powerpoint/2010/main" val="2849110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9BA69-34B6-A356-6F45-69C8CCE2BEFE}"/>
              </a:ext>
            </a:extLst>
          </p:cNvPr>
          <p:cNvSpPr>
            <a:spLocks noGrp="1"/>
          </p:cNvSpPr>
          <p:nvPr>
            <p:ph type="title"/>
          </p:nvPr>
        </p:nvSpPr>
        <p:spPr>
          <a:xfrm>
            <a:off x="1251678" y="754911"/>
            <a:ext cx="10178322" cy="1119605"/>
          </a:xfrm>
        </p:spPr>
        <p:txBody>
          <a:bodyPr>
            <a:normAutofit/>
          </a:bodyPr>
          <a:lstStyle/>
          <a:p>
            <a:pPr algn="ctr"/>
            <a:r>
              <a:rPr lang="en-US" sz="3200" dirty="0">
                <a:latin typeface="Avenir Book" panose="02000503020000020003" pitchFamily="2" charset="0"/>
              </a:rPr>
              <a:t>Three problems with the cosmological argument </a:t>
            </a:r>
          </a:p>
        </p:txBody>
      </p:sp>
      <p:sp>
        <p:nvSpPr>
          <p:cNvPr id="3" name="Content Placeholder 2">
            <a:extLst>
              <a:ext uri="{FF2B5EF4-FFF2-40B4-BE49-F238E27FC236}">
                <a16:creationId xmlns:a16="http://schemas.microsoft.com/office/drawing/2014/main" id="{AB9FD5C7-CA83-C689-5899-04DA787B6141}"/>
              </a:ext>
            </a:extLst>
          </p:cNvPr>
          <p:cNvSpPr>
            <a:spLocks noGrp="1"/>
          </p:cNvSpPr>
          <p:nvPr>
            <p:ph idx="1"/>
          </p:nvPr>
        </p:nvSpPr>
        <p:spPr/>
        <p:txBody>
          <a:bodyPr>
            <a:normAutofit/>
          </a:bodyPr>
          <a:lstStyle/>
          <a:p>
            <a:pPr marL="0" indent="0" algn="just">
              <a:buNone/>
            </a:pPr>
            <a:r>
              <a:rPr lang="en-US" sz="2400" dirty="0">
                <a:solidFill>
                  <a:schemeClr val="tx1"/>
                </a:solidFill>
                <a:latin typeface="Avenir Book" panose="02000503020000020003" pitchFamily="2" charset="0"/>
              </a:rPr>
              <a:t>1: The causal principle (the idea that everything has a cause) cannot be known analytically. </a:t>
            </a:r>
          </a:p>
          <a:p>
            <a:pPr marL="0" indent="0" algn="just">
              <a:buNone/>
            </a:pPr>
            <a:endParaRPr lang="en-US" sz="2400" dirty="0">
              <a:solidFill>
                <a:schemeClr val="tx1"/>
              </a:solidFill>
              <a:latin typeface="Avenir Book" panose="02000503020000020003" pitchFamily="2" charset="0"/>
            </a:endParaRPr>
          </a:p>
          <a:p>
            <a:pPr marL="0" indent="0" algn="just">
              <a:buNone/>
            </a:pPr>
            <a:r>
              <a:rPr lang="en-US" sz="2400" dirty="0">
                <a:solidFill>
                  <a:schemeClr val="tx1"/>
                </a:solidFill>
                <a:latin typeface="Avenir Book" panose="02000503020000020003" pitchFamily="2" charset="0"/>
              </a:rPr>
              <a:t>2: An infinite regress is possible.</a:t>
            </a:r>
          </a:p>
          <a:p>
            <a:pPr marL="0" indent="0" algn="just">
              <a:buNone/>
            </a:pPr>
            <a:endParaRPr lang="en-US" sz="2400" dirty="0">
              <a:solidFill>
                <a:schemeClr val="tx1"/>
              </a:solidFill>
              <a:latin typeface="Avenir Book" panose="02000503020000020003" pitchFamily="2" charset="0"/>
            </a:endParaRPr>
          </a:p>
          <a:p>
            <a:pPr marL="0" indent="0" algn="just">
              <a:buNone/>
            </a:pPr>
            <a:r>
              <a:rPr lang="en-US" sz="2400" dirty="0">
                <a:solidFill>
                  <a:schemeClr val="tx1"/>
                </a:solidFill>
                <a:latin typeface="Avenir Book" panose="02000503020000020003" pitchFamily="2" charset="0"/>
              </a:rPr>
              <a:t>3: We cannot infer the existence of God, from the existence of a first cause. </a:t>
            </a:r>
          </a:p>
          <a:p>
            <a:pPr marL="0" indent="0">
              <a:buNone/>
            </a:pPr>
            <a:endParaRPr lang="en-US" sz="2400" dirty="0">
              <a:solidFill>
                <a:schemeClr val="tx1"/>
              </a:solidFill>
              <a:latin typeface="Avenir Book" panose="02000503020000020003" pitchFamily="2" charset="0"/>
            </a:endParaRPr>
          </a:p>
          <a:p>
            <a:pPr marL="0" indent="0">
              <a:buNone/>
            </a:pPr>
            <a:endParaRPr lang="en-US" sz="2400" dirty="0">
              <a:solidFill>
                <a:schemeClr val="tx1"/>
              </a:solidFill>
              <a:latin typeface="Avenir Book" panose="02000503020000020003" pitchFamily="2" charset="0"/>
            </a:endParaRPr>
          </a:p>
        </p:txBody>
      </p:sp>
    </p:spTree>
    <p:extLst>
      <p:ext uri="{BB962C8B-B14F-4D97-AF65-F5344CB8AC3E}">
        <p14:creationId xmlns:p14="http://schemas.microsoft.com/office/powerpoint/2010/main" val="1369716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F6E96-B3A7-3AEB-C009-A385616E1E96}"/>
              </a:ext>
            </a:extLst>
          </p:cNvPr>
          <p:cNvSpPr>
            <a:spLocks noGrp="1"/>
          </p:cNvSpPr>
          <p:nvPr>
            <p:ph type="title"/>
          </p:nvPr>
        </p:nvSpPr>
        <p:spPr>
          <a:xfrm>
            <a:off x="1251678" y="786809"/>
            <a:ext cx="10178322" cy="1087708"/>
          </a:xfrm>
        </p:spPr>
        <p:txBody>
          <a:bodyPr>
            <a:normAutofit/>
          </a:bodyPr>
          <a:lstStyle/>
          <a:p>
            <a:pPr algn="ctr"/>
            <a:r>
              <a:rPr lang="en-US" sz="3200" dirty="0">
                <a:latin typeface="Avenir Book" panose="02000503020000020003" pitchFamily="2" charset="0"/>
              </a:rPr>
              <a:t>We cannot know the causal principle a priori</a:t>
            </a:r>
          </a:p>
        </p:txBody>
      </p:sp>
      <p:sp>
        <p:nvSpPr>
          <p:cNvPr id="3" name="Content Placeholder 2">
            <a:extLst>
              <a:ext uri="{FF2B5EF4-FFF2-40B4-BE49-F238E27FC236}">
                <a16:creationId xmlns:a16="http://schemas.microsoft.com/office/drawing/2014/main" id="{E96BE920-6A78-E45B-72C8-08480B5C6FEE}"/>
              </a:ext>
            </a:extLst>
          </p:cNvPr>
          <p:cNvSpPr>
            <a:spLocks noGrp="1"/>
          </p:cNvSpPr>
          <p:nvPr>
            <p:ph idx="1"/>
          </p:nvPr>
        </p:nvSpPr>
        <p:spPr/>
        <p:txBody>
          <a:bodyPr>
            <a:normAutofit fontScale="92500" lnSpcReduction="20000"/>
          </a:bodyPr>
          <a:lstStyle/>
          <a:p>
            <a:pPr marL="0" indent="0" algn="just">
              <a:buNone/>
            </a:pPr>
            <a:endParaRPr lang="en-US" sz="2400" dirty="0">
              <a:solidFill>
                <a:schemeClr val="tx1"/>
              </a:solidFill>
              <a:latin typeface="Avenir Book" panose="02000503020000020003" pitchFamily="2" charset="0"/>
            </a:endParaRPr>
          </a:p>
          <a:p>
            <a:pPr marL="0" indent="0" algn="just">
              <a:buNone/>
            </a:pPr>
            <a:r>
              <a:rPr lang="en-US" sz="2400" dirty="0">
                <a:solidFill>
                  <a:schemeClr val="tx1"/>
                </a:solidFill>
                <a:latin typeface="Avenir Book" panose="02000503020000020003" pitchFamily="2" charset="0"/>
              </a:rPr>
              <a:t>‘Tis a general maxim of philosophy in philosophy, that </a:t>
            </a:r>
            <a:r>
              <a:rPr lang="en-US" sz="2400" i="1" dirty="0">
                <a:solidFill>
                  <a:schemeClr val="tx1"/>
                </a:solidFill>
                <a:latin typeface="Avenir Book" panose="02000503020000020003" pitchFamily="2" charset="0"/>
              </a:rPr>
              <a:t>whatever begins to exist, must have a cause of existence. </a:t>
            </a:r>
            <a:r>
              <a:rPr lang="en-US" sz="2400" dirty="0">
                <a:solidFill>
                  <a:schemeClr val="tx1"/>
                </a:solidFill>
                <a:latin typeface="Avenir Book" panose="02000503020000020003" pitchFamily="2" charset="0"/>
              </a:rPr>
              <a:t>This is commonly taken for granted in all reasonings, without any proof given or demanded’. </a:t>
            </a:r>
          </a:p>
          <a:p>
            <a:pPr marL="0" indent="0" algn="just">
              <a:buNone/>
            </a:pPr>
            <a:endParaRPr lang="en-US" sz="2400" dirty="0">
              <a:solidFill>
                <a:schemeClr val="tx1"/>
              </a:solidFill>
              <a:latin typeface="Avenir Book" panose="02000503020000020003" pitchFamily="2" charset="0"/>
            </a:endParaRPr>
          </a:p>
          <a:p>
            <a:pPr marL="0" indent="0" algn="just">
              <a:buNone/>
            </a:pPr>
            <a:r>
              <a:rPr lang="en-US" sz="2400" dirty="0">
                <a:solidFill>
                  <a:schemeClr val="tx1"/>
                </a:solidFill>
                <a:latin typeface="Avenir Book" panose="02000503020000020003" pitchFamily="2" charset="0"/>
              </a:rPr>
              <a:t>Hume we cannot know that all objects have a cause a priori. The claim that all the events have causes is only a matter the fact that we constantly see certain causes and effects combined. We cannot know this a priori. </a:t>
            </a:r>
          </a:p>
          <a:p>
            <a:pPr marL="0" indent="0" algn="just">
              <a:buNone/>
            </a:pPr>
            <a:endParaRPr lang="en-US" sz="2400" dirty="0">
              <a:solidFill>
                <a:schemeClr val="tx1"/>
              </a:solidFill>
              <a:latin typeface="Avenir Book" panose="02000503020000020003" pitchFamily="2" charset="0"/>
            </a:endParaRPr>
          </a:p>
          <a:p>
            <a:pPr marL="0" indent="0" algn="just">
              <a:buNone/>
            </a:pPr>
            <a:r>
              <a:rPr lang="en-US" sz="2400" dirty="0">
                <a:solidFill>
                  <a:schemeClr val="tx1"/>
                </a:solidFill>
                <a:latin typeface="Avenir Book" panose="02000503020000020003" pitchFamily="2" charset="0"/>
              </a:rPr>
              <a:t> </a:t>
            </a:r>
          </a:p>
        </p:txBody>
      </p:sp>
    </p:spTree>
    <p:extLst>
      <p:ext uri="{BB962C8B-B14F-4D97-AF65-F5344CB8AC3E}">
        <p14:creationId xmlns:p14="http://schemas.microsoft.com/office/powerpoint/2010/main" val="3954680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094C1-AB12-1579-EA58-DDCC6BC661DC}"/>
              </a:ext>
            </a:extLst>
          </p:cNvPr>
          <p:cNvSpPr>
            <a:spLocks noGrp="1"/>
          </p:cNvSpPr>
          <p:nvPr>
            <p:ph type="title"/>
          </p:nvPr>
        </p:nvSpPr>
        <p:spPr>
          <a:xfrm>
            <a:off x="1251678" y="829339"/>
            <a:ext cx="10178322" cy="1045177"/>
          </a:xfrm>
        </p:spPr>
        <p:txBody>
          <a:bodyPr>
            <a:normAutofit fontScale="90000"/>
          </a:bodyPr>
          <a:lstStyle/>
          <a:p>
            <a:r>
              <a:rPr lang="en-US" sz="4400" dirty="0">
                <a:latin typeface="Avenir Book" panose="02000503020000020003" pitchFamily="2" charset="0"/>
              </a:rPr>
              <a:t>Hume and the causal principle…</a:t>
            </a:r>
          </a:p>
        </p:txBody>
      </p:sp>
      <p:sp>
        <p:nvSpPr>
          <p:cNvPr id="3" name="Content Placeholder 2">
            <a:extLst>
              <a:ext uri="{FF2B5EF4-FFF2-40B4-BE49-F238E27FC236}">
                <a16:creationId xmlns:a16="http://schemas.microsoft.com/office/drawing/2014/main" id="{9ECB0CE1-81C8-B6E9-EB80-202178D81C98}"/>
              </a:ext>
            </a:extLst>
          </p:cNvPr>
          <p:cNvSpPr>
            <a:spLocks noGrp="1"/>
          </p:cNvSpPr>
          <p:nvPr>
            <p:ph idx="1"/>
          </p:nvPr>
        </p:nvSpPr>
        <p:spPr/>
        <p:txBody>
          <a:bodyPr>
            <a:normAutofit fontScale="92500" lnSpcReduction="10000"/>
          </a:bodyPr>
          <a:lstStyle/>
          <a:p>
            <a:pPr algn="just"/>
            <a:r>
              <a:rPr lang="en-US" sz="2400" i="1" dirty="0">
                <a:solidFill>
                  <a:schemeClr val="tx1"/>
                </a:solidFill>
                <a:latin typeface="Avenir Book" panose="02000503020000020003" pitchFamily="2" charset="0"/>
              </a:rPr>
              <a:t>‘We can never demonstrate the necessity of a cause to every new existence , or new modification of existence , without without shewing at the same time the impossibility, that any thing can begin to exist without some productive principle; and where the latter proposition cannot be proved, we must despair of ever being able to prove the former</a:t>
            </a:r>
            <a:r>
              <a:rPr lang="en-US" sz="2400" dirty="0">
                <a:solidFill>
                  <a:schemeClr val="tx1"/>
                </a:solidFill>
                <a:latin typeface="Avenir Book" panose="02000503020000020003" pitchFamily="2" charset="0"/>
              </a:rPr>
              <a:t>. Now that the latter proposition is utterly incapable of a demonstrative proof, we may satisfy ourselves by considering, that all distinct ideas are separable from each other, and as the ideas of cause and effect are evidently distinct, twill be easy for us to conceive an object to be non-existent this moment, and existent the next, without conjoining to it the idea of a cause or productive principle  ’  David Hume. </a:t>
            </a:r>
            <a:endParaRPr lang="en-US" dirty="0">
              <a:solidFill>
                <a:schemeClr val="tx1"/>
              </a:solidFill>
            </a:endParaRPr>
          </a:p>
        </p:txBody>
      </p:sp>
    </p:spTree>
    <p:extLst>
      <p:ext uri="{BB962C8B-B14F-4D97-AF65-F5344CB8AC3E}">
        <p14:creationId xmlns:p14="http://schemas.microsoft.com/office/powerpoint/2010/main" val="2145477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C7D9B-84BD-C21B-BF15-5078570B8D9E}"/>
              </a:ext>
            </a:extLst>
          </p:cNvPr>
          <p:cNvSpPr>
            <a:spLocks noGrp="1"/>
          </p:cNvSpPr>
          <p:nvPr>
            <p:ph type="title"/>
          </p:nvPr>
        </p:nvSpPr>
        <p:spPr>
          <a:xfrm>
            <a:off x="1251678" y="721895"/>
            <a:ext cx="10178322" cy="1152622"/>
          </a:xfrm>
        </p:spPr>
        <p:txBody>
          <a:bodyPr>
            <a:normAutofit/>
          </a:bodyPr>
          <a:lstStyle/>
          <a:p>
            <a:r>
              <a:rPr lang="en-US" sz="3200" dirty="0">
                <a:latin typeface="Avenir Book" panose="02000503020000020003" pitchFamily="2" charset="0"/>
              </a:rPr>
              <a:t>The possibility of an infinite regress of causes</a:t>
            </a:r>
          </a:p>
        </p:txBody>
      </p:sp>
      <p:sp>
        <p:nvSpPr>
          <p:cNvPr id="3" name="Content Placeholder 2">
            <a:extLst>
              <a:ext uri="{FF2B5EF4-FFF2-40B4-BE49-F238E27FC236}">
                <a16:creationId xmlns:a16="http://schemas.microsoft.com/office/drawing/2014/main" id="{8AD3A22D-8641-4C24-58DD-45334E33597F}"/>
              </a:ext>
            </a:extLst>
          </p:cNvPr>
          <p:cNvSpPr>
            <a:spLocks noGrp="1"/>
          </p:cNvSpPr>
          <p:nvPr>
            <p:ph idx="1"/>
          </p:nvPr>
        </p:nvSpPr>
        <p:spPr/>
        <p:txBody>
          <a:bodyPr>
            <a:normAutofit lnSpcReduction="10000"/>
          </a:bodyPr>
          <a:lstStyle/>
          <a:p>
            <a:pPr algn="just"/>
            <a:r>
              <a:rPr lang="en-US" sz="2400" dirty="0">
                <a:solidFill>
                  <a:schemeClr val="tx1"/>
                </a:solidFill>
                <a:latin typeface="Avenir Book" panose="02000503020000020003" pitchFamily="2" charset="0"/>
              </a:rPr>
              <a:t>Some argue that it is not possible for there to be an infinite regress of causes. That if there was we could not explain the age of the universe. For example, we if the universe is infinitely old, then infinity plus one is infinity, and that would make the universe the same age everyday. That seems absurd so it cannot be true. </a:t>
            </a:r>
          </a:p>
          <a:p>
            <a:pPr algn="just"/>
            <a:r>
              <a:rPr lang="en-US" sz="2400" dirty="0">
                <a:solidFill>
                  <a:schemeClr val="tx1"/>
                </a:solidFill>
                <a:latin typeface="Avenir Book" panose="02000503020000020003" pitchFamily="2" charset="0"/>
              </a:rPr>
              <a:t>However, the idea of a universe is not self contradictory, and so we cannot rule it out a priori. </a:t>
            </a:r>
          </a:p>
          <a:p>
            <a:pPr algn="just"/>
            <a:r>
              <a:rPr lang="en-US" sz="2400" dirty="0">
                <a:solidFill>
                  <a:schemeClr val="tx1"/>
                </a:solidFill>
                <a:latin typeface="Avenir Book" panose="02000503020000020003" pitchFamily="2" charset="0"/>
              </a:rPr>
              <a:t>Aquinas will argue that even though the idea of an infinity is possible, the reality of impossible. </a:t>
            </a:r>
          </a:p>
        </p:txBody>
      </p:sp>
    </p:spTree>
    <p:extLst>
      <p:ext uri="{BB962C8B-B14F-4D97-AF65-F5344CB8AC3E}">
        <p14:creationId xmlns:p14="http://schemas.microsoft.com/office/powerpoint/2010/main" val="2671558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31C52B-DEF9-4845-9A79-72C9330F49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reeform 10">
            <a:extLst>
              <a:ext uri="{FF2B5EF4-FFF2-40B4-BE49-F238E27FC236}">
                <a16:creationId xmlns:a16="http://schemas.microsoft.com/office/drawing/2014/main" id="{63DACD0E-B2B1-49C4-B085-D93AC5F6E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06A3835A-F8E2-9793-3202-1CA3805E358B}"/>
              </a:ext>
            </a:extLst>
          </p:cNvPr>
          <p:cNvSpPr>
            <a:spLocks noGrp="1"/>
          </p:cNvSpPr>
          <p:nvPr>
            <p:ph type="title"/>
          </p:nvPr>
        </p:nvSpPr>
        <p:spPr>
          <a:xfrm>
            <a:off x="754144" y="484632"/>
            <a:ext cx="6340519" cy="682432"/>
          </a:xfrm>
        </p:spPr>
        <p:txBody>
          <a:bodyPr>
            <a:normAutofit/>
          </a:bodyPr>
          <a:lstStyle/>
          <a:p>
            <a:r>
              <a:rPr lang="en-US" sz="4000" dirty="0">
                <a:latin typeface="Avenir Book" panose="02000503020000020003" pitchFamily="2" charset="0"/>
              </a:rPr>
              <a:t>Aquinas’ Third way</a:t>
            </a:r>
          </a:p>
        </p:txBody>
      </p:sp>
      <p:sp>
        <p:nvSpPr>
          <p:cNvPr id="13" name="Rectangle 12">
            <a:extLst>
              <a:ext uri="{FF2B5EF4-FFF2-40B4-BE49-F238E27FC236}">
                <a16:creationId xmlns:a16="http://schemas.microsoft.com/office/drawing/2014/main" id="{F2F5074D-2B0A-40BB-B69E-C08F65EC3C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BC3F52A4-D439-316E-BC37-D9322143A259}"/>
              </a:ext>
            </a:extLst>
          </p:cNvPr>
          <p:cNvSpPr>
            <a:spLocks noGrp="1"/>
          </p:cNvSpPr>
          <p:nvPr>
            <p:ph idx="1"/>
          </p:nvPr>
        </p:nvSpPr>
        <p:spPr>
          <a:xfrm>
            <a:off x="765051" y="1419726"/>
            <a:ext cx="6306309" cy="4953641"/>
          </a:xfrm>
        </p:spPr>
        <p:txBody>
          <a:bodyPr>
            <a:normAutofit/>
          </a:bodyPr>
          <a:lstStyle/>
          <a:p>
            <a:pPr marL="457200" indent="-457200">
              <a:buAutoNum type="arabicPeriod"/>
            </a:pPr>
            <a:r>
              <a:rPr lang="en-US" sz="1900" dirty="0">
                <a:solidFill>
                  <a:srgbClr val="000000"/>
                </a:solidFill>
                <a:latin typeface="Avenir Book" panose="02000503020000020003" pitchFamily="2" charset="0"/>
              </a:rPr>
              <a:t>Things in the universe exist contingently. </a:t>
            </a:r>
          </a:p>
          <a:p>
            <a:pPr marL="457200" indent="-457200">
              <a:buAutoNum type="arabicPeriod"/>
            </a:pPr>
            <a:r>
              <a:rPr lang="en-US" sz="1900" dirty="0">
                <a:solidFill>
                  <a:srgbClr val="000000"/>
                </a:solidFill>
                <a:latin typeface="Avenir Book" panose="02000503020000020003" pitchFamily="2" charset="0"/>
              </a:rPr>
              <a:t>If it is possible for something not to exist, there is a time it did not exist. </a:t>
            </a:r>
          </a:p>
          <a:p>
            <a:pPr marL="457200" indent="-457200">
              <a:buAutoNum type="arabicPeriod"/>
            </a:pPr>
            <a:r>
              <a:rPr lang="en-US" sz="1900" dirty="0">
                <a:solidFill>
                  <a:srgbClr val="000000"/>
                </a:solidFill>
                <a:latin typeface="Avenir Book" panose="02000503020000020003" pitchFamily="2" charset="0"/>
              </a:rPr>
              <a:t>If everything exists contingently then it is possible that there was a time when nothing existed.</a:t>
            </a:r>
          </a:p>
          <a:p>
            <a:pPr marL="457200" indent="-457200">
              <a:buAutoNum type="arabicPeriod"/>
            </a:pPr>
            <a:r>
              <a:rPr lang="en-US" sz="1900" dirty="0">
                <a:solidFill>
                  <a:srgbClr val="000000"/>
                </a:solidFill>
                <a:latin typeface="Avenir Book" panose="02000503020000020003" pitchFamily="2" charset="0"/>
              </a:rPr>
              <a:t>From nothing, nothing can come into existence.</a:t>
            </a:r>
          </a:p>
          <a:p>
            <a:pPr marL="457200" indent="-457200">
              <a:buAutoNum type="arabicPeriod"/>
            </a:pPr>
            <a:r>
              <a:rPr lang="en-US" sz="1900" dirty="0">
                <a:solidFill>
                  <a:srgbClr val="000000"/>
                </a:solidFill>
                <a:latin typeface="Avenir Book" panose="02000503020000020003" pitchFamily="2" charset="0"/>
              </a:rPr>
              <a:t>Since things do exist, there was never nothing in existence.</a:t>
            </a:r>
          </a:p>
          <a:p>
            <a:pPr marL="457200" indent="-457200">
              <a:buAutoNum type="arabicPeriod"/>
            </a:pPr>
            <a:r>
              <a:rPr lang="en-US" sz="1900" dirty="0">
                <a:solidFill>
                  <a:srgbClr val="000000"/>
                </a:solidFill>
                <a:latin typeface="Avenir Book" panose="02000503020000020003" pitchFamily="2" charset="0"/>
              </a:rPr>
              <a:t>Therefore there is something that is not contingent but necessary.</a:t>
            </a:r>
          </a:p>
          <a:p>
            <a:pPr marL="457200" indent="-457200">
              <a:buAutoNum type="arabicPeriod"/>
            </a:pPr>
            <a:r>
              <a:rPr lang="en-US" sz="1900" dirty="0">
                <a:solidFill>
                  <a:srgbClr val="000000"/>
                </a:solidFill>
                <a:latin typeface="Avenir Book" panose="02000503020000020003" pitchFamily="2" charset="0"/>
              </a:rPr>
              <a:t>This necessary being is God. </a:t>
            </a:r>
          </a:p>
          <a:p>
            <a:endParaRPr lang="en-US" sz="1900" dirty="0">
              <a:solidFill>
                <a:srgbClr val="000000"/>
              </a:solidFill>
              <a:latin typeface="Avenir Book" panose="02000503020000020003" pitchFamily="2" charset="0"/>
            </a:endParaRPr>
          </a:p>
        </p:txBody>
      </p:sp>
      <p:pic>
        <p:nvPicPr>
          <p:cNvPr id="4" name="Picture 3" descr="A person in a robe&#10;&#10;Description automatically generated">
            <a:extLst>
              <a:ext uri="{FF2B5EF4-FFF2-40B4-BE49-F238E27FC236}">
                <a16:creationId xmlns:a16="http://schemas.microsoft.com/office/drawing/2014/main" id="{62F461D0-F005-8D48-433A-8F2A7FA81ED2}"/>
              </a:ext>
            </a:extLst>
          </p:cNvPr>
          <p:cNvPicPr>
            <a:picLocks noChangeAspect="1"/>
          </p:cNvPicPr>
          <p:nvPr/>
        </p:nvPicPr>
        <p:blipFill>
          <a:blip r:embed="rId2"/>
          <a:stretch>
            <a:fillRect/>
          </a:stretch>
        </p:blipFill>
        <p:spPr>
          <a:xfrm>
            <a:off x="8050787" y="1600709"/>
            <a:ext cx="3656581" cy="3656581"/>
          </a:xfrm>
          <a:prstGeom prst="rect">
            <a:avLst/>
          </a:prstGeom>
        </p:spPr>
      </p:pic>
    </p:spTree>
    <p:extLst>
      <p:ext uri="{BB962C8B-B14F-4D97-AF65-F5344CB8AC3E}">
        <p14:creationId xmlns:p14="http://schemas.microsoft.com/office/powerpoint/2010/main" val="10422130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D46B3-B60F-6A67-F3FD-5160855215D2}"/>
              </a:ext>
            </a:extLst>
          </p:cNvPr>
          <p:cNvSpPr>
            <a:spLocks noGrp="1"/>
          </p:cNvSpPr>
          <p:nvPr>
            <p:ph type="title"/>
          </p:nvPr>
        </p:nvSpPr>
        <p:spPr>
          <a:xfrm>
            <a:off x="1251678" y="770021"/>
            <a:ext cx="10178322" cy="517358"/>
          </a:xfrm>
        </p:spPr>
        <p:txBody>
          <a:bodyPr>
            <a:normAutofit fontScale="90000"/>
          </a:bodyPr>
          <a:lstStyle/>
          <a:p>
            <a:r>
              <a:rPr lang="en-US" sz="3200" dirty="0">
                <a:latin typeface="Avenir Book" panose="02000503020000020003" pitchFamily="2" charset="0"/>
              </a:rPr>
              <a:t>Leibniz’s argument from contingency</a:t>
            </a:r>
          </a:p>
        </p:txBody>
      </p:sp>
      <p:sp>
        <p:nvSpPr>
          <p:cNvPr id="3" name="Content Placeholder 2">
            <a:extLst>
              <a:ext uri="{FF2B5EF4-FFF2-40B4-BE49-F238E27FC236}">
                <a16:creationId xmlns:a16="http://schemas.microsoft.com/office/drawing/2014/main" id="{8ABD8DDF-5D20-8C4B-5F3A-3FF688F01DD4}"/>
              </a:ext>
            </a:extLst>
          </p:cNvPr>
          <p:cNvSpPr>
            <a:spLocks noGrp="1"/>
          </p:cNvSpPr>
          <p:nvPr>
            <p:ph idx="1"/>
          </p:nvPr>
        </p:nvSpPr>
        <p:spPr>
          <a:xfrm>
            <a:off x="1251678" y="1744579"/>
            <a:ext cx="10178322" cy="4135013"/>
          </a:xfrm>
        </p:spPr>
        <p:txBody>
          <a:bodyPr>
            <a:normAutofit/>
          </a:bodyPr>
          <a:lstStyle/>
          <a:p>
            <a:pPr marL="0" indent="0" algn="just">
              <a:buNone/>
            </a:pPr>
            <a:r>
              <a:rPr lang="en-US" sz="2400" dirty="0">
                <a:solidFill>
                  <a:schemeClr val="tx1"/>
                </a:solidFill>
                <a:latin typeface="Avenir Book" panose="02000503020000020003" pitchFamily="2" charset="0"/>
              </a:rPr>
              <a:t>Leibniz thinks that every event has a ‘sufficient reason’. A sufficient explanation gives the reason why X is as it is, and not otherwise.</a:t>
            </a:r>
          </a:p>
          <a:p>
            <a:endParaRPr lang="en-US" sz="2400" i="1" dirty="0">
              <a:solidFill>
                <a:schemeClr val="tx1"/>
              </a:solidFill>
              <a:latin typeface="Avenir Book" panose="02000503020000020003" pitchFamily="2" charset="0"/>
            </a:endParaRPr>
          </a:p>
          <a:p>
            <a:pPr marL="0" indent="0" algn="just">
              <a:buNone/>
            </a:pPr>
            <a:r>
              <a:rPr lang="en-US" sz="2400" i="1" dirty="0">
                <a:solidFill>
                  <a:schemeClr val="tx1"/>
                </a:solidFill>
                <a:latin typeface="Avenir Book" panose="02000503020000020003" pitchFamily="2" charset="0"/>
              </a:rPr>
              <a:t>‘For neither in any one single thing, nor in the whole aggregate and series of things, can there be found the sufficient reason for existence…And so however far back to earlier states, you will never find in those states a full reason why there should be any world rather than none, and why it should be such as it is.’</a:t>
            </a:r>
          </a:p>
        </p:txBody>
      </p:sp>
    </p:spTree>
    <p:extLst>
      <p:ext uri="{BB962C8B-B14F-4D97-AF65-F5344CB8AC3E}">
        <p14:creationId xmlns:p14="http://schemas.microsoft.com/office/powerpoint/2010/main" val="1880634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C164C-970B-56B2-349F-9A63CA23C116}"/>
              </a:ext>
            </a:extLst>
          </p:cNvPr>
          <p:cNvSpPr>
            <a:spLocks noGrp="1"/>
          </p:cNvSpPr>
          <p:nvPr>
            <p:ph type="title"/>
          </p:nvPr>
        </p:nvSpPr>
        <p:spPr>
          <a:xfrm>
            <a:off x="1251678" y="745957"/>
            <a:ext cx="10178322" cy="1128559"/>
          </a:xfrm>
        </p:spPr>
        <p:txBody>
          <a:bodyPr>
            <a:normAutofit/>
          </a:bodyPr>
          <a:lstStyle/>
          <a:p>
            <a:r>
              <a:rPr lang="en-US" sz="4000" dirty="0">
                <a:latin typeface="Avenir Book" panose="02000503020000020003" pitchFamily="2" charset="0"/>
              </a:rPr>
              <a:t>Leibniz cosmological argument</a:t>
            </a:r>
          </a:p>
        </p:txBody>
      </p:sp>
      <p:sp>
        <p:nvSpPr>
          <p:cNvPr id="3" name="Content Placeholder 2">
            <a:extLst>
              <a:ext uri="{FF2B5EF4-FFF2-40B4-BE49-F238E27FC236}">
                <a16:creationId xmlns:a16="http://schemas.microsoft.com/office/drawing/2014/main" id="{C4456A55-1E1C-9400-4425-4345935A162F}"/>
              </a:ext>
            </a:extLst>
          </p:cNvPr>
          <p:cNvSpPr>
            <a:spLocks noGrp="1"/>
          </p:cNvSpPr>
          <p:nvPr>
            <p:ph idx="1"/>
          </p:nvPr>
        </p:nvSpPr>
        <p:spPr/>
        <p:txBody>
          <a:bodyPr>
            <a:normAutofit fontScale="92500" lnSpcReduction="20000"/>
          </a:bodyPr>
          <a:lstStyle/>
          <a:p>
            <a:r>
              <a:rPr lang="en-US" dirty="0">
                <a:solidFill>
                  <a:schemeClr val="tx1"/>
                </a:solidFill>
                <a:latin typeface="Avenir Book" panose="02000503020000020003" pitchFamily="2" charset="0"/>
              </a:rPr>
              <a:t>1. Every fact has a sufficient reason why it is as it is, and not otherwise.</a:t>
            </a:r>
          </a:p>
          <a:p>
            <a:r>
              <a:rPr lang="en-US" dirty="0">
                <a:solidFill>
                  <a:schemeClr val="tx1"/>
                </a:solidFill>
                <a:latin typeface="Avenir Book" panose="02000503020000020003" pitchFamily="2" charset="0"/>
              </a:rPr>
              <a:t>2. There are truths of reason and truths of fact.</a:t>
            </a:r>
          </a:p>
          <a:p>
            <a:r>
              <a:rPr lang="en-US" dirty="0">
                <a:solidFill>
                  <a:schemeClr val="tx1"/>
                </a:solidFill>
                <a:latin typeface="Avenir Book" panose="02000503020000020003" pitchFamily="2" charset="0"/>
              </a:rPr>
              <a:t>3. Truths of reasoning (</a:t>
            </a:r>
            <a:r>
              <a:rPr lang="en-US" dirty="0" err="1">
                <a:solidFill>
                  <a:schemeClr val="tx1"/>
                </a:solidFill>
                <a:latin typeface="Avenir Book" panose="02000503020000020003" pitchFamily="2" charset="0"/>
              </a:rPr>
              <a:t>e.g</a:t>
            </a:r>
            <a:r>
              <a:rPr lang="en-US" dirty="0">
                <a:solidFill>
                  <a:schemeClr val="tx1"/>
                </a:solidFill>
                <a:latin typeface="Avenir Book" panose="02000503020000020003" pitchFamily="2" charset="0"/>
              </a:rPr>
              <a:t> </a:t>
            </a:r>
            <a:r>
              <a:rPr lang="en-US" dirty="0" err="1">
                <a:solidFill>
                  <a:schemeClr val="tx1"/>
                </a:solidFill>
                <a:latin typeface="Avenir Book" panose="02000503020000020003" pitchFamily="2" charset="0"/>
              </a:rPr>
              <a:t>maths</a:t>
            </a:r>
            <a:r>
              <a:rPr lang="en-US" dirty="0">
                <a:solidFill>
                  <a:schemeClr val="tx1"/>
                </a:solidFill>
                <a:latin typeface="Avenir Book" panose="02000503020000020003" pitchFamily="2" charset="0"/>
              </a:rPr>
              <a:t>) are necessary. And we can find the sufficient reason but understanding </a:t>
            </a:r>
            <a:r>
              <a:rPr lang="en-US" i="1" dirty="0">
                <a:solidFill>
                  <a:schemeClr val="tx1"/>
                </a:solidFill>
                <a:latin typeface="Avenir Book" panose="02000503020000020003" pitchFamily="2" charset="0"/>
              </a:rPr>
              <a:t>why</a:t>
            </a:r>
            <a:r>
              <a:rPr lang="en-US" dirty="0">
                <a:solidFill>
                  <a:schemeClr val="tx1"/>
                </a:solidFill>
                <a:latin typeface="Avenir Book" panose="02000503020000020003" pitchFamily="2" charset="0"/>
              </a:rPr>
              <a:t> it is necessary. </a:t>
            </a:r>
          </a:p>
          <a:p>
            <a:r>
              <a:rPr lang="en-US" dirty="0">
                <a:solidFill>
                  <a:schemeClr val="tx1"/>
                </a:solidFill>
                <a:latin typeface="Avenir Book" panose="02000503020000020003" pitchFamily="2" charset="0"/>
              </a:rPr>
              <a:t>4. Truths of facts are contingent, and their reason can be given in more and more detail. But we cannot get a sufficient reason </a:t>
            </a:r>
            <a:r>
              <a:rPr lang="en-US" i="1" dirty="0">
                <a:solidFill>
                  <a:schemeClr val="tx1"/>
                </a:solidFill>
                <a:latin typeface="Avenir Book" panose="02000503020000020003" pitchFamily="2" charset="0"/>
              </a:rPr>
              <a:t>for</a:t>
            </a:r>
            <a:r>
              <a:rPr lang="en-US" dirty="0">
                <a:solidFill>
                  <a:schemeClr val="tx1"/>
                </a:solidFill>
                <a:latin typeface="Avenir Book" panose="02000503020000020003" pitchFamily="2" charset="0"/>
              </a:rPr>
              <a:t> them, </a:t>
            </a:r>
            <a:r>
              <a:rPr lang="en-US" i="1" dirty="0">
                <a:solidFill>
                  <a:schemeClr val="tx1"/>
                </a:solidFill>
                <a:latin typeface="Avenir Book" panose="02000503020000020003" pitchFamily="2" charset="0"/>
              </a:rPr>
              <a:t>from</a:t>
            </a:r>
            <a:r>
              <a:rPr lang="en-US" dirty="0">
                <a:solidFill>
                  <a:schemeClr val="tx1"/>
                </a:solidFill>
                <a:latin typeface="Avenir Book" panose="02000503020000020003" pitchFamily="2" charset="0"/>
              </a:rPr>
              <a:t> them alone. </a:t>
            </a:r>
          </a:p>
          <a:p>
            <a:r>
              <a:rPr lang="en-US" dirty="0">
                <a:solidFill>
                  <a:schemeClr val="tx1"/>
                </a:solidFill>
                <a:latin typeface="Avenir Book" panose="02000503020000020003" pitchFamily="2" charset="0"/>
              </a:rPr>
              <a:t>5. All facts need to be explained by recourse to other facts. </a:t>
            </a:r>
          </a:p>
          <a:p>
            <a:r>
              <a:rPr lang="en-US" dirty="0">
                <a:solidFill>
                  <a:schemeClr val="tx1"/>
                </a:solidFill>
                <a:latin typeface="Avenir Book" panose="02000503020000020003" pitchFamily="2" charset="0"/>
              </a:rPr>
              <a:t>6. To find a sufficient reason for contingent facts we must look outside the sequence of facts. </a:t>
            </a:r>
          </a:p>
          <a:p>
            <a:r>
              <a:rPr lang="en-US" dirty="0">
                <a:solidFill>
                  <a:schemeClr val="tx1"/>
                </a:solidFill>
                <a:latin typeface="Avenir Book" panose="02000503020000020003" pitchFamily="2" charset="0"/>
              </a:rPr>
              <a:t>7. The sufficient condition for a fact must be necessary. </a:t>
            </a:r>
          </a:p>
          <a:p>
            <a:r>
              <a:rPr lang="en-US" dirty="0">
                <a:solidFill>
                  <a:schemeClr val="tx1"/>
                </a:solidFill>
                <a:latin typeface="Avenir Book" panose="02000503020000020003" pitchFamily="2" charset="0"/>
              </a:rPr>
              <a:t>8. This sufficient reason is God. </a:t>
            </a:r>
          </a:p>
        </p:txBody>
      </p:sp>
    </p:spTree>
    <p:extLst>
      <p:ext uri="{BB962C8B-B14F-4D97-AF65-F5344CB8AC3E}">
        <p14:creationId xmlns:p14="http://schemas.microsoft.com/office/powerpoint/2010/main" val="4277734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4858B-0DE9-6F2E-CAD9-EF694646F527}"/>
              </a:ext>
            </a:extLst>
          </p:cNvPr>
          <p:cNvSpPr>
            <a:spLocks noGrp="1"/>
          </p:cNvSpPr>
          <p:nvPr>
            <p:ph type="title"/>
          </p:nvPr>
        </p:nvSpPr>
        <p:spPr>
          <a:xfrm>
            <a:off x="1251678" y="721895"/>
            <a:ext cx="10178322" cy="1152622"/>
          </a:xfrm>
        </p:spPr>
        <p:txBody>
          <a:bodyPr>
            <a:normAutofit/>
          </a:bodyPr>
          <a:lstStyle/>
          <a:p>
            <a:r>
              <a:rPr lang="en-US" sz="4000" dirty="0">
                <a:latin typeface="Avenir Book" panose="02000503020000020003" pitchFamily="2" charset="0"/>
              </a:rPr>
              <a:t>The reason of the world</a:t>
            </a:r>
          </a:p>
        </p:txBody>
      </p:sp>
      <p:sp>
        <p:nvSpPr>
          <p:cNvPr id="3" name="Content Placeholder 2">
            <a:extLst>
              <a:ext uri="{FF2B5EF4-FFF2-40B4-BE49-F238E27FC236}">
                <a16:creationId xmlns:a16="http://schemas.microsoft.com/office/drawing/2014/main" id="{01DD19A0-4049-E22E-F3F2-33DCB97490BF}"/>
              </a:ext>
            </a:extLst>
          </p:cNvPr>
          <p:cNvSpPr>
            <a:spLocks noGrp="1"/>
          </p:cNvSpPr>
          <p:nvPr>
            <p:ph idx="1"/>
          </p:nvPr>
        </p:nvSpPr>
        <p:spPr>
          <a:xfrm>
            <a:off x="1251678" y="2286002"/>
            <a:ext cx="10178322" cy="1407694"/>
          </a:xfrm>
        </p:spPr>
        <p:txBody>
          <a:bodyPr>
            <a:normAutofit/>
          </a:bodyPr>
          <a:lstStyle/>
          <a:p>
            <a:r>
              <a:rPr lang="en-US" sz="2400" dirty="0">
                <a:solidFill>
                  <a:schemeClr val="tx1"/>
                </a:solidFill>
                <a:latin typeface="Avenir Book" panose="02000503020000020003" pitchFamily="2" charset="0"/>
              </a:rPr>
              <a:t>‘The reason of the world then life in something extramundane, different from the chain of states, or series of things, whose aggregate constitute the world.’ </a:t>
            </a:r>
          </a:p>
        </p:txBody>
      </p:sp>
      <p:sp>
        <p:nvSpPr>
          <p:cNvPr id="4" name="Rectangle 3">
            <a:extLst>
              <a:ext uri="{FF2B5EF4-FFF2-40B4-BE49-F238E27FC236}">
                <a16:creationId xmlns:a16="http://schemas.microsoft.com/office/drawing/2014/main" id="{C3AAE9D0-6E30-2A40-A22B-E306D39F2E34}"/>
              </a:ext>
            </a:extLst>
          </p:cNvPr>
          <p:cNvSpPr/>
          <p:nvPr/>
        </p:nvSpPr>
        <p:spPr>
          <a:xfrm>
            <a:off x="1564105" y="3828455"/>
            <a:ext cx="4211053" cy="5534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 sufficient reason (God)</a:t>
            </a:r>
          </a:p>
        </p:txBody>
      </p:sp>
      <p:sp>
        <p:nvSpPr>
          <p:cNvPr id="5" name="Rectangle 4">
            <a:extLst>
              <a:ext uri="{FF2B5EF4-FFF2-40B4-BE49-F238E27FC236}">
                <a16:creationId xmlns:a16="http://schemas.microsoft.com/office/drawing/2014/main" id="{0BEFBCC8-D891-94CF-CF8C-D1D4BA29FE2F}"/>
              </a:ext>
            </a:extLst>
          </p:cNvPr>
          <p:cNvSpPr/>
          <p:nvPr/>
        </p:nvSpPr>
        <p:spPr>
          <a:xfrm>
            <a:off x="1564105" y="4944979"/>
            <a:ext cx="4211053" cy="5654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Nothing</a:t>
            </a:r>
          </a:p>
        </p:txBody>
      </p:sp>
      <p:pic>
        <p:nvPicPr>
          <p:cNvPr id="6" name="Picture 5">
            <a:extLst>
              <a:ext uri="{FF2B5EF4-FFF2-40B4-BE49-F238E27FC236}">
                <a16:creationId xmlns:a16="http://schemas.microsoft.com/office/drawing/2014/main" id="{2332F826-9153-2B71-2F1B-F209B17377E1}"/>
              </a:ext>
            </a:extLst>
          </p:cNvPr>
          <p:cNvPicPr>
            <a:picLocks noChangeAspect="1"/>
          </p:cNvPicPr>
          <p:nvPr/>
        </p:nvPicPr>
        <p:blipFill>
          <a:blip r:embed="rId2"/>
          <a:stretch>
            <a:fillRect/>
          </a:stretch>
        </p:blipFill>
        <p:spPr>
          <a:xfrm>
            <a:off x="8445166" y="3828455"/>
            <a:ext cx="2758240" cy="1682008"/>
          </a:xfrm>
          <a:prstGeom prst="rect">
            <a:avLst/>
          </a:prstGeom>
        </p:spPr>
      </p:pic>
      <p:sp>
        <p:nvSpPr>
          <p:cNvPr id="7" name="Right Arrow 6">
            <a:extLst>
              <a:ext uri="{FF2B5EF4-FFF2-40B4-BE49-F238E27FC236}">
                <a16:creationId xmlns:a16="http://schemas.microsoft.com/office/drawing/2014/main" id="{06DE85A1-31A1-6C56-49FE-6F2E69C54C73}"/>
              </a:ext>
            </a:extLst>
          </p:cNvPr>
          <p:cNvSpPr/>
          <p:nvPr/>
        </p:nvSpPr>
        <p:spPr>
          <a:xfrm rot="596220">
            <a:off x="6268453" y="4030579"/>
            <a:ext cx="1913021" cy="35132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34009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31C52B-DEF9-4845-9A79-72C9330F49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reeform 10">
            <a:extLst>
              <a:ext uri="{FF2B5EF4-FFF2-40B4-BE49-F238E27FC236}">
                <a16:creationId xmlns:a16="http://schemas.microsoft.com/office/drawing/2014/main" id="{63DACD0E-B2B1-49C4-B085-D93AC5F6E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B6E27212-18FC-EB50-BDA1-D6C31231D573}"/>
              </a:ext>
            </a:extLst>
          </p:cNvPr>
          <p:cNvSpPr>
            <a:spLocks noGrp="1"/>
          </p:cNvSpPr>
          <p:nvPr>
            <p:ph type="title"/>
          </p:nvPr>
        </p:nvSpPr>
        <p:spPr>
          <a:xfrm>
            <a:off x="754144" y="484632"/>
            <a:ext cx="6340519" cy="862906"/>
          </a:xfrm>
        </p:spPr>
        <p:txBody>
          <a:bodyPr>
            <a:normAutofit/>
          </a:bodyPr>
          <a:lstStyle/>
          <a:p>
            <a:r>
              <a:rPr lang="en-US" dirty="0">
                <a:latin typeface="Avenir Book" panose="02000503020000020003" pitchFamily="2" charset="0"/>
              </a:rPr>
              <a:t>B</a:t>
            </a:r>
            <a:r>
              <a:rPr lang="en-US" sz="4400" dirty="0">
                <a:latin typeface="Avenir Book" panose="02000503020000020003" pitchFamily="2" charset="0"/>
              </a:rPr>
              <a:t>ertrand Russell</a:t>
            </a:r>
          </a:p>
        </p:txBody>
      </p:sp>
      <p:sp>
        <p:nvSpPr>
          <p:cNvPr id="13" name="Rectangle 12">
            <a:extLst>
              <a:ext uri="{FF2B5EF4-FFF2-40B4-BE49-F238E27FC236}">
                <a16:creationId xmlns:a16="http://schemas.microsoft.com/office/drawing/2014/main" id="{F2F5074D-2B0A-40BB-B69E-C08F65EC3C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9168AFF-5DE4-3F44-5FDB-1A866B75EE8F}"/>
              </a:ext>
            </a:extLst>
          </p:cNvPr>
          <p:cNvSpPr>
            <a:spLocks noGrp="1"/>
          </p:cNvSpPr>
          <p:nvPr>
            <p:ph idx="1"/>
          </p:nvPr>
        </p:nvSpPr>
        <p:spPr>
          <a:xfrm>
            <a:off x="765051" y="1720516"/>
            <a:ext cx="6306309" cy="4652851"/>
          </a:xfrm>
        </p:spPr>
        <p:txBody>
          <a:bodyPr>
            <a:normAutofit/>
          </a:bodyPr>
          <a:lstStyle/>
          <a:p>
            <a:pPr algn="just"/>
            <a:r>
              <a:rPr lang="en-US" dirty="0">
                <a:solidFill>
                  <a:srgbClr val="000000"/>
                </a:solidFill>
                <a:latin typeface="Avenir Book" panose="02000503020000020003" pitchFamily="2" charset="0"/>
              </a:rPr>
              <a:t>1.  Russell claims that was committing two mistakes. Firstly, he denied that we can know a priori that every event has a sufficient cause. In undermining this principle he was doing what Hume had also done. </a:t>
            </a:r>
          </a:p>
          <a:p>
            <a:pPr algn="just"/>
            <a:endParaRPr lang="en-US" dirty="0">
              <a:solidFill>
                <a:srgbClr val="000000"/>
              </a:solidFill>
              <a:latin typeface="Avenir Book" panose="02000503020000020003" pitchFamily="2" charset="0"/>
            </a:endParaRPr>
          </a:p>
          <a:p>
            <a:pPr algn="just"/>
            <a:r>
              <a:rPr lang="en-US" dirty="0">
                <a:solidFill>
                  <a:srgbClr val="000000"/>
                </a:solidFill>
                <a:latin typeface="Avenir Book" panose="02000503020000020003" pitchFamily="2" charset="0"/>
              </a:rPr>
              <a:t>2. He claimed that Leibniz and Aquinas were committing the fallacy of composition. This is the mistake of attributing something true of the parts to the whole. For example, even though every sheet of paper in the pile of papers is thin, that does not make the pile of papers thin. </a:t>
            </a:r>
          </a:p>
        </p:txBody>
      </p:sp>
      <p:pic>
        <p:nvPicPr>
          <p:cNvPr id="4" name="Picture 3" descr="A stack of papers on a table&#10;&#10;Description automatically generated">
            <a:extLst>
              <a:ext uri="{FF2B5EF4-FFF2-40B4-BE49-F238E27FC236}">
                <a16:creationId xmlns:a16="http://schemas.microsoft.com/office/drawing/2014/main" id="{085E9A63-87FC-47F8-D9C6-0537197F4C45}"/>
              </a:ext>
            </a:extLst>
          </p:cNvPr>
          <p:cNvPicPr>
            <a:picLocks noChangeAspect="1"/>
          </p:cNvPicPr>
          <p:nvPr/>
        </p:nvPicPr>
        <p:blipFill>
          <a:blip r:embed="rId2"/>
          <a:stretch>
            <a:fillRect/>
          </a:stretch>
        </p:blipFill>
        <p:spPr>
          <a:xfrm>
            <a:off x="8050787" y="1600709"/>
            <a:ext cx="3656581" cy="3656581"/>
          </a:xfrm>
          <a:prstGeom prst="rect">
            <a:avLst/>
          </a:prstGeom>
        </p:spPr>
      </p:pic>
    </p:spTree>
    <p:extLst>
      <p:ext uri="{BB962C8B-B14F-4D97-AF65-F5344CB8AC3E}">
        <p14:creationId xmlns:p14="http://schemas.microsoft.com/office/powerpoint/2010/main" val="19636687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31C52B-DEF9-4845-9A79-72C9330F49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reeform 10">
            <a:extLst>
              <a:ext uri="{FF2B5EF4-FFF2-40B4-BE49-F238E27FC236}">
                <a16:creationId xmlns:a16="http://schemas.microsoft.com/office/drawing/2014/main" id="{63DACD0E-B2B1-49C4-B085-D93AC5F6E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AA540CE7-0A6D-89A5-EFC3-5CAFFC898533}"/>
              </a:ext>
            </a:extLst>
          </p:cNvPr>
          <p:cNvSpPr>
            <a:spLocks noGrp="1"/>
          </p:cNvSpPr>
          <p:nvPr>
            <p:ph type="title"/>
          </p:nvPr>
        </p:nvSpPr>
        <p:spPr>
          <a:xfrm>
            <a:off x="754144" y="484631"/>
            <a:ext cx="6340519" cy="1638469"/>
          </a:xfrm>
        </p:spPr>
        <p:txBody>
          <a:bodyPr>
            <a:normAutofit/>
          </a:bodyPr>
          <a:lstStyle/>
          <a:p>
            <a:r>
              <a:rPr lang="en-US" dirty="0">
                <a:latin typeface="Avenir Book" panose="02000503020000020003" pitchFamily="2" charset="0"/>
              </a:rPr>
              <a:t>Response to Russell</a:t>
            </a:r>
          </a:p>
        </p:txBody>
      </p:sp>
      <p:sp>
        <p:nvSpPr>
          <p:cNvPr id="13" name="Rectangle 12">
            <a:extLst>
              <a:ext uri="{FF2B5EF4-FFF2-40B4-BE49-F238E27FC236}">
                <a16:creationId xmlns:a16="http://schemas.microsoft.com/office/drawing/2014/main" id="{F2F5074D-2B0A-40BB-B69E-C08F65EC3C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EAEDC17D-D80C-1DBF-49F2-332E8E90E208}"/>
              </a:ext>
            </a:extLst>
          </p:cNvPr>
          <p:cNvSpPr>
            <a:spLocks noGrp="1"/>
          </p:cNvSpPr>
          <p:nvPr>
            <p:ph idx="1"/>
          </p:nvPr>
        </p:nvSpPr>
        <p:spPr>
          <a:xfrm>
            <a:off x="765051" y="2443140"/>
            <a:ext cx="6306309" cy="3930227"/>
          </a:xfrm>
        </p:spPr>
        <p:txBody>
          <a:bodyPr>
            <a:normAutofit/>
          </a:bodyPr>
          <a:lstStyle/>
          <a:p>
            <a:pPr marL="0" indent="0">
              <a:lnSpc>
                <a:spcPct val="150000"/>
              </a:lnSpc>
              <a:buNone/>
            </a:pPr>
            <a:r>
              <a:rPr lang="en-US" sz="2400" dirty="0">
                <a:solidFill>
                  <a:srgbClr val="000000"/>
                </a:solidFill>
                <a:latin typeface="Avenir Book" panose="02000503020000020003" pitchFamily="2" charset="0"/>
              </a:rPr>
              <a:t>1. Not all instances of inference from parts to whole commits the fallacy of composition. For example, each piece of a wooden table is wooden, which would also mean that the table is wooden. </a:t>
            </a:r>
          </a:p>
        </p:txBody>
      </p:sp>
      <p:pic>
        <p:nvPicPr>
          <p:cNvPr id="4" name="Picture 3" descr="A drawing of a wooden table&#10;&#10;Description automatically generated">
            <a:extLst>
              <a:ext uri="{FF2B5EF4-FFF2-40B4-BE49-F238E27FC236}">
                <a16:creationId xmlns:a16="http://schemas.microsoft.com/office/drawing/2014/main" id="{EFA30778-E409-F83D-8FEB-7E89E62265FD}"/>
              </a:ext>
            </a:extLst>
          </p:cNvPr>
          <p:cNvPicPr>
            <a:picLocks noChangeAspect="1"/>
          </p:cNvPicPr>
          <p:nvPr/>
        </p:nvPicPr>
        <p:blipFill>
          <a:blip r:embed="rId2"/>
          <a:stretch>
            <a:fillRect/>
          </a:stretch>
        </p:blipFill>
        <p:spPr>
          <a:xfrm>
            <a:off x="8050787" y="1600709"/>
            <a:ext cx="3656581" cy="3656581"/>
          </a:xfrm>
          <a:prstGeom prst="rect">
            <a:avLst/>
          </a:prstGeom>
        </p:spPr>
      </p:pic>
    </p:spTree>
    <p:extLst>
      <p:ext uri="{BB962C8B-B14F-4D97-AF65-F5344CB8AC3E}">
        <p14:creationId xmlns:p14="http://schemas.microsoft.com/office/powerpoint/2010/main" val="32308256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2FDF5-2214-C09F-5443-C28993E2BD7B}"/>
              </a:ext>
            </a:extLst>
          </p:cNvPr>
          <p:cNvSpPr>
            <a:spLocks noGrp="1"/>
          </p:cNvSpPr>
          <p:nvPr>
            <p:ph type="title"/>
          </p:nvPr>
        </p:nvSpPr>
        <p:spPr>
          <a:xfrm>
            <a:off x="1251678" y="830179"/>
            <a:ext cx="10178322" cy="1044338"/>
          </a:xfrm>
        </p:spPr>
        <p:txBody>
          <a:bodyPr>
            <a:normAutofit/>
          </a:bodyPr>
          <a:lstStyle/>
          <a:p>
            <a:r>
              <a:rPr lang="en-US" sz="3200" dirty="0">
                <a:latin typeface="Avenir Book" panose="02000503020000020003" pitchFamily="2" charset="0"/>
              </a:rPr>
              <a:t>The impossibility of a necessary being</a:t>
            </a:r>
          </a:p>
        </p:txBody>
      </p:sp>
      <p:sp>
        <p:nvSpPr>
          <p:cNvPr id="3" name="Content Placeholder 2">
            <a:extLst>
              <a:ext uri="{FF2B5EF4-FFF2-40B4-BE49-F238E27FC236}">
                <a16:creationId xmlns:a16="http://schemas.microsoft.com/office/drawing/2014/main" id="{0A752027-A5B1-BCE2-6004-9A5B20AB76F3}"/>
              </a:ext>
            </a:extLst>
          </p:cNvPr>
          <p:cNvSpPr>
            <a:spLocks noGrp="1"/>
          </p:cNvSpPr>
          <p:nvPr>
            <p:ph idx="1"/>
          </p:nvPr>
        </p:nvSpPr>
        <p:spPr>
          <a:xfrm>
            <a:off x="1251678" y="2093495"/>
            <a:ext cx="10178322" cy="3786097"/>
          </a:xfrm>
        </p:spPr>
        <p:txBody>
          <a:bodyPr>
            <a:normAutofit/>
          </a:bodyPr>
          <a:lstStyle/>
          <a:p>
            <a:pPr algn="just"/>
            <a:r>
              <a:rPr lang="en-US" sz="2400" dirty="0">
                <a:solidFill>
                  <a:schemeClr val="tx1"/>
                </a:solidFill>
                <a:latin typeface="Avenir Book" panose="02000503020000020003" pitchFamily="2" charset="0"/>
              </a:rPr>
              <a:t>Hume and Russell denied that there can be such a thing as a necessary being. This is based on the idea that conceivability entails possibility. In other words that which we can imagine is possible. </a:t>
            </a:r>
          </a:p>
          <a:p>
            <a:pPr algn="just"/>
            <a:endParaRPr lang="en-US" sz="2400" dirty="0">
              <a:solidFill>
                <a:schemeClr val="tx1"/>
              </a:solidFill>
              <a:latin typeface="Avenir Book" panose="02000503020000020003" pitchFamily="2" charset="0"/>
            </a:endParaRPr>
          </a:p>
          <a:p>
            <a:pPr algn="just"/>
            <a:r>
              <a:rPr lang="en-US" sz="2400" dirty="0">
                <a:solidFill>
                  <a:schemeClr val="tx1"/>
                </a:solidFill>
                <a:latin typeface="Avenir Book" panose="02000503020000020003" pitchFamily="2" charset="0"/>
              </a:rPr>
              <a:t>The claim is that we can imagine a God existing and a God not existing and this means that there is no clear idea of a necessary being, only of a contingent one. The only things that are necessary are ‘relations of ideas’. </a:t>
            </a:r>
          </a:p>
        </p:txBody>
      </p:sp>
    </p:spTree>
    <p:extLst>
      <p:ext uri="{BB962C8B-B14F-4D97-AF65-F5344CB8AC3E}">
        <p14:creationId xmlns:p14="http://schemas.microsoft.com/office/powerpoint/2010/main" val="28508020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E9793-91E1-B293-6534-A8E4D4B5601B}"/>
              </a:ext>
            </a:extLst>
          </p:cNvPr>
          <p:cNvSpPr>
            <a:spLocks noGrp="1"/>
          </p:cNvSpPr>
          <p:nvPr>
            <p:ph type="title"/>
          </p:nvPr>
        </p:nvSpPr>
        <p:spPr>
          <a:xfrm>
            <a:off x="1251678" y="794083"/>
            <a:ext cx="10178322" cy="806117"/>
          </a:xfrm>
        </p:spPr>
        <p:txBody>
          <a:bodyPr>
            <a:normAutofit/>
          </a:bodyPr>
          <a:lstStyle/>
          <a:p>
            <a:r>
              <a:rPr lang="en-US" sz="4400" dirty="0">
                <a:latin typeface="Avenir Book" panose="02000503020000020003" pitchFamily="2" charset="0"/>
              </a:rPr>
              <a:t>Questions</a:t>
            </a:r>
          </a:p>
        </p:txBody>
      </p:sp>
      <p:sp>
        <p:nvSpPr>
          <p:cNvPr id="3" name="Content Placeholder 2">
            <a:extLst>
              <a:ext uri="{FF2B5EF4-FFF2-40B4-BE49-F238E27FC236}">
                <a16:creationId xmlns:a16="http://schemas.microsoft.com/office/drawing/2014/main" id="{51524512-7B9B-1E39-FB7E-4EF642E5602D}"/>
              </a:ext>
            </a:extLst>
          </p:cNvPr>
          <p:cNvSpPr>
            <a:spLocks noGrp="1"/>
          </p:cNvSpPr>
          <p:nvPr>
            <p:ph idx="1"/>
          </p:nvPr>
        </p:nvSpPr>
        <p:spPr>
          <a:xfrm>
            <a:off x="1251678" y="2069432"/>
            <a:ext cx="10178322" cy="3810160"/>
          </a:xfrm>
        </p:spPr>
        <p:txBody>
          <a:bodyPr>
            <a:normAutofit/>
          </a:bodyPr>
          <a:lstStyle/>
          <a:p>
            <a:pPr marL="0" indent="0">
              <a:buNone/>
            </a:pPr>
            <a:r>
              <a:rPr lang="en-US" sz="2400" dirty="0">
                <a:solidFill>
                  <a:schemeClr val="tx1"/>
                </a:solidFill>
                <a:latin typeface="Avenir Book" panose="02000503020000020003" pitchFamily="2" charset="0"/>
              </a:rPr>
              <a:t>1. Outline and explain the first cause argument for the existence of God. (12)</a:t>
            </a:r>
          </a:p>
          <a:p>
            <a:pPr marL="0" indent="0">
              <a:buNone/>
            </a:pPr>
            <a:r>
              <a:rPr lang="en-US" sz="2400" dirty="0">
                <a:solidFill>
                  <a:schemeClr val="tx1"/>
                </a:solidFill>
                <a:latin typeface="Avenir Book" panose="02000503020000020003" pitchFamily="2" charset="0"/>
              </a:rPr>
              <a:t>2. Outline and explain some objections to the first cause argument (12)</a:t>
            </a:r>
          </a:p>
          <a:p>
            <a:pPr marL="0" indent="0">
              <a:buNone/>
            </a:pPr>
            <a:r>
              <a:rPr lang="en-US" sz="2400" dirty="0">
                <a:solidFill>
                  <a:schemeClr val="tx1"/>
                </a:solidFill>
                <a:latin typeface="Avenir Book" panose="02000503020000020003" pitchFamily="2" charset="0"/>
              </a:rPr>
              <a:t>3. Outline and explain Aquinas’ third way (12)</a:t>
            </a:r>
          </a:p>
          <a:p>
            <a:pPr marL="0" indent="0">
              <a:buNone/>
            </a:pPr>
            <a:r>
              <a:rPr lang="en-US" sz="2400" dirty="0">
                <a:solidFill>
                  <a:schemeClr val="tx1"/>
                </a:solidFill>
                <a:latin typeface="Avenir Book" panose="02000503020000020003" pitchFamily="2" charset="0"/>
              </a:rPr>
              <a:t>4. Outline and explain Leibniz’s cosmological argument from sufficient reason (12)</a:t>
            </a:r>
          </a:p>
          <a:p>
            <a:pPr marL="0" indent="0">
              <a:buNone/>
            </a:pPr>
            <a:r>
              <a:rPr lang="en-US" sz="2400" dirty="0">
                <a:solidFill>
                  <a:schemeClr val="tx1"/>
                </a:solidFill>
                <a:latin typeface="Avenir Book" panose="02000503020000020003" pitchFamily="2" charset="0"/>
              </a:rPr>
              <a:t>5. Outline and explain the objections to this from Hume and Russell. (12)</a:t>
            </a:r>
          </a:p>
        </p:txBody>
      </p:sp>
    </p:spTree>
    <p:extLst>
      <p:ext uri="{BB962C8B-B14F-4D97-AF65-F5344CB8AC3E}">
        <p14:creationId xmlns:p14="http://schemas.microsoft.com/office/powerpoint/2010/main" val="2812192095"/>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0B082E"/>
      </a:dk2>
      <a:lt2>
        <a:srgbClr val="F3F3F2"/>
      </a:lt2>
      <a:accent1>
        <a:srgbClr val="62B4C6"/>
      </a:accent1>
      <a:accent2>
        <a:srgbClr val="1B376E"/>
      </a:accent2>
      <a:accent3>
        <a:srgbClr val="9EBE55"/>
      </a:accent3>
      <a:accent4>
        <a:srgbClr val="C65E5E"/>
      </a:accent4>
      <a:accent5>
        <a:srgbClr val="D3BA55"/>
      </a:accent5>
      <a:accent6>
        <a:srgbClr val="96648A"/>
      </a:accent6>
      <a:hlink>
        <a:srgbClr val="62B4C6"/>
      </a:hlink>
      <a:folHlink>
        <a:srgbClr val="96648A"/>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D71F8F05-6246-47AF-9E68-E57F6C93F792}"/>
    </a:ext>
  </a:extLst>
</a:theme>
</file>

<file path=docProps/app.xml><?xml version="1.0" encoding="utf-8"?>
<Properties xmlns="http://schemas.openxmlformats.org/officeDocument/2006/extended-properties" xmlns:vt="http://schemas.openxmlformats.org/officeDocument/2006/docPropsVTypes">
  <Template>Badge</Template>
  <TotalTime>169</TotalTime>
  <Words>1766</Words>
  <Application>Microsoft Macintosh PowerPoint</Application>
  <PresentationFormat>Widescreen</PresentationFormat>
  <Paragraphs>110</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Avenir Book</vt:lpstr>
      <vt:lpstr>Gill Sans MT</vt:lpstr>
      <vt:lpstr>Impact</vt:lpstr>
      <vt:lpstr>Badge</vt:lpstr>
      <vt:lpstr>Cosmological argument </vt:lpstr>
      <vt:lpstr>Technical terminology</vt:lpstr>
      <vt:lpstr>Cosmological argument </vt:lpstr>
      <vt:lpstr>Anselm writes that… </vt:lpstr>
      <vt:lpstr>There are some basic mediaeval axioms that were accepted.</vt:lpstr>
      <vt:lpstr>The first form of the argument…</vt:lpstr>
      <vt:lpstr>Temporal and sustaining cause.</vt:lpstr>
      <vt:lpstr>Aquinas’ argument from motion</vt:lpstr>
      <vt:lpstr>Commentary</vt:lpstr>
      <vt:lpstr>Aquinas continued</vt:lpstr>
      <vt:lpstr>Three problems with the cosmological argument </vt:lpstr>
      <vt:lpstr>We cannot know the causal principle a priori</vt:lpstr>
      <vt:lpstr>Hume and the causal principle…</vt:lpstr>
      <vt:lpstr>The possibility of an infinite regress of causes</vt:lpstr>
      <vt:lpstr>Aquinas’ Third way</vt:lpstr>
      <vt:lpstr>Leibniz’s argument from contingency</vt:lpstr>
      <vt:lpstr>Leibniz cosmological argument</vt:lpstr>
      <vt:lpstr>The reason of the world</vt:lpstr>
      <vt:lpstr>Bertrand Russell</vt:lpstr>
      <vt:lpstr>Response to Russell</vt:lpstr>
      <vt:lpstr>The impossibility of a necessary being</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 Shaki</dc:creator>
  <cp:lastModifiedBy>Nir Shaki</cp:lastModifiedBy>
  <cp:revision>18</cp:revision>
  <dcterms:created xsi:type="dcterms:W3CDTF">2024-10-14T10:33:44Z</dcterms:created>
  <dcterms:modified xsi:type="dcterms:W3CDTF">2024-10-17T10:56:39Z</dcterms:modified>
</cp:coreProperties>
</file>