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4" r:id="rId1"/>
  </p:sldMasterIdLst>
  <p:sldIdLst>
    <p:sldId id="280" r:id="rId2"/>
    <p:sldId id="281" r:id="rId3"/>
    <p:sldId id="282" r:id="rId4"/>
    <p:sldId id="283" r:id="rId5"/>
    <p:sldId id="284" r:id="rId6"/>
    <p:sldId id="257" r:id="rId7"/>
    <p:sldId id="258" r:id="rId8"/>
    <p:sldId id="268" r:id="rId9"/>
    <p:sldId id="269" r:id="rId10"/>
    <p:sldId id="270" r:id="rId11"/>
    <p:sldId id="271" r:id="rId12"/>
    <p:sldId id="259" r:id="rId13"/>
    <p:sldId id="273" r:id="rId14"/>
    <p:sldId id="274" r:id="rId15"/>
    <p:sldId id="277" r:id="rId16"/>
    <p:sldId id="261" r:id="rId17"/>
    <p:sldId id="278" r:id="rId18"/>
    <p:sldId id="275"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77"/>
    <p:restoredTop sz="94801"/>
  </p:normalViewPr>
  <p:slideViewPr>
    <p:cSldViewPr snapToGrid="0">
      <p:cViewPr varScale="1">
        <p:scale>
          <a:sx n="107" d="100"/>
          <a:sy n="107" d="100"/>
        </p:scale>
        <p:origin x="824"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E43B10C-4B0F-DD4B-A6BD-92A9EB03E548}" type="doc">
      <dgm:prSet loTypeId="urn:microsoft.com/office/officeart/2005/8/layout/hProcess3" loCatId="" qsTypeId="urn:microsoft.com/office/officeart/2005/8/quickstyle/simple1" qsCatId="simple" csTypeId="urn:microsoft.com/office/officeart/2005/8/colors/accent1_2" csCatId="accent1" phldr="1"/>
      <dgm:spPr/>
    </dgm:pt>
    <dgm:pt modelId="{150A3165-61A8-A840-B347-532F28193F34}">
      <dgm:prSet phldrT="[Text]"/>
      <dgm:spPr/>
      <dgm:t>
        <a:bodyPr/>
        <a:lstStyle/>
        <a:p>
          <a:r>
            <a:rPr lang="en-GB" dirty="0"/>
            <a:t>External object </a:t>
          </a:r>
        </a:p>
      </dgm:t>
    </dgm:pt>
    <dgm:pt modelId="{704C8B72-FCA1-584C-9327-D4304148057D}" type="parTrans" cxnId="{45B18F29-8418-534E-AF0D-32CB32CB50BD}">
      <dgm:prSet/>
      <dgm:spPr/>
      <dgm:t>
        <a:bodyPr/>
        <a:lstStyle/>
        <a:p>
          <a:endParaRPr lang="en-GB"/>
        </a:p>
      </dgm:t>
    </dgm:pt>
    <dgm:pt modelId="{8E51D0D1-CD4F-3641-B442-A52C3AA6F291}" type="sibTrans" cxnId="{45B18F29-8418-534E-AF0D-32CB32CB50BD}">
      <dgm:prSet/>
      <dgm:spPr/>
      <dgm:t>
        <a:bodyPr/>
        <a:lstStyle/>
        <a:p>
          <a:endParaRPr lang="en-GB"/>
        </a:p>
      </dgm:t>
    </dgm:pt>
    <dgm:pt modelId="{33820E31-C98B-2E41-99B1-4007781631FF}">
      <dgm:prSet phldrT="[Text]"/>
      <dgm:spPr/>
      <dgm:t>
        <a:bodyPr/>
        <a:lstStyle/>
        <a:p>
          <a:r>
            <a:rPr lang="en-GB" dirty="0"/>
            <a:t>Represented by </a:t>
          </a:r>
        </a:p>
      </dgm:t>
    </dgm:pt>
    <dgm:pt modelId="{FF66F95E-A33D-BE4C-B7D7-E9AC6B04F982}" type="parTrans" cxnId="{16D4D3BB-381E-8B45-A8CD-48A6B7A2C8B6}">
      <dgm:prSet/>
      <dgm:spPr/>
      <dgm:t>
        <a:bodyPr/>
        <a:lstStyle/>
        <a:p>
          <a:endParaRPr lang="en-GB"/>
        </a:p>
      </dgm:t>
    </dgm:pt>
    <dgm:pt modelId="{6E3B9C6F-9199-8548-A4F6-2EA7EAD3894B}" type="sibTrans" cxnId="{16D4D3BB-381E-8B45-A8CD-48A6B7A2C8B6}">
      <dgm:prSet/>
      <dgm:spPr/>
      <dgm:t>
        <a:bodyPr/>
        <a:lstStyle/>
        <a:p>
          <a:endParaRPr lang="en-GB"/>
        </a:p>
      </dgm:t>
    </dgm:pt>
    <dgm:pt modelId="{7DE902A0-2A0D-9E4F-BAEC-48F6779B9D34}">
      <dgm:prSet phldrT="[Text]"/>
      <dgm:spPr/>
      <dgm:t>
        <a:bodyPr/>
        <a:lstStyle/>
        <a:p>
          <a:r>
            <a:rPr lang="en-GB" dirty="0"/>
            <a:t>Brain processes</a:t>
          </a:r>
        </a:p>
      </dgm:t>
    </dgm:pt>
    <dgm:pt modelId="{58F83D03-58D2-2745-A262-5B366668BA2A}" type="parTrans" cxnId="{F7038A42-5A05-C74F-83A5-DB72C56E752B}">
      <dgm:prSet/>
      <dgm:spPr/>
      <dgm:t>
        <a:bodyPr/>
        <a:lstStyle/>
        <a:p>
          <a:endParaRPr lang="en-GB"/>
        </a:p>
      </dgm:t>
    </dgm:pt>
    <dgm:pt modelId="{D54BB6E2-6A9A-9F47-889E-214D45B20A67}" type="sibTrans" cxnId="{F7038A42-5A05-C74F-83A5-DB72C56E752B}">
      <dgm:prSet/>
      <dgm:spPr/>
      <dgm:t>
        <a:bodyPr/>
        <a:lstStyle/>
        <a:p>
          <a:endParaRPr lang="en-GB"/>
        </a:p>
      </dgm:t>
    </dgm:pt>
    <dgm:pt modelId="{EF040112-15FE-F64C-BE9B-0C64BE55B065}" type="pres">
      <dgm:prSet presAssocID="{FE43B10C-4B0F-DD4B-A6BD-92A9EB03E548}" presName="Name0" presStyleCnt="0">
        <dgm:presLayoutVars>
          <dgm:dir/>
          <dgm:animLvl val="lvl"/>
          <dgm:resizeHandles val="exact"/>
        </dgm:presLayoutVars>
      </dgm:prSet>
      <dgm:spPr/>
    </dgm:pt>
    <dgm:pt modelId="{CF6CECEF-2406-8741-9CF2-A494BED2FE67}" type="pres">
      <dgm:prSet presAssocID="{FE43B10C-4B0F-DD4B-A6BD-92A9EB03E548}" presName="dummy" presStyleCnt="0"/>
      <dgm:spPr/>
    </dgm:pt>
    <dgm:pt modelId="{D84DA152-7BDA-1840-9180-5B2BCD4996E8}" type="pres">
      <dgm:prSet presAssocID="{FE43B10C-4B0F-DD4B-A6BD-92A9EB03E548}" presName="linH" presStyleCnt="0"/>
      <dgm:spPr/>
    </dgm:pt>
    <dgm:pt modelId="{1A372D41-72A2-A84C-A8D6-D9B54D62F008}" type="pres">
      <dgm:prSet presAssocID="{FE43B10C-4B0F-DD4B-A6BD-92A9EB03E548}" presName="padding1" presStyleCnt="0"/>
      <dgm:spPr/>
    </dgm:pt>
    <dgm:pt modelId="{67FCC1AD-AFBF-6D47-B569-5AFDE3E22A95}" type="pres">
      <dgm:prSet presAssocID="{150A3165-61A8-A840-B347-532F28193F34}" presName="linV" presStyleCnt="0"/>
      <dgm:spPr/>
    </dgm:pt>
    <dgm:pt modelId="{DAB1A07E-9C63-3C42-91CD-D20179E5244C}" type="pres">
      <dgm:prSet presAssocID="{150A3165-61A8-A840-B347-532F28193F34}" presName="spVertical1" presStyleCnt="0"/>
      <dgm:spPr/>
    </dgm:pt>
    <dgm:pt modelId="{194F3AED-578A-FC47-8F76-C32132F9DB6F}" type="pres">
      <dgm:prSet presAssocID="{150A3165-61A8-A840-B347-532F28193F34}" presName="parTx" presStyleLbl="revTx" presStyleIdx="0" presStyleCnt="3">
        <dgm:presLayoutVars>
          <dgm:chMax val="0"/>
          <dgm:chPref val="0"/>
          <dgm:bulletEnabled val="1"/>
        </dgm:presLayoutVars>
      </dgm:prSet>
      <dgm:spPr/>
    </dgm:pt>
    <dgm:pt modelId="{684CEC02-8F7C-8344-9381-9470AAACE67B}" type="pres">
      <dgm:prSet presAssocID="{150A3165-61A8-A840-B347-532F28193F34}" presName="spVertical2" presStyleCnt="0"/>
      <dgm:spPr/>
    </dgm:pt>
    <dgm:pt modelId="{CB6B7CCF-F7B0-1644-8712-0BD9D7BDD9ED}" type="pres">
      <dgm:prSet presAssocID="{150A3165-61A8-A840-B347-532F28193F34}" presName="spVertical3" presStyleCnt="0"/>
      <dgm:spPr/>
    </dgm:pt>
    <dgm:pt modelId="{415508CE-6E2E-A14E-A160-87844ED10D2B}" type="pres">
      <dgm:prSet presAssocID="{8E51D0D1-CD4F-3641-B442-A52C3AA6F291}" presName="space" presStyleCnt="0"/>
      <dgm:spPr/>
    </dgm:pt>
    <dgm:pt modelId="{5EF5943C-05C5-F747-AC58-60279BE89E47}" type="pres">
      <dgm:prSet presAssocID="{33820E31-C98B-2E41-99B1-4007781631FF}" presName="linV" presStyleCnt="0"/>
      <dgm:spPr/>
    </dgm:pt>
    <dgm:pt modelId="{25A9495A-C306-334E-976B-532FF1C4B44C}" type="pres">
      <dgm:prSet presAssocID="{33820E31-C98B-2E41-99B1-4007781631FF}" presName="spVertical1" presStyleCnt="0"/>
      <dgm:spPr/>
    </dgm:pt>
    <dgm:pt modelId="{1B006128-1B26-1244-883B-F819AFE4B261}" type="pres">
      <dgm:prSet presAssocID="{33820E31-C98B-2E41-99B1-4007781631FF}" presName="parTx" presStyleLbl="revTx" presStyleIdx="1" presStyleCnt="3">
        <dgm:presLayoutVars>
          <dgm:chMax val="0"/>
          <dgm:chPref val="0"/>
          <dgm:bulletEnabled val="1"/>
        </dgm:presLayoutVars>
      </dgm:prSet>
      <dgm:spPr/>
    </dgm:pt>
    <dgm:pt modelId="{AC30E9A8-F808-6146-A45A-F6C6607E5ADC}" type="pres">
      <dgm:prSet presAssocID="{33820E31-C98B-2E41-99B1-4007781631FF}" presName="spVertical2" presStyleCnt="0"/>
      <dgm:spPr/>
    </dgm:pt>
    <dgm:pt modelId="{52268560-822D-DF4C-8B62-5E0CE662011D}" type="pres">
      <dgm:prSet presAssocID="{33820E31-C98B-2E41-99B1-4007781631FF}" presName="spVertical3" presStyleCnt="0"/>
      <dgm:spPr/>
    </dgm:pt>
    <dgm:pt modelId="{4E6235A9-16CD-604E-B788-69C351C0D23B}" type="pres">
      <dgm:prSet presAssocID="{6E3B9C6F-9199-8548-A4F6-2EA7EAD3894B}" presName="space" presStyleCnt="0"/>
      <dgm:spPr/>
    </dgm:pt>
    <dgm:pt modelId="{C4645FA5-932D-5A45-B5A8-A06142EE2359}" type="pres">
      <dgm:prSet presAssocID="{7DE902A0-2A0D-9E4F-BAEC-48F6779B9D34}" presName="linV" presStyleCnt="0"/>
      <dgm:spPr/>
    </dgm:pt>
    <dgm:pt modelId="{82EFC3E3-6A76-FF40-A096-DC286DB3266C}" type="pres">
      <dgm:prSet presAssocID="{7DE902A0-2A0D-9E4F-BAEC-48F6779B9D34}" presName="spVertical1" presStyleCnt="0"/>
      <dgm:spPr/>
    </dgm:pt>
    <dgm:pt modelId="{58B064D9-BD04-D940-8DC1-EAE615188B64}" type="pres">
      <dgm:prSet presAssocID="{7DE902A0-2A0D-9E4F-BAEC-48F6779B9D34}" presName="parTx" presStyleLbl="revTx" presStyleIdx="2" presStyleCnt="3">
        <dgm:presLayoutVars>
          <dgm:chMax val="0"/>
          <dgm:chPref val="0"/>
          <dgm:bulletEnabled val="1"/>
        </dgm:presLayoutVars>
      </dgm:prSet>
      <dgm:spPr/>
    </dgm:pt>
    <dgm:pt modelId="{CCFDD2DC-3CCE-7649-A021-A1EB0EE9BF1D}" type="pres">
      <dgm:prSet presAssocID="{7DE902A0-2A0D-9E4F-BAEC-48F6779B9D34}" presName="spVertical2" presStyleCnt="0"/>
      <dgm:spPr/>
    </dgm:pt>
    <dgm:pt modelId="{A5D153C0-0036-3D44-AA87-71A214AA3B5C}" type="pres">
      <dgm:prSet presAssocID="{7DE902A0-2A0D-9E4F-BAEC-48F6779B9D34}" presName="spVertical3" presStyleCnt="0"/>
      <dgm:spPr/>
    </dgm:pt>
    <dgm:pt modelId="{EE52E070-44BB-ED42-8FDC-FBC0833DA287}" type="pres">
      <dgm:prSet presAssocID="{FE43B10C-4B0F-DD4B-A6BD-92A9EB03E548}" presName="padding2" presStyleCnt="0"/>
      <dgm:spPr/>
    </dgm:pt>
    <dgm:pt modelId="{C4E26784-1147-B144-8FD0-4BEFA067D83A}" type="pres">
      <dgm:prSet presAssocID="{FE43B10C-4B0F-DD4B-A6BD-92A9EB03E548}" presName="negArrow" presStyleCnt="0"/>
      <dgm:spPr/>
    </dgm:pt>
    <dgm:pt modelId="{501A70DB-CFC1-A142-81DD-9563EB2DC13C}" type="pres">
      <dgm:prSet presAssocID="{FE43B10C-4B0F-DD4B-A6BD-92A9EB03E548}" presName="backgroundArrow" presStyleLbl="node1" presStyleIdx="0" presStyleCnt="1"/>
      <dgm:spPr/>
    </dgm:pt>
  </dgm:ptLst>
  <dgm:cxnLst>
    <dgm:cxn modelId="{45B18F29-8418-534E-AF0D-32CB32CB50BD}" srcId="{FE43B10C-4B0F-DD4B-A6BD-92A9EB03E548}" destId="{150A3165-61A8-A840-B347-532F28193F34}" srcOrd="0" destOrd="0" parTransId="{704C8B72-FCA1-584C-9327-D4304148057D}" sibTransId="{8E51D0D1-CD4F-3641-B442-A52C3AA6F291}"/>
    <dgm:cxn modelId="{F7038A42-5A05-C74F-83A5-DB72C56E752B}" srcId="{FE43B10C-4B0F-DD4B-A6BD-92A9EB03E548}" destId="{7DE902A0-2A0D-9E4F-BAEC-48F6779B9D34}" srcOrd="2" destOrd="0" parTransId="{58F83D03-58D2-2745-A262-5B366668BA2A}" sibTransId="{D54BB6E2-6A9A-9F47-889E-214D45B20A67}"/>
    <dgm:cxn modelId="{A1BFA061-6FC8-F449-8A07-509A5BA691E4}" type="presOf" srcId="{7DE902A0-2A0D-9E4F-BAEC-48F6779B9D34}" destId="{58B064D9-BD04-D940-8DC1-EAE615188B64}" srcOrd="0" destOrd="0" presId="urn:microsoft.com/office/officeart/2005/8/layout/hProcess3"/>
    <dgm:cxn modelId="{31C42E95-9BE5-5543-996E-98E00D15AD25}" type="presOf" srcId="{150A3165-61A8-A840-B347-532F28193F34}" destId="{194F3AED-578A-FC47-8F76-C32132F9DB6F}" srcOrd="0" destOrd="0" presId="urn:microsoft.com/office/officeart/2005/8/layout/hProcess3"/>
    <dgm:cxn modelId="{16D4D3BB-381E-8B45-A8CD-48A6B7A2C8B6}" srcId="{FE43B10C-4B0F-DD4B-A6BD-92A9EB03E548}" destId="{33820E31-C98B-2E41-99B1-4007781631FF}" srcOrd="1" destOrd="0" parTransId="{FF66F95E-A33D-BE4C-B7D7-E9AC6B04F982}" sibTransId="{6E3B9C6F-9199-8548-A4F6-2EA7EAD3894B}"/>
    <dgm:cxn modelId="{EF734EEE-05F4-BF41-87C3-9A6A3EC37682}" type="presOf" srcId="{33820E31-C98B-2E41-99B1-4007781631FF}" destId="{1B006128-1B26-1244-883B-F819AFE4B261}" srcOrd="0" destOrd="0" presId="urn:microsoft.com/office/officeart/2005/8/layout/hProcess3"/>
    <dgm:cxn modelId="{C84D4CFE-8D18-5E4E-9E49-E8273A4B78C2}" type="presOf" srcId="{FE43B10C-4B0F-DD4B-A6BD-92A9EB03E548}" destId="{EF040112-15FE-F64C-BE9B-0C64BE55B065}" srcOrd="0" destOrd="0" presId="urn:microsoft.com/office/officeart/2005/8/layout/hProcess3"/>
    <dgm:cxn modelId="{4FB5BD98-B95C-F64E-A5CB-F3DC807FD9B1}" type="presParOf" srcId="{EF040112-15FE-F64C-BE9B-0C64BE55B065}" destId="{CF6CECEF-2406-8741-9CF2-A494BED2FE67}" srcOrd="0" destOrd="0" presId="urn:microsoft.com/office/officeart/2005/8/layout/hProcess3"/>
    <dgm:cxn modelId="{3C248C2F-38D3-0540-A451-CF07FB9818CA}" type="presParOf" srcId="{EF040112-15FE-F64C-BE9B-0C64BE55B065}" destId="{D84DA152-7BDA-1840-9180-5B2BCD4996E8}" srcOrd="1" destOrd="0" presId="urn:microsoft.com/office/officeart/2005/8/layout/hProcess3"/>
    <dgm:cxn modelId="{7E26BE76-74DE-F142-9E91-3757B08F737C}" type="presParOf" srcId="{D84DA152-7BDA-1840-9180-5B2BCD4996E8}" destId="{1A372D41-72A2-A84C-A8D6-D9B54D62F008}" srcOrd="0" destOrd="0" presId="urn:microsoft.com/office/officeart/2005/8/layout/hProcess3"/>
    <dgm:cxn modelId="{8E1F37C8-E3DD-1341-A8E3-0996AA6AFBFE}" type="presParOf" srcId="{D84DA152-7BDA-1840-9180-5B2BCD4996E8}" destId="{67FCC1AD-AFBF-6D47-B569-5AFDE3E22A95}" srcOrd="1" destOrd="0" presId="urn:microsoft.com/office/officeart/2005/8/layout/hProcess3"/>
    <dgm:cxn modelId="{0E820B61-5761-234F-BD09-30515CA25F2C}" type="presParOf" srcId="{67FCC1AD-AFBF-6D47-B569-5AFDE3E22A95}" destId="{DAB1A07E-9C63-3C42-91CD-D20179E5244C}" srcOrd="0" destOrd="0" presId="urn:microsoft.com/office/officeart/2005/8/layout/hProcess3"/>
    <dgm:cxn modelId="{B2071420-7DC9-A248-81F4-7031FBE93D83}" type="presParOf" srcId="{67FCC1AD-AFBF-6D47-B569-5AFDE3E22A95}" destId="{194F3AED-578A-FC47-8F76-C32132F9DB6F}" srcOrd="1" destOrd="0" presId="urn:microsoft.com/office/officeart/2005/8/layout/hProcess3"/>
    <dgm:cxn modelId="{DEF6AB60-9504-3F45-A901-F6DC18CADD27}" type="presParOf" srcId="{67FCC1AD-AFBF-6D47-B569-5AFDE3E22A95}" destId="{684CEC02-8F7C-8344-9381-9470AAACE67B}" srcOrd="2" destOrd="0" presId="urn:microsoft.com/office/officeart/2005/8/layout/hProcess3"/>
    <dgm:cxn modelId="{F69F112E-829A-D64B-A6BC-94298D581242}" type="presParOf" srcId="{67FCC1AD-AFBF-6D47-B569-5AFDE3E22A95}" destId="{CB6B7CCF-F7B0-1644-8712-0BD9D7BDD9ED}" srcOrd="3" destOrd="0" presId="urn:microsoft.com/office/officeart/2005/8/layout/hProcess3"/>
    <dgm:cxn modelId="{0FB0C71B-3AE4-6F47-AD28-880EDEA0F6B3}" type="presParOf" srcId="{D84DA152-7BDA-1840-9180-5B2BCD4996E8}" destId="{415508CE-6E2E-A14E-A160-87844ED10D2B}" srcOrd="2" destOrd="0" presId="urn:microsoft.com/office/officeart/2005/8/layout/hProcess3"/>
    <dgm:cxn modelId="{247D3D59-6977-3D41-B083-690B47EFE8D7}" type="presParOf" srcId="{D84DA152-7BDA-1840-9180-5B2BCD4996E8}" destId="{5EF5943C-05C5-F747-AC58-60279BE89E47}" srcOrd="3" destOrd="0" presId="urn:microsoft.com/office/officeart/2005/8/layout/hProcess3"/>
    <dgm:cxn modelId="{30B9F2A7-F67F-414A-A646-8C9632E8FF59}" type="presParOf" srcId="{5EF5943C-05C5-F747-AC58-60279BE89E47}" destId="{25A9495A-C306-334E-976B-532FF1C4B44C}" srcOrd="0" destOrd="0" presId="urn:microsoft.com/office/officeart/2005/8/layout/hProcess3"/>
    <dgm:cxn modelId="{65632E0D-E381-524A-8A56-2B73F9316954}" type="presParOf" srcId="{5EF5943C-05C5-F747-AC58-60279BE89E47}" destId="{1B006128-1B26-1244-883B-F819AFE4B261}" srcOrd="1" destOrd="0" presId="urn:microsoft.com/office/officeart/2005/8/layout/hProcess3"/>
    <dgm:cxn modelId="{08BCB70F-2ED3-164E-B9D2-B8FE76F14CBE}" type="presParOf" srcId="{5EF5943C-05C5-F747-AC58-60279BE89E47}" destId="{AC30E9A8-F808-6146-A45A-F6C6607E5ADC}" srcOrd="2" destOrd="0" presId="urn:microsoft.com/office/officeart/2005/8/layout/hProcess3"/>
    <dgm:cxn modelId="{90355789-F67C-0B4C-9E91-00C93C70B8F7}" type="presParOf" srcId="{5EF5943C-05C5-F747-AC58-60279BE89E47}" destId="{52268560-822D-DF4C-8B62-5E0CE662011D}" srcOrd="3" destOrd="0" presId="urn:microsoft.com/office/officeart/2005/8/layout/hProcess3"/>
    <dgm:cxn modelId="{F20D1467-678C-6240-AD4E-56432E35AB0D}" type="presParOf" srcId="{D84DA152-7BDA-1840-9180-5B2BCD4996E8}" destId="{4E6235A9-16CD-604E-B788-69C351C0D23B}" srcOrd="4" destOrd="0" presId="urn:microsoft.com/office/officeart/2005/8/layout/hProcess3"/>
    <dgm:cxn modelId="{AB575240-E2F4-6344-8B79-1EFA91C94D82}" type="presParOf" srcId="{D84DA152-7BDA-1840-9180-5B2BCD4996E8}" destId="{C4645FA5-932D-5A45-B5A8-A06142EE2359}" srcOrd="5" destOrd="0" presId="urn:microsoft.com/office/officeart/2005/8/layout/hProcess3"/>
    <dgm:cxn modelId="{B0860E51-274F-BA4D-89AB-C4E21294AEF0}" type="presParOf" srcId="{C4645FA5-932D-5A45-B5A8-A06142EE2359}" destId="{82EFC3E3-6A76-FF40-A096-DC286DB3266C}" srcOrd="0" destOrd="0" presId="urn:microsoft.com/office/officeart/2005/8/layout/hProcess3"/>
    <dgm:cxn modelId="{7C9978F2-BD7E-1241-BB57-C93277029C80}" type="presParOf" srcId="{C4645FA5-932D-5A45-B5A8-A06142EE2359}" destId="{58B064D9-BD04-D940-8DC1-EAE615188B64}" srcOrd="1" destOrd="0" presId="urn:microsoft.com/office/officeart/2005/8/layout/hProcess3"/>
    <dgm:cxn modelId="{5299D8A7-E6C5-E34D-A977-9FB5E44129A2}" type="presParOf" srcId="{C4645FA5-932D-5A45-B5A8-A06142EE2359}" destId="{CCFDD2DC-3CCE-7649-A021-A1EB0EE9BF1D}" srcOrd="2" destOrd="0" presId="urn:microsoft.com/office/officeart/2005/8/layout/hProcess3"/>
    <dgm:cxn modelId="{5D5523B2-2B4B-374E-A9F4-F007A3F9DF77}" type="presParOf" srcId="{C4645FA5-932D-5A45-B5A8-A06142EE2359}" destId="{A5D153C0-0036-3D44-AA87-71A214AA3B5C}" srcOrd="3" destOrd="0" presId="urn:microsoft.com/office/officeart/2005/8/layout/hProcess3"/>
    <dgm:cxn modelId="{03F149FD-0376-FC44-8D9F-5E597E4A17D5}" type="presParOf" srcId="{D84DA152-7BDA-1840-9180-5B2BCD4996E8}" destId="{EE52E070-44BB-ED42-8FDC-FBC0833DA287}" srcOrd="6" destOrd="0" presId="urn:microsoft.com/office/officeart/2005/8/layout/hProcess3"/>
    <dgm:cxn modelId="{E2E52A05-A17C-574F-9021-66CFFD3CF260}" type="presParOf" srcId="{D84DA152-7BDA-1840-9180-5B2BCD4996E8}" destId="{C4E26784-1147-B144-8FD0-4BEFA067D83A}" srcOrd="7" destOrd="0" presId="urn:microsoft.com/office/officeart/2005/8/layout/hProcess3"/>
    <dgm:cxn modelId="{B720E471-A886-8448-A17C-F29B3CB7D61F}" type="presParOf" srcId="{D84DA152-7BDA-1840-9180-5B2BCD4996E8}" destId="{501A70DB-CFC1-A142-81DD-9563EB2DC13C}" srcOrd="8" destOrd="0" presId="urn:microsoft.com/office/officeart/2005/8/layout/hProcess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1A70DB-CFC1-A142-81DD-9563EB2DC13C}">
      <dsp:nvSpPr>
        <dsp:cNvPr id="0" name=""/>
        <dsp:cNvSpPr/>
      </dsp:nvSpPr>
      <dsp:spPr>
        <a:xfrm>
          <a:off x="0" y="544300"/>
          <a:ext cx="3804415" cy="1313048"/>
        </a:xfrm>
        <a:prstGeom prst="rightArrow">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8B064D9-BD04-D940-8DC1-EAE615188B64}">
      <dsp:nvSpPr>
        <dsp:cNvPr id="0" name=""/>
        <dsp:cNvSpPr/>
      </dsp:nvSpPr>
      <dsp:spPr>
        <a:xfrm>
          <a:off x="2507235" y="872562"/>
          <a:ext cx="916737" cy="6565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240" rIns="0" bIns="142240" numCol="1" spcCol="1270" anchor="ctr" anchorCtr="0">
          <a:noAutofit/>
        </a:bodyPr>
        <a:lstStyle/>
        <a:p>
          <a:pPr marL="0" lvl="0" indent="0" algn="ctr" defTabSz="622300">
            <a:lnSpc>
              <a:spcPct val="90000"/>
            </a:lnSpc>
            <a:spcBef>
              <a:spcPct val="0"/>
            </a:spcBef>
            <a:spcAft>
              <a:spcPct val="35000"/>
            </a:spcAft>
            <a:buNone/>
          </a:pPr>
          <a:r>
            <a:rPr lang="en-GB" sz="1400" kern="1200" dirty="0"/>
            <a:t>Brain processes</a:t>
          </a:r>
        </a:p>
      </dsp:txBody>
      <dsp:txXfrm>
        <a:off x="2507235" y="872562"/>
        <a:ext cx="916737" cy="656524"/>
      </dsp:txXfrm>
    </dsp:sp>
    <dsp:sp modelId="{1B006128-1B26-1244-883B-F819AFE4B261}">
      <dsp:nvSpPr>
        <dsp:cNvPr id="0" name=""/>
        <dsp:cNvSpPr/>
      </dsp:nvSpPr>
      <dsp:spPr>
        <a:xfrm>
          <a:off x="1407150" y="872562"/>
          <a:ext cx="916737" cy="6565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240" rIns="0" bIns="142240" numCol="1" spcCol="1270" anchor="ctr" anchorCtr="0">
          <a:noAutofit/>
        </a:bodyPr>
        <a:lstStyle/>
        <a:p>
          <a:pPr marL="0" lvl="0" indent="0" algn="ctr" defTabSz="622300">
            <a:lnSpc>
              <a:spcPct val="90000"/>
            </a:lnSpc>
            <a:spcBef>
              <a:spcPct val="0"/>
            </a:spcBef>
            <a:spcAft>
              <a:spcPct val="35000"/>
            </a:spcAft>
            <a:buNone/>
          </a:pPr>
          <a:r>
            <a:rPr lang="en-GB" sz="1400" kern="1200" dirty="0"/>
            <a:t>Represented by </a:t>
          </a:r>
        </a:p>
      </dsp:txBody>
      <dsp:txXfrm>
        <a:off x="1407150" y="872562"/>
        <a:ext cx="916737" cy="656524"/>
      </dsp:txXfrm>
    </dsp:sp>
    <dsp:sp modelId="{194F3AED-578A-FC47-8F76-C32132F9DB6F}">
      <dsp:nvSpPr>
        <dsp:cNvPr id="0" name=""/>
        <dsp:cNvSpPr/>
      </dsp:nvSpPr>
      <dsp:spPr>
        <a:xfrm>
          <a:off x="307065" y="872562"/>
          <a:ext cx="916737" cy="6565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240" rIns="0" bIns="142240" numCol="1" spcCol="1270" anchor="ctr" anchorCtr="0">
          <a:noAutofit/>
        </a:bodyPr>
        <a:lstStyle/>
        <a:p>
          <a:pPr marL="0" lvl="0" indent="0" algn="ctr" defTabSz="622300">
            <a:lnSpc>
              <a:spcPct val="90000"/>
            </a:lnSpc>
            <a:spcBef>
              <a:spcPct val="0"/>
            </a:spcBef>
            <a:spcAft>
              <a:spcPct val="35000"/>
            </a:spcAft>
            <a:buNone/>
          </a:pPr>
          <a:r>
            <a:rPr lang="en-GB" sz="1400" kern="1200" dirty="0"/>
            <a:t>External object </a:t>
          </a:r>
        </a:p>
      </dsp:txBody>
      <dsp:txXfrm>
        <a:off x="307065" y="872562"/>
        <a:ext cx="916737" cy="656524"/>
      </dsp:txXfrm>
    </dsp:sp>
  </dsp:spTree>
</dsp:drawing>
</file>

<file path=ppt/diagrams/layout1.xml><?xml version="1.0" encoding="utf-8"?>
<dgm:layoutDef xmlns:dgm="http://schemas.openxmlformats.org/drawingml/2006/diagram" xmlns:a="http://schemas.openxmlformats.org/drawingml/2006/main" uniqueId="urn:microsoft.com/office/officeart/2005/8/layout/hProcess3">
  <dgm:title val=""/>
  <dgm:desc val=""/>
  <dgm:catLst>
    <dgm:cat type="process" pri="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chOrder="t">
    <dgm:varLst>
      <dgm:dir/>
      <dgm:animLvl val="lvl"/>
      <dgm:resizeHandles val="exact"/>
    </dgm:varLst>
    <dgm:alg type="composite"/>
    <dgm:shape xmlns:r="http://schemas.openxmlformats.org/officeDocument/2006/relationships" r:blip="">
      <dgm:adjLst/>
    </dgm:shape>
    <dgm:presOf/>
    <dgm:constrLst>
      <dgm:constr type="w" for="ch" forName="dummy" refType="w"/>
      <dgm:constr type="h" for="ch" forName="dummy" refType="h"/>
      <dgm:constr type="h" for="ch" forName="dummy" refType="w" refFor="ch" refForName="dummy" op="lte" fact="0.4"/>
      <dgm:constr type="ctrX" for="ch" forName="dummy" refType="w" fact="0.5"/>
      <dgm:constr type="ctrY" for="ch" forName="dummy" refType="h" fact="0.5"/>
      <dgm:constr type="w" for="ch" forName="linH" refType="w"/>
      <dgm:constr type="h" for="ch" forName="linH" refType="h"/>
      <dgm:constr type="ctrX" for="ch" forName="linH" refType="w" fact="0.5"/>
      <dgm:constr type="ctrY" for="ch" forName="linH" refType="h" fact="0.5"/>
      <dgm:constr type="userP" for="ch" forName="linH" refType="h" refFor="ch" refForName="dummy" fact="0.25"/>
      <dgm:constr type="userT" for="des" forName="parTx" refType="w" refFor="ch" refForName="dummy" fact="0.2"/>
    </dgm:constrLst>
    <dgm:ruleLst/>
    <dgm:layoutNode name="dummy">
      <dgm:alg type="sp"/>
      <dgm:shape xmlns:r="http://schemas.openxmlformats.org/officeDocument/2006/relationships" r:blip="">
        <dgm:adjLst/>
      </dgm:shape>
      <dgm:presOf/>
      <dgm:constrLst/>
      <dgm:ruleLst/>
    </dgm:layoutNode>
    <dgm:layoutNode name="linH">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primFontSz" for="des" forName="parTx" val="65"/>
        <dgm:constr type="primFontSz" for="des" forName="desTx" refType="primFontSz" refFor="des" refForName="parTx" op="equ"/>
        <dgm:constr type="h" for="des" forName="parTx" refType="primFontSz" refFor="des" refForName="parTx"/>
        <dgm:constr type="h" for="des" forName="desTx" refType="primFontSz" refFor="des" refForName="parTx" fact="0.5"/>
        <dgm:constr type="h" for="des" forName="parTx" op="equ"/>
        <dgm:constr type="h" for="des" forName="desTx" op="equ"/>
        <dgm:constr type="h" for="ch" forName="backgroundArrow" refType="primFontSz" refFor="des" refForName="parTx" fact="2"/>
        <dgm:constr type="h" for="ch" forName="backgroundArrow" refType="h" refFor="des" refForName="parTx" op="lte" fact="2"/>
        <dgm:constr type="h" for="ch" forName="backgroundArrow" refType="h" refFor="des" refForName="parTx" op="gte" fact="2"/>
        <dgm:constr type="h" for="des" forName="spVertical1" refType="primFontSz" refFor="des" refForName="parTx" fact="0.5"/>
        <dgm:constr type="h" for="des" forName="spVertical1" refType="h" refFor="des" refForName="parTx" op="lte" fact="0.5"/>
        <dgm:constr type="h" for="des" forName="spVertical1" refType="h" refFor="des" refForName="parTx" op="gte" fact="0.5"/>
        <dgm:constr type="h" for="des" forName="spVertical2" refType="primFontSz" refFor="des" refForName="parTx" fact="0.5"/>
        <dgm:constr type="h" for="des" forName="spVertical2" refType="h" refFor="des" refForName="parTx" op="lte" fact="0.5"/>
        <dgm:constr type="h" for="des" forName="spVertical2" refType="h" refFor="des" refForName="parTx" op="gte" fact="0.5"/>
        <dgm:constr type="h" for="des" forName="spVertical3" refType="primFontSz" refFor="des" refForName="parTx" fact="-0.4"/>
        <dgm:constr type="h" for="des" forName="spVertical3" refType="h" refFor="des" refForName="parTx" op="lte" fact="-0.4"/>
        <dgm:constr type="h" for="des" forName="spVertical3" refType="h" refFor="des" refForName="parTx" op="gte" fact="-0.4"/>
        <dgm:constr type="w" for="ch" forName="backgroundArrow" refType="w"/>
        <dgm:constr type="w" for="ch" forName="negArrow" refType="w" fact="-1"/>
        <dgm:constr type="w" for="ch" forName="linV" refType="w"/>
        <dgm:constr type="w" for="ch" forName="space" refType="w" refFor="ch" refForName="linV" fact="0.2"/>
        <dgm:constr type="w" for="ch" forName="padding1" refType="w" fact="0.08"/>
        <dgm:constr type="userP"/>
        <dgm:constr type="w" for="ch" forName="padding2" refType="userP"/>
      </dgm:constrLst>
      <dgm:ruleLst>
        <dgm:rule type="w" for="ch" forName="linV" val="0" fact="NaN" max="NaN"/>
        <dgm:rule type="primFontSz" for="des" forName="parTx" val="5" fact="NaN" max="NaN"/>
      </dgm:ruleLst>
      <dgm:layoutNode name="padding1">
        <dgm:alg type="sp"/>
        <dgm:shape xmlns:r="http://schemas.openxmlformats.org/officeDocument/2006/relationships" r:blip="">
          <dgm:adjLst/>
        </dgm:shape>
        <dgm:presOf/>
        <dgm:constrLst/>
        <dgm:ruleLst/>
      </dgm:layoutNode>
      <dgm:forEach name="Name4" axis="ch" ptType="node">
        <dgm:layoutNode name="linV">
          <dgm:alg type="lin">
            <dgm:param type="linDir" val="fromT"/>
          </dgm:alg>
          <dgm:shape xmlns:r="http://schemas.openxmlformats.org/officeDocument/2006/relationships" r:blip="">
            <dgm:adjLst/>
          </dgm:shape>
          <dgm:presOf/>
          <dgm:constrLst>
            <dgm:constr type="w" for="ch" forName="spVertical1" refType="w"/>
            <dgm:constr type="w" for="ch" forName="parTx" refType="w"/>
            <dgm:constr type="w" for="ch" forName="spVertical2" refType="w"/>
            <dgm:constr type="w" for="ch" forName="spVertical3" refType="w"/>
            <dgm:constr type="w" for="ch" forName="desTx" refType="w"/>
          </dgm:constrLst>
          <dgm:ruleLst/>
          <dgm:layoutNode name="spVertical1">
            <dgm:alg type="sp"/>
            <dgm:shape xmlns:r="http://schemas.openxmlformats.org/officeDocument/2006/relationships" r:blip="">
              <dgm:adjLst/>
            </dgm:shape>
            <dgm:presOf/>
            <dgm:constrLst/>
            <dgm:ruleLst/>
          </dgm:layoutNode>
          <dgm:layoutNode name="parTx" styleLbl="revTx">
            <dgm:varLst>
              <dgm:chMax val="0"/>
              <dgm:chPref val="0"/>
              <dgm:bulletEnabled val="1"/>
            </dgm:varLst>
            <dgm:choose name="Name5">
              <dgm:if name="Name6" axis="root des" ptType="all node" func="maxDepth" op="gt" val="1">
                <dgm:alg type="tx">
                  <dgm:param type="parTxLTRAlign" val="l"/>
                  <dgm:param type="parTxRTLAlign" val="r"/>
                </dgm:alg>
              </dgm:if>
              <dgm:else name="Name7">
                <dgm:alg type="tx">
                  <dgm:param type="parTxLTRAlign" val="ctr"/>
                  <dgm:param type="parTxRTLAlign" val="ctr"/>
                </dgm:alg>
              </dgm:else>
            </dgm:choose>
            <dgm:shape xmlns:r="http://schemas.openxmlformats.org/officeDocument/2006/relationships" type="rect" r:blip="">
              <dgm:adjLst/>
            </dgm:shape>
            <dgm:presOf axis="self" ptType="node"/>
            <dgm:choose name="Name8">
              <dgm:if name="Name9" func="var" arg="dir" op="equ" val="norm">
                <dgm:constrLst>
                  <dgm:constr type="userT"/>
                  <dgm:constr type="h" refType="userT" op="lte"/>
                  <dgm:constr type="tMarg" refType="primFontSz" fact="0.8"/>
                  <dgm:constr type="bMarg" refType="tMarg"/>
                  <dgm:constr type="lMarg"/>
                  <dgm:constr type="rMarg"/>
                </dgm:constrLst>
              </dgm:if>
              <dgm:else name="Name10">
                <dgm:constrLst>
                  <dgm:constr type="userT"/>
                  <dgm:constr type="h" refType="userT" op="lte"/>
                  <dgm:constr type="tMarg" refType="primFontSz" fact="0.8"/>
                  <dgm:constr type="bMarg" refType="tMarg"/>
                  <dgm:constr type="lMarg"/>
                  <dgm:constr type="rMarg"/>
                </dgm:constrLst>
              </dgm:else>
            </dgm:choose>
            <dgm:ruleLst>
              <dgm:rule type="h" val="INF" fact="NaN" max="NaN"/>
            </dgm:ruleLst>
          </dgm:layoutNode>
          <dgm:layoutNode name="spVertical2">
            <dgm:alg type="sp"/>
            <dgm:shape xmlns:r="http://schemas.openxmlformats.org/officeDocument/2006/relationships" r:blip="">
              <dgm:adjLst/>
            </dgm:shape>
            <dgm:presOf/>
            <dgm:constrLst/>
            <dgm:ruleLst/>
          </dgm:layoutNode>
          <dgm:layoutNode name="spVertical3">
            <dgm:alg type="sp"/>
            <dgm:shape xmlns:r="http://schemas.openxmlformats.org/officeDocument/2006/relationships" r:blip="">
              <dgm:adjLst/>
            </dgm:shape>
            <dgm:presOf/>
            <dgm:constrLst/>
            <dgm:ruleLst/>
          </dgm:layoutNode>
          <dgm:choose name="Name11">
            <dgm:if name="Name12" axis="ch" ptType="node" func="cnt" op="gte" val="1">
              <dgm:layoutNode name="desTx" styleLbl="revTx">
                <dgm:varLst>
                  <dgm:bulletEnabled val="1"/>
                </dgm:varLst>
                <dgm:alg type="tx">
                  <dgm:param type="stBulletLvl" val="1"/>
                </dgm:alg>
                <dgm:shape xmlns:r="http://schemas.openxmlformats.org/officeDocument/2006/relationships" type="rect" r:blip="">
                  <dgm:adjLst/>
                </dgm:shape>
                <dgm:presOf axis="des" ptType="node"/>
                <dgm:constrLst>
                  <dgm:constr type="tMarg"/>
                  <dgm:constr type="bMarg"/>
                  <dgm:constr type="rMarg"/>
                  <dgm:constr type="lMarg"/>
                </dgm:constrLst>
                <dgm:ruleLst>
                  <dgm:rule type="h" val="INF" fact="NaN" max="NaN"/>
                </dgm:ruleLst>
              </dgm:layoutNode>
            </dgm:if>
            <dgm:else name="Name13"/>
          </dgm:choose>
        </dgm:layoutNod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name="padding2">
        <dgm:alg type="sp"/>
        <dgm:shape xmlns:r="http://schemas.openxmlformats.org/officeDocument/2006/relationships" r:blip="">
          <dgm:adjLst/>
        </dgm:shape>
        <dgm:presOf/>
        <dgm:constrLst/>
        <dgm:ruleLst/>
      </dgm:layoutNode>
      <dgm:layoutNode name="negArrow">
        <dgm:alg type="sp"/>
        <dgm:shape xmlns:r="http://schemas.openxmlformats.org/officeDocument/2006/relationships" r:blip="">
          <dgm:adjLst/>
        </dgm:shape>
        <dgm:presOf/>
        <dgm:constrLst/>
        <dgm:ruleLst/>
      </dgm:layoutNode>
      <dgm:layoutNode name="backgroundArrow" styleLbl="node1">
        <dgm:alg type="sp"/>
        <dgm:choose name="Name15">
          <dgm:if name="Name16" func="var" arg="dir" op="equ" val="norm">
            <dgm:shape xmlns:r="http://schemas.openxmlformats.org/officeDocument/2006/relationships" type="rightArrow" r:blip="">
              <dgm:adjLst/>
            </dgm:shape>
          </dgm:if>
          <dgm:else name="Name17">
            <dgm:shape xmlns:r="http://schemas.openxmlformats.org/officeDocument/2006/relationships" type="leftArrow" r:blip="">
              <dgm:adjLst/>
            </dgm:shape>
          </dgm:else>
        </dgm:choose>
        <dgm:presOf/>
        <dgm:constrLst/>
        <dgm:ruleLst/>
      </dgm:layoutNode>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GB"/>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smtClean="0"/>
              <a:pPr/>
              <a:t>8/19/24</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smtClean="0"/>
              <a:pPr/>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6372762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8/19/24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1263676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smtClean="0"/>
              <a:pPr/>
              <a:t>8/19/24</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smtClean="0"/>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375148235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smtClean="0"/>
              <a:t>8/19/24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1048380956"/>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smtClean="0"/>
              <a:t>8/19/24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207427224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smtClean="0"/>
              <a:t>8/19/24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5320009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smtClean="0"/>
              <a:t>8/19/24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1621440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GB"/>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smtClean="0"/>
              <a:t>8/19/24</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smtClean="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868092841"/>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GB"/>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smtClean="0"/>
              <a:t>8/19/24</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557230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8/19/24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57145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8/19/24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40413786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smtClean="0"/>
              <a:pPr/>
              <a:t>8/19/24</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smtClean="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59204476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9.png"/><Relationship Id="rId7" Type="http://schemas.openxmlformats.org/officeDocument/2006/relationships/diagramColors" Target="../diagrams/colors1.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15DEDD7-7B31-4EF1-B7C7-5AEE3208C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746D5A-6FC8-D6E9-C538-02DAF071B391}"/>
              </a:ext>
            </a:extLst>
          </p:cNvPr>
          <p:cNvSpPr>
            <a:spLocks noGrp="1"/>
          </p:cNvSpPr>
          <p:nvPr>
            <p:ph type="ctrTitle"/>
          </p:nvPr>
        </p:nvSpPr>
        <p:spPr>
          <a:xfrm>
            <a:off x="644849" y="954923"/>
            <a:ext cx="5875694" cy="4504620"/>
          </a:xfrm>
        </p:spPr>
        <p:txBody>
          <a:bodyPr>
            <a:normAutofit/>
          </a:bodyPr>
          <a:lstStyle/>
          <a:p>
            <a:br>
              <a:rPr lang="en-US" sz="7400">
                <a:latin typeface="Avenir Book" panose="02000503020000020003" pitchFamily="2" charset="0"/>
              </a:rPr>
            </a:br>
            <a:r>
              <a:rPr lang="en-US" sz="7400" b="1">
                <a:latin typeface="Avenir Book" panose="02000503020000020003" pitchFamily="2" charset="0"/>
              </a:rPr>
              <a:t>‘INDirect Realism’ (2)</a:t>
            </a:r>
          </a:p>
        </p:txBody>
      </p:sp>
      <p:sp>
        <p:nvSpPr>
          <p:cNvPr id="3" name="Subtitle 2">
            <a:extLst>
              <a:ext uri="{FF2B5EF4-FFF2-40B4-BE49-F238E27FC236}">
                <a16:creationId xmlns:a16="http://schemas.microsoft.com/office/drawing/2014/main" id="{FA1C693E-FADB-3EE5-E80A-33AEE2B9FE16}"/>
              </a:ext>
            </a:extLst>
          </p:cNvPr>
          <p:cNvSpPr>
            <a:spLocks noGrp="1"/>
          </p:cNvSpPr>
          <p:nvPr>
            <p:ph type="subTitle" idx="1"/>
          </p:nvPr>
        </p:nvSpPr>
        <p:spPr>
          <a:xfrm>
            <a:off x="643157" y="5572664"/>
            <a:ext cx="5877385" cy="841803"/>
          </a:xfrm>
        </p:spPr>
        <p:txBody>
          <a:bodyPr>
            <a:normAutofit/>
          </a:bodyPr>
          <a:lstStyle/>
          <a:p>
            <a:endParaRPr lang="en-US" dirty="0">
              <a:solidFill>
                <a:schemeClr val="bg2"/>
              </a:solidFill>
            </a:endParaRPr>
          </a:p>
        </p:txBody>
      </p:sp>
      <p:sp>
        <p:nvSpPr>
          <p:cNvPr id="18" name="Freeform: Shape 17">
            <a:extLst>
              <a:ext uri="{FF2B5EF4-FFF2-40B4-BE49-F238E27FC236}">
                <a16:creationId xmlns:a16="http://schemas.microsoft.com/office/drawing/2014/main" id="{3242CC7A-3D6E-47A4-B9D1-860978459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66174" y="0"/>
            <a:ext cx="5282519" cy="6858000"/>
          </a:xfrm>
          <a:custGeom>
            <a:avLst/>
            <a:gdLst>
              <a:gd name="connsiteX0" fmla="*/ 189795 w 5282519"/>
              <a:gd name="connsiteY0" fmla="*/ 0 h 6858000"/>
              <a:gd name="connsiteX1" fmla="*/ 5282519 w 5282519"/>
              <a:gd name="connsiteY1" fmla="*/ 0 h 6858000"/>
              <a:gd name="connsiteX2" fmla="*/ 5282519 w 5282519"/>
              <a:gd name="connsiteY2" fmla="*/ 6858000 h 6858000"/>
              <a:gd name="connsiteX3" fmla="*/ 189795 w 5282519"/>
              <a:gd name="connsiteY3" fmla="*/ 6858000 h 6858000"/>
              <a:gd name="connsiteX4" fmla="*/ 184756 w 5282519"/>
              <a:gd name="connsiteY4" fmla="*/ 6791325 h 6858000"/>
              <a:gd name="connsiteX5" fmla="*/ 176358 w 5282519"/>
              <a:gd name="connsiteY5" fmla="*/ 6735762 h 6858000"/>
              <a:gd name="connsiteX6" fmla="*/ 166281 w 5282519"/>
              <a:gd name="connsiteY6" fmla="*/ 6683375 h 6858000"/>
              <a:gd name="connsiteX7" fmla="*/ 149485 w 5282519"/>
              <a:gd name="connsiteY7" fmla="*/ 6640512 h 6858000"/>
              <a:gd name="connsiteX8" fmla="*/ 132689 w 5282519"/>
              <a:gd name="connsiteY8" fmla="*/ 6597650 h 6858000"/>
              <a:gd name="connsiteX9" fmla="*/ 112534 w 5282519"/>
              <a:gd name="connsiteY9" fmla="*/ 6561137 h 6858000"/>
              <a:gd name="connsiteX10" fmla="*/ 92379 w 5282519"/>
              <a:gd name="connsiteY10" fmla="*/ 6523037 h 6858000"/>
              <a:gd name="connsiteX11" fmla="*/ 73903 w 5282519"/>
              <a:gd name="connsiteY11" fmla="*/ 6488112 h 6858000"/>
              <a:gd name="connsiteX12" fmla="*/ 55427 w 5282519"/>
              <a:gd name="connsiteY12" fmla="*/ 6448425 h 6858000"/>
              <a:gd name="connsiteX13" fmla="*/ 38632 w 5282519"/>
              <a:gd name="connsiteY13" fmla="*/ 6407150 h 6858000"/>
              <a:gd name="connsiteX14" fmla="*/ 23515 w 5282519"/>
              <a:gd name="connsiteY14" fmla="*/ 6361112 h 6858000"/>
              <a:gd name="connsiteX15" fmla="*/ 11758 w 5282519"/>
              <a:gd name="connsiteY15" fmla="*/ 6311900 h 6858000"/>
              <a:gd name="connsiteX16" fmla="*/ 3359 w 5282519"/>
              <a:gd name="connsiteY16" fmla="*/ 6251575 h 6858000"/>
              <a:gd name="connsiteX17" fmla="*/ 0 w 5282519"/>
              <a:gd name="connsiteY17" fmla="*/ 6183312 h 6858000"/>
              <a:gd name="connsiteX18" fmla="*/ 3359 w 5282519"/>
              <a:gd name="connsiteY18" fmla="*/ 6113462 h 6858000"/>
              <a:gd name="connsiteX19" fmla="*/ 11758 w 5282519"/>
              <a:gd name="connsiteY19" fmla="*/ 6056312 h 6858000"/>
              <a:gd name="connsiteX20" fmla="*/ 23515 w 5282519"/>
              <a:gd name="connsiteY20" fmla="*/ 6003925 h 6858000"/>
              <a:gd name="connsiteX21" fmla="*/ 38632 w 5282519"/>
              <a:gd name="connsiteY21" fmla="*/ 5956300 h 6858000"/>
              <a:gd name="connsiteX22" fmla="*/ 55427 w 5282519"/>
              <a:gd name="connsiteY22" fmla="*/ 5915025 h 6858000"/>
              <a:gd name="connsiteX23" fmla="*/ 75583 w 5282519"/>
              <a:gd name="connsiteY23" fmla="*/ 5876925 h 6858000"/>
              <a:gd name="connsiteX24" fmla="*/ 95738 w 5282519"/>
              <a:gd name="connsiteY24" fmla="*/ 5840412 h 6858000"/>
              <a:gd name="connsiteX25" fmla="*/ 115893 w 5282519"/>
              <a:gd name="connsiteY25" fmla="*/ 5802312 h 6858000"/>
              <a:gd name="connsiteX26" fmla="*/ 134368 w 5282519"/>
              <a:gd name="connsiteY26" fmla="*/ 5762625 h 6858000"/>
              <a:gd name="connsiteX27" fmla="*/ 152844 w 5282519"/>
              <a:gd name="connsiteY27" fmla="*/ 5721350 h 6858000"/>
              <a:gd name="connsiteX28" fmla="*/ 167960 w 5282519"/>
              <a:gd name="connsiteY28" fmla="*/ 5675312 h 6858000"/>
              <a:gd name="connsiteX29" fmla="*/ 178038 w 5282519"/>
              <a:gd name="connsiteY29" fmla="*/ 5622925 h 6858000"/>
              <a:gd name="connsiteX30" fmla="*/ 188115 w 5282519"/>
              <a:gd name="connsiteY30" fmla="*/ 5562600 h 6858000"/>
              <a:gd name="connsiteX31" fmla="*/ 189795 w 5282519"/>
              <a:gd name="connsiteY31" fmla="*/ 5494337 h 6858000"/>
              <a:gd name="connsiteX32" fmla="*/ 188115 w 5282519"/>
              <a:gd name="connsiteY32" fmla="*/ 5426075 h 6858000"/>
              <a:gd name="connsiteX33" fmla="*/ 178038 w 5282519"/>
              <a:gd name="connsiteY33" fmla="*/ 5365750 h 6858000"/>
              <a:gd name="connsiteX34" fmla="*/ 167960 w 5282519"/>
              <a:gd name="connsiteY34" fmla="*/ 5313362 h 6858000"/>
              <a:gd name="connsiteX35" fmla="*/ 152844 w 5282519"/>
              <a:gd name="connsiteY35" fmla="*/ 5268912 h 6858000"/>
              <a:gd name="connsiteX36" fmla="*/ 134368 w 5282519"/>
              <a:gd name="connsiteY36" fmla="*/ 5226050 h 6858000"/>
              <a:gd name="connsiteX37" fmla="*/ 115893 w 5282519"/>
              <a:gd name="connsiteY37" fmla="*/ 5186362 h 6858000"/>
              <a:gd name="connsiteX38" fmla="*/ 95738 w 5282519"/>
              <a:gd name="connsiteY38" fmla="*/ 5149850 h 6858000"/>
              <a:gd name="connsiteX39" fmla="*/ 75583 w 5282519"/>
              <a:gd name="connsiteY39" fmla="*/ 5114925 h 6858000"/>
              <a:gd name="connsiteX40" fmla="*/ 55427 w 5282519"/>
              <a:gd name="connsiteY40" fmla="*/ 5075237 h 6858000"/>
              <a:gd name="connsiteX41" fmla="*/ 38632 w 5282519"/>
              <a:gd name="connsiteY41" fmla="*/ 5033962 h 6858000"/>
              <a:gd name="connsiteX42" fmla="*/ 23515 w 5282519"/>
              <a:gd name="connsiteY42" fmla="*/ 4987925 h 6858000"/>
              <a:gd name="connsiteX43" fmla="*/ 11758 w 5282519"/>
              <a:gd name="connsiteY43" fmla="*/ 4935537 h 6858000"/>
              <a:gd name="connsiteX44" fmla="*/ 3359 w 5282519"/>
              <a:gd name="connsiteY44" fmla="*/ 4875212 h 6858000"/>
              <a:gd name="connsiteX45" fmla="*/ 0 w 5282519"/>
              <a:gd name="connsiteY45" fmla="*/ 4806950 h 6858000"/>
              <a:gd name="connsiteX46" fmla="*/ 3359 w 5282519"/>
              <a:gd name="connsiteY46" fmla="*/ 4738687 h 6858000"/>
              <a:gd name="connsiteX47" fmla="*/ 11758 w 5282519"/>
              <a:gd name="connsiteY47" fmla="*/ 4678362 h 6858000"/>
              <a:gd name="connsiteX48" fmla="*/ 23515 w 5282519"/>
              <a:gd name="connsiteY48" fmla="*/ 4625975 h 6858000"/>
              <a:gd name="connsiteX49" fmla="*/ 38632 w 5282519"/>
              <a:gd name="connsiteY49" fmla="*/ 4579937 h 6858000"/>
              <a:gd name="connsiteX50" fmla="*/ 55427 w 5282519"/>
              <a:gd name="connsiteY50" fmla="*/ 4537075 h 6858000"/>
              <a:gd name="connsiteX51" fmla="*/ 75583 w 5282519"/>
              <a:gd name="connsiteY51" fmla="*/ 4498975 h 6858000"/>
              <a:gd name="connsiteX52" fmla="*/ 115893 w 5282519"/>
              <a:gd name="connsiteY52" fmla="*/ 4424362 h 6858000"/>
              <a:gd name="connsiteX53" fmla="*/ 134368 w 5282519"/>
              <a:gd name="connsiteY53" fmla="*/ 4386262 h 6858000"/>
              <a:gd name="connsiteX54" fmla="*/ 152844 w 5282519"/>
              <a:gd name="connsiteY54" fmla="*/ 4343400 h 6858000"/>
              <a:gd name="connsiteX55" fmla="*/ 167960 w 5282519"/>
              <a:gd name="connsiteY55" fmla="*/ 4297362 h 6858000"/>
              <a:gd name="connsiteX56" fmla="*/ 178038 w 5282519"/>
              <a:gd name="connsiteY56" fmla="*/ 4244975 h 6858000"/>
              <a:gd name="connsiteX57" fmla="*/ 188115 w 5282519"/>
              <a:gd name="connsiteY57" fmla="*/ 4186237 h 6858000"/>
              <a:gd name="connsiteX58" fmla="*/ 189795 w 5282519"/>
              <a:gd name="connsiteY58" fmla="*/ 4116387 h 6858000"/>
              <a:gd name="connsiteX59" fmla="*/ 188115 w 5282519"/>
              <a:gd name="connsiteY59" fmla="*/ 4048125 h 6858000"/>
              <a:gd name="connsiteX60" fmla="*/ 178038 w 5282519"/>
              <a:gd name="connsiteY60" fmla="*/ 3987800 h 6858000"/>
              <a:gd name="connsiteX61" fmla="*/ 167960 w 5282519"/>
              <a:gd name="connsiteY61" fmla="*/ 3935412 h 6858000"/>
              <a:gd name="connsiteX62" fmla="*/ 152844 w 5282519"/>
              <a:gd name="connsiteY62" fmla="*/ 3890962 h 6858000"/>
              <a:gd name="connsiteX63" fmla="*/ 134368 w 5282519"/>
              <a:gd name="connsiteY63" fmla="*/ 3848100 h 6858000"/>
              <a:gd name="connsiteX64" fmla="*/ 115893 w 5282519"/>
              <a:gd name="connsiteY64" fmla="*/ 3811587 h 6858000"/>
              <a:gd name="connsiteX65" fmla="*/ 75583 w 5282519"/>
              <a:gd name="connsiteY65" fmla="*/ 3736975 h 6858000"/>
              <a:gd name="connsiteX66" fmla="*/ 55427 w 5282519"/>
              <a:gd name="connsiteY66" fmla="*/ 3697287 h 6858000"/>
              <a:gd name="connsiteX67" fmla="*/ 38632 w 5282519"/>
              <a:gd name="connsiteY67" fmla="*/ 3656012 h 6858000"/>
              <a:gd name="connsiteX68" fmla="*/ 23515 w 5282519"/>
              <a:gd name="connsiteY68" fmla="*/ 3609975 h 6858000"/>
              <a:gd name="connsiteX69" fmla="*/ 11758 w 5282519"/>
              <a:gd name="connsiteY69" fmla="*/ 3557587 h 6858000"/>
              <a:gd name="connsiteX70" fmla="*/ 3359 w 5282519"/>
              <a:gd name="connsiteY70" fmla="*/ 3497262 h 6858000"/>
              <a:gd name="connsiteX71" fmla="*/ 0 w 5282519"/>
              <a:gd name="connsiteY71" fmla="*/ 3427412 h 6858000"/>
              <a:gd name="connsiteX72" fmla="*/ 3359 w 5282519"/>
              <a:gd name="connsiteY72" fmla="*/ 3360737 h 6858000"/>
              <a:gd name="connsiteX73" fmla="*/ 11758 w 5282519"/>
              <a:gd name="connsiteY73" fmla="*/ 3300412 h 6858000"/>
              <a:gd name="connsiteX74" fmla="*/ 23515 w 5282519"/>
              <a:gd name="connsiteY74" fmla="*/ 3248025 h 6858000"/>
              <a:gd name="connsiteX75" fmla="*/ 38632 w 5282519"/>
              <a:gd name="connsiteY75" fmla="*/ 3201987 h 6858000"/>
              <a:gd name="connsiteX76" fmla="*/ 55427 w 5282519"/>
              <a:gd name="connsiteY76" fmla="*/ 3160712 h 6858000"/>
              <a:gd name="connsiteX77" fmla="*/ 75583 w 5282519"/>
              <a:gd name="connsiteY77" fmla="*/ 3121025 h 6858000"/>
              <a:gd name="connsiteX78" fmla="*/ 95738 w 5282519"/>
              <a:gd name="connsiteY78" fmla="*/ 3084512 h 6858000"/>
              <a:gd name="connsiteX79" fmla="*/ 115893 w 5282519"/>
              <a:gd name="connsiteY79" fmla="*/ 3046412 h 6858000"/>
              <a:gd name="connsiteX80" fmla="*/ 134368 w 5282519"/>
              <a:gd name="connsiteY80" fmla="*/ 3009900 h 6858000"/>
              <a:gd name="connsiteX81" fmla="*/ 152844 w 5282519"/>
              <a:gd name="connsiteY81" fmla="*/ 2967037 h 6858000"/>
              <a:gd name="connsiteX82" fmla="*/ 167960 w 5282519"/>
              <a:gd name="connsiteY82" fmla="*/ 2922587 h 6858000"/>
              <a:gd name="connsiteX83" fmla="*/ 178038 w 5282519"/>
              <a:gd name="connsiteY83" fmla="*/ 2868612 h 6858000"/>
              <a:gd name="connsiteX84" fmla="*/ 188115 w 5282519"/>
              <a:gd name="connsiteY84" fmla="*/ 2809875 h 6858000"/>
              <a:gd name="connsiteX85" fmla="*/ 189795 w 5282519"/>
              <a:gd name="connsiteY85" fmla="*/ 2741612 h 6858000"/>
              <a:gd name="connsiteX86" fmla="*/ 188115 w 5282519"/>
              <a:gd name="connsiteY86" fmla="*/ 2671762 h 6858000"/>
              <a:gd name="connsiteX87" fmla="*/ 178038 w 5282519"/>
              <a:gd name="connsiteY87" fmla="*/ 2613025 h 6858000"/>
              <a:gd name="connsiteX88" fmla="*/ 167960 w 5282519"/>
              <a:gd name="connsiteY88" fmla="*/ 2560637 h 6858000"/>
              <a:gd name="connsiteX89" fmla="*/ 152844 w 5282519"/>
              <a:gd name="connsiteY89" fmla="*/ 2513012 h 6858000"/>
              <a:gd name="connsiteX90" fmla="*/ 134368 w 5282519"/>
              <a:gd name="connsiteY90" fmla="*/ 2471737 h 6858000"/>
              <a:gd name="connsiteX91" fmla="*/ 115893 w 5282519"/>
              <a:gd name="connsiteY91" fmla="*/ 2433637 h 6858000"/>
              <a:gd name="connsiteX92" fmla="*/ 95738 w 5282519"/>
              <a:gd name="connsiteY92" fmla="*/ 2395537 h 6858000"/>
              <a:gd name="connsiteX93" fmla="*/ 75583 w 5282519"/>
              <a:gd name="connsiteY93" fmla="*/ 2359025 h 6858000"/>
              <a:gd name="connsiteX94" fmla="*/ 55427 w 5282519"/>
              <a:gd name="connsiteY94" fmla="*/ 2319337 h 6858000"/>
              <a:gd name="connsiteX95" fmla="*/ 38632 w 5282519"/>
              <a:gd name="connsiteY95" fmla="*/ 2278062 h 6858000"/>
              <a:gd name="connsiteX96" fmla="*/ 23515 w 5282519"/>
              <a:gd name="connsiteY96" fmla="*/ 2232025 h 6858000"/>
              <a:gd name="connsiteX97" fmla="*/ 11758 w 5282519"/>
              <a:gd name="connsiteY97" fmla="*/ 2179637 h 6858000"/>
              <a:gd name="connsiteX98" fmla="*/ 3359 w 5282519"/>
              <a:gd name="connsiteY98" fmla="*/ 2119312 h 6858000"/>
              <a:gd name="connsiteX99" fmla="*/ 0 w 5282519"/>
              <a:gd name="connsiteY99" fmla="*/ 2051050 h 6858000"/>
              <a:gd name="connsiteX100" fmla="*/ 3359 w 5282519"/>
              <a:gd name="connsiteY100" fmla="*/ 1982787 h 6858000"/>
              <a:gd name="connsiteX101" fmla="*/ 11758 w 5282519"/>
              <a:gd name="connsiteY101" fmla="*/ 1922462 h 6858000"/>
              <a:gd name="connsiteX102" fmla="*/ 23515 w 5282519"/>
              <a:gd name="connsiteY102" fmla="*/ 1870075 h 6858000"/>
              <a:gd name="connsiteX103" fmla="*/ 38632 w 5282519"/>
              <a:gd name="connsiteY103" fmla="*/ 1824037 h 6858000"/>
              <a:gd name="connsiteX104" fmla="*/ 55427 w 5282519"/>
              <a:gd name="connsiteY104" fmla="*/ 1782762 h 6858000"/>
              <a:gd name="connsiteX105" fmla="*/ 75583 w 5282519"/>
              <a:gd name="connsiteY105" fmla="*/ 1743075 h 6858000"/>
              <a:gd name="connsiteX106" fmla="*/ 95738 w 5282519"/>
              <a:gd name="connsiteY106" fmla="*/ 1708150 h 6858000"/>
              <a:gd name="connsiteX107" fmla="*/ 115893 w 5282519"/>
              <a:gd name="connsiteY107" fmla="*/ 1671637 h 6858000"/>
              <a:gd name="connsiteX108" fmla="*/ 134368 w 5282519"/>
              <a:gd name="connsiteY108" fmla="*/ 1631950 h 6858000"/>
              <a:gd name="connsiteX109" fmla="*/ 152844 w 5282519"/>
              <a:gd name="connsiteY109" fmla="*/ 1589087 h 6858000"/>
              <a:gd name="connsiteX110" fmla="*/ 167960 w 5282519"/>
              <a:gd name="connsiteY110" fmla="*/ 1544637 h 6858000"/>
              <a:gd name="connsiteX111" fmla="*/ 178038 w 5282519"/>
              <a:gd name="connsiteY111" fmla="*/ 1492250 h 6858000"/>
              <a:gd name="connsiteX112" fmla="*/ 188115 w 5282519"/>
              <a:gd name="connsiteY112" fmla="*/ 1431925 h 6858000"/>
              <a:gd name="connsiteX113" fmla="*/ 189795 w 5282519"/>
              <a:gd name="connsiteY113" fmla="*/ 1363662 h 6858000"/>
              <a:gd name="connsiteX114" fmla="*/ 188115 w 5282519"/>
              <a:gd name="connsiteY114" fmla="*/ 1295400 h 6858000"/>
              <a:gd name="connsiteX115" fmla="*/ 178038 w 5282519"/>
              <a:gd name="connsiteY115" fmla="*/ 1235075 h 6858000"/>
              <a:gd name="connsiteX116" fmla="*/ 167960 w 5282519"/>
              <a:gd name="connsiteY116" fmla="*/ 1182687 h 6858000"/>
              <a:gd name="connsiteX117" fmla="*/ 152844 w 5282519"/>
              <a:gd name="connsiteY117" fmla="*/ 1136650 h 6858000"/>
              <a:gd name="connsiteX118" fmla="*/ 134368 w 5282519"/>
              <a:gd name="connsiteY118" fmla="*/ 1095375 h 6858000"/>
              <a:gd name="connsiteX119" fmla="*/ 115893 w 5282519"/>
              <a:gd name="connsiteY119" fmla="*/ 1055687 h 6858000"/>
              <a:gd name="connsiteX120" fmla="*/ 95738 w 5282519"/>
              <a:gd name="connsiteY120" fmla="*/ 1017587 h 6858000"/>
              <a:gd name="connsiteX121" fmla="*/ 75583 w 5282519"/>
              <a:gd name="connsiteY121" fmla="*/ 981075 h 6858000"/>
              <a:gd name="connsiteX122" fmla="*/ 55427 w 5282519"/>
              <a:gd name="connsiteY122" fmla="*/ 942975 h 6858000"/>
              <a:gd name="connsiteX123" fmla="*/ 38632 w 5282519"/>
              <a:gd name="connsiteY123" fmla="*/ 901700 h 6858000"/>
              <a:gd name="connsiteX124" fmla="*/ 23515 w 5282519"/>
              <a:gd name="connsiteY124" fmla="*/ 854075 h 6858000"/>
              <a:gd name="connsiteX125" fmla="*/ 11758 w 5282519"/>
              <a:gd name="connsiteY125" fmla="*/ 801687 h 6858000"/>
              <a:gd name="connsiteX126" fmla="*/ 3359 w 5282519"/>
              <a:gd name="connsiteY126" fmla="*/ 744537 h 6858000"/>
              <a:gd name="connsiteX127" fmla="*/ 0 w 5282519"/>
              <a:gd name="connsiteY127" fmla="*/ 673100 h 6858000"/>
              <a:gd name="connsiteX128" fmla="*/ 3359 w 5282519"/>
              <a:gd name="connsiteY128" fmla="*/ 606425 h 6858000"/>
              <a:gd name="connsiteX129" fmla="*/ 11758 w 5282519"/>
              <a:gd name="connsiteY129" fmla="*/ 546100 h 6858000"/>
              <a:gd name="connsiteX130" fmla="*/ 23515 w 5282519"/>
              <a:gd name="connsiteY130" fmla="*/ 496887 h 6858000"/>
              <a:gd name="connsiteX131" fmla="*/ 38632 w 5282519"/>
              <a:gd name="connsiteY131" fmla="*/ 450850 h 6858000"/>
              <a:gd name="connsiteX132" fmla="*/ 55427 w 5282519"/>
              <a:gd name="connsiteY132" fmla="*/ 409575 h 6858000"/>
              <a:gd name="connsiteX133" fmla="*/ 73903 w 5282519"/>
              <a:gd name="connsiteY133" fmla="*/ 369887 h 6858000"/>
              <a:gd name="connsiteX134" fmla="*/ 92379 w 5282519"/>
              <a:gd name="connsiteY134" fmla="*/ 334962 h 6858000"/>
              <a:gd name="connsiteX135" fmla="*/ 112534 w 5282519"/>
              <a:gd name="connsiteY135" fmla="*/ 296862 h 6858000"/>
              <a:gd name="connsiteX136" fmla="*/ 132689 w 5282519"/>
              <a:gd name="connsiteY136" fmla="*/ 260350 h 6858000"/>
              <a:gd name="connsiteX137" fmla="*/ 149485 w 5282519"/>
              <a:gd name="connsiteY137" fmla="*/ 217487 h 6858000"/>
              <a:gd name="connsiteX138" fmla="*/ 166281 w 5282519"/>
              <a:gd name="connsiteY138" fmla="*/ 174625 h 6858000"/>
              <a:gd name="connsiteX139" fmla="*/ 176358 w 5282519"/>
              <a:gd name="connsiteY139" fmla="*/ 122237 h 6858000"/>
              <a:gd name="connsiteX140" fmla="*/ 184756 w 5282519"/>
              <a:gd name="connsiteY140" fmla="*/ 6667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5282519" h="6858000">
                <a:moveTo>
                  <a:pt x="189795" y="0"/>
                </a:moveTo>
                <a:lnTo>
                  <a:pt x="5282519" y="0"/>
                </a:lnTo>
                <a:lnTo>
                  <a:pt x="5282519" y="6858000"/>
                </a:lnTo>
                <a:lnTo>
                  <a:pt x="189795" y="6858000"/>
                </a:lnTo>
                <a:lnTo>
                  <a:pt x="184756" y="6791325"/>
                </a:lnTo>
                <a:lnTo>
                  <a:pt x="176358" y="6735762"/>
                </a:lnTo>
                <a:lnTo>
                  <a:pt x="166281" y="6683375"/>
                </a:lnTo>
                <a:lnTo>
                  <a:pt x="149485" y="6640512"/>
                </a:lnTo>
                <a:lnTo>
                  <a:pt x="132689" y="6597650"/>
                </a:lnTo>
                <a:lnTo>
                  <a:pt x="112534" y="6561137"/>
                </a:lnTo>
                <a:lnTo>
                  <a:pt x="92379" y="6523037"/>
                </a:lnTo>
                <a:lnTo>
                  <a:pt x="73903" y="6488112"/>
                </a:lnTo>
                <a:lnTo>
                  <a:pt x="55427" y="6448425"/>
                </a:lnTo>
                <a:lnTo>
                  <a:pt x="38632" y="6407150"/>
                </a:lnTo>
                <a:lnTo>
                  <a:pt x="23515" y="6361112"/>
                </a:lnTo>
                <a:lnTo>
                  <a:pt x="11758" y="6311900"/>
                </a:lnTo>
                <a:lnTo>
                  <a:pt x="3359" y="6251575"/>
                </a:lnTo>
                <a:lnTo>
                  <a:pt x="0" y="6183312"/>
                </a:lnTo>
                <a:lnTo>
                  <a:pt x="3359" y="6113462"/>
                </a:lnTo>
                <a:lnTo>
                  <a:pt x="11758" y="6056312"/>
                </a:lnTo>
                <a:lnTo>
                  <a:pt x="23515" y="6003925"/>
                </a:lnTo>
                <a:lnTo>
                  <a:pt x="38632" y="5956300"/>
                </a:lnTo>
                <a:lnTo>
                  <a:pt x="55427" y="5915025"/>
                </a:lnTo>
                <a:lnTo>
                  <a:pt x="75583" y="5876925"/>
                </a:lnTo>
                <a:lnTo>
                  <a:pt x="95738" y="5840412"/>
                </a:lnTo>
                <a:lnTo>
                  <a:pt x="115893" y="5802312"/>
                </a:lnTo>
                <a:lnTo>
                  <a:pt x="134368" y="5762625"/>
                </a:lnTo>
                <a:lnTo>
                  <a:pt x="152844" y="5721350"/>
                </a:lnTo>
                <a:lnTo>
                  <a:pt x="167960" y="5675312"/>
                </a:lnTo>
                <a:lnTo>
                  <a:pt x="178038" y="5622925"/>
                </a:lnTo>
                <a:lnTo>
                  <a:pt x="188115" y="5562600"/>
                </a:lnTo>
                <a:lnTo>
                  <a:pt x="189795" y="5494337"/>
                </a:lnTo>
                <a:lnTo>
                  <a:pt x="188115" y="5426075"/>
                </a:lnTo>
                <a:lnTo>
                  <a:pt x="178038" y="5365750"/>
                </a:lnTo>
                <a:lnTo>
                  <a:pt x="167960" y="5313362"/>
                </a:lnTo>
                <a:lnTo>
                  <a:pt x="152844" y="5268912"/>
                </a:lnTo>
                <a:lnTo>
                  <a:pt x="134368" y="5226050"/>
                </a:lnTo>
                <a:lnTo>
                  <a:pt x="115893" y="5186362"/>
                </a:lnTo>
                <a:lnTo>
                  <a:pt x="95738" y="5149850"/>
                </a:lnTo>
                <a:lnTo>
                  <a:pt x="75583" y="5114925"/>
                </a:lnTo>
                <a:lnTo>
                  <a:pt x="55427" y="5075237"/>
                </a:lnTo>
                <a:lnTo>
                  <a:pt x="38632" y="5033962"/>
                </a:lnTo>
                <a:lnTo>
                  <a:pt x="23515" y="4987925"/>
                </a:lnTo>
                <a:lnTo>
                  <a:pt x="11758" y="4935537"/>
                </a:lnTo>
                <a:lnTo>
                  <a:pt x="3359" y="4875212"/>
                </a:lnTo>
                <a:lnTo>
                  <a:pt x="0" y="4806950"/>
                </a:lnTo>
                <a:lnTo>
                  <a:pt x="3359" y="4738687"/>
                </a:lnTo>
                <a:lnTo>
                  <a:pt x="11758" y="4678362"/>
                </a:lnTo>
                <a:lnTo>
                  <a:pt x="23515" y="4625975"/>
                </a:lnTo>
                <a:lnTo>
                  <a:pt x="38632" y="4579937"/>
                </a:lnTo>
                <a:lnTo>
                  <a:pt x="55427" y="4537075"/>
                </a:lnTo>
                <a:lnTo>
                  <a:pt x="75583" y="4498975"/>
                </a:lnTo>
                <a:lnTo>
                  <a:pt x="115893" y="4424362"/>
                </a:lnTo>
                <a:lnTo>
                  <a:pt x="134368" y="4386262"/>
                </a:lnTo>
                <a:lnTo>
                  <a:pt x="152844" y="4343400"/>
                </a:lnTo>
                <a:lnTo>
                  <a:pt x="167960" y="4297362"/>
                </a:lnTo>
                <a:lnTo>
                  <a:pt x="178038" y="4244975"/>
                </a:lnTo>
                <a:lnTo>
                  <a:pt x="188115" y="4186237"/>
                </a:lnTo>
                <a:lnTo>
                  <a:pt x="189795" y="4116387"/>
                </a:lnTo>
                <a:lnTo>
                  <a:pt x="188115" y="4048125"/>
                </a:lnTo>
                <a:lnTo>
                  <a:pt x="178038" y="3987800"/>
                </a:lnTo>
                <a:lnTo>
                  <a:pt x="167960" y="3935412"/>
                </a:lnTo>
                <a:lnTo>
                  <a:pt x="152844" y="3890962"/>
                </a:lnTo>
                <a:lnTo>
                  <a:pt x="134368" y="3848100"/>
                </a:lnTo>
                <a:lnTo>
                  <a:pt x="115893" y="3811587"/>
                </a:lnTo>
                <a:lnTo>
                  <a:pt x="75583" y="3736975"/>
                </a:lnTo>
                <a:lnTo>
                  <a:pt x="55427" y="3697287"/>
                </a:lnTo>
                <a:lnTo>
                  <a:pt x="38632" y="3656012"/>
                </a:lnTo>
                <a:lnTo>
                  <a:pt x="23515" y="3609975"/>
                </a:lnTo>
                <a:lnTo>
                  <a:pt x="11758" y="3557587"/>
                </a:lnTo>
                <a:lnTo>
                  <a:pt x="3359" y="3497262"/>
                </a:lnTo>
                <a:lnTo>
                  <a:pt x="0" y="3427412"/>
                </a:lnTo>
                <a:lnTo>
                  <a:pt x="3359" y="3360737"/>
                </a:lnTo>
                <a:lnTo>
                  <a:pt x="11758" y="3300412"/>
                </a:lnTo>
                <a:lnTo>
                  <a:pt x="23515" y="3248025"/>
                </a:lnTo>
                <a:lnTo>
                  <a:pt x="38632" y="3201987"/>
                </a:lnTo>
                <a:lnTo>
                  <a:pt x="55427" y="3160712"/>
                </a:lnTo>
                <a:lnTo>
                  <a:pt x="75583" y="3121025"/>
                </a:lnTo>
                <a:lnTo>
                  <a:pt x="95738" y="3084512"/>
                </a:lnTo>
                <a:lnTo>
                  <a:pt x="115893" y="3046412"/>
                </a:lnTo>
                <a:lnTo>
                  <a:pt x="134368" y="3009900"/>
                </a:lnTo>
                <a:lnTo>
                  <a:pt x="152844" y="2967037"/>
                </a:lnTo>
                <a:lnTo>
                  <a:pt x="167960" y="2922587"/>
                </a:lnTo>
                <a:lnTo>
                  <a:pt x="178038" y="2868612"/>
                </a:lnTo>
                <a:lnTo>
                  <a:pt x="188115" y="2809875"/>
                </a:lnTo>
                <a:lnTo>
                  <a:pt x="189795" y="2741612"/>
                </a:lnTo>
                <a:lnTo>
                  <a:pt x="188115" y="2671762"/>
                </a:lnTo>
                <a:lnTo>
                  <a:pt x="178038" y="2613025"/>
                </a:lnTo>
                <a:lnTo>
                  <a:pt x="167960" y="2560637"/>
                </a:lnTo>
                <a:lnTo>
                  <a:pt x="152844" y="2513012"/>
                </a:lnTo>
                <a:lnTo>
                  <a:pt x="134368" y="2471737"/>
                </a:lnTo>
                <a:lnTo>
                  <a:pt x="115893" y="2433637"/>
                </a:lnTo>
                <a:lnTo>
                  <a:pt x="95738" y="2395537"/>
                </a:lnTo>
                <a:lnTo>
                  <a:pt x="75583" y="2359025"/>
                </a:lnTo>
                <a:lnTo>
                  <a:pt x="55427" y="2319337"/>
                </a:lnTo>
                <a:lnTo>
                  <a:pt x="38632" y="2278062"/>
                </a:lnTo>
                <a:lnTo>
                  <a:pt x="23515" y="2232025"/>
                </a:lnTo>
                <a:lnTo>
                  <a:pt x="11758" y="2179637"/>
                </a:lnTo>
                <a:lnTo>
                  <a:pt x="3359" y="2119312"/>
                </a:lnTo>
                <a:lnTo>
                  <a:pt x="0" y="2051050"/>
                </a:lnTo>
                <a:lnTo>
                  <a:pt x="3359" y="1982787"/>
                </a:lnTo>
                <a:lnTo>
                  <a:pt x="11758" y="1922462"/>
                </a:lnTo>
                <a:lnTo>
                  <a:pt x="23515" y="1870075"/>
                </a:lnTo>
                <a:lnTo>
                  <a:pt x="38632" y="1824037"/>
                </a:lnTo>
                <a:lnTo>
                  <a:pt x="55427" y="1782762"/>
                </a:lnTo>
                <a:lnTo>
                  <a:pt x="75583" y="1743075"/>
                </a:lnTo>
                <a:lnTo>
                  <a:pt x="95738" y="1708150"/>
                </a:lnTo>
                <a:lnTo>
                  <a:pt x="115893" y="1671637"/>
                </a:lnTo>
                <a:lnTo>
                  <a:pt x="134368" y="1631950"/>
                </a:lnTo>
                <a:lnTo>
                  <a:pt x="152844" y="1589087"/>
                </a:lnTo>
                <a:lnTo>
                  <a:pt x="167960" y="1544637"/>
                </a:lnTo>
                <a:lnTo>
                  <a:pt x="178038" y="1492250"/>
                </a:lnTo>
                <a:lnTo>
                  <a:pt x="188115" y="1431925"/>
                </a:lnTo>
                <a:lnTo>
                  <a:pt x="189795" y="1363662"/>
                </a:lnTo>
                <a:lnTo>
                  <a:pt x="188115" y="1295400"/>
                </a:lnTo>
                <a:lnTo>
                  <a:pt x="178038" y="1235075"/>
                </a:lnTo>
                <a:lnTo>
                  <a:pt x="167960" y="1182687"/>
                </a:lnTo>
                <a:lnTo>
                  <a:pt x="152844" y="1136650"/>
                </a:lnTo>
                <a:lnTo>
                  <a:pt x="134368" y="1095375"/>
                </a:lnTo>
                <a:lnTo>
                  <a:pt x="115893" y="1055687"/>
                </a:lnTo>
                <a:lnTo>
                  <a:pt x="95738" y="1017587"/>
                </a:lnTo>
                <a:lnTo>
                  <a:pt x="75583" y="981075"/>
                </a:lnTo>
                <a:lnTo>
                  <a:pt x="55427" y="942975"/>
                </a:lnTo>
                <a:lnTo>
                  <a:pt x="38632" y="901700"/>
                </a:lnTo>
                <a:lnTo>
                  <a:pt x="23515" y="854075"/>
                </a:lnTo>
                <a:lnTo>
                  <a:pt x="11758" y="801687"/>
                </a:lnTo>
                <a:lnTo>
                  <a:pt x="3359" y="744537"/>
                </a:lnTo>
                <a:lnTo>
                  <a:pt x="0" y="673100"/>
                </a:lnTo>
                <a:lnTo>
                  <a:pt x="3359" y="606425"/>
                </a:lnTo>
                <a:lnTo>
                  <a:pt x="11758" y="546100"/>
                </a:lnTo>
                <a:lnTo>
                  <a:pt x="23515" y="496887"/>
                </a:lnTo>
                <a:lnTo>
                  <a:pt x="38632" y="450850"/>
                </a:lnTo>
                <a:lnTo>
                  <a:pt x="55427" y="409575"/>
                </a:lnTo>
                <a:lnTo>
                  <a:pt x="73903" y="369887"/>
                </a:lnTo>
                <a:lnTo>
                  <a:pt x="92379" y="334962"/>
                </a:lnTo>
                <a:lnTo>
                  <a:pt x="112534" y="296862"/>
                </a:lnTo>
                <a:lnTo>
                  <a:pt x="132689" y="260350"/>
                </a:lnTo>
                <a:lnTo>
                  <a:pt x="149485" y="217487"/>
                </a:lnTo>
                <a:lnTo>
                  <a:pt x="166281" y="174625"/>
                </a:lnTo>
                <a:lnTo>
                  <a:pt x="176358" y="122237"/>
                </a:lnTo>
                <a:lnTo>
                  <a:pt x="184756" y="66675"/>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Picture 5" descr="A portrait of a person with long curly hair&#10;&#10;Description automatically generated">
            <a:extLst>
              <a:ext uri="{FF2B5EF4-FFF2-40B4-BE49-F238E27FC236}">
                <a16:creationId xmlns:a16="http://schemas.microsoft.com/office/drawing/2014/main" id="{8AF6A6DE-ACB7-82AA-5DF9-2F9D7FFC15F9}"/>
              </a:ext>
            </a:extLst>
          </p:cNvPr>
          <p:cNvPicPr>
            <a:picLocks noChangeAspect="1"/>
          </p:cNvPicPr>
          <p:nvPr/>
        </p:nvPicPr>
        <p:blipFill>
          <a:blip r:embed="rId2"/>
          <a:srcRect l="1861" r="21111"/>
          <a:stretch/>
        </p:blipFill>
        <p:spPr>
          <a:xfrm>
            <a:off x="6909481" y="10"/>
            <a:ext cx="5282519" cy="6857990"/>
          </a:xfrm>
          <a:custGeom>
            <a:avLst/>
            <a:gdLst/>
            <a:ahLst/>
            <a:cxnLst/>
            <a:rect l="l" t="t" r="r" b="b"/>
            <a:pathLst>
              <a:path w="5282519" h="6858000">
                <a:moveTo>
                  <a:pt x="189795" y="0"/>
                </a:moveTo>
                <a:lnTo>
                  <a:pt x="5282519" y="0"/>
                </a:lnTo>
                <a:lnTo>
                  <a:pt x="5282519" y="6858000"/>
                </a:lnTo>
                <a:lnTo>
                  <a:pt x="189795" y="6858000"/>
                </a:lnTo>
                <a:lnTo>
                  <a:pt x="184756" y="6791325"/>
                </a:lnTo>
                <a:lnTo>
                  <a:pt x="176358" y="6735762"/>
                </a:lnTo>
                <a:lnTo>
                  <a:pt x="166281" y="6683375"/>
                </a:lnTo>
                <a:lnTo>
                  <a:pt x="149485" y="6640512"/>
                </a:lnTo>
                <a:lnTo>
                  <a:pt x="132689" y="6597650"/>
                </a:lnTo>
                <a:lnTo>
                  <a:pt x="112534" y="6561137"/>
                </a:lnTo>
                <a:lnTo>
                  <a:pt x="92379" y="6523037"/>
                </a:lnTo>
                <a:lnTo>
                  <a:pt x="73903" y="6488112"/>
                </a:lnTo>
                <a:lnTo>
                  <a:pt x="55427" y="6448425"/>
                </a:lnTo>
                <a:lnTo>
                  <a:pt x="38632" y="6407150"/>
                </a:lnTo>
                <a:lnTo>
                  <a:pt x="23515" y="6361112"/>
                </a:lnTo>
                <a:lnTo>
                  <a:pt x="11758" y="6311900"/>
                </a:lnTo>
                <a:lnTo>
                  <a:pt x="3359" y="6251575"/>
                </a:lnTo>
                <a:lnTo>
                  <a:pt x="0" y="6183312"/>
                </a:lnTo>
                <a:lnTo>
                  <a:pt x="3359" y="6113462"/>
                </a:lnTo>
                <a:lnTo>
                  <a:pt x="11758" y="6056312"/>
                </a:lnTo>
                <a:lnTo>
                  <a:pt x="23515" y="6003925"/>
                </a:lnTo>
                <a:lnTo>
                  <a:pt x="38632" y="5956300"/>
                </a:lnTo>
                <a:lnTo>
                  <a:pt x="55427" y="5915025"/>
                </a:lnTo>
                <a:lnTo>
                  <a:pt x="75583" y="5876925"/>
                </a:lnTo>
                <a:lnTo>
                  <a:pt x="95738" y="5840412"/>
                </a:lnTo>
                <a:lnTo>
                  <a:pt x="115893" y="5802312"/>
                </a:lnTo>
                <a:lnTo>
                  <a:pt x="134368" y="5762625"/>
                </a:lnTo>
                <a:lnTo>
                  <a:pt x="152844" y="5721350"/>
                </a:lnTo>
                <a:lnTo>
                  <a:pt x="167960" y="5675312"/>
                </a:lnTo>
                <a:lnTo>
                  <a:pt x="178038" y="5622925"/>
                </a:lnTo>
                <a:lnTo>
                  <a:pt x="188115" y="5562600"/>
                </a:lnTo>
                <a:lnTo>
                  <a:pt x="189795" y="5494337"/>
                </a:lnTo>
                <a:lnTo>
                  <a:pt x="188115" y="5426075"/>
                </a:lnTo>
                <a:lnTo>
                  <a:pt x="178038" y="5365750"/>
                </a:lnTo>
                <a:lnTo>
                  <a:pt x="167960" y="5313362"/>
                </a:lnTo>
                <a:lnTo>
                  <a:pt x="152844" y="5268912"/>
                </a:lnTo>
                <a:lnTo>
                  <a:pt x="134368" y="5226050"/>
                </a:lnTo>
                <a:lnTo>
                  <a:pt x="115893" y="5186362"/>
                </a:lnTo>
                <a:lnTo>
                  <a:pt x="95738" y="5149850"/>
                </a:lnTo>
                <a:lnTo>
                  <a:pt x="75583" y="5114925"/>
                </a:lnTo>
                <a:lnTo>
                  <a:pt x="55427" y="5075237"/>
                </a:lnTo>
                <a:lnTo>
                  <a:pt x="38632" y="5033962"/>
                </a:lnTo>
                <a:lnTo>
                  <a:pt x="23515" y="4987925"/>
                </a:lnTo>
                <a:lnTo>
                  <a:pt x="11758" y="4935537"/>
                </a:lnTo>
                <a:lnTo>
                  <a:pt x="3359" y="4875212"/>
                </a:lnTo>
                <a:lnTo>
                  <a:pt x="0" y="4806950"/>
                </a:lnTo>
                <a:lnTo>
                  <a:pt x="3359" y="4738687"/>
                </a:lnTo>
                <a:lnTo>
                  <a:pt x="11758" y="4678362"/>
                </a:lnTo>
                <a:lnTo>
                  <a:pt x="23515" y="4625975"/>
                </a:lnTo>
                <a:lnTo>
                  <a:pt x="38632" y="4579937"/>
                </a:lnTo>
                <a:lnTo>
                  <a:pt x="55427" y="4537075"/>
                </a:lnTo>
                <a:lnTo>
                  <a:pt x="75583" y="4498975"/>
                </a:lnTo>
                <a:lnTo>
                  <a:pt x="115893" y="4424362"/>
                </a:lnTo>
                <a:lnTo>
                  <a:pt x="134368" y="4386262"/>
                </a:lnTo>
                <a:lnTo>
                  <a:pt x="152844" y="4343400"/>
                </a:lnTo>
                <a:lnTo>
                  <a:pt x="167960" y="4297362"/>
                </a:lnTo>
                <a:lnTo>
                  <a:pt x="178038" y="4244975"/>
                </a:lnTo>
                <a:lnTo>
                  <a:pt x="188115" y="4186237"/>
                </a:lnTo>
                <a:lnTo>
                  <a:pt x="189795" y="4116387"/>
                </a:lnTo>
                <a:lnTo>
                  <a:pt x="188115" y="4048125"/>
                </a:lnTo>
                <a:lnTo>
                  <a:pt x="178038" y="3987800"/>
                </a:lnTo>
                <a:lnTo>
                  <a:pt x="167960" y="3935412"/>
                </a:lnTo>
                <a:lnTo>
                  <a:pt x="152844" y="3890962"/>
                </a:lnTo>
                <a:lnTo>
                  <a:pt x="134368" y="3848100"/>
                </a:lnTo>
                <a:lnTo>
                  <a:pt x="115893" y="3811587"/>
                </a:lnTo>
                <a:lnTo>
                  <a:pt x="75583" y="3736975"/>
                </a:lnTo>
                <a:lnTo>
                  <a:pt x="55427" y="3697287"/>
                </a:lnTo>
                <a:lnTo>
                  <a:pt x="38632" y="3656012"/>
                </a:lnTo>
                <a:lnTo>
                  <a:pt x="23515" y="3609975"/>
                </a:lnTo>
                <a:lnTo>
                  <a:pt x="11758" y="3557587"/>
                </a:lnTo>
                <a:lnTo>
                  <a:pt x="3359" y="3497262"/>
                </a:lnTo>
                <a:lnTo>
                  <a:pt x="0" y="3427412"/>
                </a:lnTo>
                <a:lnTo>
                  <a:pt x="3359" y="3360737"/>
                </a:lnTo>
                <a:lnTo>
                  <a:pt x="11758" y="3300412"/>
                </a:lnTo>
                <a:lnTo>
                  <a:pt x="23515" y="3248025"/>
                </a:lnTo>
                <a:lnTo>
                  <a:pt x="38632" y="3201987"/>
                </a:lnTo>
                <a:lnTo>
                  <a:pt x="55427" y="3160712"/>
                </a:lnTo>
                <a:lnTo>
                  <a:pt x="75583" y="3121025"/>
                </a:lnTo>
                <a:lnTo>
                  <a:pt x="95738" y="3084512"/>
                </a:lnTo>
                <a:lnTo>
                  <a:pt x="115893" y="3046412"/>
                </a:lnTo>
                <a:lnTo>
                  <a:pt x="134368" y="3009900"/>
                </a:lnTo>
                <a:lnTo>
                  <a:pt x="152844" y="2967037"/>
                </a:lnTo>
                <a:lnTo>
                  <a:pt x="167960" y="2922587"/>
                </a:lnTo>
                <a:lnTo>
                  <a:pt x="178038" y="2868612"/>
                </a:lnTo>
                <a:lnTo>
                  <a:pt x="188115" y="2809875"/>
                </a:lnTo>
                <a:lnTo>
                  <a:pt x="189795" y="2741612"/>
                </a:lnTo>
                <a:lnTo>
                  <a:pt x="188115" y="2671762"/>
                </a:lnTo>
                <a:lnTo>
                  <a:pt x="178038" y="2613025"/>
                </a:lnTo>
                <a:lnTo>
                  <a:pt x="167960" y="2560637"/>
                </a:lnTo>
                <a:lnTo>
                  <a:pt x="152844" y="2513012"/>
                </a:lnTo>
                <a:lnTo>
                  <a:pt x="134368" y="2471737"/>
                </a:lnTo>
                <a:lnTo>
                  <a:pt x="115893" y="2433637"/>
                </a:lnTo>
                <a:lnTo>
                  <a:pt x="95738" y="2395537"/>
                </a:lnTo>
                <a:lnTo>
                  <a:pt x="75583" y="2359025"/>
                </a:lnTo>
                <a:lnTo>
                  <a:pt x="55427" y="2319337"/>
                </a:lnTo>
                <a:lnTo>
                  <a:pt x="38632" y="2278062"/>
                </a:lnTo>
                <a:lnTo>
                  <a:pt x="23515" y="2232025"/>
                </a:lnTo>
                <a:lnTo>
                  <a:pt x="11758" y="2179637"/>
                </a:lnTo>
                <a:lnTo>
                  <a:pt x="3359" y="2119312"/>
                </a:lnTo>
                <a:lnTo>
                  <a:pt x="0" y="2051050"/>
                </a:lnTo>
                <a:lnTo>
                  <a:pt x="3359" y="1982787"/>
                </a:lnTo>
                <a:lnTo>
                  <a:pt x="11758" y="1922462"/>
                </a:lnTo>
                <a:lnTo>
                  <a:pt x="23515" y="1870075"/>
                </a:lnTo>
                <a:lnTo>
                  <a:pt x="38632" y="1824037"/>
                </a:lnTo>
                <a:lnTo>
                  <a:pt x="55427" y="1782762"/>
                </a:lnTo>
                <a:lnTo>
                  <a:pt x="75583" y="1743075"/>
                </a:lnTo>
                <a:lnTo>
                  <a:pt x="95738" y="1708150"/>
                </a:lnTo>
                <a:lnTo>
                  <a:pt x="115893" y="1671637"/>
                </a:lnTo>
                <a:lnTo>
                  <a:pt x="134368" y="1631950"/>
                </a:lnTo>
                <a:lnTo>
                  <a:pt x="152844" y="1589087"/>
                </a:lnTo>
                <a:lnTo>
                  <a:pt x="167960" y="1544637"/>
                </a:lnTo>
                <a:lnTo>
                  <a:pt x="178038" y="1492250"/>
                </a:lnTo>
                <a:lnTo>
                  <a:pt x="188115" y="1431925"/>
                </a:lnTo>
                <a:lnTo>
                  <a:pt x="189795" y="1363662"/>
                </a:lnTo>
                <a:lnTo>
                  <a:pt x="188115" y="1295400"/>
                </a:lnTo>
                <a:lnTo>
                  <a:pt x="178038" y="1235075"/>
                </a:lnTo>
                <a:lnTo>
                  <a:pt x="167960" y="1182687"/>
                </a:lnTo>
                <a:lnTo>
                  <a:pt x="152844" y="1136650"/>
                </a:lnTo>
                <a:lnTo>
                  <a:pt x="134368" y="1095375"/>
                </a:lnTo>
                <a:lnTo>
                  <a:pt x="115893" y="1055687"/>
                </a:lnTo>
                <a:lnTo>
                  <a:pt x="95738" y="1017587"/>
                </a:lnTo>
                <a:lnTo>
                  <a:pt x="75583" y="981075"/>
                </a:lnTo>
                <a:lnTo>
                  <a:pt x="55427" y="942975"/>
                </a:lnTo>
                <a:lnTo>
                  <a:pt x="38632" y="901700"/>
                </a:lnTo>
                <a:lnTo>
                  <a:pt x="23515" y="854075"/>
                </a:lnTo>
                <a:lnTo>
                  <a:pt x="11758" y="801687"/>
                </a:lnTo>
                <a:lnTo>
                  <a:pt x="3359" y="744537"/>
                </a:lnTo>
                <a:lnTo>
                  <a:pt x="0" y="673100"/>
                </a:lnTo>
                <a:lnTo>
                  <a:pt x="3359" y="606425"/>
                </a:lnTo>
                <a:lnTo>
                  <a:pt x="11758" y="546100"/>
                </a:lnTo>
                <a:lnTo>
                  <a:pt x="23515" y="496887"/>
                </a:lnTo>
                <a:lnTo>
                  <a:pt x="38632" y="450850"/>
                </a:lnTo>
                <a:lnTo>
                  <a:pt x="55427" y="409575"/>
                </a:lnTo>
                <a:lnTo>
                  <a:pt x="73903" y="369887"/>
                </a:lnTo>
                <a:lnTo>
                  <a:pt x="92379" y="334962"/>
                </a:lnTo>
                <a:lnTo>
                  <a:pt x="112534" y="296862"/>
                </a:lnTo>
                <a:lnTo>
                  <a:pt x="132689" y="260350"/>
                </a:lnTo>
                <a:lnTo>
                  <a:pt x="149485" y="217487"/>
                </a:lnTo>
                <a:lnTo>
                  <a:pt x="166281" y="174625"/>
                </a:lnTo>
                <a:lnTo>
                  <a:pt x="176358" y="122237"/>
                </a:lnTo>
                <a:lnTo>
                  <a:pt x="184756" y="66675"/>
                </a:lnTo>
                <a:close/>
              </a:path>
            </a:pathLst>
          </a:custGeom>
        </p:spPr>
      </p:pic>
    </p:spTree>
    <p:extLst>
      <p:ext uri="{BB962C8B-B14F-4D97-AF65-F5344CB8AC3E}">
        <p14:creationId xmlns:p14="http://schemas.microsoft.com/office/powerpoint/2010/main" val="42898874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4BD3A9-25D1-4691-BE05-149182EC4C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Freeform 10">
            <a:extLst>
              <a:ext uri="{FF2B5EF4-FFF2-40B4-BE49-F238E27FC236}">
                <a16:creationId xmlns:a16="http://schemas.microsoft.com/office/drawing/2014/main" id="{8D49CF1A-01DD-4115-A6BB-CFA8F7045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lumMod val="90000"/>
            </a:schemeClr>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B9C3AE91-F983-8BE1-28D0-3217B2BBB600}"/>
              </a:ext>
            </a:extLst>
          </p:cNvPr>
          <p:cNvSpPr>
            <a:spLocks noGrp="1"/>
          </p:cNvSpPr>
          <p:nvPr>
            <p:ph type="title"/>
          </p:nvPr>
        </p:nvSpPr>
        <p:spPr>
          <a:xfrm>
            <a:off x="754144" y="484631"/>
            <a:ext cx="6340519" cy="1638469"/>
          </a:xfrm>
        </p:spPr>
        <p:txBody>
          <a:bodyPr>
            <a:normAutofit/>
          </a:bodyPr>
          <a:lstStyle/>
          <a:p>
            <a:r>
              <a:rPr lang="en-US">
                <a:latin typeface="Avenir Book" panose="02000503020000020003" pitchFamily="2" charset="0"/>
              </a:rPr>
              <a:t>Indirect realism</a:t>
            </a:r>
          </a:p>
        </p:txBody>
      </p:sp>
      <p:sp>
        <p:nvSpPr>
          <p:cNvPr id="14" name="Rectangle 13">
            <a:extLst>
              <a:ext uri="{FF2B5EF4-FFF2-40B4-BE49-F238E27FC236}">
                <a16:creationId xmlns:a16="http://schemas.microsoft.com/office/drawing/2014/main" id="{5FDAFA16-9D2D-4BEC-89D0-B4EABEE911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7948F7ED-9560-A958-93EE-DB001080D322}"/>
              </a:ext>
            </a:extLst>
          </p:cNvPr>
          <p:cNvSpPr>
            <a:spLocks noGrp="1"/>
          </p:cNvSpPr>
          <p:nvPr>
            <p:ph idx="1"/>
          </p:nvPr>
        </p:nvSpPr>
        <p:spPr>
          <a:xfrm>
            <a:off x="765051" y="1816926"/>
            <a:ext cx="6306309" cy="4556442"/>
          </a:xfrm>
        </p:spPr>
        <p:txBody>
          <a:bodyPr>
            <a:normAutofit lnSpcReduction="10000"/>
          </a:bodyPr>
          <a:lstStyle/>
          <a:p>
            <a:pPr algn="just">
              <a:lnSpc>
                <a:spcPct val="150000"/>
              </a:lnSpc>
            </a:pPr>
            <a:r>
              <a:rPr lang="en-GB" b="1"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Indirect realism</a:t>
            </a:r>
            <a:r>
              <a:rPr lang="en-GB"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 is the thesis that claims </a:t>
            </a:r>
            <a:r>
              <a:rPr lang="en-GB" i="1"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we do</a:t>
            </a:r>
            <a:r>
              <a:rPr lang="en-GB"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 perceive the external world, but our perception is </a:t>
            </a:r>
            <a:r>
              <a:rPr lang="en-GB" i="1"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indirect</a:t>
            </a:r>
            <a:r>
              <a:rPr lang="en-GB"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 This means that we do see the world through </a:t>
            </a:r>
            <a:r>
              <a:rPr lang="en-GB" i="1"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sense-data</a:t>
            </a:r>
            <a:r>
              <a:rPr lang="en-GB"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 the sense-data represent the world, because they are caused by it. Sense-data is information or mental states </a:t>
            </a:r>
            <a:r>
              <a:rPr lang="en-GB" kern="100" dirty="0">
                <a:solidFill>
                  <a:schemeClr val="tx1"/>
                </a:solidFill>
                <a:latin typeface="Avenir Book" panose="02000503020000020003" pitchFamily="2" charset="0"/>
                <a:ea typeface="Calibri" panose="020F0502020204030204" pitchFamily="34" charset="0"/>
                <a:cs typeface="Times New Roman" panose="02020603050405020304" pitchFamily="18" charset="0"/>
              </a:rPr>
              <a:t>of</a:t>
            </a:r>
            <a:r>
              <a:rPr lang="en-GB"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 the mind of a person. These states represent the external objects out in the world. </a:t>
            </a:r>
            <a:r>
              <a:rPr lang="en-GB" kern="100" dirty="0">
                <a:solidFill>
                  <a:schemeClr val="tx1"/>
                </a:solidFill>
                <a:latin typeface="Avenir Book" panose="02000503020000020003" pitchFamily="2" charset="0"/>
                <a:ea typeface="Calibri" panose="020F0502020204030204" pitchFamily="34" charset="0"/>
                <a:cs typeface="Times New Roman" panose="02020603050405020304" pitchFamily="18" charset="0"/>
              </a:rPr>
              <a:t>It is realist because it claims that the external objects in the world exist. The theory is developed by John Locke and Bertrand Russell.</a:t>
            </a:r>
            <a:endParaRPr lang="en-GB"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endParaRPr>
          </a:p>
          <a:p>
            <a:pPr marL="0" indent="0">
              <a:buNone/>
            </a:pPr>
            <a:endParaRPr lang="en-GB"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solidFill>
                <a:schemeClr val="tx1"/>
              </a:solidFill>
            </a:endParaRPr>
          </a:p>
        </p:txBody>
      </p:sp>
      <p:pic>
        <p:nvPicPr>
          <p:cNvPr id="5" name="Picture 4" descr="A diagram of a human head&#10;&#10;Description automatically generated">
            <a:extLst>
              <a:ext uri="{FF2B5EF4-FFF2-40B4-BE49-F238E27FC236}">
                <a16:creationId xmlns:a16="http://schemas.microsoft.com/office/drawing/2014/main" id="{3ED00BAA-0997-8473-140D-74A426B42D84}"/>
              </a:ext>
            </a:extLst>
          </p:cNvPr>
          <p:cNvPicPr>
            <a:picLocks noChangeAspect="1"/>
          </p:cNvPicPr>
          <p:nvPr/>
        </p:nvPicPr>
        <p:blipFill>
          <a:blip r:embed="rId2"/>
          <a:stretch>
            <a:fillRect/>
          </a:stretch>
        </p:blipFill>
        <p:spPr>
          <a:xfrm>
            <a:off x="8050787" y="1600709"/>
            <a:ext cx="3656581" cy="3656581"/>
          </a:xfrm>
          <a:prstGeom prst="rect">
            <a:avLst/>
          </a:prstGeom>
        </p:spPr>
      </p:pic>
    </p:spTree>
    <p:extLst>
      <p:ext uri="{BB962C8B-B14F-4D97-AF65-F5344CB8AC3E}">
        <p14:creationId xmlns:p14="http://schemas.microsoft.com/office/powerpoint/2010/main" val="2359793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74BD3A9-25D1-4691-BE05-149182EC4C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reeform 10">
            <a:extLst>
              <a:ext uri="{FF2B5EF4-FFF2-40B4-BE49-F238E27FC236}">
                <a16:creationId xmlns:a16="http://schemas.microsoft.com/office/drawing/2014/main" id="{8D49CF1A-01DD-4115-A6BB-CFA8F7045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lumMod val="90000"/>
            </a:schemeClr>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BD531EF7-A84B-B722-69D4-A033AF37DD68}"/>
              </a:ext>
            </a:extLst>
          </p:cNvPr>
          <p:cNvSpPr>
            <a:spLocks noGrp="1"/>
          </p:cNvSpPr>
          <p:nvPr>
            <p:ph type="title"/>
          </p:nvPr>
        </p:nvSpPr>
        <p:spPr>
          <a:xfrm>
            <a:off x="754144" y="484631"/>
            <a:ext cx="6340519" cy="1638469"/>
          </a:xfrm>
        </p:spPr>
        <p:txBody>
          <a:bodyPr>
            <a:normAutofit/>
          </a:bodyPr>
          <a:lstStyle/>
          <a:p>
            <a:r>
              <a:rPr lang="en-US">
                <a:latin typeface="Avenir Book" panose="02000503020000020003" pitchFamily="2" charset="0"/>
              </a:rPr>
              <a:t>The theory is ‘Indirect’</a:t>
            </a:r>
          </a:p>
        </p:txBody>
      </p:sp>
      <p:sp>
        <p:nvSpPr>
          <p:cNvPr id="13" name="Rectangle 12">
            <a:extLst>
              <a:ext uri="{FF2B5EF4-FFF2-40B4-BE49-F238E27FC236}">
                <a16:creationId xmlns:a16="http://schemas.microsoft.com/office/drawing/2014/main" id="{5FDAFA16-9D2D-4BEC-89D0-B4EABEE911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CFFB6A6B-212B-2971-A3C0-749D4DD929C3}"/>
              </a:ext>
            </a:extLst>
          </p:cNvPr>
          <p:cNvSpPr>
            <a:spLocks noGrp="1"/>
          </p:cNvSpPr>
          <p:nvPr>
            <p:ph idx="1"/>
          </p:nvPr>
        </p:nvSpPr>
        <p:spPr>
          <a:xfrm>
            <a:off x="765051" y="2443140"/>
            <a:ext cx="6306309" cy="4230792"/>
          </a:xfrm>
        </p:spPr>
        <p:txBody>
          <a:bodyPr>
            <a:normAutofit/>
          </a:bodyPr>
          <a:lstStyle/>
          <a:p>
            <a:pPr algn="just">
              <a:lnSpc>
                <a:spcPct val="150000"/>
              </a:lnSpc>
            </a:pPr>
            <a:r>
              <a:rPr lang="en-GB"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The sense-data are mind-dependent, that is, they depend on a mind for their existence. Sense-data are known directly, </a:t>
            </a:r>
            <a:r>
              <a:rPr lang="en-GB" i="1"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immediately</a:t>
            </a:r>
            <a:r>
              <a:rPr lang="en-GB"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 and we have </a:t>
            </a:r>
            <a:r>
              <a:rPr lang="en-GB" i="1"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privileged and private access to them,</a:t>
            </a:r>
            <a:r>
              <a:rPr lang="en-GB"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 while the objects in the world can only be </a:t>
            </a:r>
            <a:r>
              <a:rPr lang="en-GB" i="1"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inferred </a:t>
            </a:r>
            <a:r>
              <a:rPr lang="en-GB"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from sense-data. These external objects are known or present indirectly, via the sense-data. </a:t>
            </a:r>
            <a:endParaRPr lang="en-GB"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solidFill>
                <a:schemeClr val="tx1"/>
              </a:solidFill>
            </a:endParaRPr>
          </a:p>
        </p:txBody>
      </p:sp>
      <p:pic>
        <p:nvPicPr>
          <p:cNvPr id="4" name="Picture 3" descr="A diagram of a human head&#10;&#10;Description automatically generated">
            <a:extLst>
              <a:ext uri="{FF2B5EF4-FFF2-40B4-BE49-F238E27FC236}">
                <a16:creationId xmlns:a16="http://schemas.microsoft.com/office/drawing/2014/main" id="{9289EB9E-A4BA-67EA-BABA-3AA38BFDDDAC}"/>
              </a:ext>
            </a:extLst>
          </p:cNvPr>
          <p:cNvPicPr>
            <a:picLocks noChangeAspect="1"/>
          </p:cNvPicPr>
          <p:nvPr/>
        </p:nvPicPr>
        <p:blipFill>
          <a:blip r:embed="rId2"/>
          <a:stretch>
            <a:fillRect/>
          </a:stretch>
        </p:blipFill>
        <p:spPr>
          <a:xfrm>
            <a:off x="8050787" y="1600709"/>
            <a:ext cx="3656581" cy="3656581"/>
          </a:xfrm>
          <a:prstGeom prst="rect">
            <a:avLst/>
          </a:prstGeom>
        </p:spPr>
      </p:pic>
    </p:spTree>
    <p:extLst>
      <p:ext uri="{BB962C8B-B14F-4D97-AF65-F5344CB8AC3E}">
        <p14:creationId xmlns:p14="http://schemas.microsoft.com/office/powerpoint/2010/main" val="2314918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C1AC2-8311-F8A9-E22D-BBE391FE9600}"/>
              </a:ext>
            </a:extLst>
          </p:cNvPr>
          <p:cNvSpPr>
            <a:spLocks noGrp="1"/>
          </p:cNvSpPr>
          <p:nvPr>
            <p:ph type="title"/>
          </p:nvPr>
        </p:nvSpPr>
        <p:spPr>
          <a:xfrm>
            <a:off x="1251678" y="736269"/>
            <a:ext cx="10178322" cy="1138247"/>
          </a:xfrm>
        </p:spPr>
        <p:txBody>
          <a:bodyPr>
            <a:normAutofit/>
          </a:bodyPr>
          <a:lstStyle/>
          <a:p>
            <a:r>
              <a:rPr lang="en-US" sz="4000" dirty="0">
                <a:latin typeface="Avenir Book" panose="02000503020000020003" pitchFamily="2" charset="0"/>
              </a:rPr>
              <a:t>The theory is ‘realist’</a:t>
            </a:r>
          </a:p>
        </p:txBody>
      </p:sp>
      <p:sp>
        <p:nvSpPr>
          <p:cNvPr id="3" name="Content Placeholder 2">
            <a:extLst>
              <a:ext uri="{FF2B5EF4-FFF2-40B4-BE49-F238E27FC236}">
                <a16:creationId xmlns:a16="http://schemas.microsoft.com/office/drawing/2014/main" id="{6D6D14D7-3F83-0947-637C-829CE2620969}"/>
              </a:ext>
            </a:extLst>
          </p:cNvPr>
          <p:cNvSpPr>
            <a:spLocks noGrp="1"/>
          </p:cNvSpPr>
          <p:nvPr>
            <p:ph idx="1"/>
          </p:nvPr>
        </p:nvSpPr>
        <p:spPr/>
        <p:txBody>
          <a:bodyPr>
            <a:normAutofit/>
          </a:bodyPr>
          <a:lstStyle/>
          <a:p>
            <a:pPr algn="just">
              <a:lnSpc>
                <a:spcPct val="150000"/>
              </a:lnSpc>
            </a:pPr>
            <a:r>
              <a:rPr lang="en-US" sz="2400" dirty="0">
                <a:solidFill>
                  <a:schemeClr val="tx1"/>
                </a:solidFill>
                <a:latin typeface="Avenir Book" panose="02000503020000020003" pitchFamily="2" charset="0"/>
              </a:rPr>
              <a:t>The realist aspect of the theory is the important claim that external objects in the world are real, this means they are independent of the mind, and that they continue to exist when the people are not perceiving them. </a:t>
            </a:r>
          </a:p>
        </p:txBody>
      </p:sp>
    </p:spTree>
    <p:extLst>
      <p:ext uri="{BB962C8B-B14F-4D97-AF65-F5344CB8AC3E}">
        <p14:creationId xmlns:p14="http://schemas.microsoft.com/office/powerpoint/2010/main" val="4116616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1A329-9B03-3591-B0E6-B955AC627463}"/>
              </a:ext>
            </a:extLst>
          </p:cNvPr>
          <p:cNvSpPr>
            <a:spLocks noGrp="1"/>
          </p:cNvSpPr>
          <p:nvPr>
            <p:ph type="title"/>
          </p:nvPr>
        </p:nvSpPr>
        <p:spPr>
          <a:xfrm>
            <a:off x="1251678" y="558139"/>
            <a:ext cx="10178322" cy="1316377"/>
          </a:xfrm>
        </p:spPr>
        <p:txBody>
          <a:bodyPr>
            <a:normAutofit/>
          </a:bodyPr>
          <a:lstStyle/>
          <a:p>
            <a:r>
              <a:rPr lang="en-US" sz="4400" dirty="0">
                <a:latin typeface="Avenir Book" panose="02000503020000020003" pitchFamily="2" charset="0"/>
              </a:rPr>
              <a:t>The arguments for indirect realism</a:t>
            </a:r>
          </a:p>
        </p:txBody>
      </p:sp>
      <p:sp>
        <p:nvSpPr>
          <p:cNvPr id="3" name="Content Placeholder 2">
            <a:extLst>
              <a:ext uri="{FF2B5EF4-FFF2-40B4-BE49-F238E27FC236}">
                <a16:creationId xmlns:a16="http://schemas.microsoft.com/office/drawing/2014/main" id="{13F74EFF-8637-B2DE-FEB5-71DC2ACC5826}"/>
              </a:ext>
            </a:extLst>
          </p:cNvPr>
          <p:cNvSpPr>
            <a:spLocks noGrp="1"/>
          </p:cNvSpPr>
          <p:nvPr>
            <p:ph idx="1"/>
          </p:nvPr>
        </p:nvSpPr>
        <p:spPr/>
        <p:txBody>
          <a:bodyPr>
            <a:normAutofit lnSpcReduction="10000"/>
          </a:bodyPr>
          <a:lstStyle/>
          <a:p>
            <a:pPr>
              <a:lnSpc>
                <a:spcPct val="150000"/>
              </a:lnSpc>
            </a:pPr>
            <a:r>
              <a:rPr lang="en-US" dirty="0">
                <a:solidFill>
                  <a:schemeClr val="tx1"/>
                </a:solidFill>
                <a:latin typeface="Avenir Book" panose="02000503020000020003" pitchFamily="2" charset="0"/>
              </a:rPr>
              <a:t>The arguments for indirect realism are simply the arguments we have already seen against direct realism. Namely </a:t>
            </a:r>
          </a:p>
          <a:p>
            <a:pPr>
              <a:lnSpc>
                <a:spcPct val="150000"/>
              </a:lnSpc>
            </a:pPr>
            <a:endParaRPr lang="en-US" dirty="0">
              <a:solidFill>
                <a:schemeClr val="tx1"/>
              </a:solidFill>
              <a:latin typeface="Avenir Book" panose="02000503020000020003" pitchFamily="2" charset="0"/>
            </a:endParaRPr>
          </a:p>
          <a:p>
            <a:pPr marL="0" indent="0">
              <a:lnSpc>
                <a:spcPct val="150000"/>
              </a:lnSpc>
              <a:buNone/>
            </a:pPr>
            <a:r>
              <a:rPr lang="en-US" dirty="0">
                <a:solidFill>
                  <a:schemeClr val="tx1"/>
                </a:solidFill>
                <a:latin typeface="Avenir Book" panose="02000503020000020003" pitchFamily="2" charset="0"/>
              </a:rPr>
              <a:t>(1) The argument from perceptual variation.</a:t>
            </a:r>
          </a:p>
          <a:p>
            <a:pPr marL="0" indent="0">
              <a:lnSpc>
                <a:spcPct val="150000"/>
              </a:lnSpc>
              <a:buNone/>
            </a:pPr>
            <a:r>
              <a:rPr lang="en-US" dirty="0">
                <a:solidFill>
                  <a:schemeClr val="tx1"/>
                </a:solidFill>
                <a:latin typeface="Avenir Book" panose="02000503020000020003" pitchFamily="2" charset="0"/>
              </a:rPr>
              <a:t>(2) The argument from illusion.</a:t>
            </a:r>
          </a:p>
          <a:p>
            <a:pPr marL="0" indent="0">
              <a:lnSpc>
                <a:spcPct val="150000"/>
              </a:lnSpc>
              <a:buNone/>
            </a:pPr>
            <a:r>
              <a:rPr lang="en-US" dirty="0">
                <a:solidFill>
                  <a:schemeClr val="tx1"/>
                </a:solidFill>
                <a:latin typeface="Avenir Book" panose="02000503020000020003" pitchFamily="2" charset="0"/>
              </a:rPr>
              <a:t>(3) The argument from hallucination.</a:t>
            </a:r>
          </a:p>
          <a:p>
            <a:pPr marL="0" indent="0">
              <a:lnSpc>
                <a:spcPct val="150000"/>
              </a:lnSpc>
              <a:buNone/>
            </a:pPr>
            <a:r>
              <a:rPr lang="en-US" dirty="0">
                <a:solidFill>
                  <a:schemeClr val="tx1"/>
                </a:solidFill>
                <a:latin typeface="Avenir Book" panose="02000503020000020003" pitchFamily="2" charset="0"/>
              </a:rPr>
              <a:t>(4) The time-lag argument.</a:t>
            </a:r>
          </a:p>
        </p:txBody>
      </p:sp>
    </p:spTree>
    <p:extLst>
      <p:ext uri="{BB962C8B-B14F-4D97-AF65-F5344CB8AC3E}">
        <p14:creationId xmlns:p14="http://schemas.microsoft.com/office/powerpoint/2010/main" val="655830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07CF5-96E8-D088-A762-3C80B99E78D9}"/>
              </a:ext>
            </a:extLst>
          </p:cNvPr>
          <p:cNvSpPr>
            <a:spLocks noGrp="1"/>
          </p:cNvSpPr>
          <p:nvPr>
            <p:ph type="title"/>
          </p:nvPr>
        </p:nvSpPr>
        <p:spPr>
          <a:xfrm>
            <a:off x="1251677" y="709863"/>
            <a:ext cx="10479111" cy="1164653"/>
          </a:xfrm>
        </p:spPr>
        <p:txBody>
          <a:bodyPr>
            <a:normAutofit/>
          </a:bodyPr>
          <a:lstStyle/>
          <a:p>
            <a:r>
              <a:rPr lang="en-US" sz="3600" dirty="0">
                <a:latin typeface="Avenir Book" panose="02000503020000020003" pitchFamily="2" charset="0"/>
              </a:rPr>
              <a:t>There are two key objections to indirect realism</a:t>
            </a:r>
          </a:p>
        </p:txBody>
      </p:sp>
      <p:sp>
        <p:nvSpPr>
          <p:cNvPr id="3" name="Content Placeholder 2">
            <a:extLst>
              <a:ext uri="{FF2B5EF4-FFF2-40B4-BE49-F238E27FC236}">
                <a16:creationId xmlns:a16="http://schemas.microsoft.com/office/drawing/2014/main" id="{B72B8B98-8A7B-2C2B-18E4-FE4BF73EE9E0}"/>
              </a:ext>
            </a:extLst>
          </p:cNvPr>
          <p:cNvSpPr>
            <a:spLocks noGrp="1"/>
          </p:cNvSpPr>
          <p:nvPr>
            <p:ph idx="1"/>
          </p:nvPr>
        </p:nvSpPr>
        <p:spPr>
          <a:xfrm>
            <a:off x="1251678" y="2430379"/>
            <a:ext cx="10178322" cy="4045236"/>
          </a:xfrm>
        </p:spPr>
        <p:txBody>
          <a:bodyPr>
            <a:noAutofit/>
          </a:bodyPr>
          <a:lstStyle/>
          <a:p>
            <a:pPr marL="0" indent="0" algn="just">
              <a:lnSpc>
                <a:spcPct val="150000"/>
              </a:lnSpc>
              <a:buNone/>
            </a:pPr>
            <a:r>
              <a:rPr lang="en-US" sz="2400" dirty="0">
                <a:solidFill>
                  <a:schemeClr val="tx1"/>
                </a:solidFill>
                <a:latin typeface="Avenir Book" panose="02000503020000020003" pitchFamily="2" charset="0"/>
              </a:rPr>
              <a:t>1. If indirect realism is true, we cannot know that there is an external world beyond sense-data?</a:t>
            </a:r>
          </a:p>
          <a:p>
            <a:pPr marL="0" indent="0" algn="just">
              <a:lnSpc>
                <a:spcPct val="150000"/>
              </a:lnSpc>
              <a:buNone/>
            </a:pPr>
            <a:endParaRPr lang="en-US" sz="2400" dirty="0">
              <a:solidFill>
                <a:schemeClr val="tx1"/>
              </a:solidFill>
              <a:latin typeface="Avenir Book" panose="02000503020000020003" pitchFamily="2" charset="0"/>
            </a:endParaRPr>
          </a:p>
          <a:p>
            <a:pPr marL="0" indent="0" algn="just">
              <a:lnSpc>
                <a:spcPct val="150000"/>
              </a:lnSpc>
              <a:buNone/>
            </a:pPr>
            <a:r>
              <a:rPr lang="en-US" sz="2400" dirty="0">
                <a:solidFill>
                  <a:schemeClr val="tx1"/>
                </a:solidFill>
                <a:latin typeface="Avenir Book" panose="02000503020000020003" pitchFamily="2" charset="0"/>
              </a:rPr>
              <a:t>2. How do sense-data represent the world? </a:t>
            </a:r>
          </a:p>
        </p:txBody>
      </p:sp>
    </p:spTree>
    <p:extLst>
      <p:ext uri="{BB962C8B-B14F-4D97-AF65-F5344CB8AC3E}">
        <p14:creationId xmlns:p14="http://schemas.microsoft.com/office/powerpoint/2010/main" val="419329337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p:cTn id="15"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3">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p:cTn id="23"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3">
                                            <p:txEl>
                                              <p:pRg st="2" end="2"/>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F6DD6-6DCC-AEEF-67BF-75712A8B9095}"/>
              </a:ext>
            </a:extLst>
          </p:cNvPr>
          <p:cNvSpPr>
            <a:spLocks noGrp="1"/>
          </p:cNvSpPr>
          <p:nvPr>
            <p:ph type="title"/>
          </p:nvPr>
        </p:nvSpPr>
        <p:spPr>
          <a:xfrm>
            <a:off x="1251677" y="541421"/>
            <a:ext cx="10366117" cy="1333096"/>
          </a:xfrm>
        </p:spPr>
        <p:txBody>
          <a:bodyPr>
            <a:normAutofit/>
          </a:bodyPr>
          <a:lstStyle/>
          <a:p>
            <a:r>
              <a:rPr lang="en-US" sz="4000" dirty="0">
                <a:latin typeface="Avenir Book" panose="02000503020000020003" pitchFamily="2" charset="0"/>
              </a:rPr>
              <a:t>Is there anything beyond our IMMEDIATE SENSE Data?</a:t>
            </a:r>
          </a:p>
        </p:txBody>
      </p:sp>
      <p:sp>
        <p:nvSpPr>
          <p:cNvPr id="3" name="Content Placeholder 2">
            <a:extLst>
              <a:ext uri="{FF2B5EF4-FFF2-40B4-BE49-F238E27FC236}">
                <a16:creationId xmlns:a16="http://schemas.microsoft.com/office/drawing/2014/main" id="{35598DE7-31AA-39F1-37EF-DAE9C4BD2EC2}"/>
              </a:ext>
            </a:extLst>
          </p:cNvPr>
          <p:cNvSpPr>
            <a:spLocks noGrp="1"/>
          </p:cNvSpPr>
          <p:nvPr>
            <p:ph idx="1"/>
          </p:nvPr>
        </p:nvSpPr>
        <p:spPr>
          <a:xfrm>
            <a:off x="1251678" y="1965831"/>
            <a:ext cx="6207901" cy="4708123"/>
          </a:xfrm>
        </p:spPr>
        <p:txBody>
          <a:bodyPr>
            <a:normAutofit/>
          </a:bodyPr>
          <a:lstStyle/>
          <a:p>
            <a:pPr marL="0" indent="0" algn="just">
              <a:lnSpc>
                <a:spcPct val="150000"/>
              </a:lnSpc>
              <a:buNone/>
            </a:pPr>
            <a:r>
              <a:rPr lang="en-US" sz="2400" dirty="0">
                <a:solidFill>
                  <a:schemeClr val="tx1"/>
                </a:solidFill>
                <a:latin typeface="Avenir Book" panose="02000503020000020003" pitchFamily="2" charset="0"/>
              </a:rPr>
              <a:t>Russell claims that if we only have access to sense-data, then we cannot know that there is anything beyond our sense-data in the world that cause them. The best we can do is assume that there is. Therefore, we cannot know that there is a world beyond our direct experience. </a:t>
            </a:r>
          </a:p>
        </p:txBody>
      </p:sp>
      <p:pic>
        <p:nvPicPr>
          <p:cNvPr id="5" name="Picture 4" descr="A fireplace with a chair and a mirror&#10;&#10;Description automatically generated">
            <a:extLst>
              <a:ext uri="{FF2B5EF4-FFF2-40B4-BE49-F238E27FC236}">
                <a16:creationId xmlns:a16="http://schemas.microsoft.com/office/drawing/2014/main" id="{B5908D81-2FAC-FEE6-AC8C-11D1D6A0934D}"/>
              </a:ext>
            </a:extLst>
          </p:cNvPr>
          <p:cNvPicPr>
            <a:picLocks noChangeAspect="1"/>
          </p:cNvPicPr>
          <p:nvPr/>
        </p:nvPicPr>
        <p:blipFill>
          <a:blip r:embed="rId2"/>
          <a:stretch>
            <a:fillRect/>
          </a:stretch>
        </p:blipFill>
        <p:spPr>
          <a:xfrm>
            <a:off x="7772400" y="1965831"/>
            <a:ext cx="3845395" cy="3845395"/>
          </a:xfrm>
          <a:prstGeom prst="rect">
            <a:avLst/>
          </a:prstGeom>
        </p:spPr>
      </p:pic>
    </p:spTree>
    <p:extLst>
      <p:ext uri="{BB962C8B-B14F-4D97-AF65-F5344CB8AC3E}">
        <p14:creationId xmlns:p14="http://schemas.microsoft.com/office/powerpoint/2010/main" val="213838782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additive="base">
                                        <p:cTn id="19"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3AFF1-17B3-6743-AFFF-D91FB6165EB8}"/>
              </a:ext>
            </a:extLst>
          </p:cNvPr>
          <p:cNvSpPr>
            <a:spLocks noGrp="1"/>
          </p:cNvSpPr>
          <p:nvPr>
            <p:ph type="title"/>
          </p:nvPr>
        </p:nvSpPr>
        <p:spPr>
          <a:xfrm>
            <a:off x="1251678" y="701749"/>
            <a:ext cx="10416426" cy="1172768"/>
          </a:xfrm>
        </p:spPr>
        <p:txBody>
          <a:bodyPr>
            <a:normAutofit/>
          </a:bodyPr>
          <a:lstStyle/>
          <a:p>
            <a:r>
              <a:rPr lang="en-US" sz="3200" dirty="0">
                <a:latin typeface="Avenir Book" panose="02000503020000020003" pitchFamily="2" charset="0"/>
              </a:rPr>
              <a:t>The existence of the external world is the best hypothesis</a:t>
            </a:r>
          </a:p>
        </p:txBody>
      </p:sp>
      <p:sp>
        <p:nvSpPr>
          <p:cNvPr id="3" name="Content Placeholder 2">
            <a:extLst>
              <a:ext uri="{FF2B5EF4-FFF2-40B4-BE49-F238E27FC236}">
                <a16:creationId xmlns:a16="http://schemas.microsoft.com/office/drawing/2014/main" id="{7DF3C1F2-99F5-6435-FA30-AB0304401134}"/>
              </a:ext>
            </a:extLst>
          </p:cNvPr>
          <p:cNvSpPr>
            <a:spLocks noGrp="1"/>
          </p:cNvSpPr>
          <p:nvPr>
            <p:ph idx="1"/>
          </p:nvPr>
        </p:nvSpPr>
        <p:spPr>
          <a:xfrm>
            <a:off x="1251678" y="2286001"/>
            <a:ext cx="6627048" cy="3870250"/>
          </a:xfrm>
        </p:spPr>
        <p:txBody>
          <a:bodyPr>
            <a:noAutofit/>
          </a:bodyPr>
          <a:lstStyle/>
          <a:p>
            <a:pPr marL="0" indent="0" algn="just">
              <a:lnSpc>
                <a:spcPct val="150000"/>
              </a:lnSpc>
              <a:buNone/>
            </a:pPr>
            <a:r>
              <a:rPr lang="en-US" sz="2400" dirty="0">
                <a:solidFill>
                  <a:schemeClr val="tx1"/>
                </a:solidFill>
                <a:latin typeface="Avenir Book" panose="02000503020000020003" pitchFamily="2" charset="0"/>
              </a:rPr>
              <a:t>It is true that we cannot know beyond any doubt that there are external objects that cause our sense data. However, if we consider all the other possible hypothesis, we understand that the most plausible hypothesis is that there is an external world. </a:t>
            </a:r>
          </a:p>
        </p:txBody>
      </p:sp>
      <p:pic>
        <p:nvPicPr>
          <p:cNvPr id="5" name="Picture 4" descr="A person in a trench coat&#10;&#10;Description automatically generated">
            <a:extLst>
              <a:ext uri="{FF2B5EF4-FFF2-40B4-BE49-F238E27FC236}">
                <a16:creationId xmlns:a16="http://schemas.microsoft.com/office/drawing/2014/main" id="{11F5BB32-F399-57F3-1248-633F33EF170C}"/>
              </a:ext>
            </a:extLst>
          </p:cNvPr>
          <p:cNvPicPr>
            <a:picLocks noChangeAspect="1"/>
          </p:cNvPicPr>
          <p:nvPr/>
        </p:nvPicPr>
        <p:blipFill>
          <a:blip r:embed="rId2"/>
          <a:stretch>
            <a:fillRect/>
          </a:stretch>
        </p:blipFill>
        <p:spPr>
          <a:xfrm>
            <a:off x="8035958" y="2405053"/>
            <a:ext cx="3632146" cy="3632146"/>
          </a:xfrm>
          <a:prstGeom prst="rect">
            <a:avLst/>
          </a:prstGeom>
        </p:spPr>
      </p:pic>
    </p:spTree>
    <p:extLst>
      <p:ext uri="{BB962C8B-B14F-4D97-AF65-F5344CB8AC3E}">
        <p14:creationId xmlns:p14="http://schemas.microsoft.com/office/powerpoint/2010/main" val="299794734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additive="base">
                                        <p:cTn id="19"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23F9D-1C20-38A2-ED4D-B71DF365F65D}"/>
              </a:ext>
            </a:extLst>
          </p:cNvPr>
          <p:cNvSpPr>
            <a:spLocks noGrp="1"/>
          </p:cNvSpPr>
          <p:nvPr>
            <p:ph type="title"/>
          </p:nvPr>
        </p:nvSpPr>
        <p:spPr>
          <a:xfrm>
            <a:off x="1251678" y="570971"/>
            <a:ext cx="10178322" cy="992015"/>
          </a:xfrm>
        </p:spPr>
        <p:txBody>
          <a:bodyPr>
            <a:normAutofit/>
          </a:bodyPr>
          <a:lstStyle/>
          <a:p>
            <a:r>
              <a:rPr lang="en-US" sz="4000" dirty="0">
                <a:latin typeface="Avenir Book" panose="02000503020000020003" pitchFamily="2" charset="0"/>
              </a:rPr>
              <a:t>Best hypothesis</a:t>
            </a:r>
          </a:p>
        </p:txBody>
      </p:sp>
      <p:sp>
        <p:nvSpPr>
          <p:cNvPr id="3" name="Content Placeholder 2">
            <a:extLst>
              <a:ext uri="{FF2B5EF4-FFF2-40B4-BE49-F238E27FC236}">
                <a16:creationId xmlns:a16="http://schemas.microsoft.com/office/drawing/2014/main" id="{49BE06C7-9F0C-CC68-0451-AFC09CD22AE0}"/>
              </a:ext>
            </a:extLst>
          </p:cNvPr>
          <p:cNvSpPr>
            <a:spLocks noGrp="1"/>
          </p:cNvSpPr>
          <p:nvPr>
            <p:ph idx="1"/>
          </p:nvPr>
        </p:nvSpPr>
        <p:spPr>
          <a:xfrm>
            <a:off x="1251678" y="1722474"/>
            <a:ext cx="10178322" cy="3306726"/>
          </a:xfrm>
        </p:spPr>
        <p:txBody>
          <a:bodyPr>
            <a:noAutofit/>
          </a:bodyPr>
          <a:lstStyle/>
          <a:p>
            <a:pPr marL="0" indent="0" algn="just">
              <a:buNone/>
            </a:pPr>
            <a:r>
              <a:rPr lang="en-US" sz="2400" dirty="0">
                <a:solidFill>
                  <a:schemeClr val="tx1"/>
                </a:solidFill>
                <a:latin typeface="Avenir Book" panose="02000503020000020003" pitchFamily="2" charset="0"/>
              </a:rPr>
              <a:t>So either </a:t>
            </a:r>
          </a:p>
          <a:p>
            <a:pPr marL="0" indent="0" algn="just">
              <a:buNone/>
            </a:pPr>
            <a:endParaRPr lang="en-US" sz="2400" dirty="0">
              <a:solidFill>
                <a:schemeClr val="tx1"/>
              </a:solidFill>
              <a:latin typeface="Avenir Book" panose="02000503020000020003" pitchFamily="2" charset="0"/>
            </a:endParaRPr>
          </a:p>
          <a:p>
            <a:pPr marL="0" indent="0" algn="just">
              <a:buNone/>
            </a:pPr>
            <a:r>
              <a:rPr lang="en-US" sz="2400" dirty="0">
                <a:solidFill>
                  <a:schemeClr val="tx1"/>
                </a:solidFill>
                <a:latin typeface="Avenir Book" panose="02000503020000020003" pitchFamily="2" charset="0"/>
              </a:rPr>
              <a:t>1:Sense data are caused by my mind or some other thing outside it like an evil demon.</a:t>
            </a:r>
          </a:p>
          <a:p>
            <a:pPr marL="0" indent="0" algn="just">
              <a:buNone/>
            </a:pPr>
            <a:r>
              <a:rPr lang="en-US" sz="2400" dirty="0">
                <a:solidFill>
                  <a:schemeClr val="tx1"/>
                </a:solidFill>
                <a:latin typeface="Avenir Book" panose="02000503020000020003" pitchFamily="2" charset="0"/>
              </a:rPr>
              <a:t>OR</a:t>
            </a:r>
          </a:p>
          <a:p>
            <a:pPr marL="0" indent="0" algn="just">
              <a:buNone/>
            </a:pPr>
            <a:r>
              <a:rPr lang="en-US" sz="2400" dirty="0">
                <a:solidFill>
                  <a:schemeClr val="tx1"/>
                </a:solidFill>
                <a:latin typeface="Avenir Book" panose="02000503020000020003" pitchFamily="2" charset="0"/>
              </a:rPr>
              <a:t>2: They are caused by things such as objects outside the mind. </a:t>
            </a:r>
          </a:p>
          <a:p>
            <a:pPr marL="0" indent="0" algn="just">
              <a:buNone/>
            </a:pPr>
            <a:endParaRPr lang="en-US" sz="2400" dirty="0">
              <a:solidFill>
                <a:schemeClr val="tx1"/>
              </a:solidFill>
              <a:latin typeface="Avenir Book" panose="02000503020000020003" pitchFamily="2" charset="0"/>
            </a:endParaRPr>
          </a:p>
          <a:p>
            <a:pPr marL="0" indent="0" algn="just">
              <a:buNone/>
            </a:pPr>
            <a:r>
              <a:rPr lang="en-US" sz="2400" dirty="0">
                <a:solidFill>
                  <a:schemeClr val="tx1"/>
                </a:solidFill>
                <a:latin typeface="Avenir Book" panose="02000503020000020003" pitchFamily="2" charset="0"/>
              </a:rPr>
              <a:t>That they are caused by things outside the mind seems the most sensible answer. </a:t>
            </a:r>
          </a:p>
        </p:txBody>
      </p:sp>
    </p:spTree>
    <p:extLst>
      <p:ext uri="{BB962C8B-B14F-4D97-AF65-F5344CB8AC3E}">
        <p14:creationId xmlns:p14="http://schemas.microsoft.com/office/powerpoint/2010/main" val="354197095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7727B-8BFE-A91A-B115-C4057EC1F0F3}"/>
              </a:ext>
            </a:extLst>
          </p:cNvPr>
          <p:cNvSpPr>
            <a:spLocks noGrp="1"/>
          </p:cNvSpPr>
          <p:nvPr>
            <p:ph type="title"/>
          </p:nvPr>
        </p:nvSpPr>
        <p:spPr>
          <a:xfrm>
            <a:off x="1251678" y="637567"/>
            <a:ext cx="10178322" cy="914787"/>
          </a:xfrm>
        </p:spPr>
        <p:txBody>
          <a:bodyPr/>
          <a:lstStyle/>
          <a:p>
            <a:r>
              <a:rPr lang="en-US" sz="4000" dirty="0">
                <a:latin typeface="Avenir Book" panose="02000503020000020003" pitchFamily="2" charset="0"/>
              </a:rPr>
              <a:t>John</a:t>
            </a:r>
            <a:r>
              <a:rPr lang="en-US" dirty="0">
                <a:latin typeface="Avenir Book" panose="02000503020000020003" pitchFamily="2" charset="0"/>
              </a:rPr>
              <a:t> </a:t>
            </a:r>
            <a:r>
              <a:rPr lang="en-US" sz="4000" dirty="0">
                <a:latin typeface="Avenir Book" panose="02000503020000020003" pitchFamily="2" charset="0"/>
              </a:rPr>
              <a:t>Locke</a:t>
            </a:r>
            <a:r>
              <a:rPr lang="en-US" dirty="0">
                <a:latin typeface="Avenir Book" panose="02000503020000020003" pitchFamily="2" charset="0"/>
              </a:rPr>
              <a:t> </a:t>
            </a:r>
            <a:r>
              <a:rPr lang="en-US" sz="4000" dirty="0">
                <a:latin typeface="Avenir Book" panose="02000503020000020003" pitchFamily="2" charset="0"/>
              </a:rPr>
              <a:t>(1) </a:t>
            </a:r>
          </a:p>
        </p:txBody>
      </p:sp>
      <p:sp>
        <p:nvSpPr>
          <p:cNvPr id="3" name="Content Placeholder 2">
            <a:extLst>
              <a:ext uri="{FF2B5EF4-FFF2-40B4-BE49-F238E27FC236}">
                <a16:creationId xmlns:a16="http://schemas.microsoft.com/office/drawing/2014/main" id="{6646ABD8-AB37-E30A-4EC5-6A651C3363D9}"/>
              </a:ext>
            </a:extLst>
          </p:cNvPr>
          <p:cNvSpPr>
            <a:spLocks noGrp="1"/>
          </p:cNvSpPr>
          <p:nvPr>
            <p:ph idx="1"/>
          </p:nvPr>
        </p:nvSpPr>
        <p:spPr>
          <a:xfrm>
            <a:off x="1251677" y="1967023"/>
            <a:ext cx="6713227" cy="4412512"/>
          </a:xfrm>
        </p:spPr>
        <p:txBody>
          <a:bodyPr>
            <a:normAutofit/>
          </a:bodyPr>
          <a:lstStyle/>
          <a:p>
            <a:pPr algn="just">
              <a:lnSpc>
                <a:spcPct val="150000"/>
              </a:lnSpc>
            </a:pPr>
            <a:r>
              <a:rPr lang="en-US" sz="2800" dirty="0">
                <a:solidFill>
                  <a:schemeClr val="tx1"/>
                </a:solidFill>
                <a:latin typeface="Avenir Book" panose="02000503020000020003" pitchFamily="2" charset="0"/>
              </a:rPr>
              <a:t>John Locke claims that we </a:t>
            </a:r>
            <a:r>
              <a:rPr lang="en-US" sz="2800" i="1" dirty="0">
                <a:solidFill>
                  <a:schemeClr val="tx1"/>
                </a:solidFill>
                <a:latin typeface="Avenir Book" panose="02000503020000020003" pitchFamily="2" charset="0"/>
              </a:rPr>
              <a:t>cannot avoid having certain sense data </a:t>
            </a:r>
            <a:r>
              <a:rPr lang="en-US" sz="2800" dirty="0">
                <a:solidFill>
                  <a:schemeClr val="tx1"/>
                </a:solidFill>
                <a:latin typeface="Avenir Book" panose="02000503020000020003" pitchFamily="2" charset="0"/>
              </a:rPr>
              <a:t>in our mind. For example, If I close my eyes, I can choose what I can imagine, but I cannot control my sense-data when I open my eyes. </a:t>
            </a:r>
          </a:p>
          <a:p>
            <a:endParaRPr lang="en-US" sz="3600" dirty="0"/>
          </a:p>
          <a:p>
            <a:endParaRPr lang="en-US" sz="3600" dirty="0"/>
          </a:p>
        </p:txBody>
      </p:sp>
      <p:pic>
        <p:nvPicPr>
          <p:cNvPr id="5" name="Picture 4">
            <a:extLst>
              <a:ext uri="{FF2B5EF4-FFF2-40B4-BE49-F238E27FC236}">
                <a16:creationId xmlns:a16="http://schemas.microsoft.com/office/drawing/2014/main" id="{95382CF1-251C-8E7E-B421-CB51D5BEE465}"/>
              </a:ext>
            </a:extLst>
          </p:cNvPr>
          <p:cNvPicPr>
            <a:picLocks noChangeAspect="1"/>
          </p:cNvPicPr>
          <p:nvPr/>
        </p:nvPicPr>
        <p:blipFill>
          <a:blip r:embed="rId2"/>
          <a:stretch>
            <a:fillRect/>
          </a:stretch>
        </p:blipFill>
        <p:spPr>
          <a:xfrm>
            <a:off x="8480770" y="1967024"/>
            <a:ext cx="3447188" cy="3447188"/>
          </a:xfrm>
          <a:prstGeom prst="rect">
            <a:avLst/>
          </a:prstGeom>
        </p:spPr>
      </p:pic>
    </p:spTree>
    <p:extLst>
      <p:ext uri="{BB962C8B-B14F-4D97-AF65-F5344CB8AC3E}">
        <p14:creationId xmlns:p14="http://schemas.microsoft.com/office/powerpoint/2010/main" val="321916237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additive="base">
                                        <p:cTn id="19"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FD2BB-E5BD-39C0-97AD-FD77565B24E8}"/>
              </a:ext>
            </a:extLst>
          </p:cNvPr>
          <p:cNvSpPr>
            <a:spLocks noGrp="1"/>
          </p:cNvSpPr>
          <p:nvPr>
            <p:ph type="title"/>
          </p:nvPr>
        </p:nvSpPr>
        <p:spPr>
          <a:xfrm>
            <a:off x="1301877" y="787197"/>
            <a:ext cx="10178322" cy="871870"/>
          </a:xfrm>
        </p:spPr>
        <p:txBody>
          <a:bodyPr>
            <a:normAutofit/>
          </a:bodyPr>
          <a:lstStyle/>
          <a:p>
            <a:r>
              <a:rPr lang="en-US" sz="4000" dirty="0">
                <a:latin typeface="Avenir Book" panose="02000503020000020003" pitchFamily="2" charset="0"/>
              </a:rPr>
              <a:t>John Locke (2)</a:t>
            </a:r>
          </a:p>
        </p:txBody>
      </p:sp>
      <p:sp>
        <p:nvSpPr>
          <p:cNvPr id="3" name="Content Placeholder 2">
            <a:extLst>
              <a:ext uri="{FF2B5EF4-FFF2-40B4-BE49-F238E27FC236}">
                <a16:creationId xmlns:a16="http://schemas.microsoft.com/office/drawing/2014/main" id="{1963F349-6ABC-2653-8396-B785A0C32224}"/>
              </a:ext>
            </a:extLst>
          </p:cNvPr>
          <p:cNvSpPr>
            <a:spLocks noGrp="1"/>
          </p:cNvSpPr>
          <p:nvPr>
            <p:ph idx="1"/>
          </p:nvPr>
        </p:nvSpPr>
        <p:spPr>
          <a:xfrm>
            <a:off x="1251677" y="1967023"/>
            <a:ext cx="6520723" cy="4103780"/>
          </a:xfrm>
        </p:spPr>
        <p:txBody>
          <a:bodyPr>
            <a:normAutofit lnSpcReduction="10000"/>
          </a:bodyPr>
          <a:lstStyle/>
          <a:p>
            <a:pPr marL="0" indent="0" algn="just">
              <a:lnSpc>
                <a:spcPct val="160000"/>
              </a:lnSpc>
              <a:buNone/>
            </a:pPr>
            <a:r>
              <a:rPr lang="en-US" sz="2800" dirty="0">
                <a:solidFill>
                  <a:schemeClr val="tx1"/>
                </a:solidFill>
                <a:latin typeface="Avenir Book" panose="02000503020000020003" pitchFamily="2" charset="0"/>
              </a:rPr>
              <a:t>We can also confirm one sense-perception with another. For example, if I see a fire I can go and feel if it is hot. If I hear a violin playing, I can go and see the violin and confirm it is there. If I see a fire I can feel its heat. </a:t>
            </a:r>
          </a:p>
        </p:txBody>
      </p:sp>
      <p:pic>
        <p:nvPicPr>
          <p:cNvPr id="4" name="Picture 3">
            <a:extLst>
              <a:ext uri="{FF2B5EF4-FFF2-40B4-BE49-F238E27FC236}">
                <a16:creationId xmlns:a16="http://schemas.microsoft.com/office/drawing/2014/main" id="{8A4FB000-485A-55AF-4CE1-7BC0F167CD6D}"/>
              </a:ext>
            </a:extLst>
          </p:cNvPr>
          <p:cNvPicPr>
            <a:picLocks noChangeAspect="1"/>
          </p:cNvPicPr>
          <p:nvPr/>
        </p:nvPicPr>
        <p:blipFill>
          <a:blip r:embed="rId2"/>
          <a:stretch>
            <a:fillRect/>
          </a:stretch>
        </p:blipFill>
        <p:spPr>
          <a:xfrm>
            <a:off x="8132135" y="1967023"/>
            <a:ext cx="3795823" cy="3795823"/>
          </a:xfrm>
          <a:prstGeom prst="rect">
            <a:avLst/>
          </a:prstGeom>
        </p:spPr>
      </p:pic>
    </p:spTree>
    <p:extLst>
      <p:ext uri="{BB962C8B-B14F-4D97-AF65-F5344CB8AC3E}">
        <p14:creationId xmlns:p14="http://schemas.microsoft.com/office/powerpoint/2010/main" val="3593676973"/>
      </p:ext>
    </p:extLst>
  </p:cSld>
  <p:clrMapOvr>
    <a:masterClrMapping/>
  </p:clrMapOvr>
  <mc:AlternateContent xmlns:mc="http://schemas.openxmlformats.org/markup-compatibility/2006" xmlns:p14="http://schemas.microsoft.com/office/powerpoint/2010/main">
    <mc:Choice Requires="p14">
      <p:transition spd="slow" p14:dur="2000">
        <p:push dir="u"/>
      </p:transition>
    </mc:Choice>
    <mc:Fallback xmlns="">
      <p:transition spd="slow">
        <p:push dir="u"/>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additive="base">
                                        <p:cTn id="19"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6C603-0E70-484D-CFBE-FF7F1703F07F}"/>
              </a:ext>
            </a:extLst>
          </p:cNvPr>
          <p:cNvSpPr>
            <a:spLocks noGrp="1"/>
          </p:cNvSpPr>
          <p:nvPr>
            <p:ph type="title"/>
          </p:nvPr>
        </p:nvSpPr>
        <p:spPr>
          <a:xfrm>
            <a:off x="1251678" y="637673"/>
            <a:ext cx="10178322" cy="1236843"/>
          </a:xfrm>
        </p:spPr>
        <p:txBody>
          <a:bodyPr>
            <a:normAutofit/>
          </a:bodyPr>
          <a:lstStyle/>
          <a:p>
            <a:r>
              <a:rPr lang="en-US" sz="4000" dirty="0">
                <a:latin typeface="Avenir Book" panose="02000503020000020003" pitchFamily="2" charset="0"/>
              </a:rPr>
              <a:t>John Locke (3)</a:t>
            </a:r>
          </a:p>
        </p:txBody>
      </p:sp>
      <p:sp>
        <p:nvSpPr>
          <p:cNvPr id="3" name="Content Placeholder 2">
            <a:extLst>
              <a:ext uri="{FF2B5EF4-FFF2-40B4-BE49-F238E27FC236}">
                <a16:creationId xmlns:a16="http://schemas.microsoft.com/office/drawing/2014/main" id="{917E4190-3A90-3F9D-8DF6-7C70D427FB4E}"/>
              </a:ext>
            </a:extLst>
          </p:cNvPr>
          <p:cNvSpPr>
            <a:spLocks noGrp="1"/>
          </p:cNvSpPr>
          <p:nvPr>
            <p:ph idx="1"/>
          </p:nvPr>
        </p:nvSpPr>
        <p:spPr>
          <a:xfrm>
            <a:off x="1073888" y="1874516"/>
            <a:ext cx="6741042" cy="4005076"/>
          </a:xfrm>
        </p:spPr>
        <p:txBody>
          <a:bodyPr>
            <a:normAutofit fontScale="77500" lnSpcReduction="20000"/>
          </a:bodyPr>
          <a:lstStyle/>
          <a:p>
            <a:pPr marL="0" indent="0" algn="just">
              <a:lnSpc>
                <a:spcPct val="170000"/>
              </a:lnSpc>
              <a:buNone/>
            </a:pPr>
            <a:r>
              <a:rPr lang="en-US" sz="3600" dirty="0">
                <a:solidFill>
                  <a:schemeClr val="tx1"/>
                </a:solidFill>
                <a:latin typeface="Avenir Book" panose="02000503020000020003" pitchFamily="2" charset="0"/>
              </a:rPr>
              <a:t>Sense data are not just ‘playing things of the imagination’. This means that when we see things we cannot just wish them away from our experience or indeed from the world with our mind alone.  </a:t>
            </a:r>
          </a:p>
        </p:txBody>
      </p:sp>
      <p:pic>
        <p:nvPicPr>
          <p:cNvPr id="4" name="Picture 3">
            <a:extLst>
              <a:ext uri="{FF2B5EF4-FFF2-40B4-BE49-F238E27FC236}">
                <a16:creationId xmlns:a16="http://schemas.microsoft.com/office/drawing/2014/main" id="{68F986C4-E1D3-9588-C2F4-4E7803CC3E5A}"/>
              </a:ext>
            </a:extLst>
          </p:cNvPr>
          <p:cNvPicPr>
            <a:picLocks noChangeAspect="1"/>
          </p:cNvPicPr>
          <p:nvPr/>
        </p:nvPicPr>
        <p:blipFill>
          <a:blip r:embed="rId2"/>
          <a:stretch>
            <a:fillRect/>
          </a:stretch>
        </p:blipFill>
        <p:spPr>
          <a:xfrm>
            <a:off x="8132135" y="1967023"/>
            <a:ext cx="3795823" cy="3795823"/>
          </a:xfrm>
          <a:prstGeom prst="rect">
            <a:avLst/>
          </a:prstGeom>
        </p:spPr>
      </p:pic>
    </p:spTree>
    <p:extLst>
      <p:ext uri="{BB962C8B-B14F-4D97-AF65-F5344CB8AC3E}">
        <p14:creationId xmlns:p14="http://schemas.microsoft.com/office/powerpoint/2010/main" val="208245700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additive="base">
                                        <p:cTn id="19"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F91BE-2DD2-02A9-C4C2-C0B1470BE60D}"/>
              </a:ext>
            </a:extLst>
          </p:cNvPr>
          <p:cNvSpPr>
            <a:spLocks noGrp="1"/>
          </p:cNvSpPr>
          <p:nvPr>
            <p:ph type="title"/>
          </p:nvPr>
        </p:nvSpPr>
        <p:spPr>
          <a:xfrm>
            <a:off x="1251677" y="645105"/>
            <a:ext cx="5414304" cy="1320855"/>
          </a:xfrm>
        </p:spPr>
        <p:txBody>
          <a:bodyPr>
            <a:noAutofit/>
          </a:bodyPr>
          <a:lstStyle/>
          <a:p>
            <a:r>
              <a:rPr lang="en-US" sz="3200" dirty="0">
                <a:latin typeface="Avenir Book" panose="02000503020000020003" pitchFamily="2" charset="0"/>
              </a:rPr>
              <a:t>Therefore, We can infer the existence of Physical Objects </a:t>
            </a:r>
          </a:p>
        </p:txBody>
      </p:sp>
      <p:sp>
        <p:nvSpPr>
          <p:cNvPr id="3" name="Content Placeholder 2">
            <a:extLst>
              <a:ext uri="{FF2B5EF4-FFF2-40B4-BE49-F238E27FC236}">
                <a16:creationId xmlns:a16="http://schemas.microsoft.com/office/drawing/2014/main" id="{60AAC0B9-91FB-E00D-215D-0A1AF013150C}"/>
              </a:ext>
            </a:extLst>
          </p:cNvPr>
          <p:cNvSpPr>
            <a:spLocks noGrp="1"/>
          </p:cNvSpPr>
          <p:nvPr>
            <p:ph idx="1"/>
          </p:nvPr>
        </p:nvSpPr>
        <p:spPr>
          <a:xfrm>
            <a:off x="1251678" y="2286001"/>
            <a:ext cx="4596229" cy="4061636"/>
          </a:xfrm>
        </p:spPr>
        <p:txBody>
          <a:bodyPr>
            <a:normAutofit/>
          </a:bodyPr>
          <a:lstStyle/>
          <a:p>
            <a:pPr marL="0" indent="0">
              <a:lnSpc>
                <a:spcPct val="150000"/>
              </a:lnSpc>
              <a:buNone/>
            </a:pPr>
            <a:r>
              <a:rPr lang="en-US" dirty="0">
                <a:solidFill>
                  <a:schemeClr val="tx1"/>
                </a:solidFill>
                <a:latin typeface="Avenir Book" panose="02000503020000020003" pitchFamily="2" charset="0"/>
              </a:rPr>
              <a:t>3 reasons for this</a:t>
            </a:r>
          </a:p>
          <a:p>
            <a:pPr marL="0" indent="0">
              <a:lnSpc>
                <a:spcPct val="150000"/>
              </a:lnSpc>
              <a:buNone/>
            </a:pPr>
            <a:r>
              <a:rPr lang="en-US" dirty="0">
                <a:solidFill>
                  <a:schemeClr val="tx1"/>
                </a:solidFill>
                <a:latin typeface="Avenir Book" panose="02000503020000020003" pitchFamily="2" charset="0"/>
              </a:rPr>
              <a:t>1. Sense-data are not under our control like imagination.</a:t>
            </a:r>
          </a:p>
          <a:p>
            <a:pPr marL="0" indent="0">
              <a:lnSpc>
                <a:spcPct val="150000"/>
              </a:lnSpc>
              <a:buNone/>
            </a:pPr>
            <a:r>
              <a:rPr lang="en-US" dirty="0">
                <a:solidFill>
                  <a:schemeClr val="tx1"/>
                </a:solidFill>
                <a:latin typeface="Avenir Book" panose="02000503020000020003" pitchFamily="2" charset="0"/>
              </a:rPr>
              <a:t>2. We get the same information from different senses.</a:t>
            </a:r>
          </a:p>
          <a:p>
            <a:pPr marL="0" indent="0">
              <a:lnSpc>
                <a:spcPct val="150000"/>
              </a:lnSpc>
              <a:buNone/>
            </a:pPr>
            <a:r>
              <a:rPr lang="en-US" dirty="0">
                <a:solidFill>
                  <a:schemeClr val="tx1"/>
                </a:solidFill>
                <a:latin typeface="Avenir Book" panose="02000503020000020003" pitchFamily="2" charset="0"/>
              </a:rPr>
              <a:t>3. The complex relation between our actions and perceptions. </a:t>
            </a:r>
          </a:p>
        </p:txBody>
      </p:sp>
      <p:pic>
        <p:nvPicPr>
          <p:cNvPr id="5" name="Picture 4" descr="A hand reaching out to a fire in a fireplace&#10;&#10;Description automatically generated">
            <a:extLst>
              <a:ext uri="{FF2B5EF4-FFF2-40B4-BE49-F238E27FC236}">
                <a16:creationId xmlns:a16="http://schemas.microsoft.com/office/drawing/2014/main" id="{FD01AFFA-DA20-29A7-DC8C-AD39C706E076}"/>
              </a:ext>
            </a:extLst>
          </p:cNvPr>
          <p:cNvPicPr>
            <a:picLocks noChangeAspect="1"/>
          </p:cNvPicPr>
          <p:nvPr/>
        </p:nvPicPr>
        <p:blipFill>
          <a:blip r:embed="rId2"/>
          <a:srcRect t="121" r="2" b="2"/>
          <a:stretch/>
        </p:blipFill>
        <p:spPr>
          <a:xfrm>
            <a:off x="6096000" y="580713"/>
            <a:ext cx="5414304" cy="5407737"/>
          </a:xfrm>
          <a:custGeom>
            <a:avLst/>
            <a:gdLst/>
            <a:ahLst/>
            <a:cxnLst/>
            <a:rect l="l" t="t" r="r" b="b"/>
            <a:pathLst>
              <a:path w="3860171" h="3855489">
                <a:moveTo>
                  <a:pt x="1930086" y="0"/>
                </a:moveTo>
                <a:lnTo>
                  <a:pt x="1967540" y="3511"/>
                </a:lnTo>
                <a:lnTo>
                  <a:pt x="2003824" y="12875"/>
                </a:lnTo>
                <a:lnTo>
                  <a:pt x="2038938" y="26920"/>
                </a:lnTo>
                <a:lnTo>
                  <a:pt x="2075222" y="44477"/>
                </a:lnTo>
                <a:lnTo>
                  <a:pt x="2109166" y="64375"/>
                </a:lnTo>
                <a:lnTo>
                  <a:pt x="2144279" y="85443"/>
                </a:lnTo>
                <a:lnTo>
                  <a:pt x="2179393" y="104171"/>
                </a:lnTo>
                <a:lnTo>
                  <a:pt x="2214507" y="122898"/>
                </a:lnTo>
                <a:lnTo>
                  <a:pt x="2248450" y="136943"/>
                </a:lnTo>
                <a:lnTo>
                  <a:pt x="2285905" y="146307"/>
                </a:lnTo>
                <a:lnTo>
                  <a:pt x="2322189" y="150989"/>
                </a:lnTo>
                <a:lnTo>
                  <a:pt x="2360814" y="150989"/>
                </a:lnTo>
                <a:lnTo>
                  <a:pt x="2400610" y="148648"/>
                </a:lnTo>
                <a:lnTo>
                  <a:pt x="2440405" y="143966"/>
                </a:lnTo>
                <a:lnTo>
                  <a:pt x="2480201" y="138114"/>
                </a:lnTo>
                <a:lnTo>
                  <a:pt x="2519996" y="133432"/>
                </a:lnTo>
                <a:lnTo>
                  <a:pt x="2559792" y="129921"/>
                </a:lnTo>
                <a:lnTo>
                  <a:pt x="2597247" y="131091"/>
                </a:lnTo>
                <a:lnTo>
                  <a:pt x="2633531" y="135773"/>
                </a:lnTo>
                <a:lnTo>
                  <a:pt x="2668644" y="146307"/>
                </a:lnTo>
                <a:lnTo>
                  <a:pt x="2697906" y="161523"/>
                </a:lnTo>
                <a:lnTo>
                  <a:pt x="2725997" y="181421"/>
                </a:lnTo>
                <a:lnTo>
                  <a:pt x="2750577" y="204830"/>
                </a:lnTo>
                <a:lnTo>
                  <a:pt x="2775156" y="231750"/>
                </a:lnTo>
                <a:lnTo>
                  <a:pt x="2797395" y="259841"/>
                </a:lnTo>
                <a:lnTo>
                  <a:pt x="2819634" y="289103"/>
                </a:lnTo>
                <a:lnTo>
                  <a:pt x="2841872" y="318364"/>
                </a:lnTo>
                <a:lnTo>
                  <a:pt x="2864111" y="346455"/>
                </a:lnTo>
                <a:lnTo>
                  <a:pt x="2887520" y="373376"/>
                </a:lnTo>
                <a:lnTo>
                  <a:pt x="2914441" y="396785"/>
                </a:lnTo>
                <a:lnTo>
                  <a:pt x="2940191" y="417853"/>
                </a:lnTo>
                <a:lnTo>
                  <a:pt x="2969452" y="434240"/>
                </a:lnTo>
                <a:lnTo>
                  <a:pt x="3001055" y="448285"/>
                </a:lnTo>
                <a:lnTo>
                  <a:pt x="3034998" y="459990"/>
                </a:lnTo>
                <a:lnTo>
                  <a:pt x="3070112" y="470524"/>
                </a:lnTo>
                <a:lnTo>
                  <a:pt x="3105226" y="479888"/>
                </a:lnTo>
                <a:lnTo>
                  <a:pt x="3141510" y="489251"/>
                </a:lnTo>
                <a:lnTo>
                  <a:pt x="3175453" y="499785"/>
                </a:lnTo>
                <a:lnTo>
                  <a:pt x="3209396" y="511490"/>
                </a:lnTo>
                <a:lnTo>
                  <a:pt x="3240999" y="525535"/>
                </a:lnTo>
                <a:lnTo>
                  <a:pt x="3269090" y="543092"/>
                </a:lnTo>
                <a:lnTo>
                  <a:pt x="3294840" y="564161"/>
                </a:lnTo>
                <a:lnTo>
                  <a:pt x="3315908" y="589911"/>
                </a:lnTo>
                <a:lnTo>
                  <a:pt x="3333465" y="618002"/>
                </a:lnTo>
                <a:lnTo>
                  <a:pt x="3347510" y="649604"/>
                </a:lnTo>
                <a:lnTo>
                  <a:pt x="3359215" y="683547"/>
                </a:lnTo>
                <a:lnTo>
                  <a:pt x="3369749" y="717491"/>
                </a:lnTo>
                <a:lnTo>
                  <a:pt x="3379113" y="753775"/>
                </a:lnTo>
                <a:lnTo>
                  <a:pt x="3388476" y="788889"/>
                </a:lnTo>
                <a:lnTo>
                  <a:pt x="3399010" y="824002"/>
                </a:lnTo>
                <a:lnTo>
                  <a:pt x="3410715" y="857946"/>
                </a:lnTo>
                <a:lnTo>
                  <a:pt x="3424760" y="889548"/>
                </a:lnTo>
                <a:lnTo>
                  <a:pt x="3441147" y="918809"/>
                </a:lnTo>
                <a:lnTo>
                  <a:pt x="3462215" y="944560"/>
                </a:lnTo>
                <a:lnTo>
                  <a:pt x="3485624" y="971480"/>
                </a:lnTo>
                <a:lnTo>
                  <a:pt x="3512545" y="994889"/>
                </a:lnTo>
                <a:lnTo>
                  <a:pt x="3540636" y="1017128"/>
                </a:lnTo>
                <a:lnTo>
                  <a:pt x="3571068" y="1039367"/>
                </a:lnTo>
                <a:lnTo>
                  <a:pt x="3600329" y="1061605"/>
                </a:lnTo>
                <a:lnTo>
                  <a:pt x="3628420" y="1083844"/>
                </a:lnTo>
                <a:lnTo>
                  <a:pt x="3655341" y="1108424"/>
                </a:lnTo>
                <a:lnTo>
                  <a:pt x="3678750" y="1133003"/>
                </a:lnTo>
                <a:lnTo>
                  <a:pt x="3698648" y="1161094"/>
                </a:lnTo>
                <a:lnTo>
                  <a:pt x="3713864" y="1190356"/>
                </a:lnTo>
                <a:lnTo>
                  <a:pt x="3724398" y="1225469"/>
                </a:lnTo>
                <a:lnTo>
                  <a:pt x="3729080" y="1261754"/>
                </a:lnTo>
                <a:lnTo>
                  <a:pt x="3730250" y="1299208"/>
                </a:lnTo>
                <a:lnTo>
                  <a:pt x="3726739" y="1339004"/>
                </a:lnTo>
                <a:lnTo>
                  <a:pt x="3722057" y="1378799"/>
                </a:lnTo>
                <a:lnTo>
                  <a:pt x="3716205" y="1418595"/>
                </a:lnTo>
                <a:lnTo>
                  <a:pt x="3711523" y="1458391"/>
                </a:lnTo>
                <a:lnTo>
                  <a:pt x="3709182" y="1498186"/>
                </a:lnTo>
                <a:lnTo>
                  <a:pt x="3709182" y="1536811"/>
                </a:lnTo>
                <a:lnTo>
                  <a:pt x="3713864" y="1573096"/>
                </a:lnTo>
                <a:lnTo>
                  <a:pt x="3723228" y="1609380"/>
                </a:lnTo>
                <a:lnTo>
                  <a:pt x="3737273" y="1643323"/>
                </a:lnTo>
                <a:lnTo>
                  <a:pt x="3756000" y="1678437"/>
                </a:lnTo>
                <a:lnTo>
                  <a:pt x="3774728" y="1713550"/>
                </a:lnTo>
                <a:lnTo>
                  <a:pt x="3795796" y="1748664"/>
                </a:lnTo>
                <a:lnTo>
                  <a:pt x="3815694" y="1782608"/>
                </a:lnTo>
                <a:lnTo>
                  <a:pt x="3833250" y="1818892"/>
                </a:lnTo>
                <a:lnTo>
                  <a:pt x="3847296" y="1854005"/>
                </a:lnTo>
                <a:lnTo>
                  <a:pt x="3856660" y="1890290"/>
                </a:lnTo>
                <a:lnTo>
                  <a:pt x="3860171" y="1927744"/>
                </a:lnTo>
                <a:lnTo>
                  <a:pt x="3856660" y="1965199"/>
                </a:lnTo>
                <a:lnTo>
                  <a:pt x="3847296" y="2001483"/>
                </a:lnTo>
                <a:lnTo>
                  <a:pt x="3833250" y="2036597"/>
                </a:lnTo>
                <a:lnTo>
                  <a:pt x="3815694" y="2072881"/>
                </a:lnTo>
                <a:lnTo>
                  <a:pt x="3795796" y="2106824"/>
                </a:lnTo>
                <a:lnTo>
                  <a:pt x="3774728" y="2141938"/>
                </a:lnTo>
                <a:lnTo>
                  <a:pt x="3756000" y="2177052"/>
                </a:lnTo>
                <a:lnTo>
                  <a:pt x="3737273" y="2212166"/>
                </a:lnTo>
                <a:lnTo>
                  <a:pt x="3723228" y="2246109"/>
                </a:lnTo>
                <a:lnTo>
                  <a:pt x="3713864" y="2282393"/>
                </a:lnTo>
                <a:lnTo>
                  <a:pt x="3709182" y="2318677"/>
                </a:lnTo>
                <a:lnTo>
                  <a:pt x="3709182" y="2357302"/>
                </a:lnTo>
                <a:lnTo>
                  <a:pt x="3711523" y="2397098"/>
                </a:lnTo>
                <a:lnTo>
                  <a:pt x="3716205" y="2436894"/>
                </a:lnTo>
                <a:lnTo>
                  <a:pt x="3722057" y="2476689"/>
                </a:lnTo>
                <a:lnTo>
                  <a:pt x="3726739" y="2516485"/>
                </a:lnTo>
                <a:lnTo>
                  <a:pt x="3730250" y="2556280"/>
                </a:lnTo>
                <a:lnTo>
                  <a:pt x="3729080" y="2593735"/>
                </a:lnTo>
                <a:lnTo>
                  <a:pt x="3724398" y="2630019"/>
                </a:lnTo>
                <a:lnTo>
                  <a:pt x="3713864" y="2665133"/>
                </a:lnTo>
                <a:lnTo>
                  <a:pt x="3698648" y="2694394"/>
                </a:lnTo>
                <a:lnTo>
                  <a:pt x="3678750" y="2722485"/>
                </a:lnTo>
                <a:lnTo>
                  <a:pt x="3655341" y="2747065"/>
                </a:lnTo>
                <a:lnTo>
                  <a:pt x="3628420" y="2771645"/>
                </a:lnTo>
                <a:lnTo>
                  <a:pt x="3600329" y="2793883"/>
                </a:lnTo>
                <a:lnTo>
                  <a:pt x="3571068" y="2816122"/>
                </a:lnTo>
                <a:lnTo>
                  <a:pt x="3540636" y="2838361"/>
                </a:lnTo>
                <a:lnTo>
                  <a:pt x="3512545" y="2860599"/>
                </a:lnTo>
                <a:lnTo>
                  <a:pt x="3485624" y="2884009"/>
                </a:lnTo>
                <a:lnTo>
                  <a:pt x="3462215" y="2910929"/>
                </a:lnTo>
                <a:lnTo>
                  <a:pt x="3441147" y="2936679"/>
                </a:lnTo>
                <a:lnTo>
                  <a:pt x="3424760" y="2965941"/>
                </a:lnTo>
                <a:lnTo>
                  <a:pt x="3410715" y="2997543"/>
                </a:lnTo>
                <a:lnTo>
                  <a:pt x="3399010" y="3031486"/>
                </a:lnTo>
                <a:lnTo>
                  <a:pt x="3388476" y="3066600"/>
                </a:lnTo>
                <a:lnTo>
                  <a:pt x="3379113" y="3101714"/>
                </a:lnTo>
                <a:lnTo>
                  <a:pt x="3369749" y="3137998"/>
                </a:lnTo>
                <a:lnTo>
                  <a:pt x="3359215" y="3171941"/>
                </a:lnTo>
                <a:lnTo>
                  <a:pt x="3347510" y="3205885"/>
                </a:lnTo>
                <a:lnTo>
                  <a:pt x="3333465" y="3237487"/>
                </a:lnTo>
                <a:lnTo>
                  <a:pt x="3315908" y="3265578"/>
                </a:lnTo>
                <a:lnTo>
                  <a:pt x="3294840" y="3291328"/>
                </a:lnTo>
                <a:lnTo>
                  <a:pt x="3269090" y="3312396"/>
                </a:lnTo>
                <a:lnTo>
                  <a:pt x="3240999" y="3329953"/>
                </a:lnTo>
                <a:lnTo>
                  <a:pt x="3209396" y="3343999"/>
                </a:lnTo>
                <a:lnTo>
                  <a:pt x="3175453" y="3355703"/>
                </a:lnTo>
                <a:lnTo>
                  <a:pt x="3141510" y="3366237"/>
                </a:lnTo>
                <a:lnTo>
                  <a:pt x="3105226" y="3375601"/>
                </a:lnTo>
                <a:lnTo>
                  <a:pt x="3070112" y="3384965"/>
                </a:lnTo>
                <a:lnTo>
                  <a:pt x="3034998" y="3395499"/>
                </a:lnTo>
                <a:lnTo>
                  <a:pt x="3001055" y="3407203"/>
                </a:lnTo>
                <a:lnTo>
                  <a:pt x="2969452" y="3421249"/>
                </a:lnTo>
                <a:lnTo>
                  <a:pt x="2940191" y="3437635"/>
                </a:lnTo>
                <a:lnTo>
                  <a:pt x="2914441" y="3458704"/>
                </a:lnTo>
                <a:lnTo>
                  <a:pt x="2887520" y="3482113"/>
                </a:lnTo>
                <a:lnTo>
                  <a:pt x="2864111" y="3509033"/>
                </a:lnTo>
                <a:lnTo>
                  <a:pt x="2841872" y="3537124"/>
                </a:lnTo>
                <a:lnTo>
                  <a:pt x="2819634" y="3566386"/>
                </a:lnTo>
                <a:lnTo>
                  <a:pt x="2797395" y="3595647"/>
                </a:lnTo>
                <a:lnTo>
                  <a:pt x="2775156" y="3623738"/>
                </a:lnTo>
                <a:lnTo>
                  <a:pt x="2750577" y="3650659"/>
                </a:lnTo>
                <a:lnTo>
                  <a:pt x="2725997" y="3674068"/>
                </a:lnTo>
                <a:lnTo>
                  <a:pt x="2697906" y="3693966"/>
                </a:lnTo>
                <a:lnTo>
                  <a:pt x="2668644" y="3709182"/>
                </a:lnTo>
                <a:lnTo>
                  <a:pt x="2633531" y="3719716"/>
                </a:lnTo>
                <a:lnTo>
                  <a:pt x="2597247" y="3724398"/>
                </a:lnTo>
                <a:lnTo>
                  <a:pt x="2559792" y="3725568"/>
                </a:lnTo>
                <a:lnTo>
                  <a:pt x="2519996" y="3722057"/>
                </a:lnTo>
                <a:lnTo>
                  <a:pt x="2480201" y="3717375"/>
                </a:lnTo>
                <a:lnTo>
                  <a:pt x="2440405" y="3711523"/>
                </a:lnTo>
                <a:lnTo>
                  <a:pt x="2400610" y="3706841"/>
                </a:lnTo>
                <a:lnTo>
                  <a:pt x="2360814" y="3704500"/>
                </a:lnTo>
                <a:lnTo>
                  <a:pt x="2322189" y="3704500"/>
                </a:lnTo>
                <a:lnTo>
                  <a:pt x="2285905" y="3709182"/>
                </a:lnTo>
                <a:lnTo>
                  <a:pt x="2248450" y="3718545"/>
                </a:lnTo>
                <a:lnTo>
                  <a:pt x="2214507" y="3732591"/>
                </a:lnTo>
                <a:lnTo>
                  <a:pt x="2179393" y="3751318"/>
                </a:lnTo>
                <a:lnTo>
                  <a:pt x="2144279" y="3770045"/>
                </a:lnTo>
                <a:lnTo>
                  <a:pt x="2109166" y="3791114"/>
                </a:lnTo>
                <a:lnTo>
                  <a:pt x="2075222" y="3811011"/>
                </a:lnTo>
                <a:lnTo>
                  <a:pt x="2038938" y="3828568"/>
                </a:lnTo>
                <a:lnTo>
                  <a:pt x="2003824" y="3842614"/>
                </a:lnTo>
                <a:lnTo>
                  <a:pt x="1967540" y="3851978"/>
                </a:lnTo>
                <a:lnTo>
                  <a:pt x="1930086" y="3855489"/>
                </a:lnTo>
                <a:lnTo>
                  <a:pt x="1892631" y="3851978"/>
                </a:lnTo>
                <a:lnTo>
                  <a:pt x="1856347" y="3842614"/>
                </a:lnTo>
                <a:lnTo>
                  <a:pt x="1821233" y="3828568"/>
                </a:lnTo>
                <a:lnTo>
                  <a:pt x="1784949" y="3811011"/>
                </a:lnTo>
                <a:lnTo>
                  <a:pt x="1751005" y="3791114"/>
                </a:lnTo>
                <a:lnTo>
                  <a:pt x="1715892" y="3770045"/>
                </a:lnTo>
                <a:lnTo>
                  <a:pt x="1680778" y="3751318"/>
                </a:lnTo>
                <a:lnTo>
                  <a:pt x="1645664" y="3732591"/>
                </a:lnTo>
                <a:lnTo>
                  <a:pt x="1610550" y="3718545"/>
                </a:lnTo>
                <a:lnTo>
                  <a:pt x="1574266" y="3709182"/>
                </a:lnTo>
                <a:lnTo>
                  <a:pt x="1537982" y="3704500"/>
                </a:lnTo>
                <a:lnTo>
                  <a:pt x="1499357" y="3704500"/>
                </a:lnTo>
                <a:lnTo>
                  <a:pt x="1459561" y="3706841"/>
                </a:lnTo>
                <a:lnTo>
                  <a:pt x="1419766" y="3711523"/>
                </a:lnTo>
                <a:lnTo>
                  <a:pt x="1379970" y="3717375"/>
                </a:lnTo>
                <a:lnTo>
                  <a:pt x="1340175" y="3722057"/>
                </a:lnTo>
                <a:lnTo>
                  <a:pt x="1300379" y="3725568"/>
                </a:lnTo>
                <a:lnTo>
                  <a:pt x="1262924" y="3724398"/>
                </a:lnTo>
                <a:lnTo>
                  <a:pt x="1226640" y="3719716"/>
                </a:lnTo>
                <a:lnTo>
                  <a:pt x="1191526" y="3709182"/>
                </a:lnTo>
                <a:lnTo>
                  <a:pt x="1162265" y="3693966"/>
                </a:lnTo>
                <a:lnTo>
                  <a:pt x="1134174" y="3674068"/>
                </a:lnTo>
                <a:lnTo>
                  <a:pt x="1109594" y="3650659"/>
                </a:lnTo>
                <a:lnTo>
                  <a:pt x="1085015" y="3623738"/>
                </a:lnTo>
                <a:lnTo>
                  <a:pt x="1062776" y="3595647"/>
                </a:lnTo>
                <a:lnTo>
                  <a:pt x="1040537" y="3566386"/>
                </a:lnTo>
                <a:lnTo>
                  <a:pt x="1018299" y="3537124"/>
                </a:lnTo>
                <a:lnTo>
                  <a:pt x="996060" y="3509033"/>
                </a:lnTo>
                <a:lnTo>
                  <a:pt x="972651" y="3482113"/>
                </a:lnTo>
                <a:lnTo>
                  <a:pt x="945730" y="3458704"/>
                </a:lnTo>
                <a:lnTo>
                  <a:pt x="919980" y="3437635"/>
                </a:lnTo>
                <a:lnTo>
                  <a:pt x="890719" y="3421249"/>
                </a:lnTo>
                <a:lnTo>
                  <a:pt x="859116" y="3407203"/>
                </a:lnTo>
                <a:lnTo>
                  <a:pt x="825173" y="3395499"/>
                </a:lnTo>
                <a:lnTo>
                  <a:pt x="790059" y="3384965"/>
                </a:lnTo>
                <a:lnTo>
                  <a:pt x="754946" y="3375601"/>
                </a:lnTo>
                <a:lnTo>
                  <a:pt x="718662" y="3366237"/>
                </a:lnTo>
                <a:lnTo>
                  <a:pt x="684718" y="3355703"/>
                </a:lnTo>
                <a:lnTo>
                  <a:pt x="650775" y="3343999"/>
                </a:lnTo>
                <a:lnTo>
                  <a:pt x="619173" y="3329953"/>
                </a:lnTo>
                <a:lnTo>
                  <a:pt x="591082" y="3312396"/>
                </a:lnTo>
                <a:lnTo>
                  <a:pt x="565332" y="3291328"/>
                </a:lnTo>
                <a:lnTo>
                  <a:pt x="544263" y="3265578"/>
                </a:lnTo>
                <a:lnTo>
                  <a:pt x="526706" y="3237487"/>
                </a:lnTo>
                <a:lnTo>
                  <a:pt x="512661" y="3205885"/>
                </a:lnTo>
                <a:lnTo>
                  <a:pt x="500956" y="3171941"/>
                </a:lnTo>
                <a:lnTo>
                  <a:pt x="490422" y="3137998"/>
                </a:lnTo>
                <a:lnTo>
                  <a:pt x="481059" y="3101714"/>
                </a:lnTo>
                <a:lnTo>
                  <a:pt x="471695" y="3066600"/>
                </a:lnTo>
                <a:lnTo>
                  <a:pt x="461161" y="3031486"/>
                </a:lnTo>
                <a:lnTo>
                  <a:pt x="449456" y="2997543"/>
                </a:lnTo>
                <a:lnTo>
                  <a:pt x="435411" y="2965941"/>
                </a:lnTo>
                <a:lnTo>
                  <a:pt x="419024" y="2936679"/>
                </a:lnTo>
                <a:lnTo>
                  <a:pt x="397956" y="2910929"/>
                </a:lnTo>
                <a:lnTo>
                  <a:pt x="374547" y="2884009"/>
                </a:lnTo>
                <a:lnTo>
                  <a:pt x="347626" y="2860599"/>
                </a:lnTo>
                <a:lnTo>
                  <a:pt x="318365" y="2838361"/>
                </a:lnTo>
                <a:lnTo>
                  <a:pt x="289103" y="2816122"/>
                </a:lnTo>
                <a:lnTo>
                  <a:pt x="259842" y="2793883"/>
                </a:lnTo>
                <a:lnTo>
                  <a:pt x="231751" y="2771645"/>
                </a:lnTo>
                <a:lnTo>
                  <a:pt x="204830" y="2747065"/>
                </a:lnTo>
                <a:lnTo>
                  <a:pt x="181421" y="2722485"/>
                </a:lnTo>
                <a:lnTo>
                  <a:pt x="161523" y="2694394"/>
                </a:lnTo>
                <a:lnTo>
                  <a:pt x="146308" y="2665133"/>
                </a:lnTo>
                <a:lnTo>
                  <a:pt x="135773" y="2630019"/>
                </a:lnTo>
                <a:lnTo>
                  <a:pt x="131092" y="2593735"/>
                </a:lnTo>
                <a:lnTo>
                  <a:pt x="129921" y="2556280"/>
                </a:lnTo>
                <a:lnTo>
                  <a:pt x="133432" y="2516485"/>
                </a:lnTo>
                <a:lnTo>
                  <a:pt x="138114" y="2476689"/>
                </a:lnTo>
                <a:lnTo>
                  <a:pt x="143967" y="2436894"/>
                </a:lnTo>
                <a:lnTo>
                  <a:pt x="148648" y="2397098"/>
                </a:lnTo>
                <a:lnTo>
                  <a:pt x="150989" y="2357302"/>
                </a:lnTo>
                <a:lnTo>
                  <a:pt x="150989" y="2318677"/>
                </a:lnTo>
                <a:lnTo>
                  <a:pt x="146308" y="2282393"/>
                </a:lnTo>
                <a:lnTo>
                  <a:pt x="136944" y="2246109"/>
                </a:lnTo>
                <a:lnTo>
                  <a:pt x="122898" y="2212166"/>
                </a:lnTo>
                <a:lnTo>
                  <a:pt x="105341" y="2177052"/>
                </a:lnTo>
                <a:lnTo>
                  <a:pt x="85444" y="2141938"/>
                </a:lnTo>
                <a:lnTo>
                  <a:pt x="64375" y="2106824"/>
                </a:lnTo>
                <a:lnTo>
                  <a:pt x="44478" y="2072881"/>
                </a:lnTo>
                <a:lnTo>
                  <a:pt x="26921" y="2036597"/>
                </a:lnTo>
                <a:lnTo>
                  <a:pt x="12875" y="2001483"/>
                </a:lnTo>
                <a:lnTo>
                  <a:pt x="3512" y="1965199"/>
                </a:lnTo>
                <a:lnTo>
                  <a:pt x="0" y="1927744"/>
                </a:lnTo>
                <a:lnTo>
                  <a:pt x="3512" y="1890290"/>
                </a:lnTo>
                <a:lnTo>
                  <a:pt x="12875" y="1854005"/>
                </a:lnTo>
                <a:lnTo>
                  <a:pt x="26921" y="1818892"/>
                </a:lnTo>
                <a:lnTo>
                  <a:pt x="44478" y="1782608"/>
                </a:lnTo>
                <a:lnTo>
                  <a:pt x="64375" y="1748664"/>
                </a:lnTo>
                <a:lnTo>
                  <a:pt x="85444" y="1713550"/>
                </a:lnTo>
                <a:lnTo>
                  <a:pt x="105341" y="1678437"/>
                </a:lnTo>
                <a:lnTo>
                  <a:pt x="122898" y="1643323"/>
                </a:lnTo>
                <a:lnTo>
                  <a:pt x="136944" y="1609380"/>
                </a:lnTo>
                <a:lnTo>
                  <a:pt x="146308" y="1573096"/>
                </a:lnTo>
                <a:lnTo>
                  <a:pt x="150989" y="1536811"/>
                </a:lnTo>
                <a:lnTo>
                  <a:pt x="150989" y="1498186"/>
                </a:lnTo>
                <a:lnTo>
                  <a:pt x="148648" y="1458391"/>
                </a:lnTo>
                <a:lnTo>
                  <a:pt x="143967" y="1418595"/>
                </a:lnTo>
                <a:lnTo>
                  <a:pt x="138114" y="1378799"/>
                </a:lnTo>
                <a:lnTo>
                  <a:pt x="133432" y="1339004"/>
                </a:lnTo>
                <a:lnTo>
                  <a:pt x="129921" y="1299208"/>
                </a:lnTo>
                <a:lnTo>
                  <a:pt x="131092" y="1261754"/>
                </a:lnTo>
                <a:lnTo>
                  <a:pt x="135773" y="1225469"/>
                </a:lnTo>
                <a:lnTo>
                  <a:pt x="146308" y="1190356"/>
                </a:lnTo>
                <a:lnTo>
                  <a:pt x="161523" y="1161094"/>
                </a:lnTo>
                <a:lnTo>
                  <a:pt x="181421" y="1133003"/>
                </a:lnTo>
                <a:lnTo>
                  <a:pt x="204830" y="1108424"/>
                </a:lnTo>
                <a:lnTo>
                  <a:pt x="231751" y="1083844"/>
                </a:lnTo>
                <a:lnTo>
                  <a:pt x="259842" y="1061605"/>
                </a:lnTo>
                <a:lnTo>
                  <a:pt x="289103" y="1039367"/>
                </a:lnTo>
                <a:lnTo>
                  <a:pt x="318365" y="1017128"/>
                </a:lnTo>
                <a:lnTo>
                  <a:pt x="347626" y="994889"/>
                </a:lnTo>
                <a:lnTo>
                  <a:pt x="374547" y="971480"/>
                </a:lnTo>
                <a:lnTo>
                  <a:pt x="397956" y="944560"/>
                </a:lnTo>
                <a:lnTo>
                  <a:pt x="419024" y="918809"/>
                </a:lnTo>
                <a:lnTo>
                  <a:pt x="435411" y="889548"/>
                </a:lnTo>
                <a:lnTo>
                  <a:pt x="449456" y="857946"/>
                </a:lnTo>
                <a:lnTo>
                  <a:pt x="461161" y="824002"/>
                </a:lnTo>
                <a:lnTo>
                  <a:pt x="471695" y="788889"/>
                </a:lnTo>
                <a:lnTo>
                  <a:pt x="481059" y="753775"/>
                </a:lnTo>
                <a:lnTo>
                  <a:pt x="490422" y="717491"/>
                </a:lnTo>
                <a:lnTo>
                  <a:pt x="500956" y="683547"/>
                </a:lnTo>
                <a:lnTo>
                  <a:pt x="512661" y="649604"/>
                </a:lnTo>
                <a:lnTo>
                  <a:pt x="526706" y="618002"/>
                </a:lnTo>
                <a:lnTo>
                  <a:pt x="544263" y="589911"/>
                </a:lnTo>
                <a:lnTo>
                  <a:pt x="565332" y="564161"/>
                </a:lnTo>
                <a:lnTo>
                  <a:pt x="591082" y="543092"/>
                </a:lnTo>
                <a:lnTo>
                  <a:pt x="619173" y="525535"/>
                </a:lnTo>
                <a:lnTo>
                  <a:pt x="650775" y="511490"/>
                </a:lnTo>
                <a:lnTo>
                  <a:pt x="684718" y="499785"/>
                </a:lnTo>
                <a:lnTo>
                  <a:pt x="718662" y="489251"/>
                </a:lnTo>
                <a:lnTo>
                  <a:pt x="754946" y="479888"/>
                </a:lnTo>
                <a:lnTo>
                  <a:pt x="790059" y="470524"/>
                </a:lnTo>
                <a:lnTo>
                  <a:pt x="825173" y="459990"/>
                </a:lnTo>
                <a:lnTo>
                  <a:pt x="859116" y="448285"/>
                </a:lnTo>
                <a:lnTo>
                  <a:pt x="890719" y="434240"/>
                </a:lnTo>
                <a:lnTo>
                  <a:pt x="919980" y="417853"/>
                </a:lnTo>
                <a:lnTo>
                  <a:pt x="945730" y="396785"/>
                </a:lnTo>
                <a:lnTo>
                  <a:pt x="972651" y="373376"/>
                </a:lnTo>
                <a:lnTo>
                  <a:pt x="996060" y="346455"/>
                </a:lnTo>
                <a:lnTo>
                  <a:pt x="1018299" y="318364"/>
                </a:lnTo>
                <a:lnTo>
                  <a:pt x="1040537" y="289103"/>
                </a:lnTo>
                <a:lnTo>
                  <a:pt x="1062776" y="259841"/>
                </a:lnTo>
                <a:lnTo>
                  <a:pt x="1085015" y="231750"/>
                </a:lnTo>
                <a:lnTo>
                  <a:pt x="1109594" y="204830"/>
                </a:lnTo>
                <a:lnTo>
                  <a:pt x="1134174" y="181421"/>
                </a:lnTo>
                <a:lnTo>
                  <a:pt x="1162265" y="161523"/>
                </a:lnTo>
                <a:lnTo>
                  <a:pt x="1191526" y="146307"/>
                </a:lnTo>
                <a:lnTo>
                  <a:pt x="1226640" y="135773"/>
                </a:lnTo>
                <a:lnTo>
                  <a:pt x="1262924" y="131091"/>
                </a:lnTo>
                <a:lnTo>
                  <a:pt x="1300379" y="129921"/>
                </a:lnTo>
                <a:lnTo>
                  <a:pt x="1340175" y="133432"/>
                </a:lnTo>
                <a:lnTo>
                  <a:pt x="1379970" y="138114"/>
                </a:lnTo>
                <a:lnTo>
                  <a:pt x="1419766" y="143966"/>
                </a:lnTo>
                <a:lnTo>
                  <a:pt x="1459561" y="148648"/>
                </a:lnTo>
                <a:lnTo>
                  <a:pt x="1499357" y="150989"/>
                </a:lnTo>
                <a:lnTo>
                  <a:pt x="1537982" y="150989"/>
                </a:lnTo>
                <a:lnTo>
                  <a:pt x="1574266" y="146307"/>
                </a:lnTo>
                <a:lnTo>
                  <a:pt x="1610550" y="136943"/>
                </a:lnTo>
                <a:lnTo>
                  <a:pt x="1645664" y="122898"/>
                </a:lnTo>
                <a:lnTo>
                  <a:pt x="1680778" y="104171"/>
                </a:lnTo>
                <a:lnTo>
                  <a:pt x="1715892" y="85443"/>
                </a:lnTo>
                <a:lnTo>
                  <a:pt x="1751005" y="64375"/>
                </a:lnTo>
                <a:lnTo>
                  <a:pt x="1784949" y="44477"/>
                </a:lnTo>
                <a:lnTo>
                  <a:pt x="1821233" y="26920"/>
                </a:lnTo>
                <a:lnTo>
                  <a:pt x="1856347" y="12875"/>
                </a:lnTo>
                <a:lnTo>
                  <a:pt x="1892631" y="3511"/>
                </a:lnTo>
                <a:close/>
              </a:path>
            </a:pathLst>
          </a:custGeom>
        </p:spPr>
      </p:pic>
    </p:spTree>
    <p:extLst>
      <p:ext uri="{BB962C8B-B14F-4D97-AF65-F5344CB8AC3E}">
        <p14:creationId xmlns:p14="http://schemas.microsoft.com/office/powerpoint/2010/main" val="3361060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additive="base">
                                        <p:cTn id="19"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 calcmode="lin" valueType="num">
                                      <p:cBhvr additive="base">
                                        <p:cTn id="25"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 calcmode="lin" valueType="num">
                                      <p:cBhvr additive="base">
                                        <p:cTn id="3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 calcmode="lin" valueType="num">
                                      <p:cBhvr additive="base">
                                        <p:cTn id="3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9741B-E62E-A89E-69A1-1464CF36E266}"/>
              </a:ext>
            </a:extLst>
          </p:cNvPr>
          <p:cNvSpPr>
            <a:spLocks noGrp="1"/>
          </p:cNvSpPr>
          <p:nvPr>
            <p:ph type="title"/>
          </p:nvPr>
        </p:nvSpPr>
        <p:spPr/>
        <p:txBody>
          <a:bodyPr>
            <a:normAutofit/>
          </a:bodyPr>
          <a:lstStyle/>
          <a:p>
            <a:r>
              <a:rPr lang="en-US" sz="4000" dirty="0">
                <a:latin typeface="Avenir Book" panose="02000503020000020003" pitchFamily="2" charset="0"/>
              </a:rPr>
              <a:t>The direct realist can claim that we need more…</a:t>
            </a:r>
          </a:p>
        </p:txBody>
      </p:sp>
      <p:sp>
        <p:nvSpPr>
          <p:cNvPr id="3" name="Content Placeholder 2">
            <a:extLst>
              <a:ext uri="{FF2B5EF4-FFF2-40B4-BE49-F238E27FC236}">
                <a16:creationId xmlns:a16="http://schemas.microsoft.com/office/drawing/2014/main" id="{8A118FA2-0C37-AFD3-7253-13F5D8D8607F}"/>
              </a:ext>
            </a:extLst>
          </p:cNvPr>
          <p:cNvSpPr>
            <a:spLocks noGrp="1"/>
          </p:cNvSpPr>
          <p:nvPr>
            <p:ph idx="1"/>
          </p:nvPr>
        </p:nvSpPr>
        <p:spPr>
          <a:xfrm>
            <a:off x="1251678" y="2051857"/>
            <a:ext cx="6010359" cy="3827736"/>
          </a:xfrm>
        </p:spPr>
        <p:txBody>
          <a:bodyPr>
            <a:noAutofit/>
          </a:bodyPr>
          <a:lstStyle/>
          <a:p>
            <a:pPr algn="just">
              <a:lnSpc>
                <a:spcPct val="150000"/>
              </a:lnSpc>
            </a:pPr>
            <a:r>
              <a:rPr lang="en-US" sz="2400" dirty="0">
                <a:solidFill>
                  <a:schemeClr val="tx1"/>
                </a:solidFill>
                <a:latin typeface="Avenir Book" panose="02000503020000020003" pitchFamily="2" charset="0"/>
              </a:rPr>
              <a:t>The direct realist thinks that the external world is more than a hypothesis but </a:t>
            </a:r>
            <a:r>
              <a:rPr lang="en-US" sz="2400" i="1" dirty="0">
                <a:solidFill>
                  <a:schemeClr val="tx1"/>
                </a:solidFill>
                <a:latin typeface="Avenir Book" panose="02000503020000020003" pitchFamily="2" charset="0"/>
              </a:rPr>
              <a:t>is known for certain. </a:t>
            </a:r>
          </a:p>
          <a:p>
            <a:pPr algn="just">
              <a:lnSpc>
                <a:spcPct val="150000"/>
              </a:lnSpc>
            </a:pPr>
            <a:r>
              <a:rPr lang="en-US" sz="2400" dirty="0" err="1">
                <a:solidFill>
                  <a:schemeClr val="tx1"/>
                </a:solidFill>
                <a:latin typeface="Avenir Book" panose="02000503020000020003" pitchFamily="2" charset="0"/>
              </a:rPr>
              <a:t>G.E.Moore</a:t>
            </a:r>
            <a:r>
              <a:rPr lang="en-US" sz="2400" dirty="0">
                <a:solidFill>
                  <a:schemeClr val="tx1"/>
                </a:solidFill>
                <a:latin typeface="Avenir Book" panose="02000503020000020003" pitchFamily="2" charset="0"/>
              </a:rPr>
              <a:t> thought he proved the existence of the external world lifting his hands up in turn and saying ‘this is one hand and this is another’. </a:t>
            </a:r>
          </a:p>
        </p:txBody>
      </p:sp>
      <p:pic>
        <p:nvPicPr>
          <p:cNvPr id="6" name="Picture 5" descr="A person with glasses and a tie holding his hands up&#10;&#10;Description automatically generated">
            <a:extLst>
              <a:ext uri="{FF2B5EF4-FFF2-40B4-BE49-F238E27FC236}">
                <a16:creationId xmlns:a16="http://schemas.microsoft.com/office/drawing/2014/main" id="{4CF2CEA8-FDF2-2D31-2480-6B7D5FB45E7C}"/>
              </a:ext>
            </a:extLst>
          </p:cNvPr>
          <p:cNvPicPr>
            <a:picLocks noChangeAspect="1"/>
          </p:cNvPicPr>
          <p:nvPr/>
        </p:nvPicPr>
        <p:blipFill>
          <a:blip r:embed="rId2"/>
          <a:stretch>
            <a:fillRect/>
          </a:stretch>
        </p:blipFill>
        <p:spPr>
          <a:xfrm>
            <a:off x="7502235" y="2051856"/>
            <a:ext cx="4336473" cy="4336473"/>
          </a:xfrm>
          <a:prstGeom prst="rect">
            <a:avLst/>
          </a:prstGeom>
        </p:spPr>
      </p:pic>
    </p:spTree>
    <p:extLst>
      <p:ext uri="{BB962C8B-B14F-4D97-AF65-F5344CB8AC3E}">
        <p14:creationId xmlns:p14="http://schemas.microsoft.com/office/powerpoint/2010/main" val="186861352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additive="base">
                                        <p:cTn id="19"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 calcmode="lin" valueType="num">
                                      <p:cBhvr additive="base">
                                        <p:cTn id="25"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C2CEB-8523-E590-C300-27B4228C6B16}"/>
              </a:ext>
            </a:extLst>
          </p:cNvPr>
          <p:cNvSpPr>
            <a:spLocks noGrp="1"/>
          </p:cNvSpPr>
          <p:nvPr>
            <p:ph type="title"/>
          </p:nvPr>
        </p:nvSpPr>
        <p:spPr>
          <a:xfrm>
            <a:off x="1251678" y="754911"/>
            <a:ext cx="10178322" cy="1119605"/>
          </a:xfrm>
        </p:spPr>
        <p:txBody>
          <a:bodyPr>
            <a:normAutofit/>
          </a:bodyPr>
          <a:lstStyle/>
          <a:p>
            <a:r>
              <a:rPr lang="en-US" sz="4000" dirty="0">
                <a:latin typeface="Avenir Book" panose="02000503020000020003" pitchFamily="2" charset="0"/>
              </a:rPr>
              <a:t>The problem of representation</a:t>
            </a:r>
          </a:p>
        </p:txBody>
      </p:sp>
      <p:sp>
        <p:nvSpPr>
          <p:cNvPr id="3" name="Content Placeholder 2">
            <a:extLst>
              <a:ext uri="{FF2B5EF4-FFF2-40B4-BE49-F238E27FC236}">
                <a16:creationId xmlns:a16="http://schemas.microsoft.com/office/drawing/2014/main" id="{D8AB1AEE-A580-B65A-00B5-F6441E8DF134}"/>
              </a:ext>
            </a:extLst>
          </p:cNvPr>
          <p:cNvSpPr>
            <a:spLocks noGrp="1"/>
          </p:cNvSpPr>
          <p:nvPr>
            <p:ph idx="1"/>
          </p:nvPr>
        </p:nvSpPr>
        <p:spPr>
          <a:xfrm>
            <a:off x="1251678" y="1977657"/>
            <a:ext cx="10178322" cy="3901936"/>
          </a:xfrm>
        </p:spPr>
        <p:txBody>
          <a:bodyPr>
            <a:normAutofit/>
          </a:bodyPr>
          <a:lstStyle/>
          <a:p>
            <a:pPr marL="0" indent="0" algn="just">
              <a:lnSpc>
                <a:spcPct val="150000"/>
              </a:lnSpc>
              <a:buNone/>
            </a:pPr>
            <a:r>
              <a:rPr lang="en-US" sz="2800" dirty="0">
                <a:solidFill>
                  <a:schemeClr val="tx1"/>
                </a:solidFill>
                <a:latin typeface="Avenir Book" panose="02000503020000020003" pitchFamily="2" charset="0"/>
              </a:rPr>
              <a:t>If sense-data are in the mind, then they are probably chemical and biological events in the brain. The question becomes </a:t>
            </a:r>
            <a:r>
              <a:rPr lang="en-US" sz="2800" i="1" dirty="0">
                <a:solidFill>
                  <a:schemeClr val="tx1"/>
                </a:solidFill>
                <a:latin typeface="Avenir Book" panose="02000503020000020003" pitchFamily="2" charset="0"/>
              </a:rPr>
              <a:t>how </a:t>
            </a:r>
            <a:r>
              <a:rPr lang="en-US" sz="2800" dirty="0">
                <a:solidFill>
                  <a:schemeClr val="tx1"/>
                </a:solidFill>
                <a:latin typeface="Avenir Book" panose="02000503020000020003" pitchFamily="2" charset="0"/>
              </a:rPr>
              <a:t>a biological and chemical event in the brain can </a:t>
            </a:r>
            <a:r>
              <a:rPr lang="en-US" sz="2800" i="1" dirty="0">
                <a:solidFill>
                  <a:schemeClr val="tx1"/>
                </a:solidFill>
                <a:latin typeface="Avenir Book" panose="02000503020000020003" pitchFamily="2" charset="0"/>
              </a:rPr>
              <a:t>match up and represent</a:t>
            </a:r>
            <a:r>
              <a:rPr lang="en-US" sz="2800" dirty="0">
                <a:solidFill>
                  <a:schemeClr val="tx1"/>
                </a:solidFill>
                <a:latin typeface="Avenir Book" panose="02000503020000020003" pitchFamily="2" charset="0"/>
              </a:rPr>
              <a:t>  a non biological and physical thing in the world. </a:t>
            </a:r>
            <a:r>
              <a:rPr lang="en-US" sz="2800" i="1" dirty="0">
                <a:solidFill>
                  <a:schemeClr val="tx1"/>
                </a:solidFill>
                <a:latin typeface="Avenir Book" panose="02000503020000020003" pitchFamily="2" charset="0"/>
              </a:rPr>
              <a:t>How</a:t>
            </a:r>
            <a:r>
              <a:rPr lang="en-US" sz="2800" dirty="0">
                <a:solidFill>
                  <a:schemeClr val="tx1"/>
                </a:solidFill>
                <a:latin typeface="Avenir Book" panose="02000503020000020003" pitchFamily="2" charset="0"/>
              </a:rPr>
              <a:t> does sense data represent objects? That seems impossible. </a:t>
            </a:r>
          </a:p>
        </p:txBody>
      </p:sp>
    </p:spTree>
    <p:extLst>
      <p:ext uri="{BB962C8B-B14F-4D97-AF65-F5344CB8AC3E}">
        <p14:creationId xmlns:p14="http://schemas.microsoft.com/office/powerpoint/2010/main" val="237603159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C2CEB-8523-E590-C300-27B4228C6B16}"/>
              </a:ext>
            </a:extLst>
          </p:cNvPr>
          <p:cNvSpPr>
            <a:spLocks noGrp="1"/>
          </p:cNvSpPr>
          <p:nvPr>
            <p:ph type="title"/>
          </p:nvPr>
        </p:nvSpPr>
        <p:spPr>
          <a:xfrm>
            <a:off x="1251678" y="754911"/>
            <a:ext cx="10178322" cy="1119605"/>
          </a:xfrm>
        </p:spPr>
        <p:txBody>
          <a:bodyPr>
            <a:normAutofit/>
          </a:bodyPr>
          <a:lstStyle/>
          <a:p>
            <a:r>
              <a:rPr lang="en-US" sz="4000" dirty="0">
                <a:latin typeface="Avenir Book" panose="02000503020000020003" pitchFamily="2" charset="0"/>
              </a:rPr>
              <a:t>The problem of representation</a:t>
            </a:r>
          </a:p>
        </p:txBody>
      </p:sp>
      <p:pic>
        <p:nvPicPr>
          <p:cNvPr id="7" name="Content Placeholder 6" descr="A tree with many branches&#10;&#10;Description automatically generated">
            <a:extLst>
              <a:ext uri="{FF2B5EF4-FFF2-40B4-BE49-F238E27FC236}">
                <a16:creationId xmlns:a16="http://schemas.microsoft.com/office/drawing/2014/main" id="{9C627536-ADCC-6E65-AF05-7B5E097A558A}"/>
              </a:ext>
            </a:extLst>
          </p:cNvPr>
          <p:cNvPicPr>
            <a:picLocks noGrp="1" noChangeAspect="1"/>
          </p:cNvPicPr>
          <p:nvPr>
            <p:ph idx="1"/>
          </p:nvPr>
        </p:nvPicPr>
        <p:blipFill>
          <a:blip r:embed="rId2"/>
          <a:stretch>
            <a:fillRect/>
          </a:stretch>
        </p:blipFill>
        <p:spPr>
          <a:xfrm>
            <a:off x="1251678" y="2018221"/>
            <a:ext cx="3500431" cy="3500431"/>
          </a:xfrm>
        </p:spPr>
      </p:pic>
      <p:pic>
        <p:nvPicPr>
          <p:cNvPr id="5" name="Picture 4" descr="A brain with colorful lights&#10;&#10;Description automatically generated">
            <a:extLst>
              <a:ext uri="{FF2B5EF4-FFF2-40B4-BE49-F238E27FC236}">
                <a16:creationId xmlns:a16="http://schemas.microsoft.com/office/drawing/2014/main" id="{4E6B43FB-8B22-C9E8-058F-1B1A8B95E34C}"/>
              </a:ext>
            </a:extLst>
          </p:cNvPr>
          <p:cNvPicPr>
            <a:picLocks noChangeAspect="1"/>
          </p:cNvPicPr>
          <p:nvPr/>
        </p:nvPicPr>
        <p:blipFill>
          <a:blip r:embed="rId3"/>
          <a:stretch>
            <a:fillRect/>
          </a:stretch>
        </p:blipFill>
        <p:spPr>
          <a:xfrm>
            <a:off x="8252540" y="2032444"/>
            <a:ext cx="3500431" cy="3500431"/>
          </a:xfrm>
          <a:prstGeom prst="rect">
            <a:avLst/>
          </a:prstGeom>
        </p:spPr>
      </p:pic>
      <p:graphicFrame>
        <p:nvGraphicFramePr>
          <p:cNvPr id="8" name="Diagram 7">
            <a:extLst>
              <a:ext uri="{FF2B5EF4-FFF2-40B4-BE49-F238E27FC236}">
                <a16:creationId xmlns:a16="http://schemas.microsoft.com/office/drawing/2014/main" id="{DF0045FA-8756-769E-403B-DD76AFF356CA}"/>
              </a:ext>
            </a:extLst>
          </p:cNvPr>
          <p:cNvGraphicFramePr/>
          <p:nvPr>
            <p:extLst>
              <p:ext uri="{D42A27DB-BD31-4B8C-83A1-F6EECF244321}">
                <p14:modId xmlns:p14="http://schemas.microsoft.com/office/powerpoint/2010/main" val="1527587697"/>
              </p:ext>
            </p:extLst>
          </p:nvPr>
        </p:nvGraphicFramePr>
        <p:xfrm>
          <a:off x="4752109" y="2581835"/>
          <a:ext cx="3804415" cy="24016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9" name="TextBox 8">
            <a:extLst>
              <a:ext uri="{FF2B5EF4-FFF2-40B4-BE49-F238E27FC236}">
                <a16:creationId xmlns:a16="http://schemas.microsoft.com/office/drawing/2014/main" id="{DF7DA8A0-0930-EC57-B16B-09CEB413D505}"/>
              </a:ext>
            </a:extLst>
          </p:cNvPr>
          <p:cNvSpPr txBox="1"/>
          <p:nvPr/>
        </p:nvSpPr>
        <p:spPr>
          <a:xfrm>
            <a:off x="7411831" y="5779923"/>
            <a:ext cx="4262718" cy="646331"/>
          </a:xfrm>
          <a:prstGeom prst="rect">
            <a:avLst/>
          </a:prstGeom>
          <a:noFill/>
        </p:spPr>
        <p:txBody>
          <a:bodyPr wrap="square" rtlCol="0">
            <a:spAutoFit/>
          </a:bodyPr>
          <a:lstStyle/>
          <a:p>
            <a:r>
              <a:rPr lang="en-US" dirty="0">
                <a:latin typeface="Avenir Book" panose="02000503020000020003" pitchFamily="2" charset="0"/>
              </a:rPr>
              <a:t>How do biochemical events in the brain represent the external world? </a:t>
            </a:r>
          </a:p>
        </p:txBody>
      </p:sp>
      <p:cxnSp>
        <p:nvCxnSpPr>
          <p:cNvPr id="11" name="Straight Arrow Connector 10">
            <a:extLst>
              <a:ext uri="{FF2B5EF4-FFF2-40B4-BE49-F238E27FC236}">
                <a16:creationId xmlns:a16="http://schemas.microsoft.com/office/drawing/2014/main" id="{536FD3C5-C4A8-2EC1-24DF-C6B703BDFF46}"/>
              </a:ext>
            </a:extLst>
          </p:cNvPr>
          <p:cNvCxnSpPr>
            <a:cxnSpLocks/>
          </p:cNvCxnSpPr>
          <p:nvPr/>
        </p:nvCxnSpPr>
        <p:spPr>
          <a:xfrm flipV="1">
            <a:off x="9877647" y="4074459"/>
            <a:ext cx="288329" cy="1616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473593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8" grpId="0">
        <p:bldAsOne/>
      </p:bldGraphic>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2C103-D183-DA2C-185C-576954720D57}"/>
              </a:ext>
            </a:extLst>
          </p:cNvPr>
          <p:cNvSpPr>
            <a:spLocks noGrp="1"/>
          </p:cNvSpPr>
          <p:nvPr>
            <p:ph type="title"/>
          </p:nvPr>
        </p:nvSpPr>
        <p:spPr/>
        <p:txBody>
          <a:bodyPr>
            <a:normAutofit/>
          </a:bodyPr>
          <a:lstStyle/>
          <a:p>
            <a:r>
              <a:rPr lang="en-US" sz="4000" dirty="0">
                <a:latin typeface="Avenir Book" panose="02000503020000020003" pitchFamily="2" charset="0"/>
              </a:rPr>
              <a:t>Wittgenstein would say that they share logical forms</a:t>
            </a:r>
          </a:p>
        </p:txBody>
      </p:sp>
      <p:pic>
        <p:nvPicPr>
          <p:cNvPr id="5" name="Content Placeholder 4" descr="A person sitting at a table with music notes flying in the air&#10;&#10;Description automatically generated">
            <a:extLst>
              <a:ext uri="{FF2B5EF4-FFF2-40B4-BE49-F238E27FC236}">
                <a16:creationId xmlns:a16="http://schemas.microsoft.com/office/drawing/2014/main" id="{79A0358C-2B59-EAA8-5891-64B24862C1AA}"/>
              </a:ext>
            </a:extLst>
          </p:cNvPr>
          <p:cNvPicPr>
            <a:picLocks noGrp="1" noChangeAspect="1"/>
          </p:cNvPicPr>
          <p:nvPr>
            <p:ph idx="1"/>
          </p:nvPr>
        </p:nvPicPr>
        <p:blipFill>
          <a:blip r:embed="rId2"/>
          <a:stretch>
            <a:fillRect/>
          </a:stretch>
        </p:blipFill>
        <p:spPr>
          <a:xfrm>
            <a:off x="1423707" y="1990163"/>
            <a:ext cx="4425763" cy="4425763"/>
          </a:xfrm>
        </p:spPr>
      </p:pic>
      <p:sp>
        <p:nvSpPr>
          <p:cNvPr id="6" name="TextBox 5">
            <a:extLst>
              <a:ext uri="{FF2B5EF4-FFF2-40B4-BE49-F238E27FC236}">
                <a16:creationId xmlns:a16="http://schemas.microsoft.com/office/drawing/2014/main" id="{3B8598A7-EA28-53BE-251B-C30A5E9C3265}"/>
              </a:ext>
            </a:extLst>
          </p:cNvPr>
          <p:cNvSpPr txBox="1"/>
          <p:nvPr/>
        </p:nvSpPr>
        <p:spPr>
          <a:xfrm>
            <a:off x="6340839" y="1951300"/>
            <a:ext cx="5199529" cy="4476418"/>
          </a:xfrm>
          <a:prstGeom prst="rect">
            <a:avLst/>
          </a:prstGeom>
          <a:noFill/>
        </p:spPr>
        <p:txBody>
          <a:bodyPr wrap="square" rtlCol="0">
            <a:spAutoFit/>
          </a:bodyPr>
          <a:lstStyle/>
          <a:p>
            <a:pPr>
              <a:lnSpc>
                <a:spcPct val="150000"/>
              </a:lnSpc>
            </a:pPr>
            <a:r>
              <a:rPr lang="en-US" sz="2400" dirty="0">
                <a:latin typeface="Avenir Book" panose="02000503020000020003" pitchFamily="2" charset="0"/>
              </a:rPr>
              <a:t>Wittgenstein claims that brain process can represent the outside world even if they do not look like them, because they share logical form. Just as the music, the musical score and the groves on a record all share logical form, </a:t>
            </a:r>
            <a:r>
              <a:rPr lang="en-US" sz="2400" dirty="0" err="1">
                <a:latin typeface="Avenir Book" panose="02000503020000020003" pitchFamily="2" charset="0"/>
              </a:rPr>
              <a:t>i.e</a:t>
            </a:r>
            <a:r>
              <a:rPr lang="en-US" sz="2400" dirty="0">
                <a:latin typeface="Avenir Book" panose="02000503020000020003" pitchFamily="2" charset="0"/>
              </a:rPr>
              <a:t> they can be used to manifest each other.  </a:t>
            </a:r>
          </a:p>
        </p:txBody>
      </p:sp>
    </p:spTree>
    <p:extLst>
      <p:ext uri="{BB962C8B-B14F-4D97-AF65-F5344CB8AC3E}">
        <p14:creationId xmlns:p14="http://schemas.microsoft.com/office/powerpoint/2010/main" val="1300042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anim calcmode="lin" valueType="num">
                                      <p:cBhvr additive="base">
                                        <p:cTn id="19"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AC9A1-C1CE-4130-09D9-0FAF02A10A41}"/>
              </a:ext>
            </a:extLst>
          </p:cNvPr>
          <p:cNvSpPr>
            <a:spLocks noGrp="1"/>
          </p:cNvSpPr>
          <p:nvPr>
            <p:ph type="title"/>
          </p:nvPr>
        </p:nvSpPr>
        <p:spPr>
          <a:xfrm>
            <a:off x="1251678" y="382385"/>
            <a:ext cx="10178322" cy="457587"/>
          </a:xfrm>
        </p:spPr>
        <p:txBody>
          <a:bodyPr>
            <a:normAutofit fontScale="90000"/>
          </a:bodyPr>
          <a:lstStyle/>
          <a:p>
            <a:br>
              <a:rPr lang="en-US" dirty="0"/>
            </a:br>
            <a:r>
              <a:rPr lang="en-US" dirty="0"/>
              <a:t>Key terms to know</a:t>
            </a:r>
          </a:p>
        </p:txBody>
      </p:sp>
      <p:sp>
        <p:nvSpPr>
          <p:cNvPr id="3" name="Content Placeholder 2">
            <a:extLst>
              <a:ext uri="{FF2B5EF4-FFF2-40B4-BE49-F238E27FC236}">
                <a16:creationId xmlns:a16="http://schemas.microsoft.com/office/drawing/2014/main" id="{F0168D1F-260B-CE52-D1BF-2F673E50748E}"/>
              </a:ext>
            </a:extLst>
          </p:cNvPr>
          <p:cNvSpPr>
            <a:spLocks noGrp="1"/>
          </p:cNvSpPr>
          <p:nvPr>
            <p:ph idx="1"/>
          </p:nvPr>
        </p:nvSpPr>
        <p:spPr>
          <a:xfrm>
            <a:off x="1251677" y="2286001"/>
            <a:ext cx="10348443" cy="3593591"/>
          </a:xfrm>
        </p:spPr>
        <p:txBody>
          <a:bodyPr>
            <a:normAutofit fontScale="77500" lnSpcReduction="20000"/>
          </a:bodyPr>
          <a:lstStyle/>
          <a:p>
            <a:pPr>
              <a:lnSpc>
                <a:spcPct val="160000"/>
              </a:lnSpc>
            </a:pPr>
            <a:r>
              <a:rPr lang="en-US" sz="3200" b="1" dirty="0">
                <a:solidFill>
                  <a:schemeClr val="tx1"/>
                </a:solidFill>
                <a:latin typeface="Avenir Book" panose="02000503020000020003" pitchFamily="2" charset="0"/>
              </a:rPr>
              <a:t>External objects</a:t>
            </a:r>
            <a:r>
              <a:rPr lang="en-US" sz="3200" dirty="0">
                <a:solidFill>
                  <a:schemeClr val="tx1"/>
                </a:solidFill>
                <a:latin typeface="Avenir Book" panose="02000503020000020003" pitchFamily="2" charset="0"/>
              </a:rPr>
              <a:t>: Objects that exist outside the mind and can cause certain sense-data in the mind. </a:t>
            </a:r>
          </a:p>
          <a:p>
            <a:pPr>
              <a:lnSpc>
                <a:spcPct val="160000"/>
              </a:lnSpc>
            </a:pPr>
            <a:r>
              <a:rPr lang="en-US" sz="3200" b="1" dirty="0">
                <a:solidFill>
                  <a:schemeClr val="tx1"/>
                </a:solidFill>
                <a:latin typeface="Avenir Book" panose="02000503020000020003" pitchFamily="2" charset="0"/>
              </a:rPr>
              <a:t>Representation</a:t>
            </a:r>
            <a:r>
              <a:rPr lang="en-US" sz="3200" dirty="0">
                <a:solidFill>
                  <a:schemeClr val="tx1"/>
                </a:solidFill>
                <a:latin typeface="Avenir Book" panose="02000503020000020003" pitchFamily="2" charset="0"/>
              </a:rPr>
              <a:t>: The idea that one thing can represent another, i.e. be ‘like it’, ‘similar to it’ in some way. Make it present again to us.</a:t>
            </a:r>
          </a:p>
          <a:p>
            <a:pPr>
              <a:lnSpc>
                <a:spcPct val="160000"/>
              </a:lnSpc>
            </a:pPr>
            <a:r>
              <a:rPr lang="en-US" sz="3200" b="1" dirty="0">
                <a:solidFill>
                  <a:schemeClr val="tx1"/>
                </a:solidFill>
                <a:latin typeface="Avenir Book" panose="02000503020000020003" pitchFamily="2" charset="0"/>
              </a:rPr>
              <a:t>Best hypothesis</a:t>
            </a:r>
            <a:r>
              <a:rPr lang="en-US" sz="3200" dirty="0">
                <a:solidFill>
                  <a:schemeClr val="tx1"/>
                </a:solidFill>
                <a:latin typeface="Avenir Book" panose="02000503020000020003" pitchFamily="2" charset="0"/>
              </a:rPr>
              <a:t>: The best theory given that we have a more than one possible explanation available. </a:t>
            </a:r>
          </a:p>
          <a:p>
            <a:endParaRPr lang="en-US" sz="3200" dirty="0">
              <a:solidFill>
                <a:srgbClr val="0070C0"/>
              </a:solidFill>
            </a:endParaRPr>
          </a:p>
          <a:p>
            <a:endParaRPr lang="en-US" sz="3200" dirty="0">
              <a:solidFill>
                <a:srgbClr val="0070C0"/>
              </a:solidFill>
            </a:endParaRPr>
          </a:p>
        </p:txBody>
      </p:sp>
    </p:spTree>
    <p:extLst>
      <p:ext uri="{BB962C8B-B14F-4D97-AF65-F5344CB8AC3E}">
        <p14:creationId xmlns:p14="http://schemas.microsoft.com/office/powerpoint/2010/main" val="55119965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docProps/app.xml><?xml version="1.0" encoding="utf-8"?>
<Properties xmlns="http://schemas.openxmlformats.org/officeDocument/2006/extended-properties" xmlns:vt="http://schemas.openxmlformats.org/officeDocument/2006/docPropsVTypes">
  <Template>Badge</Template>
  <TotalTime>284</TotalTime>
  <Words>972</Words>
  <Application>Microsoft Macintosh PowerPoint</Application>
  <PresentationFormat>Widescreen</PresentationFormat>
  <Paragraphs>57</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Avenir Book</vt:lpstr>
      <vt:lpstr>Calibri</vt:lpstr>
      <vt:lpstr>Gill Sans MT</vt:lpstr>
      <vt:lpstr>Impact</vt:lpstr>
      <vt:lpstr>Badge</vt:lpstr>
      <vt:lpstr> ‘INDirect Realism’ (2)</vt:lpstr>
      <vt:lpstr>Indirect realism</vt:lpstr>
      <vt:lpstr>The theory is ‘Indirect’</vt:lpstr>
      <vt:lpstr>The theory is ‘realist’</vt:lpstr>
      <vt:lpstr>The arguments for indirect realism</vt:lpstr>
      <vt:lpstr>There are two key objections to indirect realism</vt:lpstr>
      <vt:lpstr>Is there anything beyond our IMMEDIATE SENSE Data?</vt:lpstr>
      <vt:lpstr>The existence of the external world is the best hypothesis</vt:lpstr>
      <vt:lpstr>Best hypothesis</vt:lpstr>
      <vt:lpstr>John Locke (1) </vt:lpstr>
      <vt:lpstr>John Locke (2)</vt:lpstr>
      <vt:lpstr>John Locke (3)</vt:lpstr>
      <vt:lpstr>Therefore, We can infer the existence of Physical Objects </vt:lpstr>
      <vt:lpstr>The direct realist can claim that we need more…</vt:lpstr>
      <vt:lpstr>The problem of representation</vt:lpstr>
      <vt:lpstr>The problem of representation</vt:lpstr>
      <vt:lpstr>Wittgenstein would say that they share logical forms</vt:lpstr>
      <vt:lpstr> Key terms to know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Nir Shaki</dc:creator>
  <cp:lastModifiedBy>Nir Shaki</cp:lastModifiedBy>
  <cp:revision>16</cp:revision>
  <dcterms:created xsi:type="dcterms:W3CDTF">2024-05-28T20:04:12Z</dcterms:created>
  <dcterms:modified xsi:type="dcterms:W3CDTF">2024-08-19T12:42:35Z</dcterms:modified>
</cp:coreProperties>
</file>