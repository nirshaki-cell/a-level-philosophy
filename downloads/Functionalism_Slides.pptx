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media/image10.svg" ContentType="image/svg+xml"/>
  <Override PartName="/ppt/media/image15.svg" ContentType="image/svg+xml"/>
  <Override PartName="/ppt/media/image17.svg" ContentType="image/svg+xml"/>
  <Override PartName="/ppt/media/image19.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20"/>
  </p:notesMasterIdLst>
  <p:sldIdLst>
    <p:sldId id="256" r:id="rId2"/>
    <p:sldId id="257" r:id="rId3"/>
    <p:sldId id="258" r:id="rId4"/>
    <p:sldId id="273" r:id="rId5"/>
    <p:sldId id="274" r:id="rId6"/>
    <p:sldId id="259" r:id="rId7"/>
    <p:sldId id="260"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565"/>
  </p:normalViewPr>
  <p:slideViewPr>
    <p:cSldViewPr snapToGrid="0">
      <p:cViewPr varScale="1">
        <p:scale>
          <a:sx n="105" d="100"/>
          <a:sy n="105" d="100"/>
        </p:scale>
        <p:origin x="84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image" Target="../media/image7.png"/><Relationship Id="rId4" Type="http://schemas.openxmlformats.org/officeDocument/2006/relationships/image" Target="../media/image8.svg"/><Relationship Id="rId5" Type="http://schemas.openxmlformats.org/officeDocument/2006/relationships/image" Target="../media/image9.png"/><Relationship Id="rId6" Type="http://schemas.openxmlformats.org/officeDocument/2006/relationships/image" Target="../media/image10.svg"/></Relationships>
</file>

<file path=ppt/diagrams/_rels/data2.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svg"/><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image" Target="../media/image18.png"/><Relationship Id="rId6"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image" Target="../media/image7.png"/><Relationship Id="rId4" Type="http://schemas.openxmlformats.org/officeDocument/2006/relationships/image" Target="../media/image8.svg"/><Relationship Id="rId5" Type="http://schemas.openxmlformats.org/officeDocument/2006/relationships/image" Target="../media/image9.png"/><Relationship Id="rId6"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svg"/><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image" Target="../media/image18.png"/><Relationship Id="rId6"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358C02-B7CA-4555-87C3-BBBE37C373B5}"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B345C70-D2F1-48D6-9989-5A1039629616}">
      <dgm:prSet/>
      <dgm:spPr/>
      <dgm:t>
        <a:bodyPr/>
        <a:lstStyle/>
        <a:p>
          <a:pPr>
            <a:lnSpc>
              <a:spcPct val="100000"/>
            </a:lnSpc>
            <a:defRPr cap="all"/>
          </a:pPr>
          <a:r>
            <a:rPr lang="en-US" dirty="0"/>
            <a:t>1. </a:t>
          </a:r>
          <a:r>
            <a:rPr lang="en-US" b="0" i="0" dirty="0">
              <a:latin typeface="Avenir Book" panose="02000503020000020003" pitchFamily="2" charset="0"/>
            </a:rPr>
            <a:t>Functionalism can make sense of multiple realizability which mind-brain identity theory cannot do. </a:t>
          </a:r>
        </a:p>
      </dgm:t>
    </dgm:pt>
    <dgm:pt modelId="{7AF6686E-2444-4698-A563-14FB4FDB648C}" type="parTrans" cxnId="{477F3541-8208-4830-9702-9377577994C6}">
      <dgm:prSet/>
      <dgm:spPr/>
      <dgm:t>
        <a:bodyPr/>
        <a:lstStyle/>
        <a:p>
          <a:endParaRPr lang="en-US"/>
        </a:p>
      </dgm:t>
    </dgm:pt>
    <dgm:pt modelId="{5D88ED7D-A439-425F-BC29-DACE0F4EEA5C}" type="sibTrans" cxnId="{477F3541-8208-4830-9702-9377577994C6}">
      <dgm:prSet/>
      <dgm:spPr/>
      <dgm:t>
        <a:bodyPr/>
        <a:lstStyle/>
        <a:p>
          <a:endParaRPr lang="en-US"/>
        </a:p>
      </dgm:t>
    </dgm:pt>
    <dgm:pt modelId="{AC4045CA-4A21-4957-8021-0431D83B8E6D}">
      <dgm:prSet/>
      <dgm:spPr/>
      <dgm:t>
        <a:bodyPr/>
        <a:lstStyle/>
        <a:p>
          <a:pPr>
            <a:lnSpc>
              <a:spcPct val="100000"/>
            </a:lnSpc>
            <a:defRPr cap="all"/>
          </a:pPr>
          <a:r>
            <a:rPr lang="en-US" dirty="0"/>
            <a:t>2. </a:t>
          </a:r>
          <a:r>
            <a:rPr lang="en-US" b="0" i="0" dirty="0">
              <a:latin typeface="Avenir Book" panose="02000503020000020003" pitchFamily="2" charset="0"/>
            </a:rPr>
            <a:t>Functionalism can make sense of weaknesses faced by behaviorism especially the case of the Super Spartans. </a:t>
          </a:r>
        </a:p>
      </dgm:t>
    </dgm:pt>
    <dgm:pt modelId="{EA3DD0EF-0221-49F0-B3E6-A423654F7BE0}" type="parTrans" cxnId="{973B60C3-1508-47F2-9DDF-4CA40E99663E}">
      <dgm:prSet/>
      <dgm:spPr/>
      <dgm:t>
        <a:bodyPr/>
        <a:lstStyle/>
        <a:p>
          <a:endParaRPr lang="en-US"/>
        </a:p>
      </dgm:t>
    </dgm:pt>
    <dgm:pt modelId="{2DF91766-BAAA-4D2E-B121-90959826924B}" type="sibTrans" cxnId="{973B60C3-1508-47F2-9DDF-4CA40E99663E}">
      <dgm:prSet/>
      <dgm:spPr/>
      <dgm:t>
        <a:bodyPr/>
        <a:lstStyle/>
        <a:p>
          <a:endParaRPr lang="en-US"/>
        </a:p>
      </dgm:t>
    </dgm:pt>
    <dgm:pt modelId="{E07A1897-1B1E-4B2E-9A8D-C75C0BB5E11F}">
      <dgm:prSet/>
      <dgm:spPr/>
      <dgm:t>
        <a:bodyPr/>
        <a:lstStyle/>
        <a:p>
          <a:pPr>
            <a:lnSpc>
              <a:spcPct val="100000"/>
            </a:lnSpc>
            <a:defRPr cap="all"/>
          </a:pPr>
          <a:r>
            <a:rPr lang="en-US" dirty="0"/>
            <a:t>3. </a:t>
          </a:r>
          <a:r>
            <a:rPr lang="en-US" b="0" i="0" dirty="0">
              <a:latin typeface="Avenir Book" panose="02000503020000020003" pitchFamily="2" charset="0"/>
            </a:rPr>
            <a:t>Functionalism and convergent evolution.</a:t>
          </a:r>
        </a:p>
      </dgm:t>
    </dgm:pt>
    <dgm:pt modelId="{4C3ABDFB-5F23-4DCF-A848-938B4B88351D}" type="parTrans" cxnId="{6C7708A3-1073-4B7C-8816-77CD1854CE9C}">
      <dgm:prSet/>
      <dgm:spPr/>
      <dgm:t>
        <a:bodyPr/>
        <a:lstStyle/>
        <a:p>
          <a:endParaRPr lang="en-US"/>
        </a:p>
      </dgm:t>
    </dgm:pt>
    <dgm:pt modelId="{A6E7A2B4-F07F-49CF-B4CE-8E6FE63E1D5E}" type="sibTrans" cxnId="{6C7708A3-1073-4B7C-8816-77CD1854CE9C}">
      <dgm:prSet/>
      <dgm:spPr/>
      <dgm:t>
        <a:bodyPr/>
        <a:lstStyle/>
        <a:p>
          <a:endParaRPr lang="en-US"/>
        </a:p>
      </dgm:t>
    </dgm:pt>
    <dgm:pt modelId="{6F6474FA-96AB-4BFB-87F0-23111D91388F}" type="pres">
      <dgm:prSet presAssocID="{E2358C02-B7CA-4555-87C3-BBBE37C373B5}" presName="root" presStyleCnt="0">
        <dgm:presLayoutVars>
          <dgm:dir/>
          <dgm:resizeHandles val="exact"/>
        </dgm:presLayoutVars>
      </dgm:prSet>
      <dgm:spPr/>
    </dgm:pt>
    <dgm:pt modelId="{2712DCA6-EF81-4ACE-A040-0F0E9A8CB39E}" type="pres">
      <dgm:prSet presAssocID="{BB345C70-D2F1-48D6-9989-5A1039629616}" presName="compNode" presStyleCnt="0"/>
      <dgm:spPr/>
    </dgm:pt>
    <dgm:pt modelId="{01A7D0A7-CE45-446B-8C62-B27DC9E6D7B0}" type="pres">
      <dgm:prSet presAssocID="{BB345C70-D2F1-48D6-9989-5A1039629616}" presName="iconBgRect" presStyleLbl="bgShp" presStyleIdx="0" presStyleCnt="3"/>
      <dgm:spPr/>
    </dgm:pt>
    <dgm:pt modelId="{248ABFB0-B9F0-48BB-A799-00B86E3F97EE}" type="pres">
      <dgm:prSet presAssocID="{BB345C70-D2F1-48D6-9989-5A103962961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in in head"/>
        </a:ext>
      </dgm:extLst>
    </dgm:pt>
    <dgm:pt modelId="{3EB663F5-4876-4516-808F-A7875F122AA7}" type="pres">
      <dgm:prSet presAssocID="{BB345C70-D2F1-48D6-9989-5A1039629616}" presName="spaceRect" presStyleCnt="0"/>
      <dgm:spPr/>
    </dgm:pt>
    <dgm:pt modelId="{3CC21792-F119-4643-A2E0-9DFE05B6C1E8}" type="pres">
      <dgm:prSet presAssocID="{BB345C70-D2F1-48D6-9989-5A1039629616}" presName="textRect" presStyleLbl="revTx" presStyleIdx="0" presStyleCnt="3">
        <dgm:presLayoutVars>
          <dgm:chMax val="1"/>
          <dgm:chPref val="1"/>
        </dgm:presLayoutVars>
      </dgm:prSet>
      <dgm:spPr/>
    </dgm:pt>
    <dgm:pt modelId="{7C81B1E7-72E1-4D93-ADA7-AA41DAA1C394}" type="pres">
      <dgm:prSet presAssocID="{5D88ED7D-A439-425F-BC29-DACE0F4EEA5C}" presName="sibTrans" presStyleCnt="0"/>
      <dgm:spPr/>
    </dgm:pt>
    <dgm:pt modelId="{6468C6AB-D711-4119-A664-2AB297556FC0}" type="pres">
      <dgm:prSet presAssocID="{AC4045CA-4A21-4957-8021-0431D83B8E6D}" presName="compNode" presStyleCnt="0"/>
      <dgm:spPr/>
    </dgm:pt>
    <dgm:pt modelId="{928B3615-2310-4EB7-8AFF-5A91EA173D1F}" type="pres">
      <dgm:prSet presAssocID="{AC4045CA-4A21-4957-8021-0431D83B8E6D}" presName="iconBgRect" presStyleLbl="bgShp" presStyleIdx="1" presStyleCnt="3"/>
      <dgm:spPr/>
    </dgm:pt>
    <dgm:pt modelId="{C312C285-3AD8-4EDF-9B0E-0376F044CEFC}" type="pres">
      <dgm:prSet presAssocID="{AC4045CA-4A21-4957-8021-0431D83B8E6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ffice Worker"/>
        </a:ext>
      </dgm:extLst>
    </dgm:pt>
    <dgm:pt modelId="{31D03DEE-002C-4C5B-B513-375C68D2884F}" type="pres">
      <dgm:prSet presAssocID="{AC4045CA-4A21-4957-8021-0431D83B8E6D}" presName="spaceRect" presStyleCnt="0"/>
      <dgm:spPr/>
    </dgm:pt>
    <dgm:pt modelId="{FCD7F416-670E-4AC2-935B-6B2A1D5B0FC0}" type="pres">
      <dgm:prSet presAssocID="{AC4045CA-4A21-4957-8021-0431D83B8E6D}" presName="textRect" presStyleLbl="revTx" presStyleIdx="1" presStyleCnt="3">
        <dgm:presLayoutVars>
          <dgm:chMax val="1"/>
          <dgm:chPref val="1"/>
        </dgm:presLayoutVars>
      </dgm:prSet>
      <dgm:spPr/>
    </dgm:pt>
    <dgm:pt modelId="{93429431-8869-48D0-BB33-87E106771423}" type="pres">
      <dgm:prSet presAssocID="{2DF91766-BAAA-4D2E-B121-90959826924B}" presName="sibTrans" presStyleCnt="0"/>
      <dgm:spPr/>
    </dgm:pt>
    <dgm:pt modelId="{AAFB6E34-43B7-4B81-94D3-9E903F087D0C}" type="pres">
      <dgm:prSet presAssocID="{E07A1897-1B1E-4B2E-9A8D-C75C0BB5E11F}" presName="compNode" presStyleCnt="0"/>
      <dgm:spPr/>
    </dgm:pt>
    <dgm:pt modelId="{56CF6614-E4B4-4A28-B015-EE68D8C6514C}" type="pres">
      <dgm:prSet presAssocID="{E07A1897-1B1E-4B2E-9A8D-C75C0BB5E11F}" presName="iconBgRect" presStyleLbl="bgShp" presStyleIdx="2" presStyleCnt="3"/>
      <dgm:spPr/>
    </dgm:pt>
    <dgm:pt modelId="{C07CEC05-DD6A-4560-8B48-5E1CC0DBD178}" type="pres">
      <dgm:prSet presAssocID="{E07A1897-1B1E-4B2E-9A8D-C75C0BB5E11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orkflow"/>
        </a:ext>
      </dgm:extLst>
    </dgm:pt>
    <dgm:pt modelId="{3A6FD434-1902-448B-93E2-83CBFCCF4096}" type="pres">
      <dgm:prSet presAssocID="{E07A1897-1B1E-4B2E-9A8D-C75C0BB5E11F}" presName="spaceRect" presStyleCnt="0"/>
      <dgm:spPr/>
    </dgm:pt>
    <dgm:pt modelId="{15823956-F313-487C-B303-50978596CBA7}" type="pres">
      <dgm:prSet presAssocID="{E07A1897-1B1E-4B2E-9A8D-C75C0BB5E11F}" presName="textRect" presStyleLbl="revTx" presStyleIdx="2" presStyleCnt="3">
        <dgm:presLayoutVars>
          <dgm:chMax val="1"/>
          <dgm:chPref val="1"/>
        </dgm:presLayoutVars>
      </dgm:prSet>
      <dgm:spPr/>
    </dgm:pt>
  </dgm:ptLst>
  <dgm:cxnLst>
    <dgm:cxn modelId="{BDEA9D1C-0403-FA4B-9FDE-33806EAA8E3C}" type="presOf" srcId="{BB345C70-D2F1-48D6-9989-5A1039629616}" destId="{3CC21792-F119-4643-A2E0-9DFE05B6C1E8}" srcOrd="0" destOrd="0" presId="urn:microsoft.com/office/officeart/2018/5/layout/IconCircleLabelList"/>
    <dgm:cxn modelId="{477F3541-8208-4830-9702-9377577994C6}" srcId="{E2358C02-B7CA-4555-87C3-BBBE37C373B5}" destId="{BB345C70-D2F1-48D6-9989-5A1039629616}" srcOrd="0" destOrd="0" parTransId="{7AF6686E-2444-4698-A563-14FB4FDB648C}" sibTransId="{5D88ED7D-A439-425F-BC29-DACE0F4EEA5C}"/>
    <dgm:cxn modelId="{92D8CB75-E085-9B4F-8CD0-14E5B70A423B}" type="presOf" srcId="{E07A1897-1B1E-4B2E-9A8D-C75C0BB5E11F}" destId="{15823956-F313-487C-B303-50978596CBA7}" srcOrd="0" destOrd="0" presId="urn:microsoft.com/office/officeart/2018/5/layout/IconCircleLabelList"/>
    <dgm:cxn modelId="{5621B49A-AEBD-DE4A-90E7-CBD728D0119D}" type="presOf" srcId="{E2358C02-B7CA-4555-87C3-BBBE37C373B5}" destId="{6F6474FA-96AB-4BFB-87F0-23111D91388F}" srcOrd="0" destOrd="0" presId="urn:microsoft.com/office/officeart/2018/5/layout/IconCircleLabelList"/>
    <dgm:cxn modelId="{6C7708A3-1073-4B7C-8816-77CD1854CE9C}" srcId="{E2358C02-B7CA-4555-87C3-BBBE37C373B5}" destId="{E07A1897-1B1E-4B2E-9A8D-C75C0BB5E11F}" srcOrd="2" destOrd="0" parTransId="{4C3ABDFB-5F23-4DCF-A848-938B4B88351D}" sibTransId="{A6E7A2B4-F07F-49CF-B4CE-8E6FE63E1D5E}"/>
    <dgm:cxn modelId="{8EB54AC0-D7C2-DD4B-921B-B6B51A127C33}" type="presOf" srcId="{AC4045CA-4A21-4957-8021-0431D83B8E6D}" destId="{FCD7F416-670E-4AC2-935B-6B2A1D5B0FC0}" srcOrd="0" destOrd="0" presId="urn:microsoft.com/office/officeart/2018/5/layout/IconCircleLabelList"/>
    <dgm:cxn modelId="{973B60C3-1508-47F2-9DDF-4CA40E99663E}" srcId="{E2358C02-B7CA-4555-87C3-BBBE37C373B5}" destId="{AC4045CA-4A21-4957-8021-0431D83B8E6D}" srcOrd="1" destOrd="0" parTransId="{EA3DD0EF-0221-49F0-B3E6-A423654F7BE0}" sibTransId="{2DF91766-BAAA-4D2E-B121-90959826924B}"/>
    <dgm:cxn modelId="{74456C41-525D-EF4E-8843-2B6803A5BCCF}" type="presParOf" srcId="{6F6474FA-96AB-4BFB-87F0-23111D91388F}" destId="{2712DCA6-EF81-4ACE-A040-0F0E9A8CB39E}" srcOrd="0" destOrd="0" presId="urn:microsoft.com/office/officeart/2018/5/layout/IconCircleLabelList"/>
    <dgm:cxn modelId="{78CE270A-321C-3141-B970-D1B43E9142A4}" type="presParOf" srcId="{2712DCA6-EF81-4ACE-A040-0F0E9A8CB39E}" destId="{01A7D0A7-CE45-446B-8C62-B27DC9E6D7B0}" srcOrd="0" destOrd="0" presId="urn:microsoft.com/office/officeart/2018/5/layout/IconCircleLabelList"/>
    <dgm:cxn modelId="{CAC47F6D-119D-3F4E-AA20-BDEE4956A999}" type="presParOf" srcId="{2712DCA6-EF81-4ACE-A040-0F0E9A8CB39E}" destId="{248ABFB0-B9F0-48BB-A799-00B86E3F97EE}" srcOrd="1" destOrd="0" presId="urn:microsoft.com/office/officeart/2018/5/layout/IconCircleLabelList"/>
    <dgm:cxn modelId="{0D9D9D29-E0F6-0843-A65E-BEE6B9FCFA67}" type="presParOf" srcId="{2712DCA6-EF81-4ACE-A040-0F0E9A8CB39E}" destId="{3EB663F5-4876-4516-808F-A7875F122AA7}" srcOrd="2" destOrd="0" presId="urn:microsoft.com/office/officeart/2018/5/layout/IconCircleLabelList"/>
    <dgm:cxn modelId="{0E8CF1A8-F6D5-A841-BB15-EC4EB247D890}" type="presParOf" srcId="{2712DCA6-EF81-4ACE-A040-0F0E9A8CB39E}" destId="{3CC21792-F119-4643-A2E0-9DFE05B6C1E8}" srcOrd="3" destOrd="0" presId="urn:microsoft.com/office/officeart/2018/5/layout/IconCircleLabelList"/>
    <dgm:cxn modelId="{D9365E93-594C-F04B-916A-1840DECF4449}" type="presParOf" srcId="{6F6474FA-96AB-4BFB-87F0-23111D91388F}" destId="{7C81B1E7-72E1-4D93-ADA7-AA41DAA1C394}" srcOrd="1" destOrd="0" presId="urn:microsoft.com/office/officeart/2018/5/layout/IconCircleLabelList"/>
    <dgm:cxn modelId="{0772CFFF-DE62-8741-8175-CD53569BC2ED}" type="presParOf" srcId="{6F6474FA-96AB-4BFB-87F0-23111D91388F}" destId="{6468C6AB-D711-4119-A664-2AB297556FC0}" srcOrd="2" destOrd="0" presId="urn:microsoft.com/office/officeart/2018/5/layout/IconCircleLabelList"/>
    <dgm:cxn modelId="{ACB2AD9A-1463-304B-A465-4F1761F0A759}" type="presParOf" srcId="{6468C6AB-D711-4119-A664-2AB297556FC0}" destId="{928B3615-2310-4EB7-8AFF-5A91EA173D1F}" srcOrd="0" destOrd="0" presId="urn:microsoft.com/office/officeart/2018/5/layout/IconCircleLabelList"/>
    <dgm:cxn modelId="{526534D1-9BD2-024B-A82D-14C817455D62}" type="presParOf" srcId="{6468C6AB-D711-4119-A664-2AB297556FC0}" destId="{C312C285-3AD8-4EDF-9B0E-0376F044CEFC}" srcOrd="1" destOrd="0" presId="urn:microsoft.com/office/officeart/2018/5/layout/IconCircleLabelList"/>
    <dgm:cxn modelId="{FE654658-C301-DC44-9D81-B2770ACF4661}" type="presParOf" srcId="{6468C6AB-D711-4119-A664-2AB297556FC0}" destId="{31D03DEE-002C-4C5B-B513-375C68D2884F}" srcOrd="2" destOrd="0" presId="urn:microsoft.com/office/officeart/2018/5/layout/IconCircleLabelList"/>
    <dgm:cxn modelId="{82B10E93-721C-D947-8E28-E8010607F018}" type="presParOf" srcId="{6468C6AB-D711-4119-A664-2AB297556FC0}" destId="{FCD7F416-670E-4AC2-935B-6B2A1D5B0FC0}" srcOrd="3" destOrd="0" presId="urn:microsoft.com/office/officeart/2018/5/layout/IconCircleLabelList"/>
    <dgm:cxn modelId="{485261D5-52EB-1945-8422-2F9977391822}" type="presParOf" srcId="{6F6474FA-96AB-4BFB-87F0-23111D91388F}" destId="{93429431-8869-48D0-BB33-87E106771423}" srcOrd="3" destOrd="0" presId="urn:microsoft.com/office/officeart/2018/5/layout/IconCircleLabelList"/>
    <dgm:cxn modelId="{6DD2451A-2973-D445-BDCF-F0ED74BCB96A}" type="presParOf" srcId="{6F6474FA-96AB-4BFB-87F0-23111D91388F}" destId="{AAFB6E34-43B7-4B81-94D3-9E903F087D0C}" srcOrd="4" destOrd="0" presId="urn:microsoft.com/office/officeart/2018/5/layout/IconCircleLabelList"/>
    <dgm:cxn modelId="{57D0BEE5-709B-504A-8717-DF291618223D}" type="presParOf" srcId="{AAFB6E34-43B7-4B81-94D3-9E903F087D0C}" destId="{56CF6614-E4B4-4A28-B015-EE68D8C6514C}" srcOrd="0" destOrd="0" presId="urn:microsoft.com/office/officeart/2018/5/layout/IconCircleLabelList"/>
    <dgm:cxn modelId="{7FDA0BEB-DE88-B846-BED4-217F98FF9A1F}" type="presParOf" srcId="{AAFB6E34-43B7-4B81-94D3-9E903F087D0C}" destId="{C07CEC05-DD6A-4560-8B48-5E1CC0DBD178}" srcOrd="1" destOrd="0" presId="urn:microsoft.com/office/officeart/2018/5/layout/IconCircleLabelList"/>
    <dgm:cxn modelId="{E791AA9C-5082-DE47-86CF-EBC2932586EC}" type="presParOf" srcId="{AAFB6E34-43B7-4B81-94D3-9E903F087D0C}" destId="{3A6FD434-1902-448B-93E2-83CBFCCF4096}" srcOrd="2" destOrd="0" presId="urn:microsoft.com/office/officeart/2018/5/layout/IconCircleLabelList"/>
    <dgm:cxn modelId="{CB54A7E9-0461-1049-B283-A9803DE0F918}" type="presParOf" srcId="{AAFB6E34-43B7-4B81-94D3-9E903F087D0C}" destId="{15823956-F313-487C-B303-50978596CBA7}"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48F9E6-E624-4014-B73D-6E96A84F7485}"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F9BAA6B4-DD53-4FAC-AF47-CB21AB59E6CB}">
      <dgm:prSet/>
      <dgm:spPr/>
      <dgm:t>
        <a:bodyPr/>
        <a:lstStyle/>
        <a:p>
          <a:pPr>
            <a:lnSpc>
              <a:spcPct val="100000"/>
            </a:lnSpc>
            <a:defRPr cap="all"/>
          </a:pPr>
          <a:r>
            <a:rPr lang="en-GB" dirty="0"/>
            <a:t>1.There ‘inverted qualia’ thought experiment.</a:t>
          </a:r>
          <a:endParaRPr lang="en-US" dirty="0"/>
        </a:p>
      </dgm:t>
    </dgm:pt>
    <dgm:pt modelId="{75718F08-1542-4B13-B4AD-0A5EF1A03F16}" type="parTrans" cxnId="{2245A806-5276-4FA9-8E1D-AB6741B12ADE}">
      <dgm:prSet/>
      <dgm:spPr/>
      <dgm:t>
        <a:bodyPr/>
        <a:lstStyle/>
        <a:p>
          <a:endParaRPr lang="en-US"/>
        </a:p>
      </dgm:t>
    </dgm:pt>
    <dgm:pt modelId="{EA064164-D2A8-4612-92D2-20F29FE288DC}" type="sibTrans" cxnId="{2245A806-5276-4FA9-8E1D-AB6741B12ADE}">
      <dgm:prSet/>
      <dgm:spPr/>
      <dgm:t>
        <a:bodyPr/>
        <a:lstStyle/>
        <a:p>
          <a:endParaRPr lang="en-US"/>
        </a:p>
      </dgm:t>
    </dgm:pt>
    <dgm:pt modelId="{5F9420FE-CFD7-4B0A-81CB-9E58E798A43A}">
      <dgm:prSet/>
      <dgm:spPr/>
      <dgm:t>
        <a:bodyPr/>
        <a:lstStyle/>
        <a:p>
          <a:pPr>
            <a:lnSpc>
              <a:spcPct val="100000"/>
            </a:lnSpc>
            <a:defRPr cap="all"/>
          </a:pPr>
          <a:r>
            <a:rPr lang="en-GB" dirty="0"/>
            <a:t>2. The Chinese mind thought experiment.</a:t>
          </a:r>
          <a:endParaRPr lang="en-US" dirty="0"/>
        </a:p>
      </dgm:t>
    </dgm:pt>
    <dgm:pt modelId="{26C26261-4931-4C74-BC18-EC12E32FE7EF}" type="parTrans" cxnId="{29AB43F4-6FF6-4816-B27A-67580B3FA101}">
      <dgm:prSet/>
      <dgm:spPr/>
      <dgm:t>
        <a:bodyPr/>
        <a:lstStyle/>
        <a:p>
          <a:endParaRPr lang="en-US"/>
        </a:p>
      </dgm:t>
    </dgm:pt>
    <dgm:pt modelId="{3054E1D2-737C-4329-B453-AD97F962424A}" type="sibTrans" cxnId="{29AB43F4-6FF6-4816-B27A-67580B3FA101}">
      <dgm:prSet/>
      <dgm:spPr/>
      <dgm:t>
        <a:bodyPr/>
        <a:lstStyle/>
        <a:p>
          <a:endParaRPr lang="en-US"/>
        </a:p>
      </dgm:t>
    </dgm:pt>
    <dgm:pt modelId="{B2A70995-EFC5-46A9-945F-3148BFF1C016}">
      <dgm:prSet/>
      <dgm:spPr/>
      <dgm:t>
        <a:bodyPr/>
        <a:lstStyle/>
        <a:p>
          <a:pPr>
            <a:lnSpc>
              <a:spcPct val="100000"/>
            </a:lnSpc>
            <a:defRPr cap="all"/>
          </a:pPr>
          <a:r>
            <a:rPr lang="en-GB" dirty="0"/>
            <a:t>3. Chalmers and the deep question of consciousness.</a:t>
          </a:r>
          <a:endParaRPr lang="en-US" dirty="0"/>
        </a:p>
      </dgm:t>
    </dgm:pt>
    <dgm:pt modelId="{F47F3AEE-7FF7-460A-A19A-2AD88C6BEB13}" type="parTrans" cxnId="{F0529514-A398-47F8-91D7-D00044F34195}">
      <dgm:prSet/>
      <dgm:spPr/>
      <dgm:t>
        <a:bodyPr/>
        <a:lstStyle/>
        <a:p>
          <a:endParaRPr lang="en-US"/>
        </a:p>
      </dgm:t>
    </dgm:pt>
    <dgm:pt modelId="{8A50587D-719A-4B2B-9F28-E512D605D37B}" type="sibTrans" cxnId="{F0529514-A398-47F8-91D7-D00044F34195}">
      <dgm:prSet/>
      <dgm:spPr/>
      <dgm:t>
        <a:bodyPr/>
        <a:lstStyle/>
        <a:p>
          <a:endParaRPr lang="en-US"/>
        </a:p>
      </dgm:t>
    </dgm:pt>
    <dgm:pt modelId="{345F599C-89DC-4F19-B733-CE74E623F9FA}" type="pres">
      <dgm:prSet presAssocID="{3848F9E6-E624-4014-B73D-6E96A84F7485}" presName="root" presStyleCnt="0">
        <dgm:presLayoutVars>
          <dgm:dir/>
          <dgm:resizeHandles val="exact"/>
        </dgm:presLayoutVars>
      </dgm:prSet>
      <dgm:spPr/>
    </dgm:pt>
    <dgm:pt modelId="{6147C5E9-B97B-45D5-A076-67A443F033EA}" type="pres">
      <dgm:prSet presAssocID="{F9BAA6B4-DD53-4FAC-AF47-CB21AB59E6CB}" presName="compNode" presStyleCnt="0"/>
      <dgm:spPr/>
    </dgm:pt>
    <dgm:pt modelId="{1CBCABA9-A91A-45DA-8FA2-3BB20482604C}" type="pres">
      <dgm:prSet presAssocID="{F9BAA6B4-DD53-4FAC-AF47-CB21AB59E6CB}" presName="iconBgRect" presStyleLbl="bgShp" presStyleIdx="0" presStyleCnt="3"/>
      <dgm:spPr/>
    </dgm:pt>
    <dgm:pt modelId="{BACB3CE8-1D0C-47D8-80D7-16656FD45CC3}" type="pres">
      <dgm:prSet presAssocID="{F9BAA6B4-DD53-4FAC-AF47-CB21AB59E6C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hought bubble"/>
        </a:ext>
      </dgm:extLst>
    </dgm:pt>
    <dgm:pt modelId="{BF551E0E-3699-4C88-9FA3-33936BF67732}" type="pres">
      <dgm:prSet presAssocID="{F9BAA6B4-DD53-4FAC-AF47-CB21AB59E6CB}" presName="spaceRect" presStyleCnt="0"/>
      <dgm:spPr/>
    </dgm:pt>
    <dgm:pt modelId="{46CD7829-6AD9-42E0-AC97-B6889950A405}" type="pres">
      <dgm:prSet presAssocID="{F9BAA6B4-DD53-4FAC-AF47-CB21AB59E6CB}" presName="textRect" presStyleLbl="revTx" presStyleIdx="0" presStyleCnt="3">
        <dgm:presLayoutVars>
          <dgm:chMax val="1"/>
          <dgm:chPref val="1"/>
        </dgm:presLayoutVars>
      </dgm:prSet>
      <dgm:spPr/>
    </dgm:pt>
    <dgm:pt modelId="{A55D28C3-ABD1-4BF6-A43F-10C31E3CC7E5}" type="pres">
      <dgm:prSet presAssocID="{EA064164-D2A8-4612-92D2-20F29FE288DC}" presName="sibTrans" presStyleCnt="0"/>
      <dgm:spPr/>
    </dgm:pt>
    <dgm:pt modelId="{61A7BA90-28D6-4348-B908-25E32BC3C13B}" type="pres">
      <dgm:prSet presAssocID="{5F9420FE-CFD7-4B0A-81CB-9E58E798A43A}" presName="compNode" presStyleCnt="0"/>
      <dgm:spPr/>
    </dgm:pt>
    <dgm:pt modelId="{B60D69B6-9D05-421D-9DFC-028437635CF4}" type="pres">
      <dgm:prSet presAssocID="{5F9420FE-CFD7-4B0A-81CB-9E58E798A43A}" presName="iconBgRect" presStyleLbl="bgShp" presStyleIdx="1" presStyleCnt="3"/>
      <dgm:spPr/>
    </dgm:pt>
    <dgm:pt modelId="{A3FAD062-B2C8-4820-9AF1-F2F66C959A87}" type="pres">
      <dgm:prSet presAssocID="{5F9420FE-CFD7-4B0A-81CB-9E58E798A43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DC4530A5-F571-47DB-893F-BDB3CFE0C243}" type="pres">
      <dgm:prSet presAssocID="{5F9420FE-CFD7-4B0A-81CB-9E58E798A43A}" presName="spaceRect" presStyleCnt="0"/>
      <dgm:spPr/>
    </dgm:pt>
    <dgm:pt modelId="{1F70FC5C-078C-409E-9F2A-0384F3EDD7F0}" type="pres">
      <dgm:prSet presAssocID="{5F9420FE-CFD7-4B0A-81CB-9E58E798A43A}" presName="textRect" presStyleLbl="revTx" presStyleIdx="1" presStyleCnt="3">
        <dgm:presLayoutVars>
          <dgm:chMax val="1"/>
          <dgm:chPref val="1"/>
        </dgm:presLayoutVars>
      </dgm:prSet>
      <dgm:spPr/>
    </dgm:pt>
    <dgm:pt modelId="{BE087AD4-A9B7-4448-A247-44084E76D4F7}" type="pres">
      <dgm:prSet presAssocID="{3054E1D2-737C-4329-B453-AD97F962424A}" presName="sibTrans" presStyleCnt="0"/>
      <dgm:spPr/>
    </dgm:pt>
    <dgm:pt modelId="{10C962DE-3E4F-4965-9697-210305713A25}" type="pres">
      <dgm:prSet presAssocID="{B2A70995-EFC5-46A9-945F-3148BFF1C016}" presName="compNode" presStyleCnt="0"/>
      <dgm:spPr/>
    </dgm:pt>
    <dgm:pt modelId="{8A4896AF-B5CB-40F6-9651-85443A1615C4}" type="pres">
      <dgm:prSet presAssocID="{B2A70995-EFC5-46A9-945F-3148BFF1C016}" presName="iconBgRect" presStyleLbl="bgShp" presStyleIdx="2" presStyleCnt="3"/>
      <dgm:spPr/>
    </dgm:pt>
    <dgm:pt modelId="{8C7C1212-7F75-4A35-89C6-F1C02014B4BE}" type="pres">
      <dgm:prSet presAssocID="{B2A70995-EFC5-46A9-945F-3148BFF1C01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rain"/>
        </a:ext>
      </dgm:extLst>
    </dgm:pt>
    <dgm:pt modelId="{4D4B8FB5-AAD0-4850-BB0E-0EB402C1EE20}" type="pres">
      <dgm:prSet presAssocID="{B2A70995-EFC5-46A9-945F-3148BFF1C016}" presName="spaceRect" presStyleCnt="0"/>
      <dgm:spPr/>
    </dgm:pt>
    <dgm:pt modelId="{E2495F06-F05B-43BA-A22D-471A750143AE}" type="pres">
      <dgm:prSet presAssocID="{B2A70995-EFC5-46A9-945F-3148BFF1C016}" presName="textRect" presStyleLbl="revTx" presStyleIdx="2" presStyleCnt="3">
        <dgm:presLayoutVars>
          <dgm:chMax val="1"/>
          <dgm:chPref val="1"/>
        </dgm:presLayoutVars>
      </dgm:prSet>
      <dgm:spPr/>
    </dgm:pt>
  </dgm:ptLst>
  <dgm:cxnLst>
    <dgm:cxn modelId="{2245A806-5276-4FA9-8E1D-AB6741B12ADE}" srcId="{3848F9E6-E624-4014-B73D-6E96A84F7485}" destId="{F9BAA6B4-DD53-4FAC-AF47-CB21AB59E6CB}" srcOrd="0" destOrd="0" parTransId="{75718F08-1542-4B13-B4AD-0A5EF1A03F16}" sibTransId="{EA064164-D2A8-4612-92D2-20F29FE288DC}"/>
    <dgm:cxn modelId="{F0529514-A398-47F8-91D7-D00044F34195}" srcId="{3848F9E6-E624-4014-B73D-6E96A84F7485}" destId="{B2A70995-EFC5-46A9-945F-3148BFF1C016}" srcOrd="2" destOrd="0" parTransId="{F47F3AEE-7FF7-460A-A19A-2AD88C6BEB13}" sibTransId="{8A50587D-719A-4B2B-9F28-E512D605D37B}"/>
    <dgm:cxn modelId="{7629CDA9-3C5F-4EEB-AB10-B9E123581EA3}" type="presOf" srcId="{B2A70995-EFC5-46A9-945F-3148BFF1C016}" destId="{E2495F06-F05B-43BA-A22D-471A750143AE}" srcOrd="0" destOrd="0" presId="urn:microsoft.com/office/officeart/2018/5/layout/IconCircleLabelList"/>
    <dgm:cxn modelId="{79093FC2-E73A-41B1-AC40-29F0FFF5A6D1}" type="presOf" srcId="{3848F9E6-E624-4014-B73D-6E96A84F7485}" destId="{345F599C-89DC-4F19-B733-CE74E623F9FA}" srcOrd="0" destOrd="0" presId="urn:microsoft.com/office/officeart/2018/5/layout/IconCircleLabelList"/>
    <dgm:cxn modelId="{622646C8-BFFC-40E8-B512-3372C91791D1}" type="presOf" srcId="{F9BAA6B4-DD53-4FAC-AF47-CB21AB59E6CB}" destId="{46CD7829-6AD9-42E0-AC97-B6889950A405}" srcOrd="0" destOrd="0" presId="urn:microsoft.com/office/officeart/2018/5/layout/IconCircleLabelList"/>
    <dgm:cxn modelId="{2FE2D0C9-39C3-497D-9892-BED7399E4D0D}" type="presOf" srcId="{5F9420FE-CFD7-4B0A-81CB-9E58E798A43A}" destId="{1F70FC5C-078C-409E-9F2A-0384F3EDD7F0}" srcOrd="0" destOrd="0" presId="urn:microsoft.com/office/officeart/2018/5/layout/IconCircleLabelList"/>
    <dgm:cxn modelId="{29AB43F4-6FF6-4816-B27A-67580B3FA101}" srcId="{3848F9E6-E624-4014-B73D-6E96A84F7485}" destId="{5F9420FE-CFD7-4B0A-81CB-9E58E798A43A}" srcOrd="1" destOrd="0" parTransId="{26C26261-4931-4C74-BC18-EC12E32FE7EF}" sibTransId="{3054E1D2-737C-4329-B453-AD97F962424A}"/>
    <dgm:cxn modelId="{887D2FA3-B6DB-4A29-940B-64C431EC6362}" type="presParOf" srcId="{345F599C-89DC-4F19-B733-CE74E623F9FA}" destId="{6147C5E9-B97B-45D5-A076-67A443F033EA}" srcOrd="0" destOrd="0" presId="urn:microsoft.com/office/officeart/2018/5/layout/IconCircleLabelList"/>
    <dgm:cxn modelId="{14CE2A8D-7B62-422A-ADC9-02991B4518B8}" type="presParOf" srcId="{6147C5E9-B97B-45D5-A076-67A443F033EA}" destId="{1CBCABA9-A91A-45DA-8FA2-3BB20482604C}" srcOrd="0" destOrd="0" presId="urn:microsoft.com/office/officeart/2018/5/layout/IconCircleLabelList"/>
    <dgm:cxn modelId="{02B2614F-61E1-408F-A6AC-09DDF9E67CBC}" type="presParOf" srcId="{6147C5E9-B97B-45D5-A076-67A443F033EA}" destId="{BACB3CE8-1D0C-47D8-80D7-16656FD45CC3}" srcOrd="1" destOrd="0" presId="urn:microsoft.com/office/officeart/2018/5/layout/IconCircleLabelList"/>
    <dgm:cxn modelId="{D234623F-59B1-44FC-961F-C87444D0557B}" type="presParOf" srcId="{6147C5E9-B97B-45D5-A076-67A443F033EA}" destId="{BF551E0E-3699-4C88-9FA3-33936BF67732}" srcOrd="2" destOrd="0" presId="urn:microsoft.com/office/officeart/2018/5/layout/IconCircleLabelList"/>
    <dgm:cxn modelId="{493D0250-FF91-4004-963F-A81D5AB106BD}" type="presParOf" srcId="{6147C5E9-B97B-45D5-A076-67A443F033EA}" destId="{46CD7829-6AD9-42E0-AC97-B6889950A405}" srcOrd="3" destOrd="0" presId="urn:microsoft.com/office/officeart/2018/5/layout/IconCircleLabelList"/>
    <dgm:cxn modelId="{00CAE3A7-7F70-41DD-9E36-B3BA7D387F7A}" type="presParOf" srcId="{345F599C-89DC-4F19-B733-CE74E623F9FA}" destId="{A55D28C3-ABD1-4BF6-A43F-10C31E3CC7E5}" srcOrd="1" destOrd="0" presId="urn:microsoft.com/office/officeart/2018/5/layout/IconCircleLabelList"/>
    <dgm:cxn modelId="{CE58A3D0-E1EF-45DD-AE17-781BD352FD49}" type="presParOf" srcId="{345F599C-89DC-4F19-B733-CE74E623F9FA}" destId="{61A7BA90-28D6-4348-B908-25E32BC3C13B}" srcOrd="2" destOrd="0" presId="urn:microsoft.com/office/officeart/2018/5/layout/IconCircleLabelList"/>
    <dgm:cxn modelId="{CB725C85-7AFF-4BB0-8E4A-6E4511E7CD38}" type="presParOf" srcId="{61A7BA90-28D6-4348-B908-25E32BC3C13B}" destId="{B60D69B6-9D05-421D-9DFC-028437635CF4}" srcOrd="0" destOrd="0" presId="urn:microsoft.com/office/officeart/2018/5/layout/IconCircleLabelList"/>
    <dgm:cxn modelId="{45907AEE-A73C-49A3-B04F-CFD10041F6AF}" type="presParOf" srcId="{61A7BA90-28D6-4348-B908-25E32BC3C13B}" destId="{A3FAD062-B2C8-4820-9AF1-F2F66C959A87}" srcOrd="1" destOrd="0" presId="urn:microsoft.com/office/officeart/2018/5/layout/IconCircleLabelList"/>
    <dgm:cxn modelId="{1D6E118B-D9D1-4123-94A5-ECA980161993}" type="presParOf" srcId="{61A7BA90-28D6-4348-B908-25E32BC3C13B}" destId="{DC4530A5-F571-47DB-893F-BDB3CFE0C243}" srcOrd="2" destOrd="0" presId="urn:microsoft.com/office/officeart/2018/5/layout/IconCircleLabelList"/>
    <dgm:cxn modelId="{545C1E20-0BAD-4D0F-A0E0-743AC5CF8B10}" type="presParOf" srcId="{61A7BA90-28D6-4348-B908-25E32BC3C13B}" destId="{1F70FC5C-078C-409E-9F2A-0384F3EDD7F0}" srcOrd="3" destOrd="0" presId="urn:microsoft.com/office/officeart/2018/5/layout/IconCircleLabelList"/>
    <dgm:cxn modelId="{5C72C9B8-45C1-45C3-A8DD-A9ADA4FC2C7E}" type="presParOf" srcId="{345F599C-89DC-4F19-B733-CE74E623F9FA}" destId="{BE087AD4-A9B7-4448-A247-44084E76D4F7}" srcOrd="3" destOrd="0" presId="urn:microsoft.com/office/officeart/2018/5/layout/IconCircleLabelList"/>
    <dgm:cxn modelId="{AD49841E-1D44-4A73-84D3-FCD2783CA52A}" type="presParOf" srcId="{345F599C-89DC-4F19-B733-CE74E623F9FA}" destId="{10C962DE-3E4F-4965-9697-210305713A25}" srcOrd="4" destOrd="0" presId="urn:microsoft.com/office/officeart/2018/5/layout/IconCircleLabelList"/>
    <dgm:cxn modelId="{361FB045-5399-4934-A68D-582F94EBE7AE}" type="presParOf" srcId="{10C962DE-3E4F-4965-9697-210305713A25}" destId="{8A4896AF-B5CB-40F6-9651-85443A1615C4}" srcOrd="0" destOrd="0" presId="urn:microsoft.com/office/officeart/2018/5/layout/IconCircleLabelList"/>
    <dgm:cxn modelId="{3CA23929-75C1-4FB6-AD62-03FACACFDCD4}" type="presParOf" srcId="{10C962DE-3E4F-4965-9697-210305713A25}" destId="{8C7C1212-7F75-4A35-89C6-F1C02014B4BE}" srcOrd="1" destOrd="0" presId="urn:microsoft.com/office/officeart/2018/5/layout/IconCircleLabelList"/>
    <dgm:cxn modelId="{17F4D6F9-BB7A-4774-BC14-30F5E09802B8}" type="presParOf" srcId="{10C962DE-3E4F-4965-9697-210305713A25}" destId="{4D4B8FB5-AAD0-4850-BB0E-0EB402C1EE20}" srcOrd="2" destOrd="0" presId="urn:microsoft.com/office/officeart/2018/5/layout/IconCircleLabelList"/>
    <dgm:cxn modelId="{729C700E-DF64-430A-8248-A2E6ABD14E7B}" type="presParOf" srcId="{10C962DE-3E4F-4965-9697-210305713A25}" destId="{E2495F06-F05B-43BA-A22D-471A750143AE}"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A7D0A7-CE45-446B-8C62-B27DC9E6D7B0}">
      <dsp:nvSpPr>
        <dsp:cNvPr id="0" name=""/>
        <dsp:cNvSpPr/>
      </dsp:nvSpPr>
      <dsp:spPr>
        <a:xfrm>
          <a:off x="594024" y="199549"/>
          <a:ext cx="1852875" cy="185287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8ABFB0-B9F0-48BB-A799-00B86E3F97EE}">
      <dsp:nvSpPr>
        <dsp:cNvPr id="0" name=""/>
        <dsp:cNvSpPr/>
      </dsp:nvSpPr>
      <dsp:spPr>
        <a:xfrm>
          <a:off x="988899" y="594425"/>
          <a:ext cx="1063124" cy="10631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3CC21792-F119-4643-A2E0-9DFE05B6C1E8}">
      <dsp:nvSpPr>
        <dsp:cNvPr id="0" name=""/>
        <dsp:cNvSpPr/>
      </dsp:nvSpPr>
      <dsp:spPr>
        <a:xfrm>
          <a:off x="1712" y="2629550"/>
          <a:ext cx="30375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1. </a:t>
          </a:r>
          <a:r>
            <a:rPr lang="en-US" sz="1100" b="0" i="0" kern="1200" dirty="0">
              <a:latin typeface="Avenir Book" panose="02000503020000020003" pitchFamily="2" charset="0"/>
            </a:rPr>
            <a:t>Functionalism can make sense of multiple realizability which mind-brain identity theory cannot do. </a:t>
          </a:r>
        </a:p>
      </dsp:txBody>
      <dsp:txXfrm>
        <a:off x="1712" y="2629550"/>
        <a:ext cx="3037500" cy="765000"/>
      </dsp:txXfrm>
    </dsp:sp>
    <dsp:sp modelId="{928B3615-2310-4EB7-8AFF-5A91EA173D1F}">
      <dsp:nvSpPr>
        <dsp:cNvPr id="0" name=""/>
        <dsp:cNvSpPr/>
      </dsp:nvSpPr>
      <dsp:spPr>
        <a:xfrm>
          <a:off x="4163087" y="199549"/>
          <a:ext cx="1852875" cy="185287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12C285-3AD8-4EDF-9B0E-0376F044CEFC}">
      <dsp:nvSpPr>
        <dsp:cNvPr id="0" name=""/>
        <dsp:cNvSpPr/>
      </dsp:nvSpPr>
      <dsp:spPr>
        <a:xfrm>
          <a:off x="4557962" y="594425"/>
          <a:ext cx="1063124" cy="10631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FCD7F416-670E-4AC2-935B-6B2A1D5B0FC0}">
      <dsp:nvSpPr>
        <dsp:cNvPr id="0" name=""/>
        <dsp:cNvSpPr/>
      </dsp:nvSpPr>
      <dsp:spPr>
        <a:xfrm>
          <a:off x="3570775" y="2629550"/>
          <a:ext cx="30375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2. </a:t>
          </a:r>
          <a:r>
            <a:rPr lang="en-US" sz="1100" b="0" i="0" kern="1200" dirty="0">
              <a:latin typeface="Avenir Book" panose="02000503020000020003" pitchFamily="2" charset="0"/>
            </a:rPr>
            <a:t>Functionalism can make sense of weaknesses faced by behaviorism especially the case of the Super Spartans. </a:t>
          </a:r>
        </a:p>
      </dsp:txBody>
      <dsp:txXfrm>
        <a:off x="3570775" y="2629550"/>
        <a:ext cx="3037500" cy="765000"/>
      </dsp:txXfrm>
    </dsp:sp>
    <dsp:sp modelId="{56CF6614-E4B4-4A28-B015-EE68D8C6514C}">
      <dsp:nvSpPr>
        <dsp:cNvPr id="0" name=""/>
        <dsp:cNvSpPr/>
      </dsp:nvSpPr>
      <dsp:spPr>
        <a:xfrm>
          <a:off x="7732150" y="199549"/>
          <a:ext cx="1852875" cy="185287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7CEC05-DD6A-4560-8B48-5E1CC0DBD178}">
      <dsp:nvSpPr>
        <dsp:cNvPr id="0" name=""/>
        <dsp:cNvSpPr/>
      </dsp:nvSpPr>
      <dsp:spPr>
        <a:xfrm>
          <a:off x="8127025" y="594425"/>
          <a:ext cx="1063124" cy="10631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15823956-F313-487C-B303-50978596CBA7}">
      <dsp:nvSpPr>
        <dsp:cNvPr id="0" name=""/>
        <dsp:cNvSpPr/>
      </dsp:nvSpPr>
      <dsp:spPr>
        <a:xfrm>
          <a:off x="7139837" y="2629550"/>
          <a:ext cx="30375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3. </a:t>
          </a:r>
          <a:r>
            <a:rPr lang="en-US" sz="1100" b="0" i="0" kern="1200" dirty="0">
              <a:latin typeface="Avenir Book" panose="02000503020000020003" pitchFamily="2" charset="0"/>
            </a:rPr>
            <a:t>Functionalism and convergent evolution.</a:t>
          </a:r>
        </a:p>
      </dsp:txBody>
      <dsp:txXfrm>
        <a:off x="7139837" y="2629550"/>
        <a:ext cx="3037500" cy="76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BCABA9-A91A-45DA-8FA2-3BB20482604C}">
      <dsp:nvSpPr>
        <dsp:cNvPr id="0" name=""/>
        <dsp:cNvSpPr/>
      </dsp:nvSpPr>
      <dsp:spPr>
        <a:xfrm>
          <a:off x="593660" y="427537"/>
          <a:ext cx="1852875" cy="185287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CB3CE8-1D0C-47D8-80D7-16656FD45CC3}">
      <dsp:nvSpPr>
        <dsp:cNvPr id="0" name=""/>
        <dsp:cNvSpPr/>
      </dsp:nvSpPr>
      <dsp:spPr>
        <a:xfrm>
          <a:off x="988535" y="822412"/>
          <a:ext cx="1063124" cy="10631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6CD7829-6AD9-42E0-AC97-B6889950A405}">
      <dsp:nvSpPr>
        <dsp:cNvPr id="0" name=""/>
        <dsp:cNvSpPr/>
      </dsp:nvSpPr>
      <dsp:spPr>
        <a:xfrm>
          <a:off x="1348" y="2857538"/>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GB" sz="1600" kern="1200" dirty="0"/>
            <a:t>1.There ‘inverted qualia’ thought experiment.</a:t>
          </a:r>
          <a:endParaRPr lang="en-US" sz="1600" kern="1200" dirty="0"/>
        </a:p>
      </dsp:txBody>
      <dsp:txXfrm>
        <a:off x="1348" y="2857538"/>
        <a:ext cx="3037500" cy="720000"/>
      </dsp:txXfrm>
    </dsp:sp>
    <dsp:sp modelId="{B60D69B6-9D05-421D-9DFC-028437635CF4}">
      <dsp:nvSpPr>
        <dsp:cNvPr id="0" name=""/>
        <dsp:cNvSpPr/>
      </dsp:nvSpPr>
      <dsp:spPr>
        <a:xfrm>
          <a:off x="4162723" y="427537"/>
          <a:ext cx="1852875" cy="185287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FAD062-B2C8-4820-9AF1-F2F66C959A87}">
      <dsp:nvSpPr>
        <dsp:cNvPr id="0" name=""/>
        <dsp:cNvSpPr/>
      </dsp:nvSpPr>
      <dsp:spPr>
        <a:xfrm>
          <a:off x="4557598" y="822412"/>
          <a:ext cx="1063124" cy="10631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70FC5C-078C-409E-9F2A-0384F3EDD7F0}">
      <dsp:nvSpPr>
        <dsp:cNvPr id="0" name=""/>
        <dsp:cNvSpPr/>
      </dsp:nvSpPr>
      <dsp:spPr>
        <a:xfrm>
          <a:off x="3570410" y="2857538"/>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GB" sz="1600" kern="1200" dirty="0"/>
            <a:t>2. The Chinese mind thought experiment.</a:t>
          </a:r>
          <a:endParaRPr lang="en-US" sz="1600" kern="1200" dirty="0"/>
        </a:p>
      </dsp:txBody>
      <dsp:txXfrm>
        <a:off x="3570410" y="2857538"/>
        <a:ext cx="3037500" cy="720000"/>
      </dsp:txXfrm>
    </dsp:sp>
    <dsp:sp modelId="{8A4896AF-B5CB-40F6-9651-85443A1615C4}">
      <dsp:nvSpPr>
        <dsp:cNvPr id="0" name=""/>
        <dsp:cNvSpPr/>
      </dsp:nvSpPr>
      <dsp:spPr>
        <a:xfrm>
          <a:off x="7731786" y="427537"/>
          <a:ext cx="1852875" cy="185287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7C1212-7F75-4A35-89C6-F1C02014B4BE}">
      <dsp:nvSpPr>
        <dsp:cNvPr id="0" name=""/>
        <dsp:cNvSpPr/>
      </dsp:nvSpPr>
      <dsp:spPr>
        <a:xfrm>
          <a:off x="8126661" y="822412"/>
          <a:ext cx="1063124" cy="10631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2495F06-F05B-43BA-A22D-471A750143AE}">
      <dsp:nvSpPr>
        <dsp:cNvPr id="0" name=""/>
        <dsp:cNvSpPr/>
      </dsp:nvSpPr>
      <dsp:spPr>
        <a:xfrm>
          <a:off x="7139473" y="2857538"/>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GB" sz="1600" kern="1200" dirty="0"/>
            <a:t>3. Chalmers and the deep question of consciousness.</a:t>
          </a:r>
          <a:endParaRPr lang="en-US" sz="1600" kern="1200" dirty="0"/>
        </a:p>
      </dsp:txBody>
      <dsp:txXfrm>
        <a:off x="7139473" y="2857538"/>
        <a:ext cx="30375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B6C974-5B44-B749-AF6A-B99F97C95A1F}" type="datetimeFigureOut">
              <a:rPr lang="en-US" smtClean="0"/>
              <a:t>8/10/24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0FF4B8-214B-0B46-A020-EF919C9A0D08}" type="slidenum">
              <a:rPr lang="en-US" smtClean="0"/>
              <a:t>‹#›</a:t>
            </a:fld>
            <a:endParaRPr lang="en-US"/>
          </a:p>
        </p:txBody>
      </p:sp>
    </p:spTree>
    <p:extLst>
      <p:ext uri="{BB962C8B-B14F-4D97-AF65-F5344CB8AC3E}">
        <p14:creationId xmlns:p14="http://schemas.microsoft.com/office/powerpoint/2010/main" val="2106364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0FF4B8-214B-0B46-A020-EF919C9A0D08}" type="slidenum">
              <a:rPr lang="en-US" smtClean="0"/>
              <a:t>3</a:t>
            </a:fld>
            <a:endParaRPr lang="en-US"/>
          </a:p>
        </p:txBody>
      </p:sp>
    </p:spTree>
    <p:extLst>
      <p:ext uri="{BB962C8B-B14F-4D97-AF65-F5344CB8AC3E}">
        <p14:creationId xmlns:p14="http://schemas.microsoft.com/office/powerpoint/2010/main" val="43341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99136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66875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47782938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60241326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t>8/10/24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03589875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t>8/10/24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393149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t>8/10/24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619089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21856861"/>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61187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056128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9600778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0283278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5EB5C8F0-2881-4184-92C6-0E251C42A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1999" cy="4292600"/>
          </a:xfrm>
          <a:prstGeom prst="rect">
            <a:avLst/>
          </a:prstGeom>
          <a:solidFill>
            <a:schemeClr val="bg2"/>
          </a:solidFill>
          <a:ln w="0">
            <a:noFill/>
            <a:prstDash val="solid"/>
            <a:round/>
            <a:headEnd/>
            <a:tailEnd/>
          </a:ln>
        </p:spPr>
        <p:txBody>
          <a:bodyPr rtlCol="0" anchor="ctr"/>
          <a:lstStyle/>
          <a:p>
            <a:pPr algn="ctr"/>
            <a:endParaRPr lang="en-US"/>
          </a:p>
        </p:txBody>
      </p:sp>
      <p:pic>
        <p:nvPicPr>
          <p:cNvPr id="7" name="Picture 6" descr="A computer on a desk&#10;&#10;Description automatically generated">
            <a:extLst>
              <a:ext uri="{FF2B5EF4-FFF2-40B4-BE49-F238E27FC236}">
                <a16:creationId xmlns:a16="http://schemas.microsoft.com/office/drawing/2014/main" id="{C9DBBD85-9E35-E1D3-37BA-8C3B1D6CDB08}"/>
              </a:ext>
            </a:extLst>
          </p:cNvPr>
          <p:cNvPicPr>
            <a:picLocks noChangeAspect="1"/>
          </p:cNvPicPr>
          <p:nvPr/>
        </p:nvPicPr>
        <p:blipFill rotWithShape="1">
          <a:blip r:embed="rId2"/>
          <a:srcRect t="11739" b="23561"/>
          <a:stretch/>
        </p:blipFill>
        <p:spPr>
          <a:xfrm>
            <a:off x="20" y="10"/>
            <a:ext cx="6095980" cy="3944127"/>
          </a:xfrm>
          <a:prstGeom prst="rect">
            <a:avLst/>
          </a:prstGeom>
        </p:spPr>
      </p:pic>
      <p:pic>
        <p:nvPicPr>
          <p:cNvPr id="5" name="Picture 4" descr="A colorful brain with glowing lights&#10;&#10;Description automatically generated">
            <a:extLst>
              <a:ext uri="{FF2B5EF4-FFF2-40B4-BE49-F238E27FC236}">
                <a16:creationId xmlns:a16="http://schemas.microsoft.com/office/drawing/2014/main" id="{2FCB4A2F-8154-97DF-4CBE-F4E84DA0F5C3}"/>
              </a:ext>
            </a:extLst>
          </p:cNvPr>
          <p:cNvPicPr>
            <a:picLocks noChangeAspect="1"/>
          </p:cNvPicPr>
          <p:nvPr/>
        </p:nvPicPr>
        <p:blipFill rotWithShape="1">
          <a:blip r:embed="rId3"/>
          <a:srcRect t="8656" b="26644"/>
          <a:stretch/>
        </p:blipFill>
        <p:spPr>
          <a:xfrm>
            <a:off x="6096000" y="10"/>
            <a:ext cx="6096000" cy="3944127"/>
          </a:xfrm>
          <a:prstGeom prst="rect">
            <a:avLst/>
          </a:prstGeom>
        </p:spPr>
      </p:pic>
      <p:sp>
        <p:nvSpPr>
          <p:cNvPr id="32" name="Freeform: Shape 24">
            <a:extLst>
              <a:ext uri="{FF2B5EF4-FFF2-40B4-BE49-F238E27FC236}">
                <a16:creationId xmlns:a16="http://schemas.microsoft.com/office/drawing/2014/main" id="{C2BCC826-0F95-4DB1-9DBA-C1F7BD609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55946"/>
            <a:ext cx="12192000" cy="3102054"/>
          </a:xfrm>
          <a:custGeom>
            <a:avLst/>
            <a:gdLst>
              <a:gd name="connsiteX0" fmla="*/ 685801 w 12192000"/>
              <a:gd name="connsiteY0" fmla="*/ 0 h 3102054"/>
              <a:gd name="connsiteX1" fmla="*/ 754064 w 12192000"/>
              <a:gd name="connsiteY1" fmla="*/ 3175 h 3102054"/>
              <a:gd name="connsiteX2" fmla="*/ 814389 w 12192000"/>
              <a:gd name="connsiteY2" fmla="*/ 9525 h 3102054"/>
              <a:gd name="connsiteX3" fmla="*/ 866776 w 12192000"/>
              <a:gd name="connsiteY3" fmla="*/ 20637 h 3102054"/>
              <a:gd name="connsiteX4" fmla="*/ 912814 w 12192000"/>
              <a:gd name="connsiteY4" fmla="*/ 36512 h 3102054"/>
              <a:gd name="connsiteX5" fmla="*/ 954089 w 12192000"/>
              <a:gd name="connsiteY5" fmla="*/ 52387 h 3102054"/>
              <a:gd name="connsiteX6" fmla="*/ 990601 w 12192000"/>
              <a:gd name="connsiteY6" fmla="*/ 68262 h 3102054"/>
              <a:gd name="connsiteX7" fmla="*/ 1028701 w 12192000"/>
              <a:gd name="connsiteY7" fmla="*/ 87312 h 3102054"/>
              <a:gd name="connsiteX8" fmla="*/ 1066801 w 12192000"/>
              <a:gd name="connsiteY8" fmla="*/ 106362 h 3102054"/>
              <a:gd name="connsiteX9" fmla="*/ 1103314 w 12192000"/>
              <a:gd name="connsiteY9" fmla="*/ 125412 h 3102054"/>
              <a:gd name="connsiteX10" fmla="*/ 1144589 w 12192000"/>
              <a:gd name="connsiteY10" fmla="*/ 141287 h 3102054"/>
              <a:gd name="connsiteX11" fmla="*/ 1190626 w 12192000"/>
              <a:gd name="connsiteY11" fmla="*/ 155575 h 3102054"/>
              <a:gd name="connsiteX12" fmla="*/ 1243014 w 12192000"/>
              <a:gd name="connsiteY12" fmla="*/ 166687 h 3102054"/>
              <a:gd name="connsiteX13" fmla="*/ 1303339 w 12192000"/>
              <a:gd name="connsiteY13" fmla="*/ 174625 h 3102054"/>
              <a:gd name="connsiteX14" fmla="*/ 1371601 w 12192000"/>
              <a:gd name="connsiteY14" fmla="*/ 176212 h 3102054"/>
              <a:gd name="connsiteX15" fmla="*/ 1439864 w 12192000"/>
              <a:gd name="connsiteY15" fmla="*/ 174625 h 3102054"/>
              <a:gd name="connsiteX16" fmla="*/ 1500189 w 12192000"/>
              <a:gd name="connsiteY16" fmla="*/ 166687 h 3102054"/>
              <a:gd name="connsiteX17" fmla="*/ 1552576 w 12192000"/>
              <a:gd name="connsiteY17" fmla="*/ 155575 h 3102054"/>
              <a:gd name="connsiteX18" fmla="*/ 1598614 w 12192000"/>
              <a:gd name="connsiteY18" fmla="*/ 141287 h 3102054"/>
              <a:gd name="connsiteX19" fmla="*/ 1639889 w 12192000"/>
              <a:gd name="connsiteY19" fmla="*/ 125412 h 3102054"/>
              <a:gd name="connsiteX20" fmla="*/ 1676401 w 12192000"/>
              <a:gd name="connsiteY20" fmla="*/ 106362 h 3102054"/>
              <a:gd name="connsiteX21" fmla="*/ 1714501 w 12192000"/>
              <a:gd name="connsiteY21" fmla="*/ 87312 h 3102054"/>
              <a:gd name="connsiteX22" fmla="*/ 1752601 w 12192000"/>
              <a:gd name="connsiteY22" fmla="*/ 68262 h 3102054"/>
              <a:gd name="connsiteX23" fmla="*/ 1789114 w 12192000"/>
              <a:gd name="connsiteY23" fmla="*/ 52387 h 3102054"/>
              <a:gd name="connsiteX24" fmla="*/ 1830389 w 12192000"/>
              <a:gd name="connsiteY24" fmla="*/ 36512 h 3102054"/>
              <a:gd name="connsiteX25" fmla="*/ 1876426 w 12192000"/>
              <a:gd name="connsiteY25" fmla="*/ 20637 h 3102054"/>
              <a:gd name="connsiteX26" fmla="*/ 1928814 w 12192000"/>
              <a:gd name="connsiteY26" fmla="*/ 9525 h 3102054"/>
              <a:gd name="connsiteX27" fmla="*/ 1989139 w 12192000"/>
              <a:gd name="connsiteY27" fmla="*/ 3175 h 3102054"/>
              <a:gd name="connsiteX28" fmla="*/ 2057401 w 12192000"/>
              <a:gd name="connsiteY28" fmla="*/ 0 h 3102054"/>
              <a:gd name="connsiteX29" fmla="*/ 2125664 w 12192000"/>
              <a:gd name="connsiteY29" fmla="*/ 3175 h 3102054"/>
              <a:gd name="connsiteX30" fmla="*/ 2185989 w 12192000"/>
              <a:gd name="connsiteY30" fmla="*/ 9525 h 3102054"/>
              <a:gd name="connsiteX31" fmla="*/ 2238376 w 12192000"/>
              <a:gd name="connsiteY31" fmla="*/ 20637 h 3102054"/>
              <a:gd name="connsiteX32" fmla="*/ 2284414 w 12192000"/>
              <a:gd name="connsiteY32" fmla="*/ 36512 h 3102054"/>
              <a:gd name="connsiteX33" fmla="*/ 2325688 w 12192000"/>
              <a:gd name="connsiteY33" fmla="*/ 52387 h 3102054"/>
              <a:gd name="connsiteX34" fmla="*/ 2362201 w 12192000"/>
              <a:gd name="connsiteY34" fmla="*/ 68262 h 3102054"/>
              <a:gd name="connsiteX35" fmla="*/ 2400301 w 12192000"/>
              <a:gd name="connsiteY35" fmla="*/ 87312 h 3102054"/>
              <a:gd name="connsiteX36" fmla="*/ 2438401 w 12192000"/>
              <a:gd name="connsiteY36" fmla="*/ 106362 h 3102054"/>
              <a:gd name="connsiteX37" fmla="*/ 2474913 w 12192000"/>
              <a:gd name="connsiteY37" fmla="*/ 125412 h 3102054"/>
              <a:gd name="connsiteX38" fmla="*/ 2516188 w 12192000"/>
              <a:gd name="connsiteY38" fmla="*/ 141287 h 3102054"/>
              <a:gd name="connsiteX39" fmla="*/ 2562226 w 12192000"/>
              <a:gd name="connsiteY39" fmla="*/ 155575 h 3102054"/>
              <a:gd name="connsiteX40" fmla="*/ 2614614 w 12192000"/>
              <a:gd name="connsiteY40" fmla="*/ 166687 h 3102054"/>
              <a:gd name="connsiteX41" fmla="*/ 2674938 w 12192000"/>
              <a:gd name="connsiteY41" fmla="*/ 174625 h 3102054"/>
              <a:gd name="connsiteX42" fmla="*/ 2743201 w 12192000"/>
              <a:gd name="connsiteY42" fmla="*/ 176212 h 3102054"/>
              <a:gd name="connsiteX43" fmla="*/ 2811464 w 12192000"/>
              <a:gd name="connsiteY43" fmla="*/ 174625 h 3102054"/>
              <a:gd name="connsiteX44" fmla="*/ 2871789 w 12192000"/>
              <a:gd name="connsiteY44" fmla="*/ 166687 h 3102054"/>
              <a:gd name="connsiteX45" fmla="*/ 2924176 w 12192000"/>
              <a:gd name="connsiteY45" fmla="*/ 155575 h 3102054"/>
              <a:gd name="connsiteX46" fmla="*/ 2970214 w 12192000"/>
              <a:gd name="connsiteY46" fmla="*/ 141287 h 3102054"/>
              <a:gd name="connsiteX47" fmla="*/ 3011489 w 12192000"/>
              <a:gd name="connsiteY47" fmla="*/ 125412 h 3102054"/>
              <a:gd name="connsiteX48" fmla="*/ 3048001 w 12192000"/>
              <a:gd name="connsiteY48" fmla="*/ 106362 h 3102054"/>
              <a:gd name="connsiteX49" fmla="*/ 3086101 w 12192000"/>
              <a:gd name="connsiteY49" fmla="*/ 87312 h 3102054"/>
              <a:gd name="connsiteX50" fmla="*/ 3124201 w 12192000"/>
              <a:gd name="connsiteY50" fmla="*/ 68262 h 3102054"/>
              <a:gd name="connsiteX51" fmla="*/ 3160714 w 12192000"/>
              <a:gd name="connsiteY51" fmla="*/ 52387 h 3102054"/>
              <a:gd name="connsiteX52" fmla="*/ 3201989 w 12192000"/>
              <a:gd name="connsiteY52" fmla="*/ 36512 h 3102054"/>
              <a:gd name="connsiteX53" fmla="*/ 3248026 w 12192000"/>
              <a:gd name="connsiteY53" fmla="*/ 20637 h 3102054"/>
              <a:gd name="connsiteX54" fmla="*/ 3300414 w 12192000"/>
              <a:gd name="connsiteY54" fmla="*/ 9525 h 3102054"/>
              <a:gd name="connsiteX55" fmla="*/ 3360739 w 12192000"/>
              <a:gd name="connsiteY55" fmla="*/ 3175 h 3102054"/>
              <a:gd name="connsiteX56" fmla="*/ 3427414 w 12192000"/>
              <a:gd name="connsiteY56" fmla="*/ 0 h 3102054"/>
              <a:gd name="connsiteX57" fmla="*/ 3497264 w 12192000"/>
              <a:gd name="connsiteY57" fmla="*/ 3175 h 3102054"/>
              <a:gd name="connsiteX58" fmla="*/ 3557589 w 12192000"/>
              <a:gd name="connsiteY58" fmla="*/ 9525 h 3102054"/>
              <a:gd name="connsiteX59" fmla="*/ 3609976 w 12192000"/>
              <a:gd name="connsiteY59" fmla="*/ 20637 h 3102054"/>
              <a:gd name="connsiteX60" fmla="*/ 3656014 w 12192000"/>
              <a:gd name="connsiteY60" fmla="*/ 36512 h 3102054"/>
              <a:gd name="connsiteX61" fmla="*/ 3697288 w 12192000"/>
              <a:gd name="connsiteY61" fmla="*/ 52387 h 3102054"/>
              <a:gd name="connsiteX62" fmla="*/ 3733801 w 12192000"/>
              <a:gd name="connsiteY62" fmla="*/ 68262 h 3102054"/>
              <a:gd name="connsiteX63" fmla="*/ 3771901 w 12192000"/>
              <a:gd name="connsiteY63" fmla="*/ 87312 h 3102054"/>
              <a:gd name="connsiteX64" fmla="*/ 3810001 w 12192000"/>
              <a:gd name="connsiteY64" fmla="*/ 106362 h 3102054"/>
              <a:gd name="connsiteX65" fmla="*/ 3846514 w 12192000"/>
              <a:gd name="connsiteY65" fmla="*/ 125412 h 3102054"/>
              <a:gd name="connsiteX66" fmla="*/ 3887789 w 12192000"/>
              <a:gd name="connsiteY66" fmla="*/ 141287 h 3102054"/>
              <a:gd name="connsiteX67" fmla="*/ 3933826 w 12192000"/>
              <a:gd name="connsiteY67" fmla="*/ 155575 h 3102054"/>
              <a:gd name="connsiteX68" fmla="*/ 3986214 w 12192000"/>
              <a:gd name="connsiteY68" fmla="*/ 166687 h 3102054"/>
              <a:gd name="connsiteX69" fmla="*/ 4046539 w 12192000"/>
              <a:gd name="connsiteY69" fmla="*/ 174625 h 3102054"/>
              <a:gd name="connsiteX70" fmla="*/ 4114801 w 12192000"/>
              <a:gd name="connsiteY70" fmla="*/ 176212 h 3102054"/>
              <a:gd name="connsiteX71" fmla="*/ 4183064 w 12192000"/>
              <a:gd name="connsiteY71" fmla="*/ 174625 h 3102054"/>
              <a:gd name="connsiteX72" fmla="*/ 4243388 w 12192000"/>
              <a:gd name="connsiteY72" fmla="*/ 166687 h 3102054"/>
              <a:gd name="connsiteX73" fmla="*/ 4295776 w 12192000"/>
              <a:gd name="connsiteY73" fmla="*/ 155575 h 3102054"/>
              <a:gd name="connsiteX74" fmla="*/ 4341813 w 12192000"/>
              <a:gd name="connsiteY74" fmla="*/ 141287 h 3102054"/>
              <a:gd name="connsiteX75" fmla="*/ 4383088 w 12192000"/>
              <a:gd name="connsiteY75" fmla="*/ 125412 h 3102054"/>
              <a:gd name="connsiteX76" fmla="*/ 4419601 w 12192000"/>
              <a:gd name="connsiteY76" fmla="*/ 106362 h 3102054"/>
              <a:gd name="connsiteX77" fmla="*/ 4495801 w 12192000"/>
              <a:gd name="connsiteY77" fmla="*/ 68262 h 3102054"/>
              <a:gd name="connsiteX78" fmla="*/ 4532314 w 12192000"/>
              <a:gd name="connsiteY78" fmla="*/ 52387 h 3102054"/>
              <a:gd name="connsiteX79" fmla="*/ 4573588 w 12192000"/>
              <a:gd name="connsiteY79" fmla="*/ 36512 h 3102054"/>
              <a:gd name="connsiteX80" fmla="*/ 4619626 w 12192000"/>
              <a:gd name="connsiteY80" fmla="*/ 20637 h 3102054"/>
              <a:gd name="connsiteX81" fmla="*/ 4672013 w 12192000"/>
              <a:gd name="connsiteY81" fmla="*/ 9525 h 3102054"/>
              <a:gd name="connsiteX82" fmla="*/ 4732338 w 12192000"/>
              <a:gd name="connsiteY82" fmla="*/ 3175 h 3102054"/>
              <a:gd name="connsiteX83" fmla="*/ 4800601 w 12192000"/>
              <a:gd name="connsiteY83" fmla="*/ 0 h 3102054"/>
              <a:gd name="connsiteX84" fmla="*/ 4868864 w 12192000"/>
              <a:gd name="connsiteY84" fmla="*/ 3175 h 3102054"/>
              <a:gd name="connsiteX85" fmla="*/ 4929188 w 12192000"/>
              <a:gd name="connsiteY85" fmla="*/ 9525 h 3102054"/>
              <a:gd name="connsiteX86" fmla="*/ 4981576 w 12192000"/>
              <a:gd name="connsiteY86" fmla="*/ 20637 h 3102054"/>
              <a:gd name="connsiteX87" fmla="*/ 5027614 w 12192000"/>
              <a:gd name="connsiteY87" fmla="*/ 36512 h 3102054"/>
              <a:gd name="connsiteX88" fmla="*/ 5068889 w 12192000"/>
              <a:gd name="connsiteY88" fmla="*/ 52387 h 3102054"/>
              <a:gd name="connsiteX89" fmla="*/ 5105402 w 12192000"/>
              <a:gd name="connsiteY89" fmla="*/ 68262 h 3102054"/>
              <a:gd name="connsiteX90" fmla="*/ 5143502 w 12192000"/>
              <a:gd name="connsiteY90" fmla="*/ 87312 h 3102054"/>
              <a:gd name="connsiteX91" fmla="*/ 5181601 w 12192000"/>
              <a:gd name="connsiteY91" fmla="*/ 106362 h 3102054"/>
              <a:gd name="connsiteX92" fmla="*/ 5218115 w 12192000"/>
              <a:gd name="connsiteY92" fmla="*/ 125412 h 3102054"/>
              <a:gd name="connsiteX93" fmla="*/ 5259388 w 12192000"/>
              <a:gd name="connsiteY93" fmla="*/ 141287 h 3102054"/>
              <a:gd name="connsiteX94" fmla="*/ 5305426 w 12192000"/>
              <a:gd name="connsiteY94" fmla="*/ 155575 h 3102054"/>
              <a:gd name="connsiteX95" fmla="*/ 5357813 w 12192000"/>
              <a:gd name="connsiteY95" fmla="*/ 166687 h 3102054"/>
              <a:gd name="connsiteX96" fmla="*/ 5418139 w 12192000"/>
              <a:gd name="connsiteY96" fmla="*/ 174625 h 3102054"/>
              <a:gd name="connsiteX97" fmla="*/ 5486401 w 12192000"/>
              <a:gd name="connsiteY97" fmla="*/ 176212 h 3102054"/>
              <a:gd name="connsiteX98" fmla="*/ 5554663 w 12192000"/>
              <a:gd name="connsiteY98" fmla="*/ 174625 h 3102054"/>
              <a:gd name="connsiteX99" fmla="*/ 5614989 w 12192000"/>
              <a:gd name="connsiteY99" fmla="*/ 166687 h 3102054"/>
              <a:gd name="connsiteX100" fmla="*/ 5667376 w 12192000"/>
              <a:gd name="connsiteY100" fmla="*/ 155575 h 3102054"/>
              <a:gd name="connsiteX101" fmla="*/ 5713414 w 12192000"/>
              <a:gd name="connsiteY101" fmla="*/ 141287 h 3102054"/>
              <a:gd name="connsiteX102" fmla="*/ 5754689 w 12192000"/>
              <a:gd name="connsiteY102" fmla="*/ 125412 h 3102054"/>
              <a:gd name="connsiteX103" fmla="*/ 5791202 w 12192000"/>
              <a:gd name="connsiteY103" fmla="*/ 106362 h 3102054"/>
              <a:gd name="connsiteX104" fmla="*/ 5829302 w 12192000"/>
              <a:gd name="connsiteY104" fmla="*/ 87312 h 3102054"/>
              <a:gd name="connsiteX105" fmla="*/ 5867402 w 12192000"/>
              <a:gd name="connsiteY105" fmla="*/ 68262 h 3102054"/>
              <a:gd name="connsiteX106" fmla="*/ 5903915 w 12192000"/>
              <a:gd name="connsiteY106" fmla="*/ 52387 h 3102054"/>
              <a:gd name="connsiteX107" fmla="*/ 5945189 w 12192000"/>
              <a:gd name="connsiteY107" fmla="*/ 36512 h 3102054"/>
              <a:gd name="connsiteX108" fmla="*/ 5991226 w 12192000"/>
              <a:gd name="connsiteY108" fmla="*/ 20637 h 3102054"/>
              <a:gd name="connsiteX109" fmla="*/ 6043614 w 12192000"/>
              <a:gd name="connsiteY109" fmla="*/ 9525 h 3102054"/>
              <a:gd name="connsiteX110" fmla="*/ 6103939 w 12192000"/>
              <a:gd name="connsiteY110" fmla="*/ 3175 h 3102054"/>
              <a:gd name="connsiteX111" fmla="*/ 6172201 w 12192000"/>
              <a:gd name="connsiteY111" fmla="*/ 0 h 3102054"/>
              <a:gd name="connsiteX112" fmla="*/ 6210301 w 12192000"/>
              <a:gd name="connsiteY112" fmla="*/ 1772 h 3102054"/>
              <a:gd name="connsiteX113" fmla="*/ 6248401 w 12192000"/>
              <a:gd name="connsiteY113" fmla="*/ 0 h 3102054"/>
              <a:gd name="connsiteX114" fmla="*/ 6316664 w 12192000"/>
              <a:gd name="connsiteY114" fmla="*/ 3175 h 3102054"/>
              <a:gd name="connsiteX115" fmla="*/ 6376989 w 12192000"/>
              <a:gd name="connsiteY115" fmla="*/ 9525 h 3102054"/>
              <a:gd name="connsiteX116" fmla="*/ 6429376 w 12192000"/>
              <a:gd name="connsiteY116" fmla="*/ 20637 h 3102054"/>
              <a:gd name="connsiteX117" fmla="*/ 6475414 w 12192000"/>
              <a:gd name="connsiteY117" fmla="*/ 36512 h 3102054"/>
              <a:gd name="connsiteX118" fmla="*/ 6516689 w 12192000"/>
              <a:gd name="connsiteY118" fmla="*/ 52387 h 3102054"/>
              <a:gd name="connsiteX119" fmla="*/ 6553202 w 12192000"/>
              <a:gd name="connsiteY119" fmla="*/ 68262 h 3102054"/>
              <a:gd name="connsiteX120" fmla="*/ 6591302 w 12192000"/>
              <a:gd name="connsiteY120" fmla="*/ 87312 h 3102054"/>
              <a:gd name="connsiteX121" fmla="*/ 6629401 w 12192000"/>
              <a:gd name="connsiteY121" fmla="*/ 106362 h 3102054"/>
              <a:gd name="connsiteX122" fmla="*/ 6665915 w 12192000"/>
              <a:gd name="connsiteY122" fmla="*/ 125412 h 3102054"/>
              <a:gd name="connsiteX123" fmla="*/ 6707189 w 12192000"/>
              <a:gd name="connsiteY123" fmla="*/ 141287 h 3102054"/>
              <a:gd name="connsiteX124" fmla="*/ 6753226 w 12192000"/>
              <a:gd name="connsiteY124" fmla="*/ 155575 h 3102054"/>
              <a:gd name="connsiteX125" fmla="*/ 6805614 w 12192000"/>
              <a:gd name="connsiteY125" fmla="*/ 166687 h 3102054"/>
              <a:gd name="connsiteX126" fmla="*/ 6865939 w 12192000"/>
              <a:gd name="connsiteY126" fmla="*/ 174625 h 3102054"/>
              <a:gd name="connsiteX127" fmla="*/ 6934201 w 12192000"/>
              <a:gd name="connsiteY127" fmla="*/ 176212 h 3102054"/>
              <a:gd name="connsiteX128" fmla="*/ 7002464 w 12192000"/>
              <a:gd name="connsiteY128" fmla="*/ 174625 h 3102054"/>
              <a:gd name="connsiteX129" fmla="*/ 7062789 w 12192000"/>
              <a:gd name="connsiteY129" fmla="*/ 166687 h 3102054"/>
              <a:gd name="connsiteX130" fmla="*/ 7115176 w 12192000"/>
              <a:gd name="connsiteY130" fmla="*/ 155575 h 3102054"/>
              <a:gd name="connsiteX131" fmla="*/ 7161214 w 12192000"/>
              <a:gd name="connsiteY131" fmla="*/ 141287 h 3102054"/>
              <a:gd name="connsiteX132" fmla="*/ 7202489 w 12192000"/>
              <a:gd name="connsiteY132" fmla="*/ 125412 h 3102054"/>
              <a:gd name="connsiteX133" fmla="*/ 7239001 w 12192000"/>
              <a:gd name="connsiteY133" fmla="*/ 106362 h 3102054"/>
              <a:gd name="connsiteX134" fmla="*/ 7277101 w 12192000"/>
              <a:gd name="connsiteY134" fmla="*/ 87312 h 3102054"/>
              <a:gd name="connsiteX135" fmla="*/ 7315201 w 12192000"/>
              <a:gd name="connsiteY135" fmla="*/ 68262 h 3102054"/>
              <a:gd name="connsiteX136" fmla="*/ 7351714 w 12192000"/>
              <a:gd name="connsiteY136" fmla="*/ 52387 h 3102054"/>
              <a:gd name="connsiteX137" fmla="*/ 7392989 w 12192000"/>
              <a:gd name="connsiteY137" fmla="*/ 36512 h 3102054"/>
              <a:gd name="connsiteX138" fmla="*/ 7439026 w 12192000"/>
              <a:gd name="connsiteY138" fmla="*/ 20637 h 3102054"/>
              <a:gd name="connsiteX139" fmla="*/ 7491414 w 12192000"/>
              <a:gd name="connsiteY139" fmla="*/ 9525 h 3102054"/>
              <a:gd name="connsiteX140" fmla="*/ 7551739 w 12192000"/>
              <a:gd name="connsiteY140" fmla="*/ 3175 h 3102054"/>
              <a:gd name="connsiteX141" fmla="*/ 7620001 w 12192000"/>
              <a:gd name="connsiteY141" fmla="*/ 0 h 3102054"/>
              <a:gd name="connsiteX142" fmla="*/ 7688264 w 12192000"/>
              <a:gd name="connsiteY142" fmla="*/ 3175 h 3102054"/>
              <a:gd name="connsiteX143" fmla="*/ 7748589 w 12192000"/>
              <a:gd name="connsiteY143" fmla="*/ 9525 h 3102054"/>
              <a:gd name="connsiteX144" fmla="*/ 7800976 w 12192000"/>
              <a:gd name="connsiteY144" fmla="*/ 20637 h 3102054"/>
              <a:gd name="connsiteX145" fmla="*/ 7847014 w 12192000"/>
              <a:gd name="connsiteY145" fmla="*/ 36512 h 3102054"/>
              <a:gd name="connsiteX146" fmla="*/ 7888289 w 12192000"/>
              <a:gd name="connsiteY146" fmla="*/ 52387 h 3102054"/>
              <a:gd name="connsiteX147" fmla="*/ 7924801 w 12192000"/>
              <a:gd name="connsiteY147" fmla="*/ 68262 h 3102054"/>
              <a:gd name="connsiteX148" fmla="*/ 7962901 w 12192000"/>
              <a:gd name="connsiteY148" fmla="*/ 87312 h 3102054"/>
              <a:gd name="connsiteX149" fmla="*/ 8001001 w 12192000"/>
              <a:gd name="connsiteY149" fmla="*/ 106362 h 3102054"/>
              <a:gd name="connsiteX150" fmla="*/ 8037514 w 12192000"/>
              <a:gd name="connsiteY150" fmla="*/ 125412 h 3102054"/>
              <a:gd name="connsiteX151" fmla="*/ 8078789 w 12192000"/>
              <a:gd name="connsiteY151" fmla="*/ 141287 h 3102054"/>
              <a:gd name="connsiteX152" fmla="*/ 8124826 w 12192000"/>
              <a:gd name="connsiteY152" fmla="*/ 155575 h 3102054"/>
              <a:gd name="connsiteX153" fmla="*/ 8177214 w 12192000"/>
              <a:gd name="connsiteY153" fmla="*/ 166687 h 3102054"/>
              <a:gd name="connsiteX154" fmla="*/ 8237539 w 12192000"/>
              <a:gd name="connsiteY154" fmla="*/ 174625 h 3102054"/>
              <a:gd name="connsiteX155" fmla="*/ 8305801 w 12192000"/>
              <a:gd name="connsiteY155" fmla="*/ 176212 h 3102054"/>
              <a:gd name="connsiteX156" fmla="*/ 8374064 w 12192000"/>
              <a:gd name="connsiteY156" fmla="*/ 174625 h 3102054"/>
              <a:gd name="connsiteX157" fmla="*/ 8434388 w 12192000"/>
              <a:gd name="connsiteY157" fmla="*/ 166687 h 3102054"/>
              <a:gd name="connsiteX158" fmla="*/ 8486776 w 12192000"/>
              <a:gd name="connsiteY158" fmla="*/ 155575 h 3102054"/>
              <a:gd name="connsiteX159" fmla="*/ 8532814 w 12192000"/>
              <a:gd name="connsiteY159" fmla="*/ 141287 h 3102054"/>
              <a:gd name="connsiteX160" fmla="*/ 8574088 w 12192000"/>
              <a:gd name="connsiteY160" fmla="*/ 125412 h 3102054"/>
              <a:gd name="connsiteX161" fmla="*/ 8610600 w 12192000"/>
              <a:gd name="connsiteY161" fmla="*/ 106362 h 3102054"/>
              <a:gd name="connsiteX162" fmla="*/ 8648700 w 12192000"/>
              <a:gd name="connsiteY162" fmla="*/ 87312 h 3102054"/>
              <a:gd name="connsiteX163" fmla="*/ 8686800 w 12192000"/>
              <a:gd name="connsiteY163" fmla="*/ 68262 h 3102054"/>
              <a:gd name="connsiteX164" fmla="*/ 8723314 w 12192000"/>
              <a:gd name="connsiteY164" fmla="*/ 52387 h 3102054"/>
              <a:gd name="connsiteX165" fmla="*/ 8764588 w 12192000"/>
              <a:gd name="connsiteY165" fmla="*/ 36512 h 3102054"/>
              <a:gd name="connsiteX166" fmla="*/ 8810626 w 12192000"/>
              <a:gd name="connsiteY166" fmla="*/ 20637 h 3102054"/>
              <a:gd name="connsiteX167" fmla="*/ 8863014 w 12192000"/>
              <a:gd name="connsiteY167" fmla="*/ 9525 h 3102054"/>
              <a:gd name="connsiteX168" fmla="*/ 8923338 w 12192000"/>
              <a:gd name="connsiteY168" fmla="*/ 3175 h 3102054"/>
              <a:gd name="connsiteX169" fmla="*/ 8990014 w 12192000"/>
              <a:gd name="connsiteY169" fmla="*/ 0 h 3102054"/>
              <a:gd name="connsiteX170" fmla="*/ 9059864 w 12192000"/>
              <a:gd name="connsiteY170" fmla="*/ 3175 h 3102054"/>
              <a:gd name="connsiteX171" fmla="*/ 9120188 w 12192000"/>
              <a:gd name="connsiteY171" fmla="*/ 9525 h 3102054"/>
              <a:gd name="connsiteX172" fmla="*/ 9172576 w 12192000"/>
              <a:gd name="connsiteY172" fmla="*/ 20637 h 3102054"/>
              <a:gd name="connsiteX173" fmla="*/ 9218614 w 12192000"/>
              <a:gd name="connsiteY173" fmla="*/ 36512 h 3102054"/>
              <a:gd name="connsiteX174" fmla="*/ 9259888 w 12192000"/>
              <a:gd name="connsiteY174" fmla="*/ 52387 h 3102054"/>
              <a:gd name="connsiteX175" fmla="*/ 9296400 w 12192000"/>
              <a:gd name="connsiteY175" fmla="*/ 68262 h 3102054"/>
              <a:gd name="connsiteX176" fmla="*/ 9334500 w 12192000"/>
              <a:gd name="connsiteY176" fmla="*/ 87312 h 3102054"/>
              <a:gd name="connsiteX177" fmla="*/ 9372600 w 12192000"/>
              <a:gd name="connsiteY177" fmla="*/ 106362 h 3102054"/>
              <a:gd name="connsiteX178" fmla="*/ 9409114 w 12192000"/>
              <a:gd name="connsiteY178" fmla="*/ 125412 h 3102054"/>
              <a:gd name="connsiteX179" fmla="*/ 9450388 w 12192000"/>
              <a:gd name="connsiteY179" fmla="*/ 141287 h 3102054"/>
              <a:gd name="connsiteX180" fmla="*/ 9496426 w 12192000"/>
              <a:gd name="connsiteY180" fmla="*/ 155575 h 3102054"/>
              <a:gd name="connsiteX181" fmla="*/ 9548814 w 12192000"/>
              <a:gd name="connsiteY181" fmla="*/ 166687 h 3102054"/>
              <a:gd name="connsiteX182" fmla="*/ 9609138 w 12192000"/>
              <a:gd name="connsiteY182" fmla="*/ 174625 h 3102054"/>
              <a:gd name="connsiteX183" fmla="*/ 9677400 w 12192000"/>
              <a:gd name="connsiteY183" fmla="*/ 176212 h 3102054"/>
              <a:gd name="connsiteX184" fmla="*/ 9745664 w 12192000"/>
              <a:gd name="connsiteY184" fmla="*/ 174625 h 3102054"/>
              <a:gd name="connsiteX185" fmla="*/ 9805988 w 12192000"/>
              <a:gd name="connsiteY185" fmla="*/ 166687 h 3102054"/>
              <a:gd name="connsiteX186" fmla="*/ 9858376 w 12192000"/>
              <a:gd name="connsiteY186" fmla="*/ 155575 h 3102054"/>
              <a:gd name="connsiteX187" fmla="*/ 9904414 w 12192000"/>
              <a:gd name="connsiteY187" fmla="*/ 141287 h 3102054"/>
              <a:gd name="connsiteX188" fmla="*/ 9945688 w 12192000"/>
              <a:gd name="connsiteY188" fmla="*/ 125412 h 3102054"/>
              <a:gd name="connsiteX189" fmla="*/ 9982200 w 12192000"/>
              <a:gd name="connsiteY189" fmla="*/ 106362 h 3102054"/>
              <a:gd name="connsiteX190" fmla="*/ 10058400 w 12192000"/>
              <a:gd name="connsiteY190" fmla="*/ 68262 h 3102054"/>
              <a:gd name="connsiteX191" fmla="*/ 10094914 w 12192000"/>
              <a:gd name="connsiteY191" fmla="*/ 52387 h 3102054"/>
              <a:gd name="connsiteX192" fmla="*/ 10136188 w 12192000"/>
              <a:gd name="connsiteY192" fmla="*/ 36512 h 3102054"/>
              <a:gd name="connsiteX193" fmla="*/ 10182226 w 12192000"/>
              <a:gd name="connsiteY193" fmla="*/ 20637 h 3102054"/>
              <a:gd name="connsiteX194" fmla="*/ 10234614 w 12192000"/>
              <a:gd name="connsiteY194" fmla="*/ 9525 h 3102054"/>
              <a:gd name="connsiteX195" fmla="*/ 10294938 w 12192000"/>
              <a:gd name="connsiteY195" fmla="*/ 3175 h 3102054"/>
              <a:gd name="connsiteX196" fmla="*/ 10363200 w 12192000"/>
              <a:gd name="connsiteY196" fmla="*/ 0 h 3102054"/>
              <a:gd name="connsiteX197" fmla="*/ 10431464 w 12192000"/>
              <a:gd name="connsiteY197" fmla="*/ 3175 h 3102054"/>
              <a:gd name="connsiteX198" fmla="*/ 10491788 w 12192000"/>
              <a:gd name="connsiteY198" fmla="*/ 9525 h 3102054"/>
              <a:gd name="connsiteX199" fmla="*/ 10544176 w 12192000"/>
              <a:gd name="connsiteY199" fmla="*/ 20637 h 3102054"/>
              <a:gd name="connsiteX200" fmla="*/ 10590214 w 12192000"/>
              <a:gd name="connsiteY200" fmla="*/ 36512 h 3102054"/>
              <a:gd name="connsiteX201" fmla="*/ 10631488 w 12192000"/>
              <a:gd name="connsiteY201" fmla="*/ 52387 h 3102054"/>
              <a:gd name="connsiteX202" fmla="*/ 10668000 w 12192000"/>
              <a:gd name="connsiteY202" fmla="*/ 68262 h 3102054"/>
              <a:gd name="connsiteX203" fmla="*/ 10706100 w 12192000"/>
              <a:gd name="connsiteY203" fmla="*/ 87312 h 3102054"/>
              <a:gd name="connsiteX204" fmla="*/ 10744200 w 12192000"/>
              <a:gd name="connsiteY204" fmla="*/ 106362 h 3102054"/>
              <a:gd name="connsiteX205" fmla="*/ 10780714 w 12192000"/>
              <a:gd name="connsiteY205" fmla="*/ 125412 h 3102054"/>
              <a:gd name="connsiteX206" fmla="*/ 10821988 w 12192000"/>
              <a:gd name="connsiteY206" fmla="*/ 141287 h 3102054"/>
              <a:gd name="connsiteX207" fmla="*/ 10868026 w 12192000"/>
              <a:gd name="connsiteY207" fmla="*/ 155575 h 3102054"/>
              <a:gd name="connsiteX208" fmla="*/ 10920414 w 12192000"/>
              <a:gd name="connsiteY208" fmla="*/ 166687 h 3102054"/>
              <a:gd name="connsiteX209" fmla="*/ 10980738 w 12192000"/>
              <a:gd name="connsiteY209" fmla="*/ 174625 h 3102054"/>
              <a:gd name="connsiteX210" fmla="*/ 11049000 w 12192000"/>
              <a:gd name="connsiteY210" fmla="*/ 176212 h 3102054"/>
              <a:gd name="connsiteX211" fmla="*/ 11117264 w 12192000"/>
              <a:gd name="connsiteY211" fmla="*/ 174625 h 3102054"/>
              <a:gd name="connsiteX212" fmla="*/ 11177588 w 12192000"/>
              <a:gd name="connsiteY212" fmla="*/ 166687 h 3102054"/>
              <a:gd name="connsiteX213" fmla="*/ 11229976 w 12192000"/>
              <a:gd name="connsiteY213" fmla="*/ 155575 h 3102054"/>
              <a:gd name="connsiteX214" fmla="*/ 11276014 w 12192000"/>
              <a:gd name="connsiteY214" fmla="*/ 141287 h 3102054"/>
              <a:gd name="connsiteX215" fmla="*/ 11317288 w 12192000"/>
              <a:gd name="connsiteY215" fmla="*/ 125412 h 3102054"/>
              <a:gd name="connsiteX216" fmla="*/ 11353800 w 12192000"/>
              <a:gd name="connsiteY216" fmla="*/ 106362 h 3102054"/>
              <a:gd name="connsiteX217" fmla="*/ 11391900 w 12192000"/>
              <a:gd name="connsiteY217" fmla="*/ 87312 h 3102054"/>
              <a:gd name="connsiteX218" fmla="*/ 11430000 w 12192000"/>
              <a:gd name="connsiteY218" fmla="*/ 68263 h 3102054"/>
              <a:gd name="connsiteX219" fmla="*/ 11466514 w 12192000"/>
              <a:gd name="connsiteY219" fmla="*/ 52388 h 3102054"/>
              <a:gd name="connsiteX220" fmla="*/ 11507788 w 12192000"/>
              <a:gd name="connsiteY220" fmla="*/ 36513 h 3102054"/>
              <a:gd name="connsiteX221" fmla="*/ 11553826 w 12192000"/>
              <a:gd name="connsiteY221" fmla="*/ 20638 h 3102054"/>
              <a:gd name="connsiteX222" fmla="*/ 11606214 w 12192000"/>
              <a:gd name="connsiteY222" fmla="*/ 9525 h 3102054"/>
              <a:gd name="connsiteX223" fmla="*/ 11666538 w 12192000"/>
              <a:gd name="connsiteY223" fmla="*/ 3175 h 3102054"/>
              <a:gd name="connsiteX224" fmla="*/ 11734800 w 12192000"/>
              <a:gd name="connsiteY224" fmla="*/ 0 h 3102054"/>
              <a:gd name="connsiteX225" fmla="*/ 11803064 w 12192000"/>
              <a:gd name="connsiteY225" fmla="*/ 3175 h 3102054"/>
              <a:gd name="connsiteX226" fmla="*/ 11863388 w 12192000"/>
              <a:gd name="connsiteY226" fmla="*/ 9525 h 3102054"/>
              <a:gd name="connsiteX227" fmla="*/ 11915776 w 12192000"/>
              <a:gd name="connsiteY227" fmla="*/ 20638 h 3102054"/>
              <a:gd name="connsiteX228" fmla="*/ 11961814 w 12192000"/>
              <a:gd name="connsiteY228" fmla="*/ 36513 h 3102054"/>
              <a:gd name="connsiteX229" fmla="*/ 12003088 w 12192000"/>
              <a:gd name="connsiteY229" fmla="*/ 52388 h 3102054"/>
              <a:gd name="connsiteX230" fmla="*/ 12039600 w 12192000"/>
              <a:gd name="connsiteY230" fmla="*/ 68263 h 3102054"/>
              <a:gd name="connsiteX231" fmla="*/ 12077700 w 12192000"/>
              <a:gd name="connsiteY231" fmla="*/ 87313 h 3102054"/>
              <a:gd name="connsiteX232" fmla="*/ 12115800 w 12192000"/>
              <a:gd name="connsiteY232" fmla="*/ 106363 h 3102054"/>
              <a:gd name="connsiteX233" fmla="*/ 12152314 w 12192000"/>
              <a:gd name="connsiteY233" fmla="*/ 125413 h 3102054"/>
              <a:gd name="connsiteX234" fmla="*/ 12192000 w 12192000"/>
              <a:gd name="connsiteY234" fmla="*/ 140677 h 3102054"/>
              <a:gd name="connsiteX235" fmla="*/ 12192000 w 12192000"/>
              <a:gd name="connsiteY235" fmla="*/ 885826 h 3102054"/>
              <a:gd name="connsiteX236" fmla="*/ 12191999 w 12192000"/>
              <a:gd name="connsiteY236" fmla="*/ 885826 h 3102054"/>
              <a:gd name="connsiteX237" fmla="*/ 12191999 w 12192000"/>
              <a:gd name="connsiteY237" fmla="*/ 3102054 h 3102054"/>
              <a:gd name="connsiteX238" fmla="*/ 0 w 12192000"/>
              <a:gd name="connsiteY238" fmla="*/ 3102054 h 3102054"/>
              <a:gd name="connsiteX239" fmla="*/ 0 w 12192000"/>
              <a:gd name="connsiteY239" fmla="*/ 638254 h 3102054"/>
              <a:gd name="connsiteX240" fmla="*/ 1 w 12192000"/>
              <a:gd name="connsiteY240" fmla="*/ 638254 h 3102054"/>
              <a:gd name="connsiteX241" fmla="*/ 1 w 12192000"/>
              <a:gd name="connsiteY241" fmla="*/ 176212 h 3102054"/>
              <a:gd name="connsiteX242" fmla="*/ 68264 w 12192000"/>
              <a:gd name="connsiteY242" fmla="*/ 174625 h 3102054"/>
              <a:gd name="connsiteX243" fmla="*/ 128589 w 12192000"/>
              <a:gd name="connsiteY243" fmla="*/ 166687 h 3102054"/>
              <a:gd name="connsiteX244" fmla="*/ 180976 w 12192000"/>
              <a:gd name="connsiteY244" fmla="*/ 155575 h 3102054"/>
              <a:gd name="connsiteX245" fmla="*/ 227014 w 12192000"/>
              <a:gd name="connsiteY245" fmla="*/ 141287 h 3102054"/>
              <a:gd name="connsiteX246" fmla="*/ 268289 w 12192000"/>
              <a:gd name="connsiteY246" fmla="*/ 125412 h 3102054"/>
              <a:gd name="connsiteX247" fmla="*/ 304801 w 12192000"/>
              <a:gd name="connsiteY247" fmla="*/ 106362 h 3102054"/>
              <a:gd name="connsiteX248" fmla="*/ 342901 w 12192000"/>
              <a:gd name="connsiteY248" fmla="*/ 87312 h 3102054"/>
              <a:gd name="connsiteX249" fmla="*/ 381001 w 12192000"/>
              <a:gd name="connsiteY249" fmla="*/ 68262 h 3102054"/>
              <a:gd name="connsiteX250" fmla="*/ 417514 w 12192000"/>
              <a:gd name="connsiteY250" fmla="*/ 52387 h 3102054"/>
              <a:gd name="connsiteX251" fmla="*/ 458789 w 12192000"/>
              <a:gd name="connsiteY251" fmla="*/ 36512 h 3102054"/>
              <a:gd name="connsiteX252" fmla="*/ 504826 w 12192000"/>
              <a:gd name="connsiteY252" fmla="*/ 20637 h 3102054"/>
              <a:gd name="connsiteX253" fmla="*/ 557214 w 12192000"/>
              <a:gd name="connsiteY253" fmla="*/ 9525 h 3102054"/>
              <a:gd name="connsiteX254" fmla="*/ 617539 w 12192000"/>
              <a:gd name="connsiteY254" fmla="*/ 3175 h 3102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2192000" h="3102054">
                <a:moveTo>
                  <a:pt x="685801" y="0"/>
                </a:moveTo>
                <a:lnTo>
                  <a:pt x="754064" y="3175"/>
                </a:lnTo>
                <a:lnTo>
                  <a:pt x="814389" y="9525"/>
                </a:lnTo>
                <a:lnTo>
                  <a:pt x="866776" y="20637"/>
                </a:lnTo>
                <a:lnTo>
                  <a:pt x="912814" y="36512"/>
                </a:lnTo>
                <a:lnTo>
                  <a:pt x="954089" y="52387"/>
                </a:lnTo>
                <a:lnTo>
                  <a:pt x="990601" y="68262"/>
                </a:lnTo>
                <a:lnTo>
                  <a:pt x="1028701" y="87312"/>
                </a:lnTo>
                <a:lnTo>
                  <a:pt x="1066801" y="106362"/>
                </a:lnTo>
                <a:lnTo>
                  <a:pt x="1103314" y="125412"/>
                </a:lnTo>
                <a:lnTo>
                  <a:pt x="1144589" y="141287"/>
                </a:lnTo>
                <a:lnTo>
                  <a:pt x="1190626" y="155575"/>
                </a:lnTo>
                <a:lnTo>
                  <a:pt x="1243014" y="166687"/>
                </a:lnTo>
                <a:lnTo>
                  <a:pt x="1303339" y="174625"/>
                </a:lnTo>
                <a:lnTo>
                  <a:pt x="1371601" y="176212"/>
                </a:lnTo>
                <a:lnTo>
                  <a:pt x="1439864" y="174625"/>
                </a:lnTo>
                <a:lnTo>
                  <a:pt x="1500189" y="166687"/>
                </a:lnTo>
                <a:lnTo>
                  <a:pt x="1552576" y="155575"/>
                </a:lnTo>
                <a:lnTo>
                  <a:pt x="1598614" y="141287"/>
                </a:lnTo>
                <a:lnTo>
                  <a:pt x="1639889" y="125412"/>
                </a:lnTo>
                <a:lnTo>
                  <a:pt x="1676401" y="106362"/>
                </a:lnTo>
                <a:lnTo>
                  <a:pt x="1714501" y="87312"/>
                </a:lnTo>
                <a:lnTo>
                  <a:pt x="1752601" y="68262"/>
                </a:lnTo>
                <a:lnTo>
                  <a:pt x="1789114" y="52387"/>
                </a:lnTo>
                <a:lnTo>
                  <a:pt x="1830389" y="36512"/>
                </a:lnTo>
                <a:lnTo>
                  <a:pt x="1876426" y="20637"/>
                </a:lnTo>
                <a:lnTo>
                  <a:pt x="1928814" y="9525"/>
                </a:lnTo>
                <a:lnTo>
                  <a:pt x="1989139" y="3175"/>
                </a:lnTo>
                <a:lnTo>
                  <a:pt x="2057401" y="0"/>
                </a:lnTo>
                <a:lnTo>
                  <a:pt x="2125664" y="3175"/>
                </a:lnTo>
                <a:lnTo>
                  <a:pt x="2185989" y="9525"/>
                </a:lnTo>
                <a:lnTo>
                  <a:pt x="2238376" y="20637"/>
                </a:lnTo>
                <a:lnTo>
                  <a:pt x="2284414" y="36512"/>
                </a:lnTo>
                <a:lnTo>
                  <a:pt x="2325688" y="52387"/>
                </a:lnTo>
                <a:lnTo>
                  <a:pt x="2362201" y="68262"/>
                </a:lnTo>
                <a:lnTo>
                  <a:pt x="2400301" y="87312"/>
                </a:lnTo>
                <a:lnTo>
                  <a:pt x="2438401" y="106362"/>
                </a:lnTo>
                <a:lnTo>
                  <a:pt x="2474913" y="125412"/>
                </a:lnTo>
                <a:lnTo>
                  <a:pt x="2516188" y="141287"/>
                </a:lnTo>
                <a:lnTo>
                  <a:pt x="2562226" y="155575"/>
                </a:lnTo>
                <a:lnTo>
                  <a:pt x="2614614" y="166687"/>
                </a:lnTo>
                <a:lnTo>
                  <a:pt x="2674938" y="174625"/>
                </a:lnTo>
                <a:lnTo>
                  <a:pt x="2743201" y="176212"/>
                </a:lnTo>
                <a:lnTo>
                  <a:pt x="2811464" y="174625"/>
                </a:lnTo>
                <a:lnTo>
                  <a:pt x="2871789" y="166687"/>
                </a:lnTo>
                <a:lnTo>
                  <a:pt x="2924176" y="155575"/>
                </a:lnTo>
                <a:lnTo>
                  <a:pt x="2970214" y="141287"/>
                </a:lnTo>
                <a:lnTo>
                  <a:pt x="3011489" y="125412"/>
                </a:lnTo>
                <a:lnTo>
                  <a:pt x="3048001" y="106362"/>
                </a:lnTo>
                <a:lnTo>
                  <a:pt x="3086101" y="87312"/>
                </a:lnTo>
                <a:lnTo>
                  <a:pt x="3124201" y="68262"/>
                </a:lnTo>
                <a:lnTo>
                  <a:pt x="3160714" y="52387"/>
                </a:lnTo>
                <a:lnTo>
                  <a:pt x="3201989" y="36512"/>
                </a:lnTo>
                <a:lnTo>
                  <a:pt x="3248026" y="20637"/>
                </a:lnTo>
                <a:lnTo>
                  <a:pt x="3300414" y="9525"/>
                </a:lnTo>
                <a:lnTo>
                  <a:pt x="3360739" y="3175"/>
                </a:lnTo>
                <a:lnTo>
                  <a:pt x="3427414" y="0"/>
                </a:lnTo>
                <a:lnTo>
                  <a:pt x="3497264" y="3175"/>
                </a:lnTo>
                <a:lnTo>
                  <a:pt x="3557589" y="9525"/>
                </a:lnTo>
                <a:lnTo>
                  <a:pt x="3609976" y="20637"/>
                </a:lnTo>
                <a:lnTo>
                  <a:pt x="3656014" y="36512"/>
                </a:lnTo>
                <a:lnTo>
                  <a:pt x="3697288" y="52387"/>
                </a:lnTo>
                <a:lnTo>
                  <a:pt x="3733801" y="68262"/>
                </a:lnTo>
                <a:lnTo>
                  <a:pt x="3771901" y="87312"/>
                </a:lnTo>
                <a:lnTo>
                  <a:pt x="3810001" y="106362"/>
                </a:lnTo>
                <a:lnTo>
                  <a:pt x="3846514" y="125412"/>
                </a:lnTo>
                <a:lnTo>
                  <a:pt x="3887789" y="141287"/>
                </a:lnTo>
                <a:lnTo>
                  <a:pt x="3933826" y="155575"/>
                </a:lnTo>
                <a:lnTo>
                  <a:pt x="3986214" y="166687"/>
                </a:lnTo>
                <a:lnTo>
                  <a:pt x="4046539" y="174625"/>
                </a:lnTo>
                <a:lnTo>
                  <a:pt x="4114801" y="176212"/>
                </a:lnTo>
                <a:lnTo>
                  <a:pt x="4183064" y="174625"/>
                </a:lnTo>
                <a:lnTo>
                  <a:pt x="4243388" y="166687"/>
                </a:lnTo>
                <a:lnTo>
                  <a:pt x="4295776" y="155575"/>
                </a:lnTo>
                <a:lnTo>
                  <a:pt x="4341813" y="141287"/>
                </a:lnTo>
                <a:lnTo>
                  <a:pt x="4383088" y="125412"/>
                </a:lnTo>
                <a:lnTo>
                  <a:pt x="4419601" y="106362"/>
                </a:lnTo>
                <a:lnTo>
                  <a:pt x="4495801" y="68262"/>
                </a:lnTo>
                <a:lnTo>
                  <a:pt x="4532314" y="52387"/>
                </a:lnTo>
                <a:lnTo>
                  <a:pt x="4573588" y="36512"/>
                </a:lnTo>
                <a:lnTo>
                  <a:pt x="4619626" y="20637"/>
                </a:lnTo>
                <a:lnTo>
                  <a:pt x="4672013" y="9525"/>
                </a:lnTo>
                <a:lnTo>
                  <a:pt x="4732338" y="3175"/>
                </a:lnTo>
                <a:lnTo>
                  <a:pt x="4800601" y="0"/>
                </a:lnTo>
                <a:lnTo>
                  <a:pt x="4868864" y="3175"/>
                </a:lnTo>
                <a:lnTo>
                  <a:pt x="4929188" y="9525"/>
                </a:lnTo>
                <a:lnTo>
                  <a:pt x="4981576" y="20637"/>
                </a:lnTo>
                <a:lnTo>
                  <a:pt x="5027614" y="36512"/>
                </a:lnTo>
                <a:lnTo>
                  <a:pt x="5068889" y="52387"/>
                </a:lnTo>
                <a:lnTo>
                  <a:pt x="5105402" y="68262"/>
                </a:lnTo>
                <a:lnTo>
                  <a:pt x="5143502" y="87312"/>
                </a:lnTo>
                <a:lnTo>
                  <a:pt x="5181601" y="106362"/>
                </a:lnTo>
                <a:lnTo>
                  <a:pt x="5218115" y="125412"/>
                </a:lnTo>
                <a:lnTo>
                  <a:pt x="5259388" y="141287"/>
                </a:lnTo>
                <a:lnTo>
                  <a:pt x="5305426" y="155575"/>
                </a:lnTo>
                <a:lnTo>
                  <a:pt x="5357813" y="166687"/>
                </a:lnTo>
                <a:lnTo>
                  <a:pt x="5418139" y="174625"/>
                </a:lnTo>
                <a:lnTo>
                  <a:pt x="5486401" y="176212"/>
                </a:lnTo>
                <a:lnTo>
                  <a:pt x="5554663" y="174625"/>
                </a:lnTo>
                <a:lnTo>
                  <a:pt x="5614989" y="166687"/>
                </a:lnTo>
                <a:lnTo>
                  <a:pt x="5667376" y="155575"/>
                </a:lnTo>
                <a:lnTo>
                  <a:pt x="5713414" y="141287"/>
                </a:lnTo>
                <a:lnTo>
                  <a:pt x="5754689" y="125412"/>
                </a:lnTo>
                <a:lnTo>
                  <a:pt x="5791202" y="106362"/>
                </a:lnTo>
                <a:lnTo>
                  <a:pt x="5829302" y="87312"/>
                </a:lnTo>
                <a:lnTo>
                  <a:pt x="5867402" y="68262"/>
                </a:lnTo>
                <a:lnTo>
                  <a:pt x="5903915" y="52387"/>
                </a:lnTo>
                <a:lnTo>
                  <a:pt x="5945189" y="36512"/>
                </a:lnTo>
                <a:lnTo>
                  <a:pt x="5991226" y="20637"/>
                </a:lnTo>
                <a:lnTo>
                  <a:pt x="6043614" y="9525"/>
                </a:lnTo>
                <a:lnTo>
                  <a:pt x="6103939" y="3175"/>
                </a:lnTo>
                <a:lnTo>
                  <a:pt x="6172201" y="0"/>
                </a:lnTo>
                <a:lnTo>
                  <a:pt x="6210301" y="1772"/>
                </a:lnTo>
                <a:lnTo>
                  <a:pt x="6248401" y="0"/>
                </a:lnTo>
                <a:lnTo>
                  <a:pt x="6316664" y="3175"/>
                </a:lnTo>
                <a:lnTo>
                  <a:pt x="6376989" y="9525"/>
                </a:lnTo>
                <a:lnTo>
                  <a:pt x="6429376" y="20637"/>
                </a:lnTo>
                <a:lnTo>
                  <a:pt x="6475414" y="36512"/>
                </a:lnTo>
                <a:lnTo>
                  <a:pt x="6516689" y="52387"/>
                </a:lnTo>
                <a:lnTo>
                  <a:pt x="6553202" y="68262"/>
                </a:lnTo>
                <a:lnTo>
                  <a:pt x="6591302" y="87312"/>
                </a:lnTo>
                <a:lnTo>
                  <a:pt x="6629401" y="106362"/>
                </a:lnTo>
                <a:lnTo>
                  <a:pt x="6665915" y="125412"/>
                </a:lnTo>
                <a:lnTo>
                  <a:pt x="6707189" y="141287"/>
                </a:lnTo>
                <a:lnTo>
                  <a:pt x="6753226" y="155575"/>
                </a:lnTo>
                <a:lnTo>
                  <a:pt x="6805614" y="166687"/>
                </a:lnTo>
                <a:lnTo>
                  <a:pt x="6865939" y="174625"/>
                </a:lnTo>
                <a:lnTo>
                  <a:pt x="6934201" y="176212"/>
                </a:lnTo>
                <a:lnTo>
                  <a:pt x="7002464" y="174625"/>
                </a:lnTo>
                <a:lnTo>
                  <a:pt x="7062789" y="166687"/>
                </a:lnTo>
                <a:lnTo>
                  <a:pt x="7115176" y="155575"/>
                </a:lnTo>
                <a:lnTo>
                  <a:pt x="7161214" y="141287"/>
                </a:lnTo>
                <a:lnTo>
                  <a:pt x="7202489" y="125412"/>
                </a:lnTo>
                <a:lnTo>
                  <a:pt x="7239001" y="106362"/>
                </a:lnTo>
                <a:lnTo>
                  <a:pt x="7277101" y="87312"/>
                </a:lnTo>
                <a:lnTo>
                  <a:pt x="7315201" y="68262"/>
                </a:lnTo>
                <a:lnTo>
                  <a:pt x="7351714" y="52387"/>
                </a:lnTo>
                <a:lnTo>
                  <a:pt x="7392989" y="36512"/>
                </a:lnTo>
                <a:lnTo>
                  <a:pt x="7439026" y="20637"/>
                </a:lnTo>
                <a:lnTo>
                  <a:pt x="7491414" y="9525"/>
                </a:lnTo>
                <a:lnTo>
                  <a:pt x="7551739" y="3175"/>
                </a:lnTo>
                <a:lnTo>
                  <a:pt x="7620001" y="0"/>
                </a:lnTo>
                <a:lnTo>
                  <a:pt x="7688264" y="3175"/>
                </a:lnTo>
                <a:lnTo>
                  <a:pt x="7748589" y="9525"/>
                </a:lnTo>
                <a:lnTo>
                  <a:pt x="7800976" y="20637"/>
                </a:lnTo>
                <a:lnTo>
                  <a:pt x="7847014" y="36512"/>
                </a:lnTo>
                <a:lnTo>
                  <a:pt x="7888289" y="52387"/>
                </a:lnTo>
                <a:lnTo>
                  <a:pt x="7924801" y="68262"/>
                </a:lnTo>
                <a:lnTo>
                  <a:pt x="7962901" y="87312"/>
                </a:lnTo>
                <a:lnTo>
                  <a:pt x="8001001" y="106362"/>
                </a:lnTo>
                <a:lnTo>
                  <a:pt x="8037514" y="125412"/>
                </a:lnTo>
                <a:lnTo>
                  <a:pt x="8078789" y="141287"/>
                </a:lnTo>
                <a:lnTo>
                  <a:pt x="8124826" y="155575"/>
                </a:lnTo>
                <a:lnTo>
                  <a:pt x="8177214" y="166687"/>
                </a:lnTo>
                <a:lnTo>
                  <a:pt x="8237539" y="174625"/>
                </a:lnTo>
                <a:lnTo>
                  <a:pt x="8305801" y="176212"/>
                </a:lnTo>
                <a:lnTo>
                  <a:pt x="8374064" y="174625"/>
                </a:lnTo>
                <a:lnTo>
                  <a:pt x="8434388" y="166687"/>
                </a:lnTo>
                <a:lnTo>
                  <a:pt x="8486776" y="155575"/>
                </a:lnTo>
                <a:lnTo>
                  <a:pt x="8532814" y="141287"/>
                </a:lnTo>
                <a:lnTo>
                  <a:pt x="8574088" y="125412"/>
                </a:lnTo>
                <a:lnTo>
                  <a:pt x="8610600" y="106362"/>
                </a:lnTo>
                <a:lnTo>
                  <a:pt x="8648700" y="87312"/>
                </a:lnTo>
                <a:lnTo>
                  <a:pt x="8686800" y="68262"/>
                </a:lnTo>
                <a:lnTo>
                  <a:pt x="8723314" y="52387"/>
                </a:lnTo>
                <a:lnTo>
                  <a:pt x="8764588" y="36512"/>
                </a:lnTo>
                <a:lnTo>
                  <a:pt x="8810626" y="20637"/>
                </a:lnTo>
                <a:lnTo>
                  <a:pt x="8863014" y="9525"/>
                </a:lnTo>
                <a:lnTo>
                  <a:pt x="8923338" y="3175"/>
                </a:lnTo>
                <a:lnTo>
                  <a:pt x="8990014" y="0"/>
                </a:lnTo>
                <a:lnTo>
                  <a:pt x="9059864" y="3175"/>
                </a:lnTo>
                <a:lnTo>
                  <a:pt x="9120188" y="9525"/>
                </a:lnTo>
                <a:lnTo>
                  <a:pt x="9172576" y="20637"/>
                </a:lnTo>
                <a:lnTo>
                  <a:pt x="9218614" y="36512"/>
                </a:lnTo>
                <a:lnTo>
                  <a:pt x="9259888" y="52387"/>
                </a:lnTo>
                <a:lnTo>
                  <a:pt x="9296400" y="68262"/>
                </a:lnTo>
                <a:lnTo>
                  <a:pt x="9334500" y="87312"/>
                </a:lnTo>
                <a:lnTo>
                  <a:pt x="9372600" y="106362"/>
                </a:lnTo>
                <a:lnTo>
                  <a:pt x="9409114" y="125412"/>
                </a:lnTo>
                <a:lnTo>
                  <a:pt x="9450388" y="141287"/>
                </a:lnTo>
                <a:lnTo>
                  <a:pt x="9496426" y="155575"/>
                </a:lnTo>
                <a:lnTo>
                  <a:pt x="9548814" y="166687"/>
                </a:lnTo>
                <a:lnTo>
                  <a:pt x="9609138" y="174625"/>
                </a:lnTo>
                <a:lnTo>
                  <a:pt x="9677400" y="176212"/>
                </a:lnTo>
                <a:lnTo>
                  <a:pt x="9745664" y="174625"/>
                </a:lnTo>
                <a:lnTo>
                  <a:pt x="9805988" y="166687"/>
                </a:lnTo>
                <a:lnTo>
                  <a:pt x="9858376" y="155575"/>
                </a:lnTo>
                <a:lnTo>
                  <a:pt x="9904414" y="141287"/>
                </a:lnTo>
                <a:lnTo>
                  <a:pt x="9945688" y="125412"/>
                </a:lnTo>
                <a:lnTo>
                  <a:pt x="9982200" y="106362"/>
                </a:lnTo>
                <a:lnTo>
                  <a:pt x="10058400" y="68262"/>
                </a:lnTo>
                <a:lnTo>
                  <a:pt x="10094914" y="52387"/>
                </a:lnTo>
                <a:lnTo>
                  <a:pt x="10136188" y="36512"/>
                </a:lnTo>
                <a:lnTo>
                  <a:pt x="10182226" y="20637"/>
                </a:lnTo>
                <a:lnTo>
                  <a:pt x="10234614" y="9525"/>
                </a:lnTo>
                <a:lnTo>
                  <a:pt x="10294938" y="3175"/>
                </a:lnTo>
                <a:lnTo>
                  <a:pt x="10363200" y="0"/>
                </a:lnTo>
                <a:lnTo>
                  <a:pt x="10431464" y="3175"/>
                </a:lnTo>
                <a:lnTo>
                  <a:pt x="10491788" y="9525"/>
                </a:lnTo>
                <a:lnTo>
                  <a:pt x="10544176" y="20637"/>
                </a:lnTo>
                <a:lnTo>
                  <a:pt x="10590214" y="36512"/>
                </a:lnTo>
                <a:lnTo>
                  <a:pt x="10631488" y="52387"/>
                </a:lnTo>
                <a:lnTo>
                  <a:pt x="10668000" y="68262"/>
                </a:lnTo>
                <a:lnTo>
                  <a:pt x="10706100" y="87312"/>
                </a:lnTo>
                <a:lnTo>
                  <a:pt x="10744200" y="106362"/>
                </a:lnTo>
                <a:lnTo>
                  <a:pt x="10780714" y="125412"/>
                </a:lnTo>
                <a:lnTo>
                  <a:pt x="10821988" y="141287"/>
                </a:lnTo>
                <a:lnTo>
                  <a:pt x="10868026" y="155575"/>
                </a:lnTo>
                <a:lnTo>
                  <a:pt x="10920414" y="166687"/>
                </a:lnTo>
                <a:lnTo>
                  <a:pt x="10980738" y="174625"/>
                </a:lnTo>
                <a:lnTo>
                  <a:pt x="11049000" y="176212"/>
                </a:lnTo>
                <a:lnTo>
                  <a:pt x="11117264" y="174625"/>
                </a:lnTo>
                <a:lnTo>
                  <a:pt x="11177588" y="166687"/>
                </a:lnTo>
                <a:lnTo>
                  <a:pt x="11229976" y="155575"/>
                </a:lnTo>
                <a:lnTo>
                  <a:pt x="11276014" y="141287"/>
                </a:lnTo>
                <a:lnTo>
                  <a:pt x="11317288" y="125412"/>
                </a:lnTo>
                <a:lnTo>
                  <a:pt x="11353800" y="106362"/>
                </a:lnTo>
                <a:lnTo>
                  <a:pt x="11391900" y="87312"/>
                </a:lnTo>
                <a:lnTo>
                  <a:pt x="11430000" y="68263"/>
                </a:lnTo>
                <a:lnTo>
                  <a:pt x="11466514" y="52388"/>
                </a:lnTo>
                <a:lnTo>
                  <a:pt x="11507788" y="36513"/>
                </a:lnTo>
                <a:lnTo>
                  <a:pt x="11553826" y="20638"/>
                </a:lnTo>
                <a:lnTo>
                  <a:pt x="11606214" y="9525"/>
                </a:lnTo>
                <a:lnTo>
                  <a:pt x="11666538" y="3175"/>
                </a:lnTo>
                <a:lnTo>
                  <a:pt x="11734800" y="0"/>
                </a:lnTo>
                <a:lnTo>
                  <a:pt x="11803064" y="3175"/>
                </a:lnTo>
                <a:lnTo>
                  <a:pt x="11863388" y="9525"/>
                </a:lnTo>
                <a:lnTo>
                  <a:pt x="11915776" y="20638"/>
                </a:lnTo>
                <a:lnTo>
                  <a:pt x="11961814" y="36513"/>
                </a:lnTo>
                <a:lnTo>
                  <a:pt x="12003088" y="52388"/>
                </a:lnTo>
                <a:lnTo>
                  <a:pt x="12039600" y="68263"/>
                </a:lnTo>
                <a:lnTo>
                  <a:pt x="12077700" y="87313"/>
                </a:lnTo>
                <a:lnTo>
                  <a:pt x="12115800" y="106363"/>
                </a:lnTo>
                <a:lnTo>
                  <a:pt x="12152314" y="125413"/>
                </a:lnTo>
                <a:lnTo>
                  <a:pt x="12192000" y="140677"/>
                </a:lnTo>
                <a:lnTo>
                  <a:pt x="12192000" y="885826"/>
                </a:lnTo>
                <a:lnTo>
                  <a:pt x="12191999" y="885826"/>
                </a:lnTo>
                <a:lnTo>
                  <a:pt x="12191999" y="3102054"/>
                </a:lnTo>
                <a:lnTo>
                  <a:pt x="0" y="3102054"/>
                </a:lnTo>
                <a:lnTo>
                  <a:pt x="0" y="638254"/>
                </a:lnTo>
                <a:lnTo>
                  <a:pt x="1" y="638254"/>
                </a:lnTo>
                <a:lnTo>
                  <a:pt x="1" y="176212"/>
                </a:lnTo>
                <a:lnTo>
                  <a:pt x="68264" y="174625"/>
                </a:lnTo>
                <a:lnTo>
                  <a:pt x="128589" y="166687"/>
                </a:lnTo>
                <a:lnTo>
                  <a:pt x="180976" y="155575"/>
                </a:lnTo>
                <a:lnTo>
                  <a:pt x="227014" y="141287"/>
                </a:lnTo>
                <a:lnTo>
                  <a:pt x="268289" y="125412"/>
                </a:lnTo>
                <a:lnTo>
                  <a:pt x="304801" y="106362"/>
                </a:lnTo>
                <a:lnTo>
                  <a:pt x="342901" y="87312"/>
                </a:lnTo>
                <a:lnTo>
                  <a:pt x="381001" y="68262"/>
                </a:lnTo>
                <a:lnTo>
                  <a:pt x="417514" y="52387"/>
                </a:lnTo>
                <a:lnTo>
                  <a:pt x="458789" y="36512"/>
                </a:lnTo>
                <a:lnTo>
                  <a:pt x="504826" y="20637"/>
                </a:lnTo>
                <a:lnTo>
                  <a:pt x="557214" y="9525"/>
                </a:lnTo>
                <a:lnTo>
                  <a:pt x="617539" y="3175"/>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3D62C8-698C-9E7D-D1C0-17D382F5E73F}"/>
              </a:ext>
            </a:extLst>
          </p:cNvPr>
          <p:cNvSpPr>
            <a:spLocks noGrp="1"/>
          </p:cNvSpPr>
          <p:nvPr>
            <p:ph type="ctrTitle"/>
          </p:nvPr>
        </p:nvSpPr>
        <p:spPr>
          <a:xfrm>
            <a:off x="755168" y="4292599"/>
            <a:ext cx="10681664" cy="1465771"/>
          </a:xfrm>
        </p:spPr>
        <p:txBody>
          <a:bodyPr>
            <a:normAutofit/>
          </a:bodyPr>
          <a:lstStyle/>
          <a:p>
            <a:r>
              <a:rPr lang="en-US" sz="6600">
                <a:latin typeface="Optima" panose="02000503060000020004" pitchFamily="2" charset="0"/>
              </a:rPr>
              <a:t>Functionalism</a:t>
            </a:r>
            <a:endParaRPr lang="en-US" sz="6600" dirty="0">
              <a:latin typeface="Optima" panose="02000503060000020004" pitchFamily="2" charset="0"/>
            </a:endParaRPr>
          </a:p>
        </p:txBody>
      </p:sp>
      <p:sp>
        <p:nvSpPr>
          <p:cNvPr id="3" name="Subtitle 2">
            <a:extLst>
              <a:ext uri="{FF2B5EF4-FFF2-40B4-BE49-F238E27FC236}">
                <a16:creationId xmlns:a16="http://schemas.microsoft.com/office/drawing/2014/main" id="{1FB8F437-30ED-2760-0475-27555EF301F8}"/>
              </a:ext>
            </a:extLst>
          </p:cNvPr>
          <p:cNvSpPr>
            <a:spLocks noGrp="1"/>
          </p:cNvSpPr>
          <p:nvPr>
            <p:ph type="subTitle" idx="1"/>
          </p:nvPr>
        </p:nvSpPr>
        <p:spPr>
          <a:xfrm>
            <a:off x="1409701" y="5830278"/>
            <a:ext cx="9372600" cy="545401"/>
          </a:xfrm>
        </p:spPr>
        <p:txBody>
          <a:bodyPr>
            <a:normAutofit/>
          </a:bodyPr>
          <a:lstStyle/>
          <a:p>
            <a:r>
              <a:rPr lang="en-US">
                <a:solidFill>
                  <a:schemeClr val="tx1"/>
                </a:solidFill>
              </a:rPr>
              <a:t>The Philosophy of mind</a:t>
            </a:r>
            <a:endParaRPr lang="en-US" dirty="0">
              <a:solidFill>
                <a:schemeClr val="tx1"/>
              </a:solidFill>
            </a:endParaRPr>
          </a:p>
        </p:txBody>
      </p:sp>
    </p:spTree>
    <p:extLst>
      <p:ext uri="{BB962C8B-B14F-4D97-AF65-F5344CB8AC3E}">
        <p14:creationId xmlns:p14="http://schemas.microsoft.com/office/powerpoint/2010/main" val="386833989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colorful brain with glowing lights&#10;&#10;Description automatically generated">
            <a:extLst>
              <a:ext uri="{FF2B5EF4-FFF2-40B4-BE49-F238E27FC236}">
                <a16:creationId xmlns:a16="http://schemas.microsoft.com/office/drawing/2014/main" id="{C5E22498-5220-BC5F-BC60-433BD71898E3}"/>
              </a:ext>
            </a:extLst>
          </p:cNvPr>
          <p:cNvPicPr>
            <a:picLocks noChangeAspect="1"/>
          </p:cNvPicPr>
          <p:nvPr/>
        </p:nvPicPr>
        <p:blipFill rotWithShape="1">
          <a:blip r:embed="rId2"/>
          <a:srcRect l="13074" r="16157"/>
          <a:stretch/>
        </p:blipFill>
        <p:spPr>
          <a:xfrm>
            <a:off x="7338646" y="10"/>
            <a:ext cx="4853354" cy="6857990"/>
          </a:xfrm>
          <a:prstGeom prst="rect">
            <a:avLst/>
          </a:prstGeom>
        </p:spPr>
      </p:pic>
      <p:sp>
        <p:nvSpPr>
          <p:cNvPr id="2" name="Title 1">
            <a:extLst>
              <a:ext uri="{FF2B5EF4-FFF2-40B4-BE49-F238E27FC236}">
                <a16:creationId xmlns:a16="http://schemas.microsoft.com/office/drawing/2014/main" id="{3C40AAC1-BF3A-F649-7E15-F6F2587C0AD2}"/>
              </a:ext>
            </a:extLst>
          </p:cNvPr>
          <p:cNvSpPr>
            <a:spLocks noGrp="1"/>
          </p:cNvSpPr>
          <p:nvPr>
            <p:ph type="title"/>
          </p:nvPr>
        </p:nvSpPr>
        <p:spPr>
          <a:xfrm>
            <a:off x="1170715" y="794083"/>
            <a:ext cx="5610233" cy="1080433"/>
          </a:xfrm>
        </p:spPr>
        <p:txBody>
          <a:bodyPr>
            <a:normAutofit/>
          </a:bodyPr>
          <a:lstStyle/>
          <a:p>
            <a:r>
              <a:rPr lang="en-US" dirty="0">
                <a:latin typeface="Avenir Book" panose="02000503020000020003" pitchFamily="2" charset="0"/>
              </a:rPr>
              <a:t>Key thesis</a:t>
            </a:r>
          </a:p>
        </p:txBody>
      </p:sp>
      <p:sp>
        <p:nvSpPr>
          <p:cNvPr id="3" name="Content Placeholder 2">
            <a:extLst>
              <a:ext uri="{FF2B5EF4-FFF2-40B4-BE49-F238E27FC236}">
                <a16:creationId xmlns:a16="http://schemas.microsoft.com/office/drawing/2014/main" id="{E6042A6B-1F7A-BA20-4F38-1C0B163F2E6B}"/>
              </a:ext>
            </a:extLst>
          </p:cNvPr>
          <p:cNvSpPr>
            <a:spLocks noGrp="1"/>
          </p:cNvSpPr>
          <p:nvPr>
            <p:ph idx="1"/>
          </p:nvPr>
        </p:nvSpPr>
        <p:spPr>
          <a:xfrm>
            <a:off x="1170715" y="1874517"/>
            <a:ext cx="6015898" cy="4514092"/>
          </a:xfrm>
        </p:spPr>
        <p:txBody>
          <a:bodyPr>
            <a:normAutofit fontScale="77500" lnSpcReduction="20000"/>
          </a:bodyPr>
          <a:lstStyle/>
          <a:p>
            <a:pPr marL="0" indent="0">
              <a:lnSpc>
                <a:spcPct val="170000"/>
              </a:lnSpc>
              <a:buNone/>
            </a:pPr>
            <a:r>
              <a:rPr lang="en-GB" sz="2800" kern="100" dirty="0">
                <a:solidFill>
                  <a:schemeClr val="tx1"/>
                </a:solidFill>
                <a:effectLst/>
                <a:highlight>
                  <a:srgbClr val="E5E5E5"/>
                </a:highlight>
                <a:latin typeface="Avenir Book" panose="02000503020000020003" pitchFamily="2" charset="0"/>
                <a:ea typeface="Calibri" panose="020F0502020204030204" pitchFamily="34" charset="0"/>
                <a:cs typeface="Times New Roman" panose="02020603050405020304" pitchFamily="18" charset="0"/>
              </a:rPr>
              <a:t>Functionalism is the theory that mental properties (such as being in pain) can be identified with (or reduced to) functional states. </a:t>
            </a:r>
            <a:r>
              <a:rPr lang="en-GB" sz="2800" i="1" kern="100" dirty="0">
                <a:solidFill>
                  <a:schemeClr val="tx1"/>
                </a:solidFill>
                <a:effectLst/>
                <a:highlight>
                  <a:srgbClr val="E5E5E5"/>
                </a:highlight>
                <a:latin typeface="Avenir Book" panose="02000503020000020003" pitchFamily="2" charset="0"/>
                <a:ea typeface="Calibri" panose="020F0502020204030204" pitchFamily="34" charset="0"/>
                <a:cs typeface="Times New Roman" panose="02020603050405020304" pitchFamily="18" charset="0"/>
              </a:rPr>
              <a:t>Functional states are states with specific sensory inputs and specific outputs; outputs are both</a:t>
            </a:r>
            <a:r>
              <a:rPr lang="en-GB" sz="2800" i="1" kern="100" dirty="0">
                <a:solidFill>
                  <a:schemeClr val="tx1"/>
                </a:solidFill>
                <a:highlight>
                  <a:srgbClr val="E5E5E5"/>
                </a:highlight>
                <a:latin typeface="Avenir Book" panose="02000503020000020003" pitchFamily="2" charset="0"/>
                <a:ea typeface="Calibri" panose="020F0502020204030204" pitchFamily="34" charset="0"/>
                <a:cs typeface="Times New Roman" panose="02020603050405020304" pitchFamily="18" charset="0"/>
              </a:rPr>
              <a:t/>
            </a:r>
            <a:r>
              <a:rPr lang="en-GB" sz="2800" i="1" kern="100" dirty="0">
                <a:solidFill>
                  <a:schemeClr val="tx1"/>
                </a:solidFill>
                <a:effectLst/>
                <a:highlight>
                  <a:srgbClr val="E5E5E5"/>
                </a:highlight>
                <a:latin typeface="Avenir Book" panose="02000503020000020003" pitchFamily="2" charset="0"/>
                <a:ea typeface="Calibri" panose="020F0502020204030204" pitchFamily="34" charset="0"/>
                <a:cs typeface="Times New Roman" panose="02020603050405020304" pitchFamily="18" charset="0"/>
              </a:rPr>
              <a:t> behaviour and other mental states. What a mental state is ‘is what it does’. In other words, it is active, not static.</a:t>
            </a:r>
          </a:p>
          <a:p>
            <a:endParaRPr lang="en-US" dirty="0"/>
          </a:p>
        </p:txBody>
      </p:sp>
    </p:spTree>
    <p:extLst>
      <p:ext uri="{BB962C8B-B14F-4D97-AF65-F5344CB8AC3E}">
        <p14:creationId xmlns:p14="http://schemas.microsoft.com/office/powerpoint/2010/main" val="2407078318"/>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C4F09-7B15-A981-765F-DDF98DEF486A}"/>
              </a:ext>
            </a:extLst>
          </p:cNvPr>
          <p:cNvSpPr>
            <a:spLocks noGrp="1"/>
          </p:cNvSpPr>
          <p:nvPr>
            <p:ph type="title"/>
          </p:nvPr>
        </p:nvSpPr>
        <p:spPr/>
        <p:txBody>
          <a:bodyPr>
            <a:normAutofit fontScale="90000"/>
          </a:bodyPr>
          <a:lstStyle/>
          <a:p>
            <a:r>
              <a:rPr lang="en-US" dirty="0">
                <a:latin typeface="Avenir Book" panose="02000503020000020003" pitchFamily="2" charset="0"/>
              </a:rPr>
              <a:t>Two main categories of functionalism </a:t>
            </a:r>
          </a:p>
        </p:txBody>
      </p:sp>
      <p:sp>
        <p:nvSpPr>
          <p:cNvPr id="3" name="Content Placeholder 2">
            <a:extLst>
              <a:ext uri="{FF2B5EF4-FFF2-40B4-BE49-F238E27FC236}">
                <a16:creationId xmlns:a16="http://schemas.microsoft.com/office/drawing/2014/main" id="{88CC4E1D-CEE9-BB70-A047-D988B7DE9E52}"/>
              </a:ext>
            </a:extLst>
          </p:cNvPr>
          <p:cNvSpPr>
            <a:spLocks noGrp="1"/>
          </p:cNvSpPr>
          <p:nvPr>
            <p:ph idx="1"/>
          </p:nvPr>
        </p:nvSpPr>
        <p:spPr>
          <a:xfrm>
            <a:off x="1251678" y="2286001"/>
            <a:ext cx="10178322" cy="4189614"/>
          </a:xfrm>
        </p:spPr>
        <p:txBody>
          <a:bodyPr>
            <a:noAutofit/>
          </a:bodyPr>
          <a:lstStyle/>
          <a:p>
            <a:pPr algn="just"/>
            <a:r>
              <a:rPr lang="en-GB" sz="2400" kern="100" dirty="0">
                <a:solidFill>
                  <a:srgbClr val="000000"/>
                </a:solidFill>
                <a:effectLst/>
                <a:highlight>
                  <a:srgbClr val="E5E5E5"/>
                </a:highlight>
                <a:latin typeface="Avenir Book" panose="02000503020000020003" pitchFamily="2" charset="0"/>
                <a:ea typeface="Calibri" panose="020F0502020204030204" pitchFamily="34" charset="0"/>
                <a:cs typeface="Times New Roman" panose="02020603050405020304" pitchFamily="18" charset="0"/>
              </a:rPr>
              <a:t>Empirical functionalism: understands the functional states as identical with the property of ‘being in pain’ or ‘being happy’. This means it is not a theory about concepts/ideas, but it is an ontological theory about the being of these properties. This thesis was developed by Hilary Putnam. </a:t>
            </a:r>
            <a:endParaRPr lang="en-GB" sz="2400" kern="100" dirty="0">
              <a:effectLst/>
              <a:highlight>
                <a:srgbClr val="E5E5E5"/>
              </a:highlight>
              <a:latin typeface="Avenir Book" panose="02000503020000020003" pitchFamily="2" charset="0"/>
              <a:ea typeface="Calibri" panose="020F0502020204030204" pitchFamily="34" charset="0"/>
              <a:cs typeface="Times New Roman" panose="02020603050405020304" pitchFamily="18" charset="0"/>
            </a:endParaRPr>
          </a:p>
          <a:p>
            <a:pPr marL="0" indent="0" algn="just">
              <a:buNone/>
            </a:pPr>
            <a:endParaRPr lang="en-GB" sz="2400" kern="100" dirty="0">
              <a:effectLst/>
              <a:highlight>
                <a:srgbClr val="E5E5E5"/>
              </a:highlight>
              <a:latin typeface="Avenir Book" panose="02000503020000020003" pitchFamily="2" charset="0"/>
              <a:ea typeface="Calibri" panose="020F0502020204030204" pitchFamily="34" charset="0"/>
              <a:cs typeface="Times New Roman" panose="02020603050405020304" pitchFamily="18" charset="0"/>
            </a:endParaRPr>
          </a:p>
          <a:p>
            <a:pPr algn="just"/>
            <a:r>
              <a:rPr lang="en-GB" sz="2400" kern="100" dirty="0">
                <a:solidFill>
                  <a:srgbClr val="000000"/>
                </a:solidFill>
                <a:effectLst/>
                <a:highlight>
                  <a:srgbClr val="E5E5E5"/>
                </a:highlight>
                <a:latin typeface="Avenir Book" panose="02000503020000020003" pitchFamily="2" charset="0"/>
                <a:ea typeface="Calibri" panose="020F0502020204030204" pitchFamily="34" charset="0"/>
                <a:cs typeface="Times New Roman" panose="02020603050405020304" pitchFamily="18" charset="0"/>
              </a:rPr>
              <a:t>Causal-role functionalism: the claim</a:t>
            </a:r>
            <a:r>
              <a:rPr lang="en-GB" sz="2400" kern="100" dirty="0">
                <a:solidFill>
                  <a:srgbClr val="000000"/>
                </a:solidFill>
                <a:highlight>
                  <a:srgbClr val="E5E5E5"/>
                </a:highlight>
                <a:latin typeface="Avenir Book" panose="02000503020000020003" pitchFamily="2" charset="0"/>
                <a:ea typeface="Calibri" panose="020F0502020204030204" pitchFamily="34" charset="0"/>
                <a:cs typeface="Times New Roman" panose="02020603050405020304" pitchFamily="18" charset="0"/>
              </a:rPr>
              <a:t/>
            </a:r>
            <a:r>
              <a:rPr lang="en-GB" sz="2400" kern="100" dirty="0">
                <a:solidFill>
                  <a:srgbClr val="000000"/>
                </a:solidFill>
                <a:effectLst/>
                <a:highlight>
                  <a:srgbClr val="E5E5E5"/>
                </a:highlight>
                <a:latin typeface="Avenir Book" panose="02000503020000020003" pitchFamily="2" charset="0"/>
                <a:ea typeface="Calibri" panose="020F0502020204030204" pitchFamily="34" charset="0"/>
                <a:cs typeface="Times New Roman" panose="02020603050405020304" pitchFamily="18" charset="0"/>
              </a:rPr>
              <a:t> that we can understand the concept of pain as a functional state which causes (and thus explains) specific effects, such as mental states and behaviour. </a:t>
            </a:r>
            <a:endParaRPr lang="en-GB" sz="2400" kern="100" dirty="0">
              <a:effectLst/>
              <a:highlight>
                <a:srgbClr val="E5E5E5"/>
              </a:highlight>
              <a:latin typeface="Avenir Book" panose="02000503020000020003" pitchFamily="2"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4146998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BA3DB-5CD0-5949-E8D5-F40183E91EB2}"/>
              </a:ext>
            </a:extLst>
          </p:cNvPr>
          <p:cNvSpPr>
            <a:spLocks noGrp="1"/>
          </p:cNvSpPr>
          <p:nvPr>
            <p:ph type="title"/>
          </p:nvPr>
        </p:nvSpPr>
        <p:spPr>
          <a:xfrm>
            <a:off x="1414272" y="646175"/>
            <a:ext cx="10015728" cy="532919"/>
          </a:xfrm>
        </p:spPr>
        <p:txBody>
          <a:bodyPr>
            <a:normAutofit fontScale="90000"/>
          </a:bodyPr>
          <a:lstStyle/>
          <a:p>
            <a:r>
              <a:rPr lang="en-US" sz="4000" dirty="0">
                <a:latin typeface="Optima" panose="02000503060000020004" pitchFamily="2" charset="0"/>
              </a:rPr>
              <a:t>Technical term</a:t>
            </a:r>
          </a:p>
        </p:txBody>
      </p:sp>
      <p:sp>
        <p:nvSpPr>
          <p:cNvPr id="3" name="Content Placeholder 2">
            <a:extLst>
              <a:ext uri="{FF2B5EF4-FFF2-40B4-BE49-F238E27FC236}">
                <a16:creationId xmlns:a16="http://schemas.microsoft.com/office/drawing/2014/main" id="{5E45B629-C4E0-22B9-1790-8988DEB40823}"/>
              </a:ext>
            </a:extLst>
          </p:cNvPr>
          <p:cNvSpPr>
            <a:spLocks noGrp="1"/>
          </p:cNvSpPr>
          <p:nvPr>
            <p:ph idx="1"/>
          </p:nvPr>
        </p:nvSpPr>
        <p:spPr>
          <a:xfrm>
            <a:off x="1251678" y="1865746"/>
            <a:ext cx="10178322" cy="2961436"/>
          </a:xfrm>
        </p:spPr>
        <p:txBody>
          <a:bodyPr/>
          <a:lstStyle/>
          <a:p>
            <a:pPr algn="just"/>
            <a:r>
              <a:rPr lang="en-GB"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Function: A function is any process that takes a specific input (called the domain) and gives a specific output (called the range).</a:t>
            </a:r>
            <a:r>
              <a:rPr lang="en-GB" dirty="0">
                <a:solidFill>
                  <a:schemeClr val="tx1"/>
                </a:solidFill>
                <a:effectLst/>
                <a:latin typeface="Avenir Book" panose="02000503020000020003" pitchFamily="2" charset="0"/>
              </a:rPr>
              <a:t/>
            </a:r>
            <a:r>
              <a:rPr lang="en-GB"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a:r>
            <a:r>
              <a:rPr lang="en-GB" dirty="0">
                <a:solidFill>
                  <a:schemeClr val="tx1"/>
                </a:solidFill>
                <a:effectLst/>
                <a:latin typeface="Avenir Book" panose="02000503020000020003" pitchFamily="2" charset="0"/>
              </a:rPr>
              <a:t> </a:t>
            </a:r>
          </a:p>
          <a:p>
            <a:endParaRPr lang="en-US" dirty="0">
              <a:latin typeface="Avenir Book" panose="02000503020000020003" pitchFamily="2" charset="0"/>
            </a:endParaRPr>
          </a:p>
          <a:p>
            <a:r>
              <a:rPr lang="en-US" dirty="0">
                <a:latin typeface="Avenir Book" panose="02000503020000020003" pitchFamily="2" charset="0"/>
              </a:rPr>
              <a:t>For example, in mathematics, ‘the square of…’ is a function. </a:t>
            </a:r>
          </a:p>
          <a:p>
            <a:r>
              <a:rPr lang="en-US" dirty="0">
                <a:latin typeface="Avenir Book" panose="02000503020000020003" pitchFamily="2" charset="0"/>
              </a:rPr>
              <a:t>For example,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B3F9BB5-8D58-A132-9242-661C10D207FB}"/>
                  </a:ext>
                </a:extLst>
              </p:cNvPr>
              <p:cNvSpPr txBox="1"/>
              <p:nvPr/>
            </p:nvSpPr>
            <p:spPr>
              <a:xfrm rot="10800000" flipV="1">
                <a:off x="2737912" y="4290108"/>
                <a:ext cx="135812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GB" b="0" i="0" smtClean="0">
                              <a:latin typeface="Cambria Math" panose="02040503050406030204" pitchFamily="18" charset="0"/>
                            </a:rPr>
                            <m:t>2</m:t>
                          </m:r>
                        </m:e>
                        <m:sup>
                          <m:r>
                            <a:rPr lang="en-US" b="0" i="0" smtClean="0">
                              <a:latin typeface="Cambria Math" panose="02040503050406030204" pitchFamily="18" charset="0"/>
                            </a:rPr>
                            <m:t>2</m:t>
                          </m:r>
                        </m:sup>
                      </m:sSup>
                      <m:r>
                        <a:rPr lang="en-GB" b="0" i="0" smtClean="0">
                          <a:latin typeface="Cambria Math" panose="02040503050406030204" pitchFamily="18" charset="0"/>
                        </a:rPr>
                        <m:t>=4</m:t>
                      </m:r>
                    </m:oMath>
                  </m:oMathPara>
                </a14:m>
                <a:endParaRPr lang="en-US" dirty="0">
                  <a:latin typeface="Avenir Book" panose="02000503020000020003" pitchFamily="2" charset="0"/>
                </a:endParaRPr>
              </a:p>
            </p:txBody>
          </p:sp>
        </mc:Choice>
        <mc:Fallback xmlns="">
          <p:sp>
            <p:nvSpPr>
              <p:cNvPr id="4" name="TextBox 3">
                <a:extLst>
                  <a:ext uri="{FF2B5EF4-FFF2-40B4-BE49-F238E27FC236}">
                    <a16:creationId xmlns:a16="http://schemas.microsoft.com/office/drawing/2014/main" id="{7B3F9BB5-8D58-A132-9242-661C10D207FB}"/>
                  </a:ext>
                </a:extLst>
              </p:cNvPr>
              <p:cNvSpPr txBox="1">
                <a:spLocks noRot="1" noChangeAspect="1" noMove="1" noResize="1" noEditPoints="1" noAdjustHandles="1" noChangeArrowheads="1" noChangeShapeType="1" noTextEdit="1"/>
              </p:cNvSpPr>
              <p:nvPr/>
            </p:nvSpPr>
            <p:spPr>
              <a:xfrm rot="10800000" flipV="1">
                <a:off x="2737912" y="4290108"/>
                <a:ext cx="1358126" cy="276999"/>
              </a:xfrm>
              <a:prstGeom prst="rect">
                <a:avLst/>
              </a:prstGeom>
              <a:blipFill>
                <a:blip r:embed="rId2"/>
                <a:stretch>
                  <a:fillRect t="-4348" b="-434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921E25BE-B13C-FB2A-C276-0C997F399636}"/>
              </a:ext>
            </a:extLst>
          </p:cNvPr>
          <p:cNvSpPr txBox="1"/>
          <p:nvPr/>
        </p:nvSpPr>
        <p:spPr>
          <a:xfrm>
            <a:off x="1216816" y="4992254"/>
            <a:ext cx="10298242" cy="707886"/>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Avenir Book" panose="02000503020000020003" pitchFamily="2" charset="0"/>
              </a:rPr>
              <a:t>2 is the input and 4 is the output and squared is the function. You can input any number you like, and you will have a definite set of outputs. </a:t>
            </a:r>
          </a:p>
        </p:txBody>
      </p:sp>
      <p:cxnSp>
        <p:nvCxnSpPr>
          <p:cNvPr id="7" name="Straight Arrow Connector 6">
            <a:extLst>
              <a:ext uri="{FF2B5EF4-FFF2-40B4-BE49-F238E27FC236}">
                <a16:creationId xmlns:a16="http://schemas.microsoft.com/office/drawing/2014/main" id="{F9383C0E-F05E-2357-450B-6FB416A108E4}"/>
              </a:ext>
            </a:extLst>
          </p:cNvPr>
          <p:cNvCxnSpPr/>
          <p:nvPr/>
        </p:nvCxnSpPr>
        <p:spPr>
          <a:xfrm flipV="1">
            <a:off x="1956391" y="4584032"/>
            <a:ext cx="988828" cy="408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A6240E3-3FD7-7106-CFB5-259954E8D714}"/>
              </a:ext>
            </a:extLst>
          </p:cNvPr>
          <p:cNvCxnSpPr/>
          <p:nvPr/>
        </p:nvCxnSpPr>
        <p:spPr>
          <a:xfrm flipH="1" flipV="1">
            <a:off x="3684794" y="4584032"/>
            <a:ext cx="74428" cy="408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920FB28-49BF-235A-629E-0625BE2B530F}"/>
              </a:ext>
            </a:extLst>
          </p:cNvPr>
          <p:cNvCxnSpPr>
            <a:cxnSpLocks/>
          </p:cNvCxnSpPr>
          <p:nvPr/>
        </p:nvCxnSpPr>
        <p:spPr>
          <a:xfrm flipH="1" flipV="1">
            <a:off x="3304032" y="4315495"/>
            <a:ext cx="3553967" cy="633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8050862"/>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35ACDC7-E54D-080D-636D-6089358CCCAE}"/>
              </a:ext>
            </a:extLst>
          </p:cNvPr>
          <p:cNvSpPr/>
          <p:nvPr/>
        </p:nvSpPr>
        <p:spPr>
          <a:xfrm>
            <a:off x="574158" y="36576"/>
            <a:ext cx="11617842" cy="685800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87D3892-C509-3483-2EC1-7A91979CB26E}"/>
              </a:ext>
            </a:extLst>
          </p:cNvPr>
          <p:cNvSpPr/>
          <p:nvPr/>
        </p:nvSpPr>
        <p:spPr>
          <a:xfrm>
            <a:off x="8654902" y="2786063"/>
            <a:ext cx="2509284" cy="29641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tx1"/>
                </a:solidFill>
                <a:effectLst>
                  <a:outerShdw blurRad="38100" dist="19050" dir="2700000" algn="tl" rotWithShape="0">
                    <a:schemeClr val="dk1">
                      <a:alpha val="40000"/>
                    </a:schemeClr>
                  </a:outerShdw>
                </a:effectLst>
                <a:latin typeface="Avenir Book" panose="02000503020000020003" pitchFamily="2" charset="0"/>
              </a:rPr>
              <a:t>Output</a:t>
            </a:r>
          </a:p>
          <a:p>
            <a:pPr algn="ctr"/>
            <a:endParaRPr lang="en-US" dirty="0">
              <a:ln w="0"/>
              <a:solidFill>
                <a:schemeClr val="tx1"/>
              </a:solidFill>
              <a:effectLst>
                <a:outerShdw blurRad="38100" dist="19050" dir="2700000" algn="tl" rotWithShape="0">
                  <a:schemeClr val="dk1">
                    <a:alpha val="40000"/>
                  </a:schemeClr>
                </a:outerShdw>
              </a:effectLst>
              <a:latin typeface="Avenir Book" panose="02000503020000020003" pitchFamily="2" charset="0"/>
            </a:endParaRPr>
          </a:p>
          <a:p>
            <a:pPr algn="ctr"/>
            <a:r>
              <a:rPr lang="en-US" dirty="0">
                <a:ln w="0"/>
                <a:solidFill>
                  <a:schemeClr val="tx2"/>
                </a:solidFill>
                <a:effectLst>
                  <a:outerShdw blurRad="38100" dist="19050" dir="2700000" algn="tl" rotWithShape="0">
                    <a:schemeClr val="dk1">
                      <a:alpha val="40000"/>
                    </a:schemeClr>
                  </a:outerShdw>
                </a:effectLst>
                <a:latin typeface="Avenir Book" panose="02000503020000020003" pitchFamily="2" charset="0"/>
              </a:rPr>
              <a:t>There are 2 possible outputs</a:t>
            </a:r>
          </a:p>
          <a:p>
            <a:pPr algn="ctr"/>
            <a:endParaRPr lang="en-US" dirty="0">
              <a:ln w="0"/>
              <a:solidFill>
                <a:schemeClr val="tx2"/>
              </a:solidFill>
              <a:effectLst>
                <a:outerShdw blurRad="38100" dist="19050" dir="2700000" algn="tl" rotWithShape="0">
                  <a:schemeClr val="dk1">
                    <a:alpha val="40000"/>
                  </a:schemeClr>
                </a:outerShdw>
              </a:effectLst>
              <a:latin typeface="Avenir Book" panose="02000503020000020003" pitchFamily="2" charset="0"/>
            </a:endParaRPr>
          </a:p>
          <a:p>
            <a:pPr marL="342900" indent="-342900" algn="ctr">
              <a:buAutoNum type="arabicParenBoth"/>
            </a:pPr>
            <a:r>
              <a:rPr lang="en-US" dirty="0">
                <a:ln w="0"/>
                <a:solidFill>
                  <a:schemeClr val="tx2"/>
                </a:solidFill>
                <a:effectLst>
                  <a:outerShdw blurRad="38100" dist="19050" dir="2700000" algn="tl" rotWithShape="0">
                    <a:schemeClr val="dk1">
                      <a:alpha val="40000"/>
                    </a:schemeClr>
                  </a:outerShdw>
                </a:effectLst>
                <a:latin typeface="Avenir Book" panose="02000503020000020003" pitchFamily="2" charset="0"/>
              </a:rPr>
              <a:t>Behaviour = running</a:t>
            </a:r>
          </a:p>
          <a:p>
            <a:pPr marL="342900" indent="-342900" algn="ctr">
              <a:buAutoNum type="arabicParenBoth"/>
            </a:pPr>
            <a:r>
              <a:rPr lang="en-US" dirty="0">
                <a:ln w="0"/>
                <a:solidFill>
                  <a:schemeClr val="tx2"/>
                </a:solidFill>
                <a:effectLst>
                  <a:outerShdw blurRad="38100" dist="19050" dir="2700000" algn="tl" rotWithShape="0">
                    <a:schemeClr val="dk1">
                      <a:alpha val="40000"/>
                    </a:schemeClr>
                  </a:outerShdw>
                </a:effectLst>
                <a:latin typeface="Avenir Book" panose="02000503020000020003" pitchFamily="2" charset="0"/>
              </a:rPr>
              <a:t>Other functional state = believing life is in danger</a:t>
            </a:r>
          </a:p>
        </p:txBody>
      </p:sp>
      <p:sp>
        <p:nvSpPr>
          <p:cNvPr id="2" name="Title 1">
            <a:extLst>
              <a:ext uri="{FF2B5EF4-FFF2-40B4-BE49-F238E27FC236}">
                <a16:creationId xmlns:a16="http://schemas.microsoft.com/office/drawing/2014/main" id="{1C04909D-34C0-4332-03D4-7479A9EBDF79}"/>
              </a:ext>
            </a:extLst>
          </p:cNvPr>
          <p:cNvSpPr>
            <a:spLocks noGrp="1"/>
          </p:cNvSpPr>
          <p:nvPr>
            <p:ph type="title"/>
          </p:nvPr>
        </p:nvSpPr>
        <p:spPr>
          <a:xfrm>
            <a:off x="1251678" y="587449"/>
            <a:ext cx="10178322" cy="1287068"/>
          </a:xfrm>
        </p:spPr>
        <p:txBody>
          <a:bodyPr>
            <a:normAutofit/>
          </a:bodyPr>
          <a:lstStyle/>
          <a:p>
            <a:r>
              <a:rPr lang="en-US" sz="2800" dirty="0">
                <a:latin typeface="Avenir Book" panose="02000503020000020003" pitchFamily="2" charset="0"/>
              </a:rPr>
              <a:t>The organism and the brain act by producing outputs from specific inputs. </a:t>
            </a:r>
          </a:p>
        </p:txBody>
      </p:sp>
      <p:pic>
        <p:nvPicPr>
          <p:cNvPr id="9" name="Content Placeholder 8" descr="A colorful brain with glowing lights&#10;&#10;Description automatically generated">
            <a:extLst>
              <a:ext uri="{FF2B5EF4-FFF2-40B4-BE49-F238E27FC236}">
                <a16:creationId xmlns:a16="http://schemas.microsoft.com/office/drawing/2014/main" id="{EA2BE046-8524-1F23-C857-65D72E7C7DB6}"/>
              </a:ext>
            </a:extLst>
          </p:cNvPr>
          <p:cNvPicPr>
            <a:picLocks noGrp="1" noChangeAspect="1"/>
          </p:cNvPicPr>
          <p:nvPr>
            <p:ph idx="1"/>
          </p:nvPr>
        </p:nvPicPr>
        <p:blipFill>
          <a:blip r:embed="rId2"/>
          <a:stretch>
            <a:fillRect/>
          </a:stretch>
        </p:blipFill>
        <p:spPr>
          <a:xfrm>
            <a:off x="4060031" y="1981403"/>
            <a:ext cx="4071938" cy="4071938"/>
          </a:xfrm>
        </p:spPr>
      </p:pic>
      <p:sp>
        <p:nvSpPr>
          <p:cNvPr id="10" name="Rectangle 9">
            <a:extLst>
              <a:ext uri="{FF2B5EF4-FFF2-40B4-BE49-F238E27FC236}">
                <a16:creationId xmlns:a16="http://schemas.microsoft.com/office/drawing/2014/main" id="{748A94D3-B0DE-900A-A1C4-0C676E8FA73D}"/>
              </a:ext>
            </a:extLst>
          </p:cNvPr>
          <p:cNvSpPr/>
          <p:nvPr/>
        </p:nvSpPr>
        <p:spPr>
          <a:xfrm>
            <a:off x="1251678" y="2786063"/>
            <a:ext cx="2434497" cy="2857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lightRig rig="soft" dir="t">
                <a:rot lat="0" lon="0" rev="15600000"/>
              </a:lightRig>
            </a:scene3d>
            <a:sp3d extrusionH="57150" prstMaterial="softEdge">
              <a:bevelT w="25400" h="38100"/>
            </a:sp3d>
          </a:bodyPr>
          <a:lstStyle/>
          <a:p>
            <a:pPr algn="ctr"/>
            <a:r>
              <a:rPr lang="en-US" sz="2400" b="1" dirty="0">
                <a:ln/>
                <a:solidFill>
                  <a:schemeClr val="tx2"/>
                </a:solidFill>
                <a:latin typeface="Avenir Book" panose="02000503020000020003" pitchFamily="2" charset="0"/>
              </a:rPr>
              <a:t>Input </a:t>
            </a:r>
          </a:p>
          <a:p>
            <a:pPr algn="ctr"/>
            <a:endParaRPr lang="en-US" b="1" dirty="0">
              <a:ln/>
              <a:solidFill>
                <a:schemeClr val="tx2"/>
              </a:solidFill>
              <a:latin typeface="Avenir Book" panose="02000503020000020003" pitchFamily="2" charset="0"/>
            </a:endParaRPr>
          </a:p>
          <a:p>
            <a:pPr algn="ctr"/>
            <a:r>
              <a:rPr lang="en-US" b="1" dirty="0">
                <a:ln/>
                <a:solidFill>
                  <a:schemeClr val="tx2"/>
                </a:solidFill>
                <a:latin typeface="Avenir Book" panose="02000503020000020003" pitchFamily="2" charset="0"/>
              </a:rPr>
              <a:t>Sensory information</a:t>
            </a:r>
          </a:p>
          <a:p>
            <a:pPr algn="ctr"/>
            <a:endParaRPr lang="en-US" b="1" dirty="0">
              <a:ln/>
              <a:solidFill>
                <a:schemeClr val="tx2"/>
              </a:solidFill>
              <a:latin typeface="Avenir Book" panose="02000503020000020003" pitchFamily="2" charset="0"/>
            </a:endParaRPr>
          </a:p>
          <a:p>
            <a:pPr algn="ctr"/>
            <a:r>
              <a:rPr lang="en-US" b="1" dirty="0">
                <a:ln/>
                <a:solidFill>
                  <a:schemeClr val="tx2"/>
                </a:solidFill>
                <a:latin typeface="Avenir Book" panose="02000503020000020003" pitchFamily="2" charset="0"/>
              </a:rPr>
              <a:t>For example: The light reflecting from an animal that is running towards you</a:t>
            </a:r>
          </a:p>
        </p:txBody>
      </p:sp>
      <p:cxnSp>
        <p:nvCxnSpPr>
          <p:cNvPr id="12" name="Straight Arrow Connector 11">
            <a:extLst>
              <a:ext uri="{FF2B5EF4-FFF2-40B4-BE49-F238E27FC236}">
                <a16:creationId xmlns:a16="http://schemas.microsoft.com/office/drawing/2014/main" id="{7F68EE63-8895-F0C4-0C1D-E87EDF7B58E8}"/>
              </a:ext>
            </a:extLst>
          </p:cNvPr>
          <p:cNvCxnSpPr>
            <a:stCxn id="10" idx="3"/>
            <a:endCxn id="10" idx="3"/>
          </p:cNvCxnSpPr>
          <p:nvPr/>
        </p:nvCxnSpPr>
        <p:spPr>
          <a:xfrm>
            <a:off x="3686175" y="4214813"/>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ight Arrow 12">
            <a:extLst>
              <a:ext uri="{FF2B5EF4-FFF2-40B4-BE49-F238E27FC236}">
                <a16:creationId xmlns:a16="http://schemas.microsoft.com/office/drawing/2014/main" id="{15192E33-100C-3263-F67D-3C5A985BC504}"/>
              </a:ext>
            </a:extLst>
          </p:cNvPr>
          <p:cNvSpPr/>
          <p:nvPr/>
        </p:nvSpPr>
        <p:spPr>
          <a:xfrm>
            <a:off x="3209924" y="2959174"/>
            <a:ext cx="1700213" cy="4857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a:t>
            </a:r>
          </a:p>
        </p:txBody>
      </p:sp>
      <p:sp>
        <p:nvSpPr>
          <p:cNvPr id="14" name="Right Arrow 13">
            <a:extLst>
              <a:ext uri="{FF2B5EF4-FFF2-40B4-BE49-F238E27FC236}">
                <a16:creationId xmlns:a16="http://schemas.microsoft.com/office/drawing/2014/main" id="{6F718312-E778-6F9D-BE65-C7323EAAB687}"/>
              </a:ext>
            </a:extLst>
          </p:cNvPr>
          <p:cNvSpPr/>
          <p:nvPr/>
        </p:nvSpPr>
        <p:spPr>
          <a:xfrm>
            <a:off x="7172048" y="4633802"/>
            <a:ext cx="1700213" cy="4857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output</a:t>
            </a:r>
          </a:p>
        </p:txBody>
      </p:sp>
    </p:spTree>
    <p:extLst>
      <p:ext uri="{BB962C8B-B14F-4D97-AF65-F5344CB8AC3E}">
        <p14:creationId xmlns:p14="http://schemas.microsoft.com/office/powerpoint/2010/main" val="264712264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41C4A-4528-8BF3-CDC6-9A27F369DA31}"/>
              </a:ext>
            </a:extLst>
          </p:cNvPr>
          <p:cNvSpPr>
            <a:spLocks noGrp="1"/>
          </p:cNvSpPr>
          <p:nvPr>
            <p:ph type="title"/>
          </p:nvPr>
        </p:nvSpPr>
        <p:spPr>
          <a:xfrm>
            <a:off x="1251678" y="733925"/>
            <a:ext cx="10178322" cy="1140591"/>
          </a:xfrm>
        </p:spPr>
        <p:txBody>
          <a:bodyPr/>
          <a:lstStyle/>
          <a:p>
            <a:r>
              <a:rPr lang="en-US" dirty="0">
                <a:latin typeface="Avenir Book" panose="02000503020000020003" pitchFamily="2" charset="0"/>
              </a:rPr>
              <a:t>Hilary Putnam </a:t>
            </a:r>
          </a:p>
        </p:txBody>
      </p:sp>
      <p:sp>
        <p:nvSpPr>
          <p:cNvPr id="3" name="Content Placeholder 2">
            <a:extLst>
              <a:ext uri="{FF2B5EF4-FFF2-40B4-BE49-F238E27FC236}">
                <a16:creationId xmlns:a16="http://schemas.microsoft.com/office/drawing/2014/main" id="{4C3ACC39-0D03-C381-6C33-FFCA231D4421}"/>
              </a:ext>
            </a:extLst>
          </p:cNvPr>
          <p:cNvSpPr>
            <a:spLocks noGrp="1"/>
          </p:cNvSpPr>
          <p:nvPr>
            <p:ph idx="1"/>
          </p:nvPr>
        </p:nvSpPr>
        <p:spPr>
          <a:xfrm>
            <a:off x="1251678" y="2382254"/>
            <a:ext cx="10178322" cy="3593591"/>
          </a:xfrm>
        </p:spPr>
        <p:txBody>
          <a:bodyPr>
            <a:normAutofit/>
          </a:bodyPr>
          <a:lstStyle/>
          <a:p>
            <a:pPr marL="0" indent="0" algn="just">
              <a:buNone/>
            </a:pPr>
            <a:r>
              <a:rPr lang="en-GB" sz="28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Hilary Putnam in his 1973 paper ‘The Nature of Mental States’ summed up his thesis thus </a:t>
            </a:r>
          </a:p>
          <a:p>
            <a:pPr marL="0" indent="0" algn="just">
              <a:buNone/>
            </a:pPr>
            <a:r>
              <a:rPr lang="en-GB" sz="28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a:t>
            </a:r>
          </a:p>
          <a:p>
            <a:pPr marL="0" marR="180340" indent="0" algn="just">
              <a:spcAft>
                <a:spcPts val="0"/>
              </a:spcAft>
              <a:buNone/>
            </a:pPr>
            <a:r>
              <a:rPr lang="en-GB" sz="28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‘I propose the hypothesis that pain, or the state of being in pain, is a functional state of a whole organism’. </a:t>
            </a:r>
          </a:p>
          <a:p>
            <a:pPr marL="0" marR="180340" indent="0" algn="just">
              <a:spcAft>
                <a:spcPts val="0"/>
              </a:spcAft>
              <a:buNone/>
            </a:pPr>
            <a:endParaRPr lang="en-GB"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5235347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4CC39-63EB-BB8E-4358-CEBA1D87D046}"/>
              </a:ext>
            </a:extLst>
          </p:cNvPr>
          <p:cNvSpPr>
            <a:spLocks noGrp="1"/>
          </p:cNvSpPr>
          <p:nvPr>
            <p:ph type="title"/>
          </p:nvPr>
        </p:nvSpPr>
        <p:spPr>
          <a:xfrm>
            <a:off x="1251678" y="721895"/>
            <a:ext cx="10178322" cy="1152622"/>
          </a:xfrm>
        </p:spPr>
        <p:txBody>
          <a:bodyPr>
            <a:normAutofit fontScale="90000"/>
          </a:bodyPr>
          <a:lstStyle/>
          <a:p>
            <a:r>
              <a:rPr lang="en-US" dirty="0">
                <a:latin typeface="Avenir Book" panose="02000503020000020003" pitchFamily="2" charset="0"/>
              </a:rPr>
              <a:t>The argument put formally</a:t>
            </a:r>
          </a:p>
        </p:txBody>
      </p:sp>
      <p:sp>
        <p:nvSpPr>
          <p:cNvPr id="3" name="Content Placeholder 2">
            <a:extLst>
              <a:ext uri="{FF2B5EF4-FFF2-40B4-BE49-F238E27FC236}">
                <a16:creationId xmlns:a16="http://schemas.microsoft.com/office/drawing/2014/main" id="{FE670888-4FD9-E4B5-2851-11EF54ADFEB5}"/>
              </a:ext>
            </a:extLst>
          </p:cNvPr>
          <p:cNvSpPr>
            <a:spLocks noGrp="1"/>
          </p:cNvSpPr>
          <p:nvPr>
            <p:ph idx="1"/>
          </p:nvPr>
        </p:nvSpPr>
        <p:spPr/>
        <p:txBody>
          <a:bodyPr/>
          <a:lstStyle/>
          <a:p>
            <a:pPr marL="342900" lvl="0" indent="-342900" algn="just">
              <a:buFont typeface="+mj-lt"/>
              <a:buAutoNum type="arabicParenBoth"/>
            </a:pPr>
            <a:r>
              <a:rPr lang="en-GB" sz="2400" kern="100" dirty="0">
                <a:effectLst/>
                <a:latin typeface="Avenir Book" panose="02000503020000020003" pitchFamily="2" charset="0"/>
                <a:ea typeface="Calibri" panose="020F0502020204030204" pitchFamily="34" charset="0"/>
                <a:cs typeface="Times New Roman" panose="02020603050405020304" pitchFamily="18" charset="0"/>
              </a:rPr>
              <a:t> </a:t>
            </a: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All organisms capable of feeling pain are like probabilistic machines.</a:t>
            </a:r>
          </a:p>
          <a:p>
            <a:pPr marL="342900" lvl="0" indent="-342900" algn="just">
              <a:buFont typeface="+mj-lt"/>
              <a:buAutoNum type="arabicParenBoth"/>
            </a:pP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Every organism capable of feeling pain possesses a certain type of functional organisation.</a:t>
            </a:r>
          </a:p>
          <a:p>
            <a:pPr marL="342900" lvl="0" indent="-342900" algn="just">
              <a:buFont typeface="+mj-lt"/>
              <a:buAutoNum type="arabicParenBoth"/>
            </a:pP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An organism cannot be broken down into separate organisms.</a:t>
            </a:r>
          </a:p>
          <a:p>
            <a:pPr marL="342900" lvl="0" indent="-342900" algn="just">
              <a:buFont typeface="+mj-lt"/>
              <a:buAutoNum type="arabicParenBoth"/>
            </a:pP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For every organism there exists a subset of sensory inputs such that it is in pain when and only when some of its sensory inputs are in that subset.</a:t>
            </a:r>
          </a:p>
          <a:p>
            <a:endParaRPr lang="en-US" dirty="0"/>
          </a:p>
        </p:txBody>
      </p:sp>
    </p:spTree>
    <p:extLst>
      <p:ext uri="{BB962C8B-B14F-4D97-AF65-F5344CB8AC3E}">
        <p14:creationId xmlns:p14="http://schemas.microsoft.com/office/powerpoint/2010/main" val="1424288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descr="A computer on a desk&#10;&#10;Description automatically generated">
            <a:extLst>
              <a:ext uri="{FF2B5EF4-FFF2-40B4-BE49-F238E27FC236}">
                <a16:creationId xmlns:a16="http://schemas.microsoft.com/office/drawing/2014/main" id="{BBC8A339-710B-8AD1-9749-BFCFC7BA0923}"/>
              </a:ext>
            </a:extLst>
          </p:cNvPr>
          <p:cNvPicPr>
            <a:picLocks noChangeAspect="1"/>
          </p:cNvPicPr>
          <p:nvPr/>
        </p:nvPicPr>
        <p:blipFill rotWithShape="1">
          <a:blip r:embed="rId2"/>
          <a:srcRect l="25690" r="3541"/>
          <a:stretch/>
        </p:blipFill>
        <p:spPr>
          <a:xfrm>
            <a:off x="7338646" y="10"/>
            <a:ext cx="4853354" cy="6857990"/>
          </a:xfrm>
          <a:prstGeom prst="rect">
            <a:avLst/>
          </a:prstGeom>
        </p:spPr>
      </p:pic>
      <p:sp>
        <p:nvSpPr>
          <p:cNvPr id="9" name="Freeform 10">
            <a:extLst>
              <a:ext uri="{FF2B5EF4-FFF2-40B4-BE49-F238E27FC236}">
                <a16:creationId xmlns:a16="http://schemas.microsoft.com/office/drawing/2014/main" id="{FF606621-EDD0-4CB0-B5A0-2BD458842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54074C67-2DD4-C561-3333-27E94DA13EA3}"/>
              </a:ext>
            </a:extLst>
          </p:cNvPr>
          <p:cNvSpPr>
            <a:spLocks noGrp="1"/>
          </p:cNvSpPr>
          <p:nvPr>
            <p:ph type="title"/>
          </p:nvPr>
        </p:nvSpPr>
        <p:spPr>
          <a:xfrm>
            <a:off x="765051" y="382385"/>
            <a:ext cx="6015897" cy="1492132"/>
          </a:xfrm>
        </p:spPr>
        <p:txBody>
          <a:bodyPr>
            <a:normAutofit/>
          </a:bodyPr>
          <a:lstStyle/>
          <a:p>
            <a:r>
              <a:rPr lang="en-US" sz="3200" dirty="0">
                <a:latin typeface="Avenir Book" panose="02000503020000020003" pitchFamily="2" charset="0"/>
              </a:rPr>
              <a:t>The analogy of hardware and software</a:t>
            </a:r>
          </a:p>
        </p:txBody>
      </p:sp>
      <p:sp>
        <p:nvSpPr>
          <p:cNvPr id="11" name="Rectangle 10">
            <a:extLst>
              <a:ext uri="{FF2B5EF4-FFF2-40B4-BE49-F238E27FC236}">
                <a16:creationId xmlns:a16="http://schemas.microsoft.com/office/drawing/2014/main" id="{F7E0AF57-42C6-4312-BEDF-A384DC8E4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AB80E21C-FABD-6463-D3AA-41D286A00CC8}"/>
              </a:ext>
            </a:extLst>
          </p:cNvPr>
          <p:cNvSpPr>
            <a:spLocks noGrp="1"/>
          </p:cNvSpPr>
          <p:nvPr>
            <p:ph idx="1"/>
          </p:nvPr>
        </p:nvSpPr>
        <p:spPr>
          <a:xfrm>
            <a:off x="765051" y="2256901"/>
            <a:ext cx="6169229" cy="4218713"/>
          </a:xfrm>
        </p:spPr>
        <p:txBody>
          <a:bodyPr>
            <a:normAutofit fontScale="92500"/>
          </a:bodyPr>
          <a:lstStyle/>
          <a:p>
            <a:pPr marL="0" indent="0">
              <a:lnSpc>
                <a:spcPct val="150000"/>
              </a:lnSpc>
              <a:buNone/>
            </a:pPr>
            <a:r>
              <a:rPr lang="en-GB" sz="22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Think of how a computer has specific software that responds to certain inputs, like the typing of a keyboard. These computers have software, which is where the functions are inputted and work, and yet it needs hardware that allows it to work. In the same way that we have different computers with different hardware doing the same job, so likewise different animals with different hardware can have the same software. </a:t>
            </a:r>
          </a:p>
          <a:p>
            <a:endParaRPr lang="en-US" dirty="0"/>
          </a:p>
        </p:txBody>
      </p:sp>
    </p:spTree>
    <p:extLst>
      <p:ext uri="{BB962C8B-B14F-4D97-AF65-F5344CB8AC3E}">
        <p14:creationId xmlns:p14="http://schemas.microsoft.com/office/powerpoint/2010/main" val="252024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A77D789-9DE0-43A3-B196-F13CFECFA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5EAD55-4199-E27A-FA52-526E672991B0}"/>
              </a:ext>
            </a:extLst>
          </p:cNvPr>
          <p:cNvSpPr>
            <a:spLocks noGrp="1"/>
          </p:cNvSpPr>
          <p:nvPr>
            <p:ph type="title"/>
          </p:nvPr>
        </p:nvSpPr>
        <p:spPr>
          <a:xfrm>
            <a:off x="765051" y="382385"/>
            <a:ext cx="6015897" cy="1492132"/>
          </a:xfrm>
        </p:spPr>
        <p:txBody>
          <a:bodyPr>
            <a:normAutofit/>
          </a:bodyPr>
          <a:lstStyle/>
          <a:p>
            <a:r>
              <a:rPr lang="en-US" sz="3200" dirty="0">
                <a:latin typeface="Avenir Book" panose="02000503020000020003" pitchFamily="2" charset="0"/>
              </a:rPr>
              <a:t>Functionalism is compatible with dualism</a:t>
            </a:r>
          </a:p>
        </p:txBody>
      </p:sp>
      <p:sp>
        <p:nvSpPr>
          <p:cNvPr id="16" name="Rectangle 15">
            <a:extLst>
              <a:ext uri="{FF2B5EF4-FFF2-40B4-BE49-F238E27FC236}">
                <a16:creationId xmlns:a16="http://schemas.microsoft.com/office/drawing/2014/main" id="{F9BC648B-BC3C-4674-B1FD-2F9F1C6D7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442F1ECC-7141-90B9-7218-306654F3DF7E}"/>
              </a:ext>
            </a:extLst>
          </p:cNvPr>
          <p:cNvSpPr>
            <a:spLocks noGrp="1"/>
          </p:cNvSpPr>
          <p:nvPr>
            <p:ph idx="1"/>
          </p:nvPr>
        </p:nvSpPr>
        <p:spPr>
          <a:xfrm>
            <a:off x="765051" y="2286001"/>
            <a:ext cx="6440421" cy="4285487"/>
          </a:xfrm>
        </p:spPr>
        <p:txBody>
          <a:bodyPr>
            <a:normAutofit fontScale="62500" lnSpcReduction="20000"/>
          </a:bodyPr>
          <a:lstStyle/>
          <a:p>
            <a:pPr marL="0" indent="0">
              <a:lnSpc>
                <a:spcPct val="150000"/>
              </a:lnSpc>
              <a:buNone/>
            </a:pPr>
            <a:r>
              <a:rPr lang="en-GB" sz="29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Functionalism is compatible with dualism and with physicalism, although it is most commonly found among physicalists, as it is mechanistic. But there is no reason in principle why a non-physical property could not be attributed the ability to act as a function. Putnam writes that </a:t>
            </a:r>
          </a:p>
          <a:p>
            <a:pPr marL="0" indent="0">
              <a:lnSpc>
                <a:spcPct val="150000"/>
              </a:lnSpc>
              <a:buNone/>
            </a:pPr>
            <a:r>
              <a:rPr lang="en-GB" sz="29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a:t>
            </a:r>
          </a:p>
          <a:p>
            <a:pPr marL="0" marR="180340" indent="0">
              <a:lnSpc>
                <a:spcPct val="150000"/>
              </a:lnSpc>
              <a:spcAft>
                <a:spcPts val="0"/>
              </a:spcAft>
              <a:buNone/>
            </a:pPr>
            <a:r>
              <a:rPr lang="en-GB" sz="29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‘In particular functional states are </a:t>
            </a:r>
            <a:r>
              <a:rPr lang="en-GB" sz="2900" kern="100" dirty="0">
                <a:solidFill>
                  <a:schemeClr val="tx1"/>
                </a:solidFill>
                <a:latin typeface="Avenir Book" panose="02000503020000020003" pitchFamily="2" charset="0"/>
                <a:ea typeface="Calibri" panose="020F0502020204030204" pitchFamily="34" charset="0"/>
                <a:cs typeface="Times New Roman" panose="02020603050405020304" pitchFamily="18" charset="0"/>
              </a:rPr>
              <a:t>… </a:t>
            </a:r>
            <a:r>
              <a:rPr lang="en-GB" sz="29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compatible with dualism! Although it goes without saying that the hypothesis is mechanistic’. </a:t>
            </a:r>
          </a:p>
          <a:p>
            <a:pPr marL="0" marR="180340" indent="0">
              <a:lnSpc>
                <a:spcPct val="150000"/>
              </a:lnSpc>
              <a:spcAft>
                <a:spcPts val="0"/>
              </a:spcAft>
              <a:buNone/>
            </a:pPr>
            <a:r>
              <a:rPr lang="en-GB" sz="2900" kern="100" dirty="0">
                <a:effectLst/>
                <a:latin typeface="Avenir Book" panose="02000503020000020003" pitchFamily="2" charset="0"/>
                <a:ea typeface="Calibri" panose="020F0502020204030204" pitchFamily="34" charset="0"/>
                <a:cs typeface="Times New Roman" panose="02020603050405020304" pitchFamily="18" charset="0"/>
              </a:rPr>
              <a:t> </a:t>
            </a:r>
          </a:p>
          <a:p>
            <a:pPr>
              <a:lnSpc>
                <a:spcPct val="100000"/>
              </a:lnSpc>
            </a:pPr>
            <a:endParaRPr lang="en-US" sz="1900" dirty="0"/>
          </a:p>
        </p:txBody>
      </p:sp>
      <p:pic>
        <p:nvPicPr>
          <p:cNvPr id="4" name="Content Placeholder 4" descr="A person with long hair wearing a black coat&#10;&#10;Description automatically generated">
            <a:extLst>
              <a:ext uri="{FF2B5EF4-FFF2-40B4-BE49-F238E27FC236}">
                <a16:creationId xmlns:a16="http://schemas.microsoft.com/office/drawing/2014/main" id="{ACCCFD8E-4C0C-DF0D-75D1-B07A73FCB4D9}"/>
              </a:ext>
            </a:extLst>
          </p:cNvPr>
          <p:cNvPicPr>
            <a:picLocks noChangeAspect="1"/>
          </p:cNvPicPr>
          <p:nvPr/>
        </p:nvPicPr>
        <p:blipFill rotWithShape="1">
          <a:blip r:embed="rId2"/>
          <a:srcRect r="-1" b="18240"/>
          <a:stretch/>
        </p:blipFill>
        <p:spPr>
          <a:xfrm>
            <a:off x="7389812" y="10"/>
            <a:ext cx="4802188" cy="6857990"/>
          </a:xfrm>
          <a:custGeom>
            <a:avLst/>
            <a:gdLst/>
            <a:ahLst/>
            <a:cxnLst/>
            <a:rect l="l" t="t" r="r" b="b"/>
            <a:pathLst>
              <a:path w="4802188" h="6858000">
                <a:moveTo>
                  <a:pt x="0" y="0"/>
                </a:moveTo>
                <a:lnTo>
                  <a:pt x="4802188" y="0"/>
                </a:lnTo>
                <a:lnTo>
                  <a:pt x="4802188" y="6858000"/>
                </a:lnTo>
                <a:lnTo>
                  <a:pt x="0" y="6858000"/>
                </a:lnTo>
                <a:lnTo>
                  <a:pt x="4763" y="6791325"/>
                </a:lnTo>
                <a:lnTo>
                  <a:pt x="12700" y="6735762"/>
                </a:lnTo>
                <a:lnTo>
                  <a:pt x="22225" y="6683375"/>
                </a:lnTo>
                <a:lnTo>
                  <a:pt x="38100" y="6640512"/>
                </a:lnTo>
                <a:lnTo>
                  <a:pt x="53975" y="6597650"/>
                </a:lnTo>
                <a:lnTo>
                  <a:pt x="73025" y="6561137"/>
                </a:lnTo>
                <a:lnTo>
                  <a:pt x="92075" y="6523037"/>
                </a:lnTo>
                <a:lnTo>
                  <a:pt x="109538" y="6488112"/>
                </a:lnTo>
                <a:lnTo>
                  <a:pt x="127000" y="6448425"/>
                </a:lnTo>
                <a:lnTo>
                  <a:pt x="142875" y="6407150"/>
                </a:lnTo>
                <a:lnTo>
                  <a:pt x="157163" y="6361112"/>
                </a:lnTo>
                <a:lnTo>
                  <a:pt x="168275" y="6311900"/>
                </a:lnTo>
                <a:lnTo>
                  <a:pt x="176213" y="6251575"/>
                </a:lnTo>
                <a:lnTo>
                  <a:pt x="179388" y="6183312"/>
                </a:lnTo>
                <a:lnTo>
                  <a:pt x="176213" y="6113462"/>
                </a:lnTo>
                <a:lnTo>
                  <a:pt x="168275" y="6056312"/>
                </a:lnTo>
                <a:lnTo>
                  <a:pt x="157163" y="6003925"/>
                </a:lnTo>
                <a:lnTo>
                  <a:pt x="142875" y="5956300"/>
                </a:lnTo>
                <a:lnTo>
                  <a:pt x="127000" y="5915025"/>
                </a:lnTo>
                <a:lnTo>
                  <a:pt x="107950" y="5876925"/>
                </a:lnTo>
                <a:lnTo>
                  <a:pt x="88900" y="5840412"/>
                </a:lnTo>
                <a:lnTo>
                  <a:pt x="69850" y="5802312"/>
                </a:lnTo>
                <a:lnTo>
                  <a:pt x="52388" y="5762625"/>
                </a:lnTo>
                <a:lnTo>
                  <a:pt x="34925" y="5721350"/>
                </a:lnTo>
                <a:lnTo>
                  <a:pt x="20638" y="5675312"/>
                </a:lnTo>
                <a:lnTo>
                  <a:pt x="11113" y="5622925"/>
                </a:lnTo>
                <a:lnTo>
                  <a:pt x="1588" y="5562600"/>
                </a:lnTo>
                <a:lnTo>
                  <a:pt x="0" y="5494337"/>
                </a:lnTo>
                <a:lnTo>
                  <a:pt x="1588" y="5426075"/>
                </a:lnTo>
                <a:lnTo>
                  <a:pt x="11113" y="5365750"/>
                </a:lnTo>
                <a:lnTo>
                  <a:pt x="20638" y="5313362"/>
                </a:lnTo>
                <a:lnTo>
                  <a:pt x="34925" y="5268912"/>
                </a:lnTo>
                <a:lnTo>
                  <a:pt x="52388" y="5226050"/>
                </a:lnTo>
                <a:lnTo>
                  <a:pt x="69850" y="5186362"/>
                </a:lnTo>
                <a:lnTo>
                  <a:pt x="88900" y="5149850"/>
                </a:lnTo>
                <a:lnTo>
                  <a:pt x="107950" y="5114925"/>
                </a:lnTo>
                <a:lnTo>
                  <a:pt x="127000" y="5075237"/>
                </a:lnTo>
                <a:lnTo>
                  <a:pt x="142875" y="5033962"/>
                </a:lnTo>
                <a:lnTo>
                  <a:pt x="157163" y="4987925"/>
                </a:lnTo>
                <a:lnTo>
                  <a:pt x="168275" y="4935537"/>
                </a:lnTo>
                <a:lnTo>
                  <a:pt x="176213" y="4875212"/>
                </a:lnTo>
                <a:lnTo>
                  <a:pt x="179388" y="4806950"/>
                </a:lnTo>
                <a:lnTo>
                  <a:pt x="176213" y="4738687"/>
                </a:lnTo>
                <a:lnTo>
                  <a:pt x="168275" y="4678362"/>
                </a:lnTo>
                <a:lnTo>
                  <a:pt x="157163" y="4625975"/>
                </a:lnTo>
                <a:lnTo>
                  <a:pt x="142875" y="4579937"/>
                </a:lnTo>
                <a:lnTo>
                  <a:pt x="127000" y="4537075"/>
                </a:lnTo>
                <a:lnTo>
                  <a:pt x="107950" y="4498975"/>
                </a:lnTo>
                <a:lnTo>
                  <a:pt x="69850" y="4424362"/>
                </a:lnTo>
                <a:lnTo>
                  <a:pt x="52388" y="4386262"/>
                </a:lnTo>
                <a:lnTo>
                  <a:pt x="34925" y="4343400"/>
                </a:lnTo>
                <a:lnTo>
                  <a:pt x="20638" y="4297362"/>
                </a:lnTo>
                <a:lnTo>
                  <a:pt x="11113" y="4244975"/>
                </a:lnTo>
                <a:lnTo>
                  <a:pt x="1588" y="4186237"/>
                </a:lnTo>
                <a:lnTo>
                  <a:pt x="0" y="4116387"/>
                </a:lnTo>
                <a:lnTo>
                  <a:pt x="1588" y="4048125"/>
                </a:lnTo>
                <a:lnTo>
                  <a:pt x="11113" y="3987800"/>
                </a:lnTo>
                <a:lnTo>
                  <a:pt x="20638" y="3935412"/>
                </a:lnTo>
                <a:lnTo>
                  <a:pt x="34925" y="3890962"/>
                </a:lnTo>
                <a:lnTo>
                  <a:pt x="52388" y="3848100"/>
                </a:lnTo>
                <a:lnTo>
                  <a:pt x="69850" y="3811587"/>
                </a:lnTo>
                <a:lnTo>
                  <a:pt x="107950" y="3736975"/>
                </a:lnTo>
                <a:lnTo>
                  <a:pt x="127000" y="3697287"/>
                </a:lnTo>
                <a:lnTo>
                  <a:pt x="142875" y="3656012"/>
                </a:lnTo>
                <a:lnTo>
                  <a:pt x="157163" y="3609975"/>
                </a:lnTo>
                <a:lnTo>
                  <a:pt x="168275" y="3557587"/>
                </a:lnTo>
                <a:lnTo>
                  <a:pt x="176213" y="3497262"/>
                </a:lnTo>
                <a:lnTo>
                  <a:pt x="179388" y="3427412"/>
                </a:lnTo>
                <a:lnTo>
                  <a:pt x="176213" y="3360737"/>
                </a:lnTo>
                <a:lnTo>
                  <a:pt x="168275" y="3300412"/>
                </a:lnTo>
                <a:lnTo>
                  <a:pt x="157163" y="3248025"/>
                </a:lnTo>
                <a:lnTo>
                  <a:pt x="142875" y="3201987"/>
                </a:lnTo>
                <a:lnTo>
                  <a:pt x="127000" y="3160712"/>
                </a:lnTo>
                <a:lnTo>
                  <a:pt x="107950" y="3121025"/>
                </a:lnTo>
                <a:lnTo>
                  <a:pt x="88900" y="3084512"/>
                </a:lnTo>
                <a:lnTo>
                  <a:pt x="69850" y="3046412"/>
                </a:lnTo>
                <a:lnTo>
                  <a:pt x="52388" y="3009900"/>
                </a:lnTo>
                <a:lnTo>
                  <a:pt x="34925" y="2967037"/>
                </a:lnTo>
                <a:lnTo>
                  <a:pt x="20638" y="2922587"/>
                </a:lnTo>
                <a:lnTo>
                  <a:pt x="11113" y="2868612"/>
                </a:lnTo>
                <a:lnTo>
                  <a:pt x="1588" y="2809875"/>
                </a:lnTo>
                <a:lnTo>
                  <a:pt x="0" y="2741612"/>
                </a:lnTo>
                <a:lnTo>
                  <a:pt x="1588" y="2671762"/>
                </a:lnTo>
                <a:lnTo>
                  <a:pt x="11113" y="2613025"/>
                </a:lnTo>
                <a:lnTo>
                  <a:pt x="20638" y="2560637"/>
                </a:lnTo>
                <a:lnTo>
                  <a:pt x="34925" y="2513012"/>
                </a:lnTo>
                <a:lnTo>
                  <a:pt x="52388" y="2471737"/>
                </a:lnTo>
                <a:lnTo>
                  <a:pt x="69850" y="2433637"/>
                </a:lnTo>
                <a:lnTo>
                  <a:pt x="88900" y="2395537"/>
                </a:lnTo>
                <a:lnTo>
                  <a:pt x="107950" y="2359025"/>
                </a:lnTo>
                <a:lnTo>
                  <a:pt x="127000" y="2319337"/>
                </a:lnTo>
                <a:lnTo>
                  <a:pt x="142875" y="2278062"/>
                </a:lnTo>
                <a:lnTo>
                  <a:pt x="157163" y="2232025"/>
                </a:lnTo>
                <a:lnTo>
                  <a:pt x="168275" y="2179637"/>
                </a:lnTo>
                <a:lnTo>
                  <a:pt x="176213" y="2119312"/>
                </a:lnTo>
                <a:lnTo>
                  <a:pt x="179388" y="2051050"/>
                </a:lnTo>
                <a:lnTo>
                  <a:pt x="176213" y="1982787"/>
                </a:lnTo>
                <a:lnTo>
                  <a:pt x="168275" y="1922462"/>
                </a:lnTo>
                <a:lnTo>
                  <a:pt x="157163" y="1870075"/>
                </a:lnTo>
                <a:lnTo>
                  <a:pt x="142875" y="1824037"/>
                </a:lnTo>
                <a:lnTo>
                  <a:pt x="127000" y="1782762"/>
                </a:lnTo>
                <a:lnTo>
                  <a:pt x="107950" y="1743075"/>
                </a:lnTo>
                <a:lnTo>
                  <a:pt x="88900" y="1708150"/>
                </a:lnTo>
                <a:lnTo>
                  <a:pt x="69850" y="1671637"/>
                </a:lnTo>
                <a:lnTo>
                  <a:pt x="52388" y="1631950"/>
                </a:lnTo>
                <a:lnTo>
                  <a:pt x="34925" y="1589087"/>
                </a:lnTo>
                <a:lnTo>
                  <a:pt x="20638" y="1544637"/>
                </a:lnTo>
                <a:lnTo>
                  <a:pt x="11113" y="1492250"/>
                </a:lnTo>
                <a:lnTo>
                  <a:pt x="1588" y="1431925"/>
                </a:lnTo>
                <a:lnTo>
                  <a:pt x="0" y="1363662"/>
                </a:lnTo>
                <a:lnTo>
                  <a:pt x="1588" y="1295400"/>
                </a:lnTo>
                <a:lnTo>
                  <a:pt x="11113" y="1235075"/>
                </a:lnTo>
                <a:lnTo>
                  <a:pt x="20638" y="1182687"/>
                </a:lnTo>
                <a:lnTo>
                  <a:pt x="34925" y="1136650"/>
                </a:lnTo>
                <a:lnTo>
                  <a:pt x="52388" y="1095375"/>
                </a:lnTo>
                <a:lnTo>
                  <a:pt x="69850" y="1055687"/>
                </a:lnTo>
                <a:lnTo>
                  <a:pt x="88900" y="1017587"/>
                </a:lnTo>
                <a:lnTo>
                  <a:pt x="107950" y="981075"/>
                </a:lnTo>
                <a:lnTo>
                  <a:pt x="127000" y="942975"/>
                </a:lnTo>
                <a:lnTo>
                  <a:pt x="142875" y="901700"/>
                </a:lnTo>
                <a:lnTo>
                  <a:pt x="157163" y="854075"/>
                </a:lnTo>
                <a:lnTo>
                  <a:pt x="168275" y="801687"/>
                </a:lnTo>
                <a:lnTo>
                  <a:pt x="176213" y="744537"/>
                </a:lnTo>
                <a:lnTo>
                  <a:pt x="179388" y="673100"/>
                </a:lnTo>
                <a:lnTo>
                  <a:pt x="176213" y="606425"/>
                </a:lnTo>
                <a:lnTo>
                  <a:pt x="168275" y="546100"/>
                </a:lnTo>
                <a:lnTo>
                  <a:pt x="157163" y="496887"/>
                </a:lnTo>
                <a:lnTo>
                  <a:pt x="142875" y="450850"/>
                </a:lnTo>
                <a:lnTo>
                  <a:pt x="127000" y="409575"/>
                </a:lnTo>
                <a:lnTo>
                  <a:pt x="109538" y="369887"/>
                </a:lnTo>
                <a:lnTo>
                  <a:pt x="92075" y="334962"/>
                </a:lnTo>
                <a:lnTo>
                  <a:pt x="73025" y="296862"/>
                </a:lnTo>
                <a:lnTo>
                  <a:pt x="53975" y="260350"/>
                </a:lnTo>
                <a:lnTo>
                  <a:pt x="38100" y="217487"/>
                </a:lnTo>
                <a:lnTo>
                  <a:pt x="22225" y="174625"/>
                </a:lnTo>
                <a:lnTo>
                  <a:pt x="12700" y="122237"/>
                </a:lnTo>
                <a:lnTo>
                  <a:pt x="4763" y="66675"/>
                </a:lnTo>
                <a:close/>
              </a:path>
            </a:pathLst>
          </a:custGeom>
        </p:spPr>
      </p:pic>
    </p:spTree>
    <p:extLst>
      <p:ext uri="{BB962C8B-B14F-4D97-AF65-F5344CB8AC3E}">
        <p14:creationId xmlns:p14="http://schemas.microsoft.com/office/powerpoint/2010/main" val="125996621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B6355-74B7-5CF7-EC9E-5C84E97A99B0}"/>
              </a:ext>
            </a:extLst>
          </p:cNvPr>
          <p:cNvSpPr>
            <a:spLocks noGrp="1"/>
          </p:cNvSpPr>
          <p:nvPr>
            <p:ph type="title"/>
          </p:nvPr>
        </p:nvSpPr>
        <p:spPr/>
        <p:txBody>
          <a:bodyPr anchor="ctr">
            <a:normAutofit fontScale="90000"/>
          </a:bodyPr>
          <a:lstStyle/>
          <a:p>
            <a:r>
              <a:rPr lang="en-US" dirty="0">
                <a:latin typeface="Avenir Book" panose="02000503020000020003" pitchFamily="2" charset="0"/>
              </a:rPr>
              <a:t>Advantages of functionalism</a:t>
            </a:r>
          </a:p>
        </p:txBody>
      </p:sp>
      <p:graphicFrame>
        <p:nvGraphicFramePr>
          <p:cNvPr id="15" name="Content Placeholder 2">
            <a:extLst>
              <a:ext uri="{FF2B5EF4-FFF2-40B4-BE49-F238E27FC236}">
                <a16:creationId xmlns:a16="http://schemas.microsoft.com/office/drawing/2014/main" id="{CA16AC8E-3F77-BA2E-34AC-3F8D29E0B5F6}"/>
              </a:ext>
            </a:extLst>
          </p:cNvPr>
          <p:cNvGraphicFramePr>
            <a:graphicFrameLocks noGrp="1"/>
          </p:cNvGraphicFramePr>
          <p:nvPr>
            <p:ph idx="1"/>
            <p:extLst>
              <p:ext uri="{D42A27DB-BD31-4B8C-83A1-F6EECF244321}">
                <p14:modId xmlns:p14="http://schemas.microsoft.com/office/powerpoint/2010/main" val="710337247"/>
              </p:ext>
            </p:extLst>
          </p:nvPr>
        </p:nvGraphicFramePr>
        <p:xfrm>
          <a:off x="1250950" y="2286000"/>
          <a:ext cx="10179050" cy="3594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37386530"/>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3647C-CD32-DFC4-8808-F06C77CA9D73}"/>
              </a:ext>
            </a:extLst>
          </p:cNvPr>
          <p:cNvSpPr>
            <a:spLocks noGrp="1"/>
          </p:cNvSpPr>
          <p:nvPr>
            <p:ph type="title"/>
          </p:nvPr>
        </p:nvSpPr>
        <p:spPr>
          <a:xfrm>
            <a:off x="1709228" y="484631"/>
            <a:ext cx="5385435" cy="1638469"/>
          </a:xfrm>
        </p:spPr>
        <p:txBody>
          <a:bodyPr>
            <a:normAutofit fontScale="90000"/>
          </a:bodyPr>
          <a:lstStyle/>
          <a:p>
            <a:r>
              <a:rPr lang="en-US" sz="4300" dirty="0">
                <a:latin typeface="Avenir Book" panose="02000503020000020003" pitchFamily="2" charset="0"/>
              </a:rPr>
              <a:t>Functionalism and multiple realisability. </a:t>
            </a:r>
          </a:p>
        </p:txBody>
      </p:sp>
      <p:sp>
        <p:nvSpPr>
          <p:cNvPr id="3" name="Content Placeholder 2">
            <a:extLst>
              <a:ext uri="{FF2B5EF4-FFF2-40B4-BE49-F238E27FC236}">
                <a16:creationId xmlns:a16="http://schemas.microsoft.com/office/drawing/2014/main" id="{2EDD280B-97F0-898C-0EEE-FCA4B96BA42B}"/>
              </a:ext>
            </a:extLst>
          </p:cNvPr>
          <p:cNvSpPr>
            <a:spLocks noGrp="1"/>
          </p:cNvSpPr>
          <p:nvPr>
            <p:ph idx="1"/>
          </p:nvPr>
        </p:nvSpPr>
        <p:spPr>
          <a:xfrm>
            <a:off x="1258784" y="2607731"/>
            <a:ext cx="6312448" cy="3765636"/>
          </a:xfrm>
        </p:spPr>
        <p:txBody>
          <a:bodyPr>
            <a:normAutofit fontScale="92500" lnSpcReduction="20000"/>
          </a:bodyPr>
          <a:lstStyle/>
          <a:p>
            <a:pPr marL="0" indent="0">
              <a:lnSpc>
                <a:spcPct val="150000"/>
              </a:lnSpc>
              <a:buNone/>
            </a:pPr>
            <a:r>
              <a:rPr lang="en-GB" sz="1900" kern="100" dirty="0">
                <a:solidFill>
                  <a:schemeClr val="tx1"/>
                </a:solidFill>
                <a:effectLst/>
                <a:highlight>
                  <a:srgbClr val="E5E5E5"/>
                </a:highlight>
                <a:latin typeface="Avenir Book" panose="02000503020000020003" pitchFamily="2" charset="0"/>
                <a:ea typeface="Calibri" panose="020F0502020204030204" pitchFamily="34" charset="0"/>
                <a:cs typeface="Times New Roman" panose="02020603050405020304" pitchFamily="18" charset="0"/>
              </a:rPr>
              <a:t>How does functionalism do better than mind-brain identity theory? As we noted previously, mind-brain identity theory claims that any mental property, for example being in pain, is identical to either a type of brain process or a token brain process. This means that any being whatsoever, whether it be animal or extra-terrestrial, will need to have these very specific brain processes if it is to count as being in pain. However, we already think, very plausibly, that animals and other creatures can feel pain, with very different brains, and so </a:t>
            </a:r>
            <a:r>
              <a:rPr lang="en-GB" sz="1900" kern="100" dirty="0">
                <a:solidFill>
                  <a:schemeClr val="tx1"/>
                </a:solidFill>
                <a:highlight>
                  <a:srgbClr val="E5E5E5"/>
                </a:highlight>
                <a:latin typeface="Avenir Book" panose="02000503020000020003" pitchFamily="2" charset="0"/>
                <a:ea typeface="Calibri" panose="020F0502020204030204" pitchFamily="34" charset="0"/>
                <a:cs typeface="Times New Roman" panose="02020603050405020304" pitchFamily="18" charset="0"/>
              </a:rPr>
              <a:t>mind-brain identity</a:t>
            </a:r>
            <a:r>
              <a:rPr lang="en-GB" sz="1900" kern="100" dirty="0">
                <a:solidFill>
                  <a:schemeClr val="tx1"/>
                </a:solidFill>
                <a:effectLst/>
                <a:highlight>
                  <a:srgbClr val="E5E5E5"/>
                </a:highlight>
                <a:latin typeface="Avenir Book" panose="02000503020000020003" pitchFamily="2" charset="0"/>
                <a:ea typeface="Calibri" panose="020F0502020204030204" pitchFamily="34" charset="0"/>
                <a:cs typeface="Times New Roman" panose="02020603050405020304" pitchFamily="18" charset="0"/>
              </a:rPr>
              <a:t> theory seems very implausible. </a:t>
            </a:r>
          </a:p>
          <a:p>
            <a:pPr>
              <a:lnSpc>
                <a:spcPct val="100000"/>
              </a:lnSpc>
            </a:pPr>
            <a:endParaRPr lang="en-US" sz="1900" dirty="0">
              <a:solidFill>
                <a:schemeClr val="tx1"/>
              </a:solidFill>
            </a:endParaRPr>
          </a:p>
        </p:txBody>
      </p:sp>
      <p:pic>
        <p:nvPicPr>
          <p:cNvPr id="5" name="Picture 4" descr="A bird's eyes and a bird's face&#10;&#10;Description automatically generated">
            <a:extLst>
              <a:ext uri="{FF2B5EF4-FFF2-40B4-BE49-F238E27FC236}">
                <a16:creationId xmlns:a16="http://schemas.microsoft.com/office/drawing/2014/main" id="{96CD900A-47ED-95B0-C1B6-3AF7396FE2D1}"/>
              </a:ext>
            </a:extLst>
          </p:cNvPr>
          <p:cNvPicPr>
            <a:picLocks noChangeAspect="1"/>
          </p:cNvPicPr>
          <p:nvPr/>
        </p:nvPicPr>
        <p:blipFill>
          <a:blip r:embed="rId2"/>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356078970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B51AB-473A-F516-E3CE-44F2D3CC042A}"/>
              </a:ext>
            </a:extLst>
          </p:cNvPr>
          <p:cNvSpPr>
            <a:spLocks noGrp="1"/>
          </p:cNvSpPr>
          <p:nvPr>
            <p:ph type="title"/>
          </p:nvPr>
        </p:nvSpPr>
        <p:spPr/>
        <p:txBody>
          <a:bodyPr>
            <a:normAutofit fontScale="90000"/>
          </a:bodyPr>
          <a:lstStyle/>
          <a:p>
            <a:r>
              <a:rPr lang="en-US" dirty="0">
                <a:latin typeface="Avenir Book" panose="02000503020000020003" pitchFamily="2" charset="0"/>
              </a:rPr>
              <a:t>Functionalism makes more sense than Behaviourism</a:t>
            </a:r>
          </a:p>
        </p:txBody>
      </p:sp>
      <p:sp>
        <p:nvSpPr>
          <p:cNvPr id="3" name="Content Placeholder 2">
            <a:extLst>
              <a:ext uri="{FF2B5EF4-FFF2-40B4-BE49-F238E27FC236}">
                <a16:creationId xmlns:a16="http://schemas.microsoft.com/office/drawing/2014/main" id="{725B9C2C-4990-AA1E-9570-B091C898700F}"/>
              </a:ext>
            </a:extLst>
          </p:cNvPr>
          <p:cNvSpPr>
            <a:spLocks noGrp="1"/>
          </p:cNvSpPr>
          <p:nvPr>
            <p:ph idx="1"/>
          </p:nvPr>
        </p:nvSpPr>
        <p:spPr>
          <a:xfrm>
            <a:off x="1251678" y="1874517"/>
            <a:ext cx="7242617" cy="4745739"/>
          </a:xfrm>
        </p:spPr>
        <p:txBody>
          <a:bodyPr>
            <a:normAutofit fontScale="92500" lnSpcReduction="20000"/>
          </a:bodyPr>
          <a:lstStyle/>
          <a:p>
            <a:pPr marL="0" indent="0">
              <a:lnSpc>
                <a:spcPct val="150000"/>
              </a:lnSpc>
              <a:buNone/>
            </a:pPr>
            <a:r>
              <a:rPr lang="en-GB" sz="1700" kern="100" dirty="0">
                <a:solidFill>
                  <a:schemeClr val="tx1"/>
                </a:solidFill>
                <a:effectLst/>
                <a:highlight>
                  <a:srgbClr val="E5E5E5"/>
                </a:highlight>
                <a:latin typeface="Avenir Book" panose="02000503020000020003" pitchFamily="2" charset="0"/>
                <a:ea typeface="Calibri" panose="020F0502020204030204" pitchFamily="34" charset="0"/>
                <a:cs typeface="Times New Roman" panose="02020603050405020304" pitchFamily="18" charset="0"/>
              </a:rPr>
              <a:t>Functionalism can explain why even though a certain organism is in pain it may not produce its usual outputs. For example, Putnam explains why being in pain may not mean that one always shouts out.  </a:t>
            </a:r>
          </a:p>
          <a:p>
            <a:pPr marL="0" indent="0">
              <a:lnSpc>
                <a:spcPct val="150000"/>
              </a:lnSpc>
              <a:buNone/>
            </a:pPr>
            <a:r>
              <a:rPr lang="en-GB" sz="1700" kern="100" dirty="0">
                <a:solidFill>
                  <a:schemeClr val="tx1"/>
                </a:solidFill>
                <a:effectLst/>
                <a:highlight>
                  <a:srgbClr val="E5E5E5"/>
                </a:highlight>
                <a:latin typeface="Avenir Book" panose="02000503020000020003" pitchFamily="2" charset="0"/>
                <a:ea typeface="Calibri" panose="020F0502020204030204" pitchFamily="34" charset="0"/>
                <a:cs typeface="Times New Roman" panose="02020603050405020304" pitchFamily="18" charset="0"/>
              </a:rPr>
              <a:t> ‘Namely the functional state we have in mind is the state of receiving sensory inputs which play a certain role in the functional organization of the organism. This role is characterised at least partially, by the fact that the sense organs responsible for the inputs in question are organs whose function is to detect damage to the body….this does not mean that the organism will always avoid the condition in question (“pain”); it only means that the condition will be avoided unless not avoiding it will lead to the attainment of a more valued goal.’</a:t>
            </a:r>
          </a:p>
          <a:p>
            <a:pPr marL="0" indent="0">
              <a:lnSpc>
                <a:spcPct val="150000"/>
              </a:lnSpc>
              <a:buNone/>
            </a:pPr>
            <a:r>
              <a:rPr lang="en-GB" sz="1700" kern="100" dirty="0">
                <a:solidFill>
                  <a:schemeClr val="tx1"/>
                </a:solidFill>
                <a:effectLst/>
                <a:highlight>
                  <a:srgbClr val="E5E5E5"/>
                </a:highlight>
                <a:latin typeface="Avenir Book" panose="02000503020000020003" pitchFamily="2" charset="0"/>
                <a:ea typeface="Calibri" panose="020F0502020204030204" pitchFamily="34" charset="0"/>
                <a:cs typeface="Times New Roman" panose="02020603050405020304" pitchFamily="18" charset="0"/>
              </a:rPr>
              <a:t>This means that even if I am in pain, I may be more worried about being discovered by a violent mob and thus keep quiet though I would certainly like to express my pain. </a:t>
            </a:r>
          </a:p>
          <a:p>
            <a:pPr>
              <a:lnSpc>
                <a:spcPct val="100000"/>
              </a:lnSpc>
            </a:pPr>
            <a:endParaRPr lang="en-US" sz="1400" dirty="0"/>
          </a:p>
        </p:txBody>
      </p:sp>
      <p:pic>
        <p:nvPicPr>
          <p:cNvPr id="5" name="Picture 4" descr="A painting of a person wearing a helmet and holding a shield and a spear&#10;&#10;Description automatically generated">
            <a:extLst>
              <a:ext uri="{FF2B5EF4-FFF2-40B4-BE49-F238E27FC236}">
                <a16:creationId xmlns:a16="http://schemas.microsoft.com/office/drawing/2014/main" id="{25F75645-72B5-B714-76C7-2A1BE7832FCD}"/>
              </a:ext>
            </a:extLst>
          </p:cNvPr>
          <p:cNvPicPr>
            <a:picLocks noChangeAspect="1"/>
          </p:cNvPicPr>
          <p:nvPr/>
        </p:nvPicPr>
        <p:blipFill rotWithShape="1">
          <a:blip r:embed="rId2"/>
          <a:srcRect r="-4" b="117"/>
          <a:stretch/>
        </p:blipFill>
        <p:spPr>
          <a:xfrm>
            <a:off x="8801404" y="2702679"/>
            <a:ext cx="2789514" cy="2786131"/>
          </a:xfrm>
          <a:custGeom>
            <a:avLst/>
            <a:gdLst/>
            <a:ahLst/>
            <a:cxnLst/>
            <a:rect l="l" t="t" r="r" b="b"/>
            <a:pathLst>
              <a:path w="3860171" h="3855489">
                <a:moveTo>
                  <a:pt x="1930086" y="0"/>
                </a:moveTo>
                <a:lnTo>
                  <a:pt x="1967540" y="3511"/>
                </a:lnTo>
                <a:lnTo>
                  <a:pt x="2003824" y="12875"/>
                </a:lnTo>
                <a:lnTo>
                  <a:pt x="2038938" y="26920"/>
                </a:lnTo>
                <a:lnTo>
                  <a:pt x="2075222" y="44477"/>
                </a:lnTo>
                <a:lnTo>
                  <a:pt x="2109166" y="64375"/>
                </a:lnTo>
                <a:lnTo>
                  <a:pt x="2144279" y="85443"/>
                </a:lnTo>
                <a:lnTo>
                  <a:pt x="2179393" y="104171"/>
                </a:lnTo>
                <a:lnTo>
                  <a:pt x="2214507" y="122898"/>
                </a:lnTo>
                <a:lnTo>
                  <a:pt x="2248450" y="136943"/>
                </a:lnTo>
                <a:lnTo>
                  <a:pt x="2285905" y="146307"/>
                </a:lnTo>
                <a:lnTo>
                  <a:pt x="2322189" y="150989"/>
                </a:lnTo>
                <a:lnTo>
                  <a:pt x="2360814" y="150989"/>
                </a:lnTo>
                <a:lnTo>
                  <a:pt x="2400610" y="148648"/>
                </a:lnTo>
                <a:lnTo>
                  <a:pt x="2440405" y="143966"/>
                </a:lnTo>
                <a:lnTo>
                  <a:pt x="2480201" y="138114"/>
                </a:lnTo>
                <a:lnTo>
                  <a:pt x="2519996" y="133432"/>
                </a:lnTo>
                <a:lnTo>
                  <a:pt x="2559792" y="129921"/>
                </a:lnTo>
                <a:lnTo>
                  <a:pt x="2597247" y="131091"/>
                </a:lnTo>
                <a:lnTo>
                  <a:pt x="2633531" y="135773"/>
                </a:lnTo>
                <a:lnTo>
                  <a:pt x="2668644" y="146307"/>
                </a:lnTo>
                <a:lnTo>
                  <a:pt x="2697906" y="161523"/>
                </a:lnTo>
                <a:lnTo>
                  <a:pt x="2725997" y="181421"/>
                </a:lnTo>
                <a:lnTo>
                  <a:pt x="2750577" y="204830"/>
                </a:lnTo>
                <a:lnTo>
                  <a:pt x="2775156" y="231750"/>
                </a:lnTo>
                <a:lnTo>
                  <a:pt x="2797395" y="259841"/>
                </a:lnTo>
                <a:lnTo>
                  <a:pt x="2819634" y="289103"/>
                </a:lnTo>
                <a:lnTo>
                  <a:pt x="2841872" y="318364"/>
                </a:lnTo>
                <a:lnTo>
                  <a:pt x="2864111" y="346455"/>
                </a:lnTo>
                <a:lnTo>
                  <a:pt x="2887520" y="373376"/>
                </a:lnTo>
                <a:lnTo>
                  <a:pt x="2914441" y="396785"/>
                </a:lnTo>
                <a:lnTo>
                  <a:pt x="2940191" y="417853"/>
                </a:lnTo>
                <a:lnTo>
                  <a:pt x="2969452" y="434240"/>
                </a:lnTo>
                <a:lnTo>
                  <a:pt x="3001055" y="448285"/>
                </a:lnTo>
                <a:lnTo>
                  <a:pt x="3034998" y="459990"/>
                </a:lnTo>
                <a:lnTo>
                  <a:pt x="3070112" y="470524"/>
                </a:lnTo>
                <a:lnTo>
                  <a:pt x="3105226" y="479888"/>
                </a:lnTo>
                <a:lnTo>
                  <a:pt x="3141510" y="489251"/>
                </a:lnTo>
                <a:lnTo>
                  <a:pt x="3175453" y="499785"/>
                </a:lnTo>
                <a:lnTo>
                  <a:pt x="3209396" y="511490"/>
                </a:lnTo>
                <a:lnTo>
                  <a:pt x="3240999" y="525535"/>
                </a:lnTo>
                <a:lnTo>
                  <a:pt x="3269090" y="543092"/>
                </a:lnTo>
                <a:lnTo>
                  <a:pt x="3294840" y="564161"/>
                </a:lnTo>
                <a:lnTo>
                  <a:pt x="3315908" y="589911"/>
                </a:lnTo>
                <a:lnTo>
                  <a:pt x="3333465" y="618002"/>
                </a:lnTo>
                <a:lnTo>
                  <a:pt x="3347510" y="649604"/>
                </a:lnTo>
                <a:lnTo>
                  <a:pt x="3359215" y="683547"/>
                </a:lnTo>
                <a:lnTo>
                  <a:pt x="3369749" y="717491"/>
                </a:lnTo>
                <a:lnTo>
                  <a:pt x="3379113" y="753775"/>
                </a:lnTo>
                <a:lnTo>
                  <a:pt x="3388476" y="788889"/>
                </a:lnTo>
                <a:lnTo>
                  <a:pt x="3399010" y="824002"/>
                </a:lnTo>
                <a:lnTo>
                  <a:pt x="3410715" y="857946"/>
                </a:lnTo>
                <a:lnTo>
                  <a:pt x="3424760" y="889548"/>
                </a:lnTo>
                <a:lnTo>
                  <a:pt x="3441147" y="918809"/>
                </a:lnTo>
                <a:lnTo>
                  <a:pt x="3462215" y="944560"/>
                </a:lnTo>
                <a:lnTo>
                  <a:pt x="3485624" y="971480"/>
                </a:lnTo>
                <a:lnTo>
                  <a:pt x="3512545" y="994889"/>
                </a:lnTo>
                <a:lnTo>
                  <a:pt x="3540636" y="1017128"/>
                </a:lnTo>
                <a:lnTo>
                  <a:pt x="3571068" y="1039367"/>
                </a:lnTo>
                <a:lnTo>
                  <a:pt x="3600329" y="1061605"/>
                </a:lnTo>
                <a:lnTo>
                  <a:pt x="3628420" y="1083844"/>
                </a:lnTo>
                <a:lnTo>
                  <a:pt x="3655341" y="1108424"/>
                </a:lnTo>
                <a:lnTo>
                  <a:pt x="3678750" y="1133003"/>
                </a:lnTo>
                <a:lnTo>
                  <a:pt x="3698648" y="1161094"/>
                </a:lnTo>
                <a:lnTo>
                  <a:pt x="3713864" y="1190356"/>
                </a:lnTo>
                <a:lnTo>
                  <a:pt x="3724398" y="1225469"/>
                </a:lnTo>
                <a:lnTo>
                  <a:pt x="3729080" y="1261754"/>
                </a:lnTo>
                <a:lnTo>
                  <a:pt x="3730250" y="1299208"/>
                </a:lnTo>
                <a:lnTo>
                  <a:pt x="3726739" y="1339004"/>
                </a:lnTo>
                <a:lnTo>
                  <a:pt x="3722057" y="1378799"/>
                </a:lnTo>
                <a:lnTo>
                  <a:pt x="3716205" y="1418595"/>
                </a:lnTo>
                <a:lnTo>
                  <a:pt x="3711523" y="1458391"/>
                </a:lnTo>
                <a:lnTo>
                  <a:pt x="3709182" y="1498186"/>
                </a:lnTo>
                <a:lnTo>
                  <a:pt x="3709182" y="1536811"/>
                </a:lnTo>
                <a:lnTo>
                  <a:pt x="3713864" y="1573096"/>
                </a:lnTo>
                <a:lnTo>
                  <a:pt x="3723228" y="1609380"/>
                </a:lnTo>
                <a:lnTo>
                  <a:pt x="3737273" y="1643323"/>
                </a:lnTo>
                <a:lnTo>
                  <a:pt x="3756000" y="1678437"/>
                </a:lnTo>
                <a:lnTo>
                  <a:pt x="3774728" y="1713550"/>
                </a:lnTo>
                <a:lnTo>
                  <a:pt x="3795796" y="1748664"/>
                </a:lnTo>
                <a:lnTo>
                  <a:pt x="3815694" y="1782608"/>
                </a:lnTo>
                <a:lnTo>
                  <a:pt x="3833250" y="1818892"/>
                </a:lnTo>
                <a:lnTo>
                  <a:pt x="3847296" y="1854005"/>
                </a:lnTo>
                <a:lnTo>
                  <a:pt x="3856660" y="1890290"/>
                </a:lnTo>
                <a:lnTo>
                  <a:pt x="3860171" y="1927744"/>
                </a:lnTo>
                <a:lnTo>
                  <a:pt x="3856660" y="1965199"/>
                </a:lnTo>
                <a:lnTo>
                  <a:pt x="3847296" y="2001483"/>
                </a:lnTo>
                <a:lnTo>
                  <a:pt x="3833250" y="2036597"/>
                </a:lnTo>
                <a:lnTo>
                  <a:pt x="3815694" y="2072881"/>
                </a:lnTo>
                <a:lnTo>
                  <a:pt x="3795796" y="2106824"/>
                </a:lnTo>
                <a:lnTo>
                  <a:pt x="3774728" y="2141938"/>
                </a:lnTo>
                <a:lnTo>
                  <a:pt x="3756000" y="2177052"/>
                </a:lnTo>
                <a:lnTo>
                  <a:pt x="3737273" y="2212166"/>
                </a:lnTo>
                <a:lnTo>
                  <a:pt x="3723228" y="2246109"/>
                </a:lnTo>
                <a:lnTo>
                  <a:pt x="3713864" y="2282393"/>
                </a:lnTo>
                <a:lnTo>
                  <a:pt x="3709182" y="2318677"/>
                </a:lnTo>
                <a:lnTo>
                  <a:pt x="3709182" y="2357302"/>
                </a:lnTo>
                <a:lnTo>
                  <a:pt x="3711523" y="2397098"/>
                </a:lnTo>
                <a:lnTo>
                  <a:pt x="3716205" y="2436894"/>
                </a:lnTo>
                <a:lnTo>
                  <a:pt x="3722057" y="2476689"/>
                </a:lnTo>
                <a:lnTo>
                  <a:pt x="3726739" y="2516485"/>
                </a:lnTo>
                <a:lnTo>
                  <a:pt x="3730250" y="2556280"/>
                </a:lnTo>
                <a:lnTo>
                  <a:pt x="3729080" y="2593735"/>
                </a:lnTo>
                <a:lnTo>
                  <a:pt x="3724398" y="2630019"/>
                </a:lnTo>
                <a:lnTo>
                  <a:pt x="3713864" y="2665133"/>
                </a:lnTo>
                <a:lnTo>
                  <a:pt x="3698648" y="2694394"/>
                </a:lnTo>
                <a:lnTo>
                  <a:pt x="3678750" y="2722485"/>
                </a:lnTo>
                <a:lnTo>
                  <a:pt x="3655341" y="2747065"/>
                </a:lnTo>
                <a:lnTo>
                  <a:pt x="3628420" y="2771645"/>
                </a:lnTo>
                <a:lnTo>
                  <a:pt x="3600329" y="2793883"/>
                </a:lnTo>
                <a:lnTo>
                  <a:pt x="3571068" y="2816122"/>
                </a:lnTo>
                <a:lnTo>
                  <a:pt x="3540636" y="2838361"/>
                </a:lnTo>
                <a:lnTo>
                  <a:pt x="3512545" y="2860599"/>
                </a:lnTo>
                <a:lnTo>
                  <a:pt x="3485624" y="2884009"/>
                </a:lnTo>
                <a:lnTo>
                  <a:pt x="3462215" y="2910929"/>
                </a:lnTo>
                <a:lnTo>
                  <a:pt x="3441147" y="2936679"/>
                </a:lnTo>
                <a:lnTo>
                  <a:pt x="3424760" y="2965941"/>
                </a:lnTo>
                <a:lnTo>
                  <a:pt x="3410715" y="2997543"/>
                </a:lnTo>
                <a:lnTo>
                  <a:pt x="3399010" y="3031486"/>
                </a:lnTo>
                <a:lnTo>
                  <a:pt x="3388476" y="3066600"/>
                </a:lnTo>
                <a:lnTo>
                  <a:pt x="3379113" y="3101714"/>
                </a:lnTo>
                <a:lnTo>
                  <a:pt x="3369749" y="3137998"/>
                </a:lnTo>
                <a:lnTo>
                  <a:pt x="3359215" y="3171941"/>
                </a:lnTo>
                <a:lnTo>
                  <a:pt x="3347510" y="3205885"/>
                </a:lnTo>
                <a:lnTo>
                  <a:pt x="3333465" y="3237487"/>
                </a:lnTo>
                <a:lnTo>
                  <a:pt x="3315908" y="3265578"/>
                </a:lnTo>
                <a:lnTo>
                  <a:pt x="3294840" y="3291328"/>
                </a:lnTo>
                <a:lnTo>
                  <a:pt x="3269090" y="3312396"/>
                </a:lnTo>
                <a:lnTo>
                  <a:pt x="3240999" y="3329953"/>
                </a:lnTo>
                <a:lnTo>
                  <a:pt x="3209396" y="3343999"/>
                </a:lnTo>
                <a:lnTo>
                  <a:pt x="3175453" y="3355703"/>
                </a:lnTo>
                <a:lnTo>
                  <a:pt x="3141510" y="3366237"/>
                </a:lnTo>
                <a:lnTo>
                  <a:pt x="3105226" y="3375601"/>
                </a:lnTo>
                <a:lnTo>
                  <a:pt x="3070112" y="3384965"/>
                </a:lnTo>
                <a:lnTo>
                  <a:pt x="3034998" y="3395499"/>
                </a:lnTo>
                <a:lnTo>
                  <a:pt x="3001055" y="3407203"/>
                </a:lnTo>
                <a:lnTo>
                  <a:pt x="2969452" y="3421249"/>
                </a:lnTo>
                <a:lnTo>
                  <a:pt x="2940191" y="3437635"/>
                </a:lnTo>
                <a:lnTo>
                  <a:pt x="2914441" y="3458704"/>
                </a:lnTo>
                <a:lnTo>
                  <a:pt x="2887520" y="3482113"/>
                </a:lnTo>
                <a:lnTo>
                  <a:pt x="2864111" y="3509033"/>
                </a:lnTo>
                <a:lnTo>
                  <a:pt x="2841872" y="3537124"/>
                </a:lnTo>
                <a:lnTo>
                  <a:pt x="2819634" y="3566386"/>
                </a:lnTo>
                <a:lnTo>
                  <a:pt x="2797395" y="3595647"/>
                </a:lnTo>
                <a:lnTo>
                  <a:pt x="2775156" y="3623738"/>
                </a:lnTo>
                <a:lnTo>
                  <a:pt x="2750577" y="3650659"/>
                </a:lnTo>
                <a:lnTo>
                  <a:pt x="2725997" y="3674068"/>
                </a:lnTo>
                <a:lnTo>
                  <a:pt x="2697906" y="3693966"/>
                </a:lnTo>
                <a:lnTo>
                  <a:pt x="2668644" y="3709182"/>
                </a:lnTo>
                <a:lnTo>
                  <a:pt x="2633531" y="3719716"/>
                </a:lnTo>
                <a:lnTo>
                  <a:pt x="2597247" y="3724398"/>
                </a:lnTo>
                <a:lnTo>
                  <a:pt x="2559792" y="3725568"/>
                </a:lnTo>
                <a:lnTo>
                  <a:pt x="2519996" y="3722057"/>
                </a:lnTo>
                <a:lnTo>
                  <a:pt x="2480201" y="3717375"/>
                </a:lnTo>
                <a:lnTo>
                  <a:pt x="2440405" y="3711523"/>
                </a:lnTo>
                <a:lnTo>
                  <a:pt x="2400610" y="3706841"/>
                </a:lnTo>
                <a:lnTo>
                  <a:pt x="2360814" y="3704500"/>
                </a:lnTo>
                <a:lnTo>
                  <a:pt x="2322189" y="3704500"/>
                </a:lnTo>
                <a:lnTo>
                  <a:pt x="2285905" y="3709182"/>
                </a:lnTo>
                <a:lnTo>
                  <a:pt x="2248450" y="3718545"/>
                </a:lnTo>
                <a:lnTo>
                  <a:pt x="2214507" y="3732591"/>
                </a:lnTo>
                <a:lnTo>
                  <a:pt x="2179393" y="3751318"/>
                </a:lnTo>
                <a:lnTo>
                  <a:pt x="2144279" y="3770045"/>
                </a:lnTo>
                <a:lnTo>
                  <a:pt x="2109166" y="3791114"/>
                </a:lnTo>
                <a:lnTo>
                  <a:pt x="2075222" y="3811011"/>
                </a:lnTo>
                <a:lnTo>
                  <a:pt x="2038938" y="3828568"/>
                </a:lnTo>
                <a:lnTo>
                  <a:pt x="2003824" y="3842614"/>
                </a:lnTo>
                <a:lnTo>
                  <a:pt x="1967540" y="3851978"/>
                </a:lnTo>
                <a:lnTo>
                  <a:pt x="1930086" y="3855489"/>
                </a:lnTo>
                <a:lnTo>
                  <a:pt x="1892631" y="3851978"/>
                </a:lnTo>
                <a:lnTo>
                  <a:pt x="1856347" y="3842614"/>
                </a:lnTo>
                <a:lnTo>
                  <a:pt x="1821233" y="3828568"/>
                </a:lnTo>
                <a:lnTo>
                  <a:pt x="1784949" y="3811011"/>
                </a:lnTo>
                <a:lnTo>
                  <a:pt x="1751005" y="3791114"/>
                </a:lnTo>
                <a:lnTo>
                  <a:pt x="1715892" y="3770045"/>
                </a:lnTo>
                <a:lnTo>
                  <a:pt x="1680778" y="3751318"/>
                </a:lnTo>
                <a:lnTo>
                  <a:pt x="1645664" y="3732591"/>
                </a:lnTo>
                <a:lnTo>
                  <a:pt x="1610550" y="3718545"/>
                </a:lnTo>
                <a:lnTo>
                  <a:pt x="1574266" y="3709182"/>
                </a:lnTo>
                <a:lnTo>
                  <a:pt x="1537982" y="3704500"/>
                </a:lnTo>
                <a:lnTo>
                  <a:pt x="1499357" y="3704500"/>
                </a:lnTo>
                <a:lnTo>
                  <a:pt x="1459561" y="3706841"/>
                </a:lnTo>
                <a:lnTo>
                  <a:pt x="1419766" y="3711523"/>
                </a:lnTo>
                <a:lnTo>
                  <a:pt x="1379970" y="3717375"/>
                </a:lnTo>
                <a:lnTo>
                  <a:pt x="1340175" y="3722057"/>
                </a:lnTo>
                <a:lnTo>
                  <a:pt x="1300379" y="3725568"/>
                </a:lnTo>
                <a:lnTo>
                  <a:pt x="1262924" y="3724398"/>
                </a:lnTo>
                <a:lnTo>
                  <a:pt x="1226640" y="3719716"/>
                </a:lnTo>
                <a:lnTo>
                  <a:pt x="1191526" y="3709182"/>
                </a:lnTo>
                <a:lnTo>
                  <a:pt x="1162265" y="3693966"/>
                </a:lnTo>
                <a:lnTo>
                  <a:pt x="1134174" y="3674068"/>
                </a:lnTo>
                <a:lnTo>
                  <a:pt x="1109594" y="3650659"/>
                </a:lnTo>
                <a:lnTo>
                  <a:pt x="1085015" y="3623738"/>
                </a:lnTo>
                <a:lnTo>
                  <a:pt x="1062776" y="3595647"/>
                </a:lnTo>
                <a:lnTo>
                  <a:pt x="1040537" y="3566386"/>
                </a:lnTo>
                <a:lnTo>
                  <a:pt x="1018299" y="3537124"/>
                </a:lnTo>
                <a:lnTo>
                  <a:pt x="996060" y="3509033"/>
                </a:lnTo>
                <a:lnTo>
                  <a:pt x="972651" y="3482113"/>
                </a:lnTo>
                <a:lnTo>
                  <a:pt x="945730" y="3458704"/>
                </a:lnTo>
                <a:lnTo>
                  <a:pt x="919980" y="3437635"/>
                </a:lnTo>
                <a:lnTo>
                  <a:pt x="890719" y="3421249"/>
                </a:lnTo>
                <a:lnTo>
                  <a:pt x="859116" y="3407203"/>
                </a:lnTo>
                <a:lnTo>
                  <a:pt x="825173" y="3395499"/>
                </a:lnTo>
                <a:lnTo>
                  <a:pt x="790059" y="3384965"/>
                </a:lnTo>
                <a:lnTo>
                  <a:pt x="754946" y="3375601"/>
                </a:lnTo>
                <a:lnTo>
                  <a:pt x="718662" y="3366237"/>
                </a:lnTo>
                <a:lnTo>
                  <a:pt x="684718" y="3355703"/>
                </a:lnTo>
                <a:lnTo>
                  <a:pt x="650775" y="3343999"/>
                </a:lnTo>
                <a:lnTo>
                  <a:pt x="619173" y="3329953"/>
                </a:lnTo>
                <a:lnTo>
                  <a:pt x="591082" y="3312396"/>
                </a:lnTo>
                <a:lnTo>
                  <a:pt x="565332" y="3291328"/>
                </a:lnTo>
                <a:lnTo>
                  <a:pt x="544263" y="3265578"/>
                </a:lnTo>
                <a:lnTo>
                  <a:pt x="526706" y="3237487"/>
                </a:lnTo>
                <a:lnTo>
                  <a:pt x="512661" y="3205885"/>
                </a:lnTo>
                <a:lnTo>
                  <a:pt x="500956" y="3171941"/>
                </a:lnTo>
                <a:lnTo>
                  <a:pt x="490422" y="3137998"/>
                </a:lnTo>
                <a:lnTo>
                  <a:pt x="481059" y="3101714"/>
                </a:lnTo>
                <a:lnTo>
                  <a:pt x="471695" y="3066600"/>
                </a:lnTo>
                <a:lnTo>
                  <a:pt x="461161" y="3031486"/>
                </a:lnTo>
                <a:lnTo>
                  <a:pt x="449456" y="2997543"/>
                </a:lnTo>
                <a:lnTo>
                  <a:pt x="435411" y="2965941"/>
                </a:lnTo>
                <a:lnTo>
                  <a:pt x="419024" y="2936679"/>
                </a:lnTo>
                <a:lnTo>
                  <a:pt x="397956" y="2910929"/>
                </a:lnTo>
                <a:lnTo>
                  <a:pt x="374547" y="2884009"/>
                </a:lnTo>
                <a:lnTo>
                  <a:pt x="347626" y="2860599"/>
                </a:lnTo>
                <a:lnTo>
                  <a:pt x="318365" y="2838361"/>
                </a:lnTo>
                <a:lnTo>
                  <a:pt x="289103" y="2816122"/>
                </a:lnTo>
                <a:lnTo>
                  <a:pt x="259842" y="2793883"/>
                </a:lnTo>
                <a:lnTo>
                  <a:pt x="231751" y="2771645"/>
                </a:lnTo>
                <a:lnTo>
                  <a:pt x="204830" y="2747065"/>
                </a:lnTo>
                <a:lnTo>
                  <a:pt x="181421" y="2722485"/>
                </a:lnTo>
                <a:lnTo>
                  <a:pt x="161523" y="2694394"/>
                </a:lnTo>
                <a:lnTo>
                  <a:pt x="146308" y="2665133"/>
                </a:lnTo>
                <a:lnTo>
                  <a:pt x="135773" y="2630019"/>
                </a:lnTo>
                <a:lnTo>
                  <a:pt x="131092" y="2593735"/>
                </a:lnTo>
                <a:lnTo>
                  <a:pt x="129921" y="2556280"/>
                </a:lnTo>
                <a:lnTo>
                  <a:pt x="133432" y="2516485"/>
                </a:lnTo>
                <a:lnTo>
                  <a:pt x="138114" y="2476689"/>
                </a:lnTo>
                <a:lnTo>
                  <a:pt x="143967" y="2436894"/>
                </a:lnTo>
                <a:lnTo>
                  <a:pt x="148648" y="2397098"/>
                </a:lnTo>
                <a:lnTo>
                  <a:pt x="150989" y="2357302"/>
                </a:lnTo>
                <a:lnTo>
                  <a:pt x="150989" y="2318677"/>
                </a:lnTo>
                <a:lnTo>
                  <a:pt x="146308" y="2282393"/>
                </a:lnTo>
                <a:lnTo>
                  <a:pt x="136944" y="2246109"/>
                </a:lnTo>
                <a:lnTo>
                  <a:pt x="122898" y="2212166"/>
                </a:lnTo>
                <a:lnTo>
                  <a:pt x="105341" y="2177052"/>
                </a:lnTo>
                <a:lnTo>
                  <a:pt x="85444" y="2141938"/>
                </a:lnTo>
                <a:lnTo>
                  <a:pt x="64375" y="2106824"/>
                </a:lnTo>
                <a:lnTo>
                  <a:pt x="44478" y="2072881"/>
                </a:lnTo>
                <a:lnTo>
                  <a:pt x="26921" y="2036597"/>
                </a:lnTo>
                <a:lnTo>
                  <a:pt x="12875" y="2001483"/>
                </a:lnTo>
                <a:lnTo>
                  <a:pt x="3512" y="1965199"/>
                </a:lnTo>
                <a:lnTo>
                  <a:pt x="0" y="1927744"/>
                </a:lnTo>
                <a:lnTo>
                  <a:pt x="3512" y="1890290"/>
                </a:lnTo>
                <a:lnTo>
                  <a:pt x="12875" y="1854005"/>
                </a:lnTo>
                <a:lnTo>
                  <a:pt x="26921" y="1818892"/>
                </a:lnTo>
                <a:lnTo>
                  <a:pt x="44478" y="1782608"/>
                </a:lnTo>
                <a:lnTo>
                  <a:pt x="64375" y="1748664"/>
                </a:lnTo>
                <a:lnTo>
                  <a:pt x="85444" y="1713550"/>
                </a:lnTo>
                <a:lnTo>
                  <a:pt x="105341" y="1678437"/>
                </a:lnTo>
                <a:lnTo>
                  <a:pt x="122898" y="1643323"/>
                </a:lnTo>
                <a:lnTo>
                  <a:pt x="136944" y="1609380"/>
                </a:lnTo>
                <a:lnTo>
                  <a:pt x="146308" y="1573096"/>
                </a:lnTo>
                <a:lnTo>
                  <a:pt x="150989" y="1536811"/>
                </a:lnTo>
                <a:lnTo>
                  <a:pt x="150989" y="1498186"/>
                </a:lnTo>
                <a:lnTo>
                  <a:pt x="148648" y="1458391"/>
                </a:lnTo>
                <a:lnTo>
                  <a:pt x="143967" y="1418595"/>
                </a:lnTo>
                <a:lnTo>
                  <a:pt x="138114" y="1378799"/>
                </a:lnTo>
                <a:lnTo>
                  <a:pt x="133432" y="1339004"/>
                </a:lnTo>
                <a:lnTo>
                  <a:pt x="129921" y="1299208"/>
                </a:lnTo>
                <a:lnTo>
                  <a:pt x="131092" y="1261754"/>
                </a:lnTo>
                <a:lnTo>
                  <a:pt x="135773" y="1225469"/>
                </a:lnTo>
                <a:lnTo>
                  <a:pt x="146308" y="1190356"/>
                </a:lnTo>
                <a:lnTo>
                  <a:pt x="161523" y="1161094"/>
                </a:lnTo>
                <a:lnTo>
                  <a:pt x="181421" y="1133003"/>
                </a:lnTo>
                <a:lnTo>
                  <a:pt x="204830" y="1108424"/>
                </a:lnTo>
                <a:lnTo>
                  <a:pt x="231751" y="1083844"/>
                </a:lnTo>
                <a:lnTo>
                  <a:pt x="259842" y="1061605"/>
                </a:lnTo>
                <a:lnTo>
                  <a:pt x="289103" y="1039367"/>
                </a:lnTo>
                <a:lnTo>
                  <a:pt x="318365" y="1017128"/>
                </a:lnTo>
                <a:lnTo>
                  <a:pt x="347626" y="994889"/>
                </a:lnTo>
                <a:lnTo>
                  <a:pt x="374547" y="971480"/>
                </a:lnTo>
                <a:lnTo>
                  <a:pt x="397956" y="944560"/>
                </a:lnTo>
                <a:lnTo>
                  <a:pt x="419024" y="918809"/>
                </a:lnTo>
                <a:lnTo>
                  <a:pt x="435411" y="889548"/>
                </a:lnTo>
                <a:lnTo>
                  <a:pt x="449456" y="857946"/>
                </a:lnTo>
                <a:lnTo>
                  <a:pt x="461161" y="824002"/>
                </a:lnTo>
                <a:lnTo>
                  <a:pt x="471695" y="788889"/>
                </a:lnTo>
                <a:lnTo>
                  <a:pt x="481059" y="753775"/>
                </a:lnTo>
                <a:lnTo>
                  <a:pt x="490422" y="717491"/>
                </a:lnTo>
                <a:lnTo>
                  <a:pt x="500956" y="683547"/>
                </a:lnTo>
                <a:lnTo>
                  <a:pt x="512661" y="649604"/>
                </a:lnTo>
                <a:lnTo>
                  <a:pt x="526706" y="618002"/>
                </a:lnTo>
                <a:lnTo>
                  <a:pt x="544263" y="589911"/>
                </a:lnTo>
                <a:lnTo>
                  <a:pt x="565332" y="564161"/>
                </a:lnTo>
                <a:lnTo>
                  <a:pt x="591082" y="543092"/>
                </a:lnTo>
                <a:lnTo>
                  <a:pt x="619173" y="525535"/>
                </a:lnTo>
                <a:lnTo>
                  <a:pt x="650775" y="511490"/>
                </a:lnTo>
                <a:lnTo>
                  <a:pt x="684718" y="499785"/>
                </a:lnTo>
                <a:lnTo>
                  <a:pt x="718662" y="489251"/>
                </a:lnTo>
                <a:lnTo>
                  <a:pt x="754946" y="479888"/>
                </a:lnTo>
                <a:lnTo>
                  <a:pt x="790059" y="470524"/>
                </a:lnTo>
                <a:lnTo>
                  <a:pt x="825173" y="459990"/>
                </a:lnTo>
                <a:lnTo>
                  <a:pt x="859116" y="448285"/>
                </a:lnTo>
                <a:lnTo>
                  <a:pt x="890719" y="434240"/>
                </a:lnTo>
                <a:lnTo>
                  <a:pt x="919980" y="417853"/>
                </a:lnTo>
                <a:lnTo>
                  <a:pt x="945730" y="396785"/>
                </a:lnTo>
                <a:lnTo>
                  <a:pt x="972651" y="373376"/>
                </a:lnTo>
                <a:lnTo>
                  <a:pt x="996060" y="346455"/>
                </a:lnTo>
                <a:lnTo>
                  <a:pt x="1018299" y="318364"/>
                </a:lnTo>
                <a:lnTo>
                  <a:pt x="1040537" y="289103"/>
                </a:lnTo>
                <a:lnTo>
                  <a:pt x="1062776" y="259841"/>
                </a:lnTo>
                <a:lnTo>
                  <a:pt x="1085015" y="231750"/>
                </a:lnTo>
                <a:lnTo>
                  <a:pt x="1109594" y="204830"/>
                </a:lnTo>
                <a:lnTo>
                  <a:pt x="1134174" y="181421"/>
                </a:lnTo>
                <a:lnTo>
                  <a:pt x="1162265" y="161523"/>
                </a:lnTo>
                <a:lnTo>
                  <a:pt x="1191526" y="146307"/>
                </a:lnTo>
                <a:lnTo>
                  <a:pt x="1226640" y="135773"/>
                </a:lnTo>
                <a:lnTo>
                  <a:pt x="1262924" y="131091"/>
                </a:lnTo>
                <a:lnTo>
                  <a:pt x="1300379" y="129921"/>
                </a:lnTo>
                <a:lnTo>
                  <a:pt x="1340175" y="133432"/>
                </a:lnTo>
                <a:lnTo>
                  <a:pt x="1379970" y="138114"/>
                </a:lnTo>
                <a:lnTo>
                  <a:pt x="1419766" y="143966"/>
                </a:lnTo>
                <a:lnTo>
                  <a:pt x="1459561" y="148648"/>
                </a:lnTo>
                <a:lnTo>
                  <a:pt x="1499357" y="150989"/>
                </a:lnTo>
                <a:lnTo>
                  <a:pt x="1537982" y="150989"/>
                </a:lnTo>
                <a:lnTo>
                  <a:pt x="1574266" y="146307"/>
                </a:lnTo>
                <a:lnTo>
                  <a:pt x="1610550" y="136943"/>
                </a:lnTo>
                <a:lnTo>
                  <a:pt x="1645664" y="122898"/>
                </a:lnTo>
                <a:lnTo>
                  <a:pt x="1680778" y="104171"/>
                </a:lnTo>
                <a:lnTo>
                  <a:pt x="1715892" y="85443"/>
                </a:lnTo>
                <a:lnTo>
                  <a:pt x="1751005" y="64375"/>
                </a:lnTo>
                <a:lnTo>
                  <a:pt x="1784949" y="44477"/>
                </a:lnTo>
                <a:lnTo>
                  <a:pt x="1821233" y="26920"/>
                </a:lnTo>
                <a:lnTo>
                  <a:pt x="1856347" y="12875"/>
                </a:lnTo>
                <a:lnTo>
                  <a:pt x="1892631" y="3511"/>
                </a:lnTo>
                <a:close/>
              </a:path>
            </a:pathLst>
          </a:custGeom>
        </p:spPr>
      </p:pic>
    </p:spTree>
    <p:extLst>
      <p:ext uri="{BB962C8B-B14F-4D97-AF65-F5344CB8AC3E}">
        <p14:creationId xmlns:p14="http://schemas.microsoft.com/office/powerpoint/2010/main" val="3882893173"/>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72EA8-54EF-2660-2D93-878D70366EFF}"/>
              </a:ext>
            </a:extLst>
          </p:cNvPr>
          <p:cNvSpPr>
            <a:spLocks noGrp="1"/>
          </p:cNvSpPr>
          <p:nvPr>
            <p:ph type="title"/>
          </p:nvPr>
        </p:nvSpPr>
        <p:spPr/>
        <p:txBody>
          <a:bodyPr>
            <a:normAutofit fontScale="90000"/>
          </a:bodyPr>
          <a:lstStyle/>
          <a:p>
            <a:r>
              <a:rPr lang="en-US" dirty="0">
                <a:latin typeface="Avenir Book" panose="02000503020000020003" pitchFamily="2" charset="0"/>
              </a:rPr>
              <a:t>Functionalism and convergent evolution</a:t>
            </a:r>
          </a:p>
        </p:txBody>
      </p:sp>
      <p:sp>
        <p:nvSpPr>
          <p:cNvPr id="3" name="Content Placeholder 2">
            <a:extLst>
              <a:ext uri="{FF2B5EF4-FFF2-40B4-BE49-F238E27FC236}">
                <a16:creationId xmlns:a16="http://schemas.microsoft.com/office/drawing/2014/main" id="{360664EE-7500-6BE9-0B02-54C59CBFD81F}"/>
              </a:ext>
            </a:extLst>
          </p:cNvPr>
          <p:cNvSpPr>
            <a:spLocks noGrp="1"/>
          </p:cNvSpPr>
          <p:nvPr>
            <p:ph idx="1"/>
          </p:nvPr>
        </p:nvSpPr>
        <p:spPr>
          <a:xfrm>
            <a:off x="1251679" y="2286001"/>
            <a:ext cx="6992210" cy="3593591"/>
          </a:xfrm>
        </p:spPr>
        <p:txBody>
          <a:bodyPr>
            <a:normAutofit fontScale="85000" lnSpcReduction="10000"/>
          </a:bodyPr>
          <a:lstStyle/>
          <a:p>
            <a:pPr marL="0" indent="0" algn="just">
              <a:lnSpc>
                <a:spcPct val="150000"/>
              </a:lnSpc>
              <a:buNone/>
            </a:pPr>
            <a:r>
              <a:rPr lang="en-GB" sz="1900" kern="100" dirty="0">
                <a:effectLst/>
                <a:latin typeface="Avenir Book" panose="02000503020000020003" pitchFamily="2" charset="0"/>
                <a:ea typeface="Calibri" panose="020F0502020204030204" pitchFamily="34" charset="0"/>
                <a:cs typeface="Times New Roman" panose="02020603050405020304" pitchFamily="18" charset="0"/>
              </a:rPr>
              <a:t>F</a:t>
            </a:r>
            <a:r>
              <a:rPr lang="en-GB" sz="19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unctionalism and convergent evolution: Convergent evolution is the phenomenon whereby two animals from different species, say a mammal and a marsupial, can look very similar. For example, the Tasmanian tiger (thylacine) looked remarkably like a dog, even though they have nothing in common on a genetic level. This is because they both lived in similar environments which demanded similar functions. The functions explain why they have the features they do; this is also true of hedgehogs and anteaters. We can thus see that it is possible for different species with different physical properties to realise the same mental property of being in pain. Putnam also compares the human eye and the eye of the octopus. </a:t>
            </a:r>
          </a:p>
          <a:p>
            <a:pPr algn="just"/>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5" name="Picture 4" descr="A black and white drawing of a fox&#10;&#10;Description automatically generated">
            <a:extLst>
              <a:ext uri="{FF2B5EF4-FFF2-40B4-BE49-F238E27FC236}">
                <a16:creationId xmlns:a16="http://schemas.microsoft.com/office/drawing/2014/main" id="{2ACB3A57-6119-1292-6E08-D3DB092B67FE}"/>
              </a:ext>
            </a:extLst>
          </p:cNvPr>
          <p:cNvPicPr>
            <a:picLocks noChangeAspect="1"/>
          </p:cNvPicPr>
          <p:nvPr/>
        </p:nvPicPr>
        <p:blipFill>
          <a:blip r:embed="rId2"/>
          <a:stretch>
            <a:fillRect/>
          </a:stretch>
        </p:blipFill>
        <p:spPr>
          <a:xfrm>
            <a:off x="8558214" y="2400301"/>
            <a:ext cx="3067050" cy="3067050"/>
          </a:xfrm>
          <a:prstGeom prst="rect">
            <a:avLst/>
          </a:prstGeom>
        </p:spPr>
      </p:pic>
    </p:spTree>
    <p:extLst>
      <p:ext uri="{BB962C8B-B14F-4D97-AF65-F5344CB8AC3E}">
        <p14:creationId xmlns:p14="http://schemas.microsoft.com/office/powerpoint/2010/main" val="1126023478"/>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D828-AC49-FD78-68FB-14BE78BE9CC0}"/>
              </a:ext>
            </a:extLst>
          </p:cNvPr>
          <p:cNvSpPr>
            <a:spLocks noGrp="1"/>
          </p:cNvSpPr>
          <p:nvPr>
            <p:ph type="title"/>
          </p:nvPr>
        </p:nvSpPr>
        <p:spPr>
          <a:xfrm>
            <a:off x="1251678" y="697831"/>
            <a:ext cx="10178322" cy="1176685"/>
          </a:xfrm>
        </p:spPr>
        <p:txBody>
          <a:bodyPr>
            <a:normAutofit/>
          </a:bodyPr>
          <a:lstStyle/>
          <a:p>
            <a:r>
              <a:rPr lang="en-US" sz="4000">
                <a:latin typeface="Optima" panose="02000503060000020004" pitchFamily="2" charset="0"/>
              </a:rPr>
              <a:t>Disadvantages of functionalism</a:t>
            </a:r>
            <a:endParaRPr lang="en-US" sz="4000" dirty="0">
              <a:latin typeface="Optima" panose="02000503060000020004" pitchFamily="2" charset="0"/>
            </a:endParaRPr>
          </a:p>
        </p:txBody>
      </p:sp>
      <p:graphicFrame>
        <p:nvGraphicFramePr>
          <p:cNvPr id="15" name="Content Placeholder 2">
            <a:extLst>
              <a:ext uri="{FF2B5EF4-FFF2-40B4-BE49-F238E27FC236}">
                <a16:creationId xmlns:a16="http://schemas.microsoft.com/office/drawing/2014/main" id="{37D54D64-BDB2-435B-700C-C71C7634F9AE}"/>
              </a:ext>
            </a:extLst>
          </p:cNvPr>
          <p:cNvGraphicFramePr>
            <a:graphicFrameLocks noGrp="1"/>
          </p:cNvGraphicFramePr>
          <p:nvPr>
            <p:ph idx="1"/>
            <p:extLst>
              <p:ext uri="{D42A27DB-BD31-4B8C-83A1-F6EECF244321}">
                <p14:modId xmlns:p14="http://schemas.microsoft.com/office/powerpoint/2010/main" val="3235033544"/>
              </p:ext>
            </p:extLst>
          </p:nvPr>
        </p:nvGraphicFramePr>
        <p:xfrm>
          <a:off x="1251678" y="1874517"/>
          <a:ext cx="10178322" cy="40050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49293804"/>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red and green rose&#10;&#10;Description automatically generated">
            <a:extLst>
              <a:ext uri="{FF2B5EF4-FFF2-40B4-BE49-F238E27FC236}">
                <a16:creationId xmlns:a16="http://schemas.microsoft.com/office/drawing/2014/main" id="{17018581-3A22-781B-65B1-0695E20D2343}"/>
              </a:ext>
            </a:extLst>
          </p:cNvPr>
          <p:cNvPicPr>
            <a:picLocks noChangeAspect="1"/>
          </p:cNvPicPr>
          <p:nvPr/>
        </p:nvPicPr>
        <p:blipFill rotWithShape="1">
          <a:blip r:embed="rId2"/>
          <a:srcRect l="3882" r="25348"/>
          <a:stretch/>
        </p:blipFill>
        <p:spPr>
          <a:xfrm>
            <a:off x="7338646" y="10"/>
            <a:ext cx="4853354" cy="6857990"/>
          </a:xfrm>
          <a:prstGeom prst="rect">
            <a:avLst/>
          </a:prstGeom>
        </p:spPr>
      </p:pic>
      <p:sp>
        <p:nvSpPr>
          <p:cNvPr id="2" name="Title 1">
            <a:extLst>
              <a:ext uri="{FF2B5EF4-FFF2-40B4-BE49-F238E27FC236}">
                <a16:creationId xmlns:a16="http://schemas.microsoft.com/office/drawing/2014/main" id="{8176187A-F043-D55B-6165-8215D5451304}"/>
              </a:ext>
            </a:extLst>
          </p:cNvPr>
          <p:cNvSpPr>
            <a:spLocks noGrp="1"/>
          </p:cNvSpPr>
          <p:nvPr>
            <p:ph type="title"/>
          </p:nvPr>
        </p:nvSpPr>
        <p:spPr>
          <a:xfrm>
            <a:off x="1257299" y="382385"/>
            <a:ext cx="5523649" cy="1492132"/>
          </a:xfrm>
        </p:spPr>
        <p:txBody>
          <a:bodyPr>
            <a:normAutofit/>
          </a:bodyPr>
          <a:lstStyle/>
          <a:p>
            <a:r>
              <a:rPr lang="en-US" sz="3600" dirty="0">
                <a:latin typeface="Avenir Book" panose="02000503020000020003" pitchFamily="2" charset="0"/>
              </a:rPr>
              <a:t>The inverted qualia experiment</a:t>
            </a:r>
          </a:p>
        </p:txBody>
      </p:sp>
      <p:sp>
        <p:nvSpPr>
          <p:cNvPr id="3" name="Content Placeholder 2">
            <a:extLst>
              <a:ext uri="{FF2B5EF4-FFF2-40B4-BE49-F238E27FC236}">
                <a16:creationId xmlns:a16="http://schemas.microsoft.com/office/drawing/2014/main" id="{96F5C5BF-8DEC-BFB7-4C76-547075792C35}"/>
              </a:ext>
            </a:extLst>
          </p:cNvPr>
          <p:cNvSpPr>
            <a:spLocks noGrp="1"/>
          </p:cNvSpPr>
          <p:nvPr>
            <p:ph idx="1"/>
          </p:nvPr>
        </p:nvSpPr>
        <p:spPr>
          <a:xfrm>
            <a:off x="1133857" y="1780032"/>
            <a:ext cx="5913120" cy="4695583"/>
          </a:xfrm>
        </p:spPr>
        <p:txBody>
          <a:bodyPr>
            <a:normAutofit fontScale="77500" lnSpcReduction="20000"/>
          </a:bodyPr>
          <a:lstStyle/>
          <a:p>
            <a:pPr marL="0" indent="0">
              <a:lnSpc>
                <a:spcPct val="170000"/>
              </a:lnSpc>
              <a:buNone/>
            </a:pPr>
            <a:r>
              <a:rPr lang="en-GB" kern="100" dirty="0">
                <a:solidFill>
                  <a:schemeClr val="tx1"/>
                </a:solidFill>
                <a:effectLst/>
                <a:highlight>
                  <a:srgbClr val="E5E5E5"/>
                </a:highlight>
                <a:latin typeface="Avenir Book" panose="02000503020000020003" pitchFamily="2" charset="0"/>
                <a:ea typeface="Calibri" panose="020F0502020204030204" pitchFamily="34" charset="0"/>
                <a:cs typeface="Times New Roman" panose="02020603050405020304" pitchFamily="18" charset="0"/>
              </a:rPr>
              <a:t>We could imagine a situation where I see the colour blue when I look at the sky and you see the colour red. We have inverted qualia on red and blue things. But because we have grown up in the same linguistic community you say that you see ‘blue’ when in fact you see red, and none of us is aware that the other person is having different experiences of qualia. We would be functionally identical because when we both see the same wavelength, we would say the same thing and thus have the same output, and say ‘I see blue’ but we would not be identical on an experiential level. Therefore, mental property and function are not identical.</a:t>
            </a:r>
          </a:p>
          <a:p>
            <a:pPr>
              <a:lnSpc>
                <a:spcPct val="100000"/>
              </a:lnSpc>
            </a:pPr>
            <a:endParaRPr lang="en-US" sz="1700" dirty="0"/>
          </a:p>
        </p:txBody>
      </p:sp>
    </p:spTree>
    <p:extLst>
      <p:ext uri="{BB962C8B-B14F-4D97-AF65-F5344CB8AC3E}">
        <p14:creationId xmlns:p14="http://schemas.microsoft.com/office/powerpoint/2010/main" val="1627014064"/>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group of people working at computers&#10;&#10;Description automatically generated">
            <a:extLst>
              <a:ext uri="{FF2B5EF4-FFF2-40B4-BE49-F238E27FC236}">
                <a16:creationId xmlns:a16="http://schemas.microsoft.com/office/drawing/2014/main" id="{D2AC5061-C356-45DC-6D06-7329C3AADC87}"/>
              </a:ext>
            </a:extLst>
          </p:cNvPr>
          <p:cNvPicPr>
            <a:picLocks noChangeAspect="1"/>
          </p:cNvPicPr>
          <p:nvPr/>
        </p:nvPicPr>
        <p:blipFill rotWithShape="1">
          <a:blip r:embed="rId2"/>
          <a:srcRect l="13455" r="15776"/>
          <a:stretch/>
        </p:blipFill>
        <p:spPr>
          <a:xfrm>
            <a:off x="7338646" y="10"/>
            <a:ext cx="4853354" cy="6857990"/>
          </a:xfrm>
          <a:prstGeom prst="rect">
            <a:avLst/>
          </a:prstGeom>
        </p:spPr>
      </p:pic>
      <p:sp>
        <p:nvSpPr>
          <p:cNvPr id="2" name="Title 1">
            <a:extLst>
              <a:ext uri="{FF2B5EF4-FFF2-40B4-BE49-F238E27FC236}">
                <a16:creationId xmlns:a16="http://schemas.microsoft.com/office/drawing/2014/main" id="{8D4D13DC-2D5C-0043-843A-5D55AA75BF5B}"/>
              </a:ext>
            </a:extLst>
          </p:cNvPr>
          <p:cNvSpPr>
            <a:spLocks noGrp="1"/>
          </p:cNvSpPr>
          <p:nvPr>
            <p:ph type="title"/>
          </p:nvPr>
        </p:nvSpPr>
        <p:spPr>
          <a:xfrm>
            <a:off x="1127051" y="382385"/>
            <a:ext cx="5653897" cy="1492132"/>
          </a:xfrm>
        </p:spPr>
        <p:txBody>
          <a:bodyPr>
            <a:normAutofit/>
          </a:bodyPr>
          <a:lstStyle/>
          <a:p>
            <a:r>
              <a:rPr lang="en-US" sz="3600" dirty="0">
                <a:latin typeface="Avenir Book" panose="02000503020000020003" pitchFamily="2" charset="0"/>
              </a:rPr>
              <a:t>Ned Block and the Chinese mind</a:t>
            </a:r>
          </a:p>
        </p:txBody>
      </p:sp>
      <p:sp>
        <p:nvSpPr>
          <p:cNvPr id="3" name="Content Placeholder 2">
            <a:extLst>
              <a:ext uri="{FF2B5EF4-FFF2-40B4-BE49-F238E27FC236}">
                <a16:creationId xmlns:a16="http://schemas.microsoft.com/office/drawing/2014/main" id="{2B58A23E-9D19-C6CF-F012-48A8A9594EB7}"/>
              </a:ext>
            </a:extLst>
          </p:cNvPr>
          <p:cNvSpPr>
            <a:spLocks noGrp="1"/>
          </p:cNvSpPr>
          <p:nvPr>
            <p:ph idx="1"/>
          </p:nvPr>
        </p:nvSpPr>
        <p:spPr>
          <a:xfrm>
            <a:off x="1307805" y="1780032"/>
            <a:ext cx="5473143" cy="4573267"/>
          </a:xfrm>
        </p:spPr>
        <p:txBody>
          <a:bodyPr>
            <a:normAutofit fontScale="92500" lnSpcReduction="20000"/>
          </a:bodyPr>
          <a:lstStyle/>
          <a:p>
            <a:pPr marL="0" indent="0" algn="just">
              <a:lnSpc>
                <a:spcPct val="150000"/>
              </a:lnSpc>
              <a:buNone/>
            </a:pPr>
            <a:r>
              <a:rPr lang="en-GB" sz="19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The Chinese Mind thought experiment developed by Ned Block claims that we could imagine the population of China (a population of over 1 billion people) replicating your brain process, duplicating the inputs and outputs of your brain. This could be done with walkie-talkies (today, the internet), and even though there would be perfect functional duplication there would be no one consciousness that the system was in. So, we can have functional duplication without consciousness. Whether this is viable in reality is irrelevant; in principle this could work, and it proves its point. </a:t>
            </a:r>
            <a:endParaRPr lang="en-US" sz="1900" dirty="0">
              <a:solidFill>
                <a:schemeClr val="tx1"/>
              </a:solidFill>
              <a:latin typeface="Avenir Book" panose="02000503020000020003" pitchFamily="2" charset="0"/>
            </a:endParaRPr>
          </a:p>
        </p:txBody>
      </p:sp>
    </p:spTree>
    <p:extLst>
      <p:ext uri="{BB962C8B-B14F-4D97-AF65-F5344CB8AC3E}">
        <p14:creationId xmlns:p14="http://schemas.microsoft.com/office/powerpoint/2010/main" val="221497021"/>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9139-264D-FCB8-4DB4-6243505B5C9B}"/>
              </a:ext>
            </a:extLst>
          </p:cNvPr>
          <p:cNvSpPr>
            <a:spLocks noGrp="1"/>
          </p:cNvSpPr>
          <p:nvPr>
            <p:ph type="title"/>
          </p:nvPr>
        </p:nvSpPr>
        <p:spPr>
          <a:xfrm>
            <a:off x="1251677" y="645105"/>
            <a:ext cx="4357499" cy="1320855"/>
          </a:xfrm>
        </p:spPr>
        <p:txBody>
          <a:bodyPr>
            <a:normAutofit/>
          </a:bodyPr>
          <a:lstStyle/>
          <a:p>
            <a:r>
              <a:rPr lang="en-US" sz="2800" dirty="0">
                <a:latin typeface="Avenir Book" panose="02000503020000020003" pitchFamily="2" charset="0"/>
              </a:rPr>
              <a:t>Chalmers and the deep problem of consciousness</a:t>
            </a:r>
          </a:p>
        </p:txBody>
      </p:sp>
      <p:sp>
        <p:nvSpPr>
          <p:cNvPr id="3" name="Content Placeholder 2">
            <a:extLst>
              <a:ext uri="{FF2B5EF4-FFF2-40B4-BE49-F238E27FC236}">
                <a16:creationId xmlns:a16="http://schemas.microsoft.com/office/drawing/2014/main" id="{51BFA266-30B7-D5EA-9572-6AD300D0CE7D}"/>
              </a:ext>
            </a:extLst>
          </p:cNvPr>
          <p:cNvSpPr>
            <a:spLocks noGrp="1"/>
          </p:cNvSpPr>
          <p:nvPr>
            <p:ph idx="1"/>
          </p:nvPr>
        </p:nvSpPr>
        <p:spPr>
          <a:xfrm>
            <a:off x="1251679" y="2286001"/>
            <a:ext cx="4357498" cy="3926894"/>
          </a:xfrm>
        </p:spPr>
        <p:txBody>
          <a:bodyPr>
            <a:normAutofit fontScale="85000" lnSpcReduction="10000"/>
          </a:bodyPr>
          <a:lstStyle/>
          <a:p>
            <a:pPr marL="0" indent="0">
              <a:lnSpc>
                <a:spcPct val="160000"/>
              </a:lnSpc>
              <a:buNone/>
            </a:pPr>
            <a:r>
              <a:rPr lang="en-GB" sz="2400" kern="100" dirty="0">
                <a:solidFill>
                  <a:schemeClr val="tx1"/>
                </a:solidFill>
                <a:latin typeface="Avenir Book" panose="02000503020000020003" pitchFamily="2" charset="0"/>
                <a:ea typeface="Calibri" panose="020F0502020204030204" pitchFamily="34" charset="0"/>
                <a:cs typeface="Times New Roman" panose="02020603050405020304" pitchFamily="18" charset="0"/>
              </a:rPr>
              <a:t>W</a:t>
            </a: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hat cannot be explained is the fact that this system is somehow connected to subjective consciousness. The fact that ‘it is like something’ to be conscious is a mystery that cannot be explained and is labelled the hard problem of consciousness by Chalmers. </a:t>
            </a:r>
          </a:p>
          <a:p>
            <a:endParaRPr lang="en-US" dirty="0"/>
          </a:p>
        </p:txBody>
      </p:sp>
      <p:pic>
        <p:nvPicPr>
          <p:cNvPr id="5" name="Picture 4" descr="A person in a library with a rose&#10;&#10;Description automatically generated">
            <a:extLst>
              <a:ext uri="{FF2B5EF4-FFF2-40B4-BE49-F238E27FC236}">
                <a16:creationId xmlns:a16="http://schemas.microsoft.com/office/drawing/2014/main" id="{B36EE3D3-D4D0-E2D6-111E-09EABBC87D19}"/>
              </a:ext>
            </a:extLst>
          </p:cNvPr>
          <p:cNvPicPr>
            <a:picLocks noChangeAspect="1"/>
          </p:cNvPicPr>
          <p:nvPr/>
        </p:nvPicPr>
        <p:blipFill rotWithShape="1">
          <a:blip r:embed="rId2"/>
          <a:srcRect t="121" r="2" b="2"/>
          <a:stretch/>
        </p:blipFill>
        <p:spPr>
          <a:xfrm>
            <a:off x="6096000" y="580713"/>
            <a:ext cx="5414304" cy="5407737"/>
          </a:xfrm>
          <a:custGeom>
            <a:avLst/>
            <a:gdLst/>
            <a:ahLst/>
            <a:cxnLst/>
            <a:rect l="l" t="t" r="r" b="b"/>
            <a:pathLst>
              <a:path w="3860171" h="3855489">
                <a:moveTo>
                  <a:pt x="1930086" y="0"/>
                </a:moveTo>
                <a:lnTo>
                  <a:pt x="1967540" y="3511"/>
                </a:lnTo>
                <a:lnTo>
                  <a:pt x="2003824" y="12875"/>
                </a:lnTo>
                <a:lnTo>
                  <a:pt x="2038938" y="26920"/>
                </a:lnTo>
                <a:lnTo>
                  <a:pt x="2075222" y="44477"/>
                </a:lnTo>
                <a:lnTo>
                  <a:pt x="2109166" y="64375"/>
                </a:lnTo>
                <a:lnTo>
                  <a:pt x="2144279" y="85443"/>
                </a:lnTo>
                <a:lnTo>
                  <a:pt x="2179393" y="104171"/>
                </a:lnTo>
                <a:lnTo>
                  <a:pt x="2214507" y="122898"/>
                </a:lnTo>
                <a:lnTo>
                  <a:pt x="2248450" y="136943"/>
                </a:lnTo>
                <a:lnTo>
                  <a:pt x="2285905" y="146307"/>
                </a:lnTo>
                <a:lnTo>
                  <a:pt x="2322189" y="150989"/>
                </a:lnTo>
                <a:lnTo>
                  <a:pt x="2360814" y="150989"/>
                </a:lnTo>
                <a:lnTo>
                  <a:pt x="2400610" y="148648"/>
                </a:lnTo>
                <a:lnTo>
                  <a:pt x="2440405" y="143966"/>
                </a:lnTo>
                <a:lnTo>
                  <a:pt x="2480201" y="138114"/>
                </a:lnTo>
                <a:lnTo>
                  <a:pt x="2519996" y="133432"/>
                </a:lnTo>
                <a:lnTo>
                  <a:pt x="2559792" y="129921"/>
                </a:lnTo>
                <a:lnTo>
                  <a:pt x="2597247" y="131091"/>
                </a:lnTo>
                <a:lnTo>
                  <a:pt x="2633531" y="135773"/>
                </a:lnTo>
                <a:lnTo>
                  <a:pt x="2668644" y="146307"/>
                </a:lnTo>
                <a:lnTo>
                  <a:pt x="2697906" y="161523"/>
                </a:lnTo>
                <a:lnTo>
                  <a:pt x="2725997" y="181421"/>
                </a:lnTo>
                <a:lnTo>
                  <a:pt x="2750577" y="204830"/>
                </a:lnTo>
                <a:lnTo>
                  <a:pt x="2775156" y="231750"/>
                </a:lnTo>
                <a:lnTo>
                  <a:pt x="2797395" y="259841"/>
                </a:lnTo>
                <a:lnTo>
                  <a:pt x="2819634" y="289103"/>
                </a:lnTo>
                <a:lnTo>
                  <a:pt x="2841872" y="318364"/>
                </a:lnTo>
                <a:lnTo>
                  <a:pt x="2864111" y="346455"/>
                </a:lnTo>
                <a:lnTo>
                  <a:pt x="2887520" y="373376"/>
                </a:lnTo>
                <a:lnTo>
                  <a:pt x="2914441" y="396785"/>
                </a:lnTo>
                <a:lnTo>
                  <a:pt x="2940191" y="417853"/>
                </a:lnTo>
                <a:lnTo>
                  <a:pt x="2969452" y="434240"/>
                </a:lnTo>
                <a:lnTo>
                  <a:pt x="3001055" y="448285"/>
                </a:lnTo>
                <a:lnTo>
                  <a:pt x="3034998" y="459990"/>
                </a:lnTo>
                <a:lnTo>
                  <a:pt x="3070112" y="470524"/>
                </a:lnTo>
                <a:lnTo>
                  <a:pt x="3105226" y="479888"/>
                </a:lnTo>
                <a:lnTo>
                  <a:pt x="3141510" y="489251"/>
                </a:lnTo>
                <a:lnTo>
                  <a:pt x="3175453" y="499785"/>
                </a:lnTo>
                <a:lnTo>
                  <a:pt x="3209396" y="511490"/>
                </a:lnTo>
                <a:lnTo>
                  <a:pt x="3240999" y="525535"/>
                </a:lnTo>
                <a:lnTo>
                  <a:pt x="3269090" y="543092"/>
                </a:lnTo>
                <a:lnTo>
                  <a:pt x="3294840" y="564161"/>
                </a:lnTo>
                <a:lnTo>
                  <a:pt x="3315908" y="589911"/>
                </a:lnTo>
                <a:lnTo>
                  <a:pt x="3333465" y="618002"/>
                </a:lnTo>
                <a:lnTo>
                  <a:pt x="3347510" y="649604"/>
                </a:lnTo>
                <a:lnTo>
                  <a:pt x="3359215" y="683547"/>
                </a:lnTo>
                <a:lnTo>
                  <a:pt x="3369749" y="717491"/>
                </a:lnTo>
                <a:lnTo>
                  <a:pt x="3379113" y="753775"/>
                </a:lnTo>
                <a:lnTo>
                  <a:pt x="3388476" y="788889"/>
                </a:lnTo>
                <a:lnTo>
                  <a:pt x="3399010" y="824002"/>
                </a:lnTo>
                <a:lnTo>
                  <a:pt x="3410715" y="857946"/>
                </a:lnTo>
                <a:lnTo>
                  <a:pt x="3424760" y="889548"/>
                </a:lnTo>
                <a:lnTo>
                  <a:pt x="3441147" y="918809"/>
                </a:lnTo>
                <a:lnTo>
                  <a:pt x="3462215" y="944560"/>
                </a:lnTo>
                <a:lnTo>
                  <a:pt x="3485624" y="971480"/>
                </a:lnTo>
                <a:lnTo>
                  <a:pt x="3512545" y="994889"/>
                </a:lnTo>
                <a:lnTo>
                  <a:pt x="3540636" y="1017128"/>
                </a:lnTo>
                <a:lnTo>
                  <a:pt x="3571068" y="1039367"/>
                </a:lnTo>
                <a:lnTo>
                  <a:pt x="3600329" y="1061605"/>
                </a:lnTo>
                <a:lnTo>
                  <a:pt x="3628420" y="1083844"/>
                </a:lnTo>
                <a:lnTo>
                  <a:pt x="3655341" y="1108424"/>
                </a:lnTo>
                <a:lnTo>
                  <a:pt x="3678750" y="1133003"/>
                </a:lnTo>
                <a:lnTo>
                  <a:pt x="3698648" y="1161094"/>
                </a:lnTo>
                <a:lnTo>
                  <a:pt x="3713864" y="1190356"/>
                </a:lnTo>
                <a:lnTo>
                  <a:pt x="3724398" y="1225469"/>
                </a:lnTo>
                <a:lnTo>
                  <a:pt x="3729080" y="1261754"/>
                </a:lnTo>
                <a:lnTo>
                  <a:pt x="3730250" y="1299208"/>
                </a:lnTo>
                <a:lnTo>
                  <a:pt x="3726739" y="1339004"/>
                </a:lnTo>
                <a:lnTo>
                  <a:pt x="3722057" y="1378799"/>
                </a:lnTo>
                <a:lnTo>
                  <a:pt x="3716205" y="1418595"/>
                </a:lnTo>
                <a:lnTo>
                  <a:pt x="3711523" y="1458391"/>
                </a:lnTo>
                <a:lnTo>
                  <a:pt x="3709182" y="1498186"/>
                </a:lnTo>
                <a:lnTo>
                  <a:pt x="3709182" y="1536811"/>
                </a:lnTo>
                <a:lnTo>
                  <a:pt x="3713864" y="1573096"/>
                </a:lnTo>
                <a:lnTo>
                  <a:pt x="3723228" y="1609380"/>
                </a:lnTo>
                <a:lnTo>
                  <a:pt x="3737273" y="1643323"/>
                </a:lnTo>
                <a:lnTo>
                  <a:pt x="3756000" y="1678437"/>
                </a:lnTo>
                <a:lnTo>
                  <a:pt x="3774728" y="1713550"/>
                </a:lnTo>
                <a:lnTo>
                  <a:pt x="3795796" y="1748664"/>
                </a:lnTo>
                <a:lnTo>
                  <a:pt x="3815694" y="1782608"/>
                </a:lnTo>
                <a:lnTo>
                  <a:pt x="3833250" y="1818892"/>
                </a:lnTo>
                <a:lnTo>
                  <a:pt x="3847296" y="1854005"/>
                </a:lnTo>
                <a:lnTo>
                  <a:pt x="3856660" y="1890290"/>
                </a:lnTo>
                <a:lnTo>
                  <a:pt x="3860171" y="1927744"/>
                </a:lnTo>
                <a:lnTo>
                  <a:pt x="3856660" y="1965199"/>
                </a:lnTo>
                <a:lnTo>
                  <a:pt x="3847296" y="2001483"/>
                </a:lnTo>
                <a:lnTo>
                  <a:pt x="3833250" y="2036597"/>
                </a:lnTo>
                <a:lnTo>
                  <a:pt x="3815694" y="2072881"/>
                </a:lnTo>
                <a:lnTo>
                  <a:pt x="3795796" y="2106824"/>
                </a:lnTo>
                <a:lnTo>
                  <a:pt x="3774728" y="2141938"/>
                </a:lnTo>
                <a:lnTo>
                  <a:pt x="3756000" y="2177052"/>
                </a:lnTo>
                <a:lnTo>
                  <a:pt x="3737273" y="2212166"/>
                </a:lnTo>
                <a:lnTo>
                  <a:pt x="3723228" y="2246109"/>
                </a:lnTo>
                <a:lnTo>
                  <a:pt x="3713864" y="2282393"/>
                </a:lnTo>
                <a:lnTo>
                  <a:pt x="3709182" y="2318677"/>
                </a:lnTo>
                <a:lnTo>
                  <a:pt x="3709182" y="2357302"/>
                </a:lnTo>
                <a:lnTo>
                  <a:pt x="3711523" y="2397098"/>
                </a:lnTo>
                <a:lnTo>
                  <a:pt x="3716205" y="2436894"/>
                </a:lnTo>
                <a:lnTo>
                  <a:pt x="3722057" y="2476689"/>
                </a:lnTo>
                <a:lnTo>
                  <a:pt x="3726739" y="2516485"/>
                </a:lnTo>
                <a:lnTo>
                  <a:pt x="3730250" y="2556280"/>
                </a:lnTo>
                <a:lnTo>
                  <a:pt x="3729080" y="2593735"/>
                </a:lnTo>
                <a:lnTo>
                  <a:pt x="3724398" y="2630019"/>
                </a:lnTo>
                <a:lnTo>
                  <a:pt x="3713864" y="2665133"/>
                </a:lnTo>
                <a:lnTo>
                  <a:pt x="3698648" y="2694394"/>
                </a:lnTo>
                <a:lnTo>
                  <a:pt x="3678750" y="2722485"/>
                </a:lnTo>
                <a:lnTo>
                  <a:pt x="3655341" y="2747065"/>
                </a:lnTo>
                <a:lnTo>
                  <a:pt x="3628420" y="2771645"/>
                </a:lnTo>
                <a:lnTo>
                  <a:pt x="3600329" y="2793883"/>
                </a:lnTo>
                <a:lnTo>
                  <a:pt x="3571068" y="2816122"/>
                </a:lnTo>
                <a:lnTo>
                  <a:pt x="3540636" y="2838361"/>
                </a:lnTo>
                <a:lnTo>
                  <a:pt x="3512545" y="2860599"/>
                </a:lnTo>
                <a:lnTo>
                  <a:pt x="3485624" y="2884009"/>
                </a:lnTo>
                <a:lnTo>
                  <a:pt x="3462215" y="2910929"/>
                </a:lnTo>
                <a:lnTo>
                  <a:pt x="3441147" y="2936679"/>
                </a:lnTo>
                <a:lnTo>
                  <a:pt x="3424760" y="2965941"/>
                </a:lnTo>
                <a:lnTo>
                  <a:pt x="3410715" y="2997543"/>
                </a:lnTo>
                <a:lnTo>
                  <a:pt x="3399010" y="3031486"/>
                </a:lnTo>
                <a:lnTo>
                  <a:pt x="3388476" y="3066600"/>
                </a:lnTo>
                <a:lnTo>
                  <a:pt x="3379113" y="3101714"/>
                </a:lnTo>
                <a:lnTo>
                  <a:pt x="3369749" y="3137998"/>
                </a:lnTo>
                <a:lnTo>
                  <a:pt x="3359215" y="3171941"/>
                </a:lnTo>
                <a:lnTo>
                  <a:pt x="3347510" y="3205885"/>
                </a:lnTo>
                <a:lnTo>
                  <a:pt x="3333465" y="3237487"/>
                </a:lnTo>
                <a:lnTo>
                  <a:pt x="3315908" y="3265578"/>
                </a:lnTo>
                <a:lnTo>
                  <a:pt x="3294840" y="3291328"/>
                </a:lnTo>
                <a:lnTo>
                  <a:pt x="3269090" y="3312396"/>
                </a:lnTo>
                <a:lnTo>
                  <a:pt x="3240999" y="3329953"/>
                </a:lnTo>
                <a:lnTo>
                  <a:pt x="3209396" y="3343999"/>
                </a:lnTo>
                <a:lnTo>
                  <a:pt x="3175453" y="3355703"/>
                </a:lnTo>
                <a:lnTo>
                  <a:pt x="3141510" y="3366237"/>
                </a:lnTo>
                <a:lnTo>
                  <a:pt x="3105226" y="3375601"/>
                </a:lnTo>
                <a:lnTo>
                  <a:pt x="3070112" y="3384965"/>
                </a:lnTo>
                <a:lnTo>
                  <a:pt x="3034998" y="3395499"/>
                </a:lnTo>
                <a:lnTo>
                  <a:pt x="3001055" y="3407203"/>
                </a:lnTo>
                <a:lnTo>
                  <a:pt x="2969452" y="3421249"/>
                </a:lnTo>
                <a:lnTo>
                  <a:pt x="2940191" y="3437635"/>
                </a:lnTo>
                <a:lnTo>
                  <a:pt x="2914441" y="3458704"/>
                </a:lnTo>
                <a:lnTo>
                  <a:pt x="2887520" y="3482113"/>
                </a:lnTo>
                <a:lnTo>
                  <a:pt x="2864111" y="3509033"/>
                </a:lnTo>
                <a:lnTo>
                  <a:pt x="2841872" y="3537124"/>
                </a:lnTo>
                <a:lnTo>
                  <a:pt x="2819634" y="3566386"/>
                </a:lnTo>
                <a:lnTo>
                  <a:pt x="2797395" y="3595647"/>
                </a:lnTo>
                <a:lnTo>
                  <a:pt x="2775156" y="3623738"/>
                </a:lnTo>
                <a:lnTo>
                  <a:pt x="2750577" y="3650659"/>
                </a:lnTo>
                <a:lnTo>
                  <a:pt x="2725997" y="3674068"/>
                </a:lnTo>
                <a:lnTo>
                  <a:pt x="2697906" y="3693966"/>
                </a:lnTo>
                <a:lnTo>
                  <a:pt x="2668644" y="3709182"/>
                </a:lnTo>
                <a:lnTo>
                  <a:pt x="2633531" y="3719716"/>
                </a:lnTo>
                <a:lnTo>
                  <a:pt x="2597247" y="3724398"/>
                </a:lnTo>
                <a:lnTo>
                  <a:pt x="2559792" y="3725568"/>
                </a:lnTo>
                <a:lnTo>
                  <a:pt x="2519996" y="3722057"/>
                </a:lnTo>
                <a:lnTo>
                  <a:pt x="2480201" y="3717375"/>
                </a:lnTo>
                <a:lnTo>
                  <a:pt x="2440405" y="3711523"/>
                </a:lnTo>
                <a:lnTo>
                  <a:pt x="2400610" y="3706841"/>
                </a:lnTo>
                <a:lnTo>
                  <a:pt x="2360814" y="3704500"/>
                </a:lnTo>
                <a:lnTo>
                  <a:pt x="2322189" y="3704500"/>
                </a:lnTo>
                <a:lnTo>
                  <a:pt x="2285905" y="3709182"/>
                </a:lnTo>
                <a:lnTo>
                  <a:pt x="2248450" y="3718545"/>
                </a:lnTo>
                <a:lnTo>
                  <a:pt x="2214507" y="3732591"/>
                </a:lnTo>
                <a:lnTo>
                  <a:pt x="2179393" y="3751318"/>
                </a:lnTo>
                <a:lnTo>
                  <a:pt x="2144279" y="3770045"/>
                </a:lnTo>
                <a:lnTo>
                  <a:pt x="2109166" y="3791114"/>
                </a:lnTo>
                <a:lnTo>
                  <a:pt x="2075222" y="3811011"/>
                </a:lnTo>
                <a:lnTo>
                  <a:pt x="2038938" y="3828568"/>
                </a:lnTo>
                <a:lnTo>
                  <a:pt x="2003824" y="3842614"/>
                </a:lnTo>
                <a:lnTo>
                  <a:pt x="1967540" y="3851978"/>
                </a:lnTo>
                <a:lnTo>
                  <a:pt x="1930086" y="3855489"/>
                </a:lnTo>
                <a:lnTo>
                  <a:pt x="1892631" y="3851978"/>
                </a:lnTo>
                <a:lnTo>
                  <a:pt x="1856347" y="3842614"/>
                </a:lnTo>
                <a:lnTo>
                  <a:pt x="1821233" y="3828568"/>
                </a:lnTo>
                <a:lnTo>
                  <a:pt x="1784949" y="3811011"/>
                </a:lnTo>
                <a:lnTo>
                  <a:pt x="1751005" y="3791114"/>
                </a:lnTo>
                <a:lnTo>
                  <a:pt x="1715892" y="3770045"/>
                </a:lnTo>
                <a:lnTo>
                  <a:pt x="1680778" y="3751318"/>
                </a:lnTo>
                <a:lnTo>
                  <a:pt x="1645664" y="3732591"/>
                </a:lnTo>
                <a:lnTo>
                  <a:pt x="1610550" y="3718545"/>
                </a:lnTo>
                <a:lnTo>
                  <a:pt x="1574266" y="3709182"/>
                </a:lnTo>
                <a:lnTo>
                  <a:pt x="1537982" y="3704500"/>
                </a:lnTo>
                <a:lnTo>
                  <a:pt x="1499357" y="3704500"/>
                </a:lnTo>
                <a:lnTo>
                  <a:pt x="1459561" y="3706841"/>
                </a:lnTo>
                <a:lnTo>
                  <a:pt x="1419766" y="3711523"/>
                </a:lnTo>
                <a:lnTo>
                  <a:pt x="1379970" y="3717375"/>
                </a:lnTo>
                <a:lnTo>
                  <a:pt x="1340175" y="3722057"/>
                </a:lnTo>
                <a:lnTo>
                  <a:pt x="1300379" y="3725568"/>
                </a:lnTo>
                <a:lnTo>
                  <a:pt x="1262924" y="3724398"/>
                </a:lnTo>
                <a:lnTo>
                  <a:pt x="1226640" y="3719716"/>
                </a:lnTo>
                <a:lnTo>
                  <a:pt x="1191526" y="3709182"/>
                </a:lnTo>
                <a:lnTo>
                  <a:pt x="1162265" y="3693966"/>
                </a:lnTo>
                <a:lnTo>
                  <a:pt x="1134174" y="3674068"/>
                </a:lnTo>
                <a:lnTo>
                  <a:pt x="1109594" y="3650659"/>
                </a:lnTo>
                <a:lnTo>
                  <a:pt x="1085015" y="3623738"/>
                </a:lnTo>
                <a:lnTo>
                  <a:pt x="1062776" y="3595647"/>
                </a:lnTo>
                <a:lnTo>
                  <a:pt x="1040537" y="3566386"/>
                </a:lnTo>
                <a:lnTo>
                  <a:pt x="1018299" y="3537124"/>
                </a:lnTo>
                <a:lnTo>
                  <a:pt x="996060" y="3509033"/>
                </a:lnTo>
                <a:lnTo>
                  <a:pt x="972651" y="3482113"/>
                </a:lnTo>
                <a:lnTo>
                  <a:pt x="945730" y="3458704"/>
                </a:lnTo>
                <a:lnTo>
                  <a:pt x="919980" y="3437635"/>
                </a:lnTo>
                <a:lnTo>
                  <a:pt x="890719" y="3421249"/>
                </a:lnTo>
                <a:lnTo>
                  <a:pt x="859116" y="3407203"/>
                </a:lnTo>
                <a:lnTo>
                  <a:pt x="825173" y="3395499"/>
                </a:lnTo>
                <a:lnTo>
                  <a:pt x="790059" y="3384965"/>
                </a:lnTo>
                <a:lnTo>
                  <a:pt x="754946" y="3375601"/>
                </a:lnTo>
                <a:lnTo>
                  <a:pt x="718662" y="3366237"/>
                </a:lnTo>
                <a:lnTo>
                  <a:pt x="684718" y="3355703"/>
                </a:lnTo>
                <a:lnTo>
                  <a:pt x="650775" y="3343999"/>
                </a:lnTo>
                <a:lnTo>
                  <a:pt x="619173" y="3329953"/>
                </a:lnTo>
                <a:lnTo>
                  <a:pt x="591082" y="3312396"/>
                </a:lnTo>
                <a:lnTo>
                  <a:pt x="565332" y="3291328"/>
                </a:lnTo>
                <a:lnTo>
                  <a:pt x="544263" y="3265578"/>
                </a:lnTo>
                <a:lnTo>
                  <a:pt x="526706" y="3237487"/>
                </a:lnTo>
                <a:lnTo>
                  <a:pt x="512661" y="3205885"/>
                </a:lnTo>
                <a:lnTo>
                  <a:pt x="500956" y="3171941"/>
                </a:lnTo>
                <a:lnTo>
                  <a:pt x="490422" y="3137998"/>
                </a:lnTo>
                <a:lnTo>
                  <a:pt x="481059" y="3101714"/>
                </a:lnTo>
                <a:lnTo>
                  <a:pt x="471695" y="3066600"/>
                </a:lnTo>
                <a:lnTo>
                  <a:pt x="461161" y="3031486"/>
                </a:lnTo>
                <a:lnTo>
                  <a:pt x="449456" y="2997543"/>
                </a:lnTo>
                <a:lnTo>
                  <a:pt x="435411" y="2965941"/>
                </a:lnTo>
                <a:lnTo>
                  <a:pt x="419024" y="2936679"/>
                </a:lnTo>
                <a:lnTo>
                  <a:pt x="397956" y="2910929"/>
                </a:lnTo>
                <a:lnTo>
                  <a:pt x="374547" y="2884009"/>
                </a:lnTo>
                <a:lnTo>
                  <a:pt x="347626" y="2860599"/>
                </a:lnTo>
                <a:lnTo>
                  <a:pt x="318365" y="2838361"/>
                </a:lnTo>
                <a:lnTo>
                  <a:pt x="289103" y="2816122"/>
                </a:lnTo>
                <a:lnTo>
                  <a:pt x="259842" y="2793883"/>
                </a:lnTo>
                <a:lnTo>
                  <a:pt x="231751" y="2771645"/>
                </a:lnTo>
                <a:lnTo>
                  <a:pt x="204830" y="2747065"/>
                </a:lnTo>
                <a:lnTo>
                  <a:pt x="181421" y="2722485"/>
                </a:lnTo>
                <a:lnTo>
                  <a:pt x="161523" y="2694394"/>
                </a:lnTo>
                <a:lnTo>
                  <a:pt x="146308" y="2665133"/>
                </a:lnTo>
                <a:lnTo>
                  <a:pt x="135773" y="2630019"/>
                </a:lnTo>
                <a:lnTo>
                  <a:pt x="131092" y="2593735"/>
                </a:lnTo>
                <a:lnTo>
                  <a:pt x="129921" y="2556280"/>
                </a:lnTo>
                <a:lnTo>
                  <a:pt x="133432" y="2516485"/>
                </a:lnTo>
                <a:lnTo>
                  <a:pt x="138114" y="2476689"/>
                </a:lnTo>
                <a:lnTo>
                  <a:pt x="143967" y="2436894"/>
                </a:lnTo>
                <a:lnTo>
                  <a:pt x="148648" y="2397098"/>
                </a:lnTo>
                <a:lnTo>
                  <a:pt x="150989" y="2357302"/>
                </a:lnTo>
                <a:lnTo>
                  <a:pt x="150989" y="2318677"/>
                </a:lnTo>
                <a:lnTo>
                  <a:pt x="146308" y="2282393"/>
                </a:lnTo>
                <a:lnTo>
                  <a:pt x="136944" y="2246109"/>
                </a:lnTo>
                <a:lnTo>
                  <a:pt x="122898" y="2212166"/>
                </a:lnTo>
                <a:lnTo>
                  <a:pt x="105341" y="2177052"/>
                </a:lnTo>
                <a:lnTo>
                  <a:pt x="85444" y="2141938"/>
                </a:lnTo>
                <a:lnTo>
                  <a:pt x="64375" y="2106824"/>
                </a:lnTo>
                <a:lnTo>
                  <a:pt x="44478" y="2072881"/>
                </a:lnTo>
                <a:lnTo>
                  <a:pt x="26921" y="2036597"/>
                </a:lnTo>
                <a:lnTo>
                  <a:pt x="12875" y="2001483"/>
                </a:lnTo>
                <a:lnTo>
                  <a:pt x="3512" y="1965199"/>
                </a:lnTo>
                <a:lnTo>
                  <a:pt x="0" y="1927744"/>
                </a:lnTo>
                <a:lnTo>
                  <a:pt x="3512" y="1890290"/>
                </a:lnTo>
                <a:lnTo>
                  <a:pt x="12875" y="1854005"/>
                </a:lnTo>
                <a:lnTo>
                  <a:pt x="26921" y="1818892"/>
                </a:lnTo>
                <a:lnTo>
                  <a:pt x="44478" y="1782608"/>
                </a:lnTo>
                <a:lnTo>
                  <a:pt x="64375" y="1748664"/>
                </a:lnTo>
                <a:lnTo>
                  <a:pt x="85444" y="1713550"/>
                </a:lnTo>
                <a:lnTo>
                  <a:pt x="105341" y="1678437"/>
                </a:lnTo>
                <a:lnTo>
                  <a:pt x="122898" y="1643323"/>
                </a:lnTo>
                <a:lnTo>
                  <a:pt x="136944" y="1609380"/>
                </a:lnTo>
                <a:lnTo>
                  <a:pt x="146308" y="1573096"/>
                </a:lnTo>
                <a:lnTo>
                  <a:pt x="150989" y="1536811"/>
                </a:lnTo>
                <a:lnTo>
                  <a:pt x="150989" y="1498186"/>
                </a:lnTo>
                <a:lnTo>
                  <a:pt x="148648" y="1458391"/>
                </a:lnTo>
                <a:lnTo>
                  <a:pt x="143967" y="1418595"/>
                </a:lnTo>
                <a:lnTo>
                  <a:pt x="138114" y="1378799"/>
                </a:lnTo>
                <a:lnTo>
                  <a:pt x="133432" y="1339004"/>
                </a:lnTo>
                <a:lnTo>
                  <a:pt x="129921" y="1299208"/>
                </a:lnTo>
                <a:lnTo>
                  <a:pt x="131092" y="1261754"/>
                </a:lnTo>
                <a:lnTo>
                  <a:pt x="135773" y="1225469"/>
                </a:lnTo>
                <a:lnTo>
                  <a:pt x="146308" y="1190356"/>
                </a:lnTo>
                <a:lnTo>
                  <a:pt x="161523" y="1161094"/>
                </a:lnTo>
                <a:lnTo>
                  <a:pt x="181421" y="1133003"/>
                </a:lnTo>
                <a:lnTo>
                  <a:pt x="204830" y="1108424"/>
                </a:lnTo>
                <a:lnTo>
                  <a:pt x="231751" y="1083844"/>
                </a:lnTo>
                <a:lnTo>
                  <a:pt x="259842" y="1061605"/>
                </a:lnTo>
                <a:lnTo>
                  <a:pt x="289103" y="1039367"/>
                </a:lnTo>
                <a:lnTo>
                  <a:pt x="318365" y="1017128"/>
                </a:lnTo>
                <a:lnTo>
                  <a:pt x="347626" y="994889"/>
                </a:lnTo>
                <a:lnTo>
                  <a:pt x="374547" y="971480"/>
                </a:lnTo>
                <a:lnTo>
                  <a:pt x="397956" y="944560"/>
                </a:lnTo>
                <a:lnTo>
                  <a:pt x="419024" y="918809"/>
                </a:lnTo>
                <a:lnTo>
                  <a:pt x="435411" y="889548"/>
                </a:lnTo>
                <a:lnTo>
                  <a:pt x="449456" y="857946"/>
                </a:lnTo>
                <a:lnTo>
                  <a:pt x="461161" y="824002"/>
                </a:lnTo>
                <a:lnTo>
                  <a:pt x="471695" y="788889"/>
                </a:lnTo>
                <a:lnTo>
                  <a:pt x="481059" y="753775"/>
                </a:lnTo>
                <a:lnTo>
                  <a:pt x="490422" y="717491"/>
                </a:lnTo>
                <a:lnTo>
                  <a:pt x="500956" y="683547"/>
                </a:lnTo>
                <a:lnTo>
                  <a:pt x="512661" y="649604"/>
                </a:lnTo>
                <a:lnTo>
                  <a:pt x="526706" y="618002"/>
                </a:lnTo>
                <a:lnTo>
                  <a:pt x="544263" y="589911"/>
                </a:lnTo>
                <a:lnTo>
                  <a:pt x="565332" y="564161"/>
                </a:lnTo>
                <a:lnTo>
                  <a:pt x="591082" y="543092"/>
                </a:lnTo>
                <a:lnTo>
                  <a:pt x="619173" y="525535"/>
                </a:lnTo>
                <a:lnTo>
                  <a:pt x="650775" y="511490"/>
                </a:lnTo>
                <a:lnTo>
                  <a:pt x="684718" y="499785"/>
                </a:lnTo>
                <a:lnTo>
                  <a:pt x="718662" y="489251"/>
                </a:lnTo>
                <a:lnTo>
                  <a:pt x="754946" y="479888"/>
                </a:lnTo>
                <a:lnTo>
                  <a:pt x="790059" y="470524"/>
                </a:lnTo>
                <a:lnTo>
                  <a:pt x="825173" y="459990"/>
                </a:lnTo>
                <a:lnTo>
                  <a:pt x="859116" y="448285"/>
                </a:lnTo>
                <a:lnTo>
                  <a:pt x="890719" y="434240"/>
                </a:lnTo>
                <a:lnTo>
                  <a:pt x="919980" y="417853"/>
                </a:lnTo>
                <a:lnTo>
                  <a:pt x="945730" y="396785"/>
                </a:lnTo>
                <a:lnTo>
                  <a:pt x="972651" y="373376"/>
                </a:lnTo>
                <a:lnTo>
                  <a:pt x="996060" y="346455"/>
                </a:lnTo>
                <a:lnTo>
                  <a:pt x="1018299" y="318364"/>
                </a:lnTo>
                <a:lnTo>
                  <a:pt x="1040537" y="289103"/>
                </a:lnTo>
                <a:lnTo>
                  <a:pt x="1062776" y="259841"/>
                </a:lnTo>
                <a:lnTo>
                  <a:pt x="1085015" y="231750"/>
                </a:lnTo>
                <a:lnTo>
                  <a:pt x="1109594" y="204830"/>
                </a:lnTo>
                <a:lnTo>
                  <a:pt x="1134174" y="181421"/>
                </a:lnTo>
                <a:lnTo>
                  <a:pt x="1162265" y="161523"/>
                </a:lnTo>
                <a:lnTo>
                  <a:pt x="1191526" y="146307"/>
                </a:lnTo>
                <a:lnTo>
                  <a:pt x="1226640" y="135773"/>
                </a:lnTo>
                <a:lnTo>
                  <a:pt x="1262924" y="131091"/>
                </a:lnTo>
                <a:lnTo>
                  <a:pt x="1300379" y="129921"/>
                </a:lnTo>
                <a:lnTo>
                  <a:pt x="1340175" y="133432"/>
                </a:lnTo>
                <a:lnTo>
                  <a:pt x="1379970" y="138114"/>
                </a:lnTo>
                <a:lnTo>
                  <a:pt x="1419766" y="143966"/>
                </a:lnTo>
                <a:lnTo>
                  <a:pt x="1459561" y="148648"/>
                </a:lnTo>
                <a:lnTo>
                  <a:pt x="1499357" y="150989"/>
                </a:lnTo>
                <a:lnTo>
                  <a:pt x="1537982" y="150989"/>
                </a:lnTo>
                <a:lnTo>
                  <a:pt x="1574266" y="146307"/>
                </a:lnTo>
                <a:lnTo>
                  <a:pt x="1610550" y="136943"/>
                </a:lnTo>
                <a:lnTo>
                  <a:pt x="1645664" y="122898"/>
                </a:lnTo>
                <a:lnTo>
                  <a:pt x="1680778" y="104171"/>
                </a:lnTo>
                <a:lnTo>
                  <a:pt x="1715892" y="85443"/>
                </a:lnTo>
                <a:lnTo>
                  <a:pt x="1751005" y="64375"/>
                </a:lnTo>
                <a:lnTo>
                  <a:pt x="1784949" y="44477"/>
                </a:lnTo>
                <a:lnTo>
                  <a:pt x="1821233" y="26920"/>
                </a:lnTo>
                <a:lnTo>
                  <a:pt x="1856347" y="12875"/>
                </a:lnTo>
                <a:lnTo>
                  <a:pt x="1892631" y="3511"/>
                </a:lnTo>
                <a:close/>
              </a:path>
            </a:pathLst>
          </a:custGeom>
        </p:spPr>
      </p:pic>
    </p:spTree>
    <p:extLst>
      <p:ext uri="{BB962C8B-B14F-4D97-AF65-F5344CB8AC3E}">
        <p14:creationId xmlns:p14="http://schemas.microsoft.com/office/powerpoint/2010/main" val="2250286709"/>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6E311-0278-7D0F-1571-61F8931EC6E2}"/>
              </a:ext>
            </a:extLst>
          </p:cNvPr>
          <p:cNvSpPr>
            <a:spLocks noGrp="1"/>
          </p:cNvSpPr>
          <p:nvPr>
            <p:ph type="title"/>
          </p:nvPr>
        </p:nvSpPr>
        <p:spPr>
          <a:xfrm>
            <a:off x="1251678" y="593765"/>
            <a:ext cx="10178322" cy="1280751"/>
          </a:xfrm>
        </p:spPr>
        <p:txBody>
          <a:bodyPr/>
          <a:lstStyle/>
          <a:p>
            <a:r>
              <a:rPr lang="en-US" dirty="0">
                <a:latin typeface="Avenir Book" panose="02000503020000020003" pitchFamily="2" charset="0"/>
              </a:rPr>
              <a:t>Further reading</a:t>
            </a:r>
          </a:p>
        </p:txBody>
      </p:sp>
      <p:sp>
        <p:nvSpPr>
          <p:cNvPr id="3" name="Content Placeholder 2">
            <a:extLst>
              <a:ext uri="{FF2B5EF4-FFF2-40B4-BE49-F238E27FC236}">
                <a16:creationId xmlns:a16="http://schemas.microsoft.com/office/drawing/2014/main" id="{CC69C126-F148-7728-A013-F07A3FBDAAEA}"/>
              </a:ext>
            </a:extLst>
          </p:cNvPr>
          <p:cNvSpPr>
            <a:spLocks noGrp="1"/>
          </p:cNvSpPr>
          <p:nvPr>
            <p:ph idx="1"/>
          </p:nvPr>
        </p:nvSpPr>
        <p:spPr/>
        <p:txBody>
          <a:bodyPr>
            <a:normAutofit/>
          </a:bodyPr>
          <a:lstStyle/>
          <a:p>
            <a:pPr marL="514350" indent="-514350">
              <a:buAutoNum type="arabicParenBoth"/>
            </a:pPr>
            <a:r>
              <a:rPr lang="en-US" sz="2800" dirty="0">
                <a:solidFill>
                  <a:schemeClr val="tx1"/>
                </a:solidFill>
                <a:latin typeface="Avenir Book" panose="02000503020000020003" pitchFamily="2" charset="0"/>
              </a:rPr>
              <a:t>The causal theory of mind – D. M. Armstrong</a:t>
            </a:r>
          </a:p>
          <a:p>
            <a:pPr marL="514350" indent="-514350">
              <a:buAutoNum type="arabicParenBoth"/>
            </a:pPr>
            <a:endParaRPr lang="en-US" sz="2800" dirty="0">
              <a:solidFill>
                <a:schemeClr val="tx1"/>
              </a:solidFill>
              <a:latin typeface="Avenir Book" panose="02000503020000020003" pitchFamily="2" charset="0"/>
            </a:endParaRPr>
          </a:p>
          <a:p>
            <a:pPr marL="514350" indent="-514350">
              <a:buAutoNum type="arabicParenBoth"/>
            </a:pPr>
            <a:r>
              <a:rPr lang="en-US" sz="2800" dirty="0">
                <a:solidFill>
                  <a:schemeClr val="tx1"/>
                </a:solidFill>
                <a:latin typeface="Avenir Book" panose="02000503020000020003" pitchFamily="2" charset="0"/>
              </a:rPr>
              <a:t>The Nature of mental states – Hilary Putnam </a:t>
            </a:r>
          </a:p>
        </p:txBody>
      </p:sp>
    </p:spTree>
    <p:extLst>
      <p:ext uri="{BB962C8B-B14F-4D97-AF65-F5344CB8AC3E}">
        <p14:creationId xmlns:p14="http://schemas.microsoft.com/office/powerpoint/2010/main" val="160915870"/>
      </p:ext>
    </p:extLst>
  </p:cSld>
  <p:clrMapOvr>
    <a:masterClrMapping/>
  </p:clrMapOvr>
  <p:transition spd="slow">
    <p:push dir="u"/>
  </p:transition>
</p:sld>
</file>

<file path=ppt/theme/theme1.xml><?xml version="1.0" encoding="utf-8"?>
<a:theme xmlns:a="http://schemas.openxmlformats.org/drawingml/2006/main" name="Badge">
  <a:themeElements>
    <a:clrScheme name="Badge">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Badge</Template>
  <TotalTime>207</TotalTime>
  <Words>1435</Words>
  <Application>Microsoft Macintosh PowerPoint</Application>
  <PresentationFormat>Widescreen</PresentationFormat>
  <Paragraphs>72</Paragraphs>
  <Slides>18</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Aptos</vt:lpstr>
      <vt:lpstr>Arial</vt:lpstr>
      <vt:lpstr>Avenir Book</vt:lpstr>
      <vt:lpstr>Calibri</vt:lpstr>
      <vt:lpstr>Cambria Math</vt:lpstr>
      <vt:lpstr>Gill Sans MT</vt:lpstr>
      <vt:lpstr>Impact</vt:lpstr>
      <vt:lpstr>Optima</vt:lpstr>
      <vt:lpstr>Badge</vt:lpstr>
      <vt:lpstr>Functionalism</vt:lpstr>
      <vt:lpstr>Key thesis</vt:lpstr>
      <vt:lpstr>Two main categories of functionalism </vt:lpstr>
      <vt:lpstr>Technical term</vt:lpstr>
      <vt:lpstr>The organism and the brain act by producing outputs from specific inputs. </vt:lpstr>
      <vt:lpstr>Hilary Putnam </vt:lpstr>
      <vt:lpstr>The argument put formally</vt:lpstr>
      <vt:lpstr>The analogy of hardware and software</vt:lpstr>
      <vt:lpstr>Functionalism is compatible with dualism</vt:lpstr>
      <vt:lpstr>Advantages of functionalism</vt:lpstr>
      <vt:lpstr>Functionalism and multiple realizability. </vt:lpstr>
      <vt:lpstr>Functionalism makes more sense than Behaviorism</vt:lpstr>
      <vt:lpstr>Functionalism and convergent evolution</vt:lpstr>
      <vt:lpstr>Disadvantages of functionalism</vt:lpstr>
      <vt:lpstr>The inverted qualia experiment</vt:lpstr>
      <vt:lpstr>Ned Block and the Chinese mind</vt:lpstr>
      <vt:lpstr>Chalmers and the deep problem of consciousness</vt:lpstr>
      <vt:lpstr>Further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 Shaki</dc:creator>
  <cp:lastModifiedBy>Nir Shaki</cp:lastModifiedBy>
  <cp:revision>15</cp:revision>
  <cp:lastPrinted>2024-07-03T09:15:34Z</cp:lastPrinted>
  <dcterms:created xsi:type="dcterms:W3CDTF">2024-06-30T15:57:13Z</dcterms:created>
  <dcterms:modified xsi:type="dcterms:W3CDTF">2024-08-10T14:00:12Z</dcterms:modified>
</cp:coreProperties>
</file>