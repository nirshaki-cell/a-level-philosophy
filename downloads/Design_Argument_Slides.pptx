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67" r:id="rId3"/>
    <p:sldId id="279" r:id="rId4"/>
    <p:sldId id="257" r:id="rId5"/>
    <p:sldId id="273" r:id="rId6"/>
    <p:sldId id="258" r:id="rId7"/>
    <p:sldId id="268" r:id="rId8"/>
    <p:sldId id="272" r:id="rId9"/>
    <p:sldId id="270" r:id="rId10"/>
    <p:sldId id="259" r:id="rId11"/>
    <p:sldId id="260" r:id="rId12"/>
    <p:sldId id="274" r:id="rId13"/>
    <p:sldId id="275" r:id="rId14"/>
    <p:sldId id="261" r:id="rId15"/>
    <p:sldId id="262" r:id="rId16"/>
    <p:sldId id="264" r:id="rId17"/>
    <p:sldId id="276" r:id="rId18"/>
    <p:sldId id="265" r:id="rId19"/>
    <p:sldId id="266" r:id="rId20"/>
    <p:sldId id="277" r:id="rId21"/>
    <p:sldId id="278" r:id="rId22"/>
    <p:sldId id="280" r:id="rId23"/>
    <p:sldId id="281" r:id="rId24"/>
    <p:sldId id="290" r:id="rId25"/>
    <p:sldId id="284" r:id="rId26"/>
    <p:sldId id="282" r:id="rId27"/>
    <p:sldId id="283" r:id="rId28"/>
    <p:sldId id="285" r:id="rId29"/>
    <p:sldId id="286" r:id="rId30"/>
    <p:sldId id="287" r:id="rId31"/>
    <p:sldId id="288" r:id="rId32"/>
    <p:sldId id="28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599"/>
  </p:normalViewPr>
  <p:slideViewPr>
    <p:cSldViewPr snapToGrid="0">
      <p:cViewPr varScale="1">
        <p:scale>
          <a:sx n="90" d="100"/>
          <a:sy n="90" d="100"/>
        </p:scale>
        <p:origin x="232"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E8709E-83E8-4022-857D-BAB52CC8596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D96A099-598E-4801-9503-095A048AB63F}">
      <dgm:prSet/>
      <dgm:spPr/>
      <dgm:t>
        <a:bodyPr/>
        <a:lstStyle/>
        <a:p>
          <a:pPr>
            <a:defRPr cap="all"/>
          </a:pPr>
          <a:r>
            <a:rPr lang="en-US"/>
            <a:t>The existence of </a:t>
          </a:r>
          <a:r>
            <a:rPr lang="en-US" i="1"/>
            <a:t>spatial</a:t>
          </a:r>
          <a:r>
            <a:rPr lang="en-US"/>
            <a:t> order. – The existence of an eye.</a:t>
          </a:r>
        </a:p>
      </dgm:t>
    </dgm:pt>
    <dgm:pt modelId="{9796CF94-74FD-434B-9847-096E3D00F0FF}" type="parTrans" cxnId="{35E32885-B9E7-4129-8282-38BFFE11EDF2}">
      <dgm:prSet/>
      <dgm:spPr/>
      <dgm:t>
        <a:bodyPr/>
        <a:lstStyle/>
        <a:p>
          <a:endParaRPr lang="en-US"/>
        </a:p>
      </dgm:t>
    </dgm:pt>
    <dgm:pt modelId="{52341150-EDF3-42F2-B729-46ADBF9D0DAA}" type="sibTrans" cxnId="{35E32885-B9E7-4129-8282-38BFFE11EDF2}">
      <dgm:prSet/>
      <dgm:spPr/>
      <dgm:t>
        <a:bodyPr/>
        <a:lstStyle/>
        <a:p>
          <a:endParaRPr lang="en-US"/>
        </a:p>
      </dgm:t>
    </dgm:pt>
    <dgm:pt modelId="{69EBD76D-F212-48C5-A3E4-9F43453D5461}">
      <dgm:prSet/>
      <dgm:spPr/>
      <dgm:t>
        <a:bodyPr/>
        <a:lstStyle/>
        <a:p>
          <a:pPr>
            <a:defRPr cap="all"/>
          </a:pPr>
          <a:r>
            <a:rPr lang="en-US"/>
            <a:t>The existence of </a:t>
          </a:r>
          <a:r>
            <a:rPr lang="en-US" i="1"/>
            <a:t>temporal</a:t>
          </a:r>
          <a:r>
            <a:rPr lang="en-US"/>
            <a:t> order. – The movement of the planets. </a:t>
          </a:r>
        </a:p>
      </dgm:t>
    </dgm:pt>
    <dgm:pt modelId="{CD81B963-2E26-4B52-B878-431DE7520C0D}" type="parTrans" cxnId="{D1AF3CDC-46A8-43BA-8ED0-B04F80904B82}">
      <dgm:prSet/>
      <dgm:spPr/>
      <dgm:t>
        <a:bodyPr/>
        <a:lstStyle/>
        <a:p>
          <a:endParaRPr lang="en-US"/>
        </a:p>
      </dgm:t>
    </dgm:pt>
    <dgm:pt modelId="{888B2EAF-EFF1-4DC1-AAF8-AE0D82EA24D0}" type="sibTrans" cxnId="{D1AF3CDC-46A8-43BA-8ED0-B04F80904B82}">
      <dgm:prSet/>
      <dgm:spPr/>
      <dgm:t>
        <a:bodyPr/>
        <a:lstStyle/>
        <a:p>
          <a:endParaRPr lang="en-US"/>
        </a:p>
      </dgm:t>
    </dgm:pt>
    <dgm:pt modelId="{D21CD5E0-38FE-49A8-B099-F7BCCD0ADB35}" type="pres">
      <dgm:prSet presAssocID="{C3E8709E-83E8-4022-857D-BAB52CC85969}" presName="root" presStyleCnt="0">
        <dgm:presLayoutVars>
          <dgm:dir/>
          <dgm:resizeHandles val="exact"/>
        </dgm:presLayoutVars>
      </dgm:prSet>
      <dgm:spPr/>
    </dgm:pt>
    <dgm:pt modelId="{A6AFF5DF-1316-49B0-961E-0398E7ADBBF1}" type="pres">
      <dgm:prSet presAssocID="{1D96A099-598E-4801-9503-095A048AB63F}" presName="compNode" presStyleCnt="0"/>
      <dgm:spPr/>
    </dgm:pt>
    <dgm:pt modelId="{50E37231-3E5F-4722-BFF9-F1DEC52B622E}" type="pres">
      <dgm:prSet presAssocID="{1D96A099-598E-4801-9503-095A048AB63F}" presName="iconBgRect" presStyleLbl="bgShp" presStyleIdx="0" presStyleCnt="2"/>
      <dgm:spPr/>
    </dgm:pt>
    <dgm:pt modelId="{2CFD58E9-CACA-440B-8C1E-72154A070BDF}" type="pres">
      <dgm:prSet presAssocID="{1D96A099-598E-4801-9503-095A048AB63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2953940B-B146-47F4-9B4C-2F31B90277F3}" type="pres">
      <dgm:prSet presAssocID="{1D96A099-598E-4801-9503-095A048AB63F}" presName="spaceRect" presStyleCnt="0"/>
      <dgm:spPr/>
    </dgm:pt>
    <dgm:pt modelId="{73C2F0FE-391F-4BA1-9FD3-CF21DCF42C7D}" type="pres">
      <dgm:prSet presAssocID="{1D96A099-598E-4801-9503-095A048AB63F}" presName="textRect" presStyleLbl="revTx" presStyleIdx="0" presStyleCnt="2">
        <dgm:presLayoutVars>
          <dgm:chMax val="1"/>
          <dgm:chPref val="1"/>
        </dgm:presLayoutVars>
      </dgm:prSet>
      <dgm:spPr/>
    </dgm:pt>
    <dgm:pt modelId="{158D6DE5-635B-473A-8429-118219EA198C}" type="pres">
      <dgm:prSet presAssocID="{52341150-EDF3-42F2-B729-46ADBF9D0DAA}" presName="sibTrans" presStyleCnt="0"/>
      <dgm:spPr/>
    </dgm:pt>
    <dgm:pt modelId="{5FF52AE0-FBE3-4D3C-8E2F-2B3942B3B1A1}" type="pres">
      <dgm:prSet presAssocID="{69EBD76D-F212-48C5-A3E4-9F43453D5461}" presName="compNode" presStyleCnt="0"/>
      <dgm:spPr/>
    </dgm:pt>
    <dgm:pt modelId="{F6BA379F-E773-4282-99C7-BB2FD61CECBA}" type="pres">
      <dgm:prSet presAssocID="{69EBD76D-F212-48C5-A3E4-9F43453D5461}" presName="iconBgRect" presStyleLbl="bgShp" presStyleIdx="1" presStyleCnt="2"/>
      <dgm:spPr/>
    </dgm:pt>
    <dgm:pt modelId="{474CC60F-A096-4AF6-98A7-D65B00600B0B}" type="pres">
      <dgm:prSet presAssocID="{69EBD76D-F212-48C5-A3E4-9F43453D546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lar system"/>
        </a:ext>
      </dgm:extLst>
    </dgm:pt>
    <dgm:pt modelId="{99CC604E-9020-4FCA-BF79-234D05AC0198}" type="pres">
      <dgm:prSet presAssocID="{69EBD76D-F212-48C5-A3E4-9F43453D5461}" presName="spaceRect" presStyleCnt="0"/>
      <dgm:spPr/>
    </dgm:pt>
    <dgm:pt modelId="{9873079F-281A-4FE2-92EB-2E82951139AB}" type="pres">
      <dgm:prSet presAssocID="{69EBD76D-F212-48C5-A3E4-9F43453D5461}" presName="textRect" presStyleLbl="revTx" presStyleIdx="1" presStyleCnt="2">
        <dgm:presLayoutVars>
          <dgm:chMax val="1"/>
          <dgm:chPref val="1"/>
        </dgm:presLayoutVars>
      </dgm:prSet>
      <dgm:spPr/>
    </dgm:pt>
  </dgm:ptLst>
  <dgm:cxnLst>
    <dgm:cxn modelId="{F6F8D51F-CAC9-45C7-8DA7-C26AD963F31C}" type="presOf" srcId="{C3E8709E-83E8-4022-857D-BAB52CC85969}" destId="{D21CD5E0-38FE-49A8-B099-F7BCCD0ADB35}" srcOrd="0" destOrd="0" presId="urn:microsoft.com/office/officeart/2018/5/layout/IconCircleLabelList"/>
    <dgm:cxn modelId="{35E32885-B9E7-4129-8282-38BFFE11EDF2}" srcId="{C3E8709E-83E8-4022-857D-BAB52CC85969}" destId="{1D96A099-598E-4801-9503-095A048AB63F}" srcOrd="0" destOrd="0" parTransId="{9796CF94-74FD-434B-9847-096E3D00F0FF}" sibTransId="{52341150-EDF3-42F2-B729-46ADBF9D0DAA}"/>
    <dgm:cxn modelId="{70792FA8-0456-4C05-9C94-557133FE025D}" type="presOf" srcId="{69EBD76D-F212-48C5-A3E4-9F43453D5461}" destId="{9873079F-281A-4FE2-92EB-2E82951139AB}" srcOrd="0" destOrd="0" presId="urn:microsoft.com/office/officeart/2018/5/layout/IconCircleLabelList"/>
    <dgm:cxn modelId="{AEFEF0C8-B31D-4AD9-A8A4-A154D997569A}" type="presOf" srcId="{1D96A099-598E-4801-9503-095A048AB63F}" destId="{73C2F0FE-391F-4BA1-9FD3-CF21DCF42C7D}" srcOrd="0" destOrd="0" presId="urn:microsoft.com/office/officeart/2018/5/layout/IconCircleLabelList"/>
    <dgm:cxn modelId="{D1AF3CDC-46A8-43BA-8ED0-B04F80904B82}" srcId="{C3E8709E-83E8-4022-857D-BAB52CC85969}" destId="{69EBD76D-F212-48C5-A3E4-9F43453D5461}" srcOrd="1" destOrd="0" parTransId="{CD81B963-2E26-4B52-B878-431DE7520C0D}" sibTransId="{888B2EAF-EFF1-4DC1-AAF8-AE0D82EA24D0}"/>
    <dgm:cxn modelId="{A03A0B40-60FB-4FEC-B2E7-9178212F26A7}" type="presParOf" srcId="{D21CD5E0-38FE-49A8-B099-F7BCCD0ADB35}" destId="{A6AFF5DF-1316-49B0-961E-0398E7ADBBF1}" srcOrd="0" destOrd="0" presId="urn:microsoft.com/office/officeart/2018/5/layout/IconCircleLabelList"/>
    <dgm:cxn modelId="{F9027522-C2F9-4BBC-ADFB-B87AA1428F33}" type="presParOf" srcId="{A6AFF5DF-1316-49B0-961E-0398E7ADBBF1}" destId="{50E37231-3E5F-4722-BFF9-F1DEC52B622E}" srcOrd="0" destOrd="0" presId="urn:microsoft.com/office/officeart/2018/5/layout/IconCircleLabelList"/>
    <dgm:cxn modelId="{D7D00966-5F9F-4163-9719-E5FC7008FEA5}" type="presParOf" srcId="{A6AFF5DF-1316-49B0-961E-0398E7ADBBF1}" destId="{2CFD58E9-CACA-440B-8C1E-72154A070BDF}" srcOrd="1" destOrd="0" presId="urn:microsoft.com/office/officeart/2018/5/layout/IconCircleLabelList"/>
    <dgm:cxn modelId="{4A8DDFC0-A4FE-4EC0-A773-E21FE03205B1}" type="presParOf" srcId="{A6AFF5DF-1316-49B0-961E-0398E7ADBBF1}" destId="{2953940B-B146-47F4-9B4C-2F31B90277F3}" srcOrd="2" destOrd="0" presId="urn:microsoft.com/office/officeart/2018/5/layout/IconCircleLabelList"/>
    <dgm:cxn modelId="{D7A030C1-B72C-4869-8706-D7B65E2A3AC0}" type="presParOf" srcId="{A6AFF5DF-1316-49B0-961E-0398E7ADBBF1}" destId="{73C2F0FE-391F-4BA1-9FD3-CF21DCF42C7D}" srcOrd="3" destOrd="0" presId="urn:microsoft.com/office/officeart/2018/5/layout/IconCircleLabelList"/>
    <dgm:cxn modelId="{601F59E1-676B-4A0D-A845-849BA0197372}" type="presParOf" srcId="{D21CD5E0-38FE-49A8-B099-F7BCCD0ADB35}" destId="{158D6DE5-635B-473A-8429-118219EA198C}" srcOrd="1" destOrd="0" presId="urn:microsoft.com/office/officeart/2018/5/layout/IconCircleLabelList"/>
    <dgm:cxn modelId="{16446627-9D63-4D72-A11D-BFBBBEB586E0}" type="presParOf" srcId="{D21CD5E0-38FE-49A8-B099-F7BCCD0ADB35}" destId="{5FF52AE0-FBE3-4D3C-8E2F-2B3942B3B1A1}" srcOrd="2" destOrd="0" presId="urn:microsoft.com/office/officeart/2018/5/layout/IconCircleLabelList"/>
    <dgm:cxn modelId="{BDADB0ED-4583-480F-871B-C7ED7C2FACE0}" type="presParOf" srcId="{5FF52AE0-FBE3-4D3C-8E2F-2B3942B3B1A1}" destId="{F6BA379F-E773-4282-99C7-BB2FD61CECBA}" srcOrd="0" destOrd="0" presId="urn:microsoft.com/office/officeart/2018/5/layout/IconCircleLabelList"/>
    <dgm:cxn modelId="{AEF3FD25-856B-41BC-AEEA-F2E125A42662}" type="presParOf" srcId="{5FF52AE0-FBE3-4D3C-8E2F-2B3942B3B1A1}" destId="{474CC60F-A096-4AF6-98A7-D65B00600B0B}" srcOrd="1" destOrd="0" presId="urn:microsoft.com/office/officeart/2018/5/layout/IconCircleLabelList"/>
    <dgm:cxn modelId="{6632B722-D436-41B0-9580-EC41D1342CA3}" type="presParOf" srcId="{5FF52AE0-FBE3-4D3C-8E2F-2B3942B3B1A1}" destId="{99CC604E-9020-4FCA-BF79-234D05AC0198}" srcOrd="2" destOrd="0" presId="urn:microsoft.com/office/officeart/2018/5/layout/IconCircleLabelList"/>
    <dgm:cxn modelId="{8A181205-1687-4D07-AC0F-01DC10A522C5}" type="presParOf" srcId="{5FF52AE0-FBE3-4D3C-8E2F-2B3942B3B1A1}" destId="{9873079F-281A-4FE2-92EB-2E82951139A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7ACB3D-3A69-4D53-ABD1-8DE37039F831}"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63A3B405-7B88-4625-833B-9848635D54B3}">
      <dgm:prSet/>
      <dgm:spPr/>
      <dgm:t>
        <a:bodyPr/>
        <a:lstStyle/>
        <a:p>
          <a:pPr algn="just">
            <a:lnSpc>
              <a:spcPct val="150000"/>
            </a:lnSpc>
          </a:pPr>
          <a:r>
            <a:rPr lang="en-US" dirty="0"/>
            <a:t>The </a:t>
          </a:r>
          <a:r>
            <a:rPr lang="en-US" i="1" dirty="0"/>
            <a:t>first</a:t>
          </a:r>
          <a:r>
            <a:rPr lang="en-US" dirty="0"/>
            <a:t> form of the argument we consider is that developed by David Hume (which is a pure analogical version of the design argument). It claims that we can infer by analogy a personal intelligent designer of the world, in the same way we make the claim with human objects of design. </a:t>
          </a:r>
        </a:p>
      </dgm:t>
    </dgm:pt>
    <dgm:pt modelId="{A0CFAE5F-BFDB-41E7-A934-BF5FB6307D1A}" type="parTrans" cxnId="{E5676E32-B12A-493B-8BE4-4FCFAF65CA53}">
      <dgm:prSet/>
      <dgm:spPr/>
      <dgm:t>
        <a:bodyPr/>
        <a:lstStyle/>
        <a:p>
          <a:endParaRPr lang="en-US"/>
        </a:p>
      </dgm:t>
    </dgm:pt>
    <dgm:pt modelId="{7FB416A8-5EA6-431D-A20F-EFED3DDD0F2B}" type="sibTrans" cxnId="{E5676E32-B12A-493B-8BE4-4FCFAF65CA53}">
      <dgm:prSet/>
      <dgm:spPr/>
      <dgm:t>
        <a:bodyPr/>
        <a:lstStyle/>
        <a:p>
          <a:endParaRPr lang="en-US"/>
        </a:p>
      </dgm:t>
    </dgm:pt>
    <dgm:pt modelId="{1D2DE3E6-7AE7-4F16-82FD-FB0E1A69AE5C}">
      <dgm:prSet/>
      <dgm:spPr/>
      <dgm:t>
        <a:bodyPr/>
        <a:lstStyle/>
        <a:p>
          <a:pPr algn="just">
            <a:lnSpc>
              <a:spcPct val="150000"/>
            </a:lnSpc>
          </a:pPr>
          <a:r>
            <a:rPr lang="en-US" dirty="0"/>
            <a:t>The </a:t>
          </a:r>
          <a:r>
            <a:rPr lang="en-US" i="1" dirty="0"/>
            <a:t>second </a:t>
          </a:r>
          <a:r>
            <a:rPr lang="en-US" dirty="0"/>
            <a:t>form of the argument, which is similar although different from analogical versions, is that developed by William Paley. His claim is that we can attribute the same property of intelligence to the creator for the world, that we can attribute to human beings.  </a:t>
          </a:r>
        </a:p>
      </dgm:t>
    </dgm:pt>
    <dgm:pt modelId="{E1084173-4D51-42DB-8C91-04D366881229}" type="parTrans" cxnId="{5E0BD61F-74A9-4552-A05A-978F246911EF}">
      <dgm:prSet/>
      <dgm:spPr/>
      <dgm:t>
        <a:bodyPr/>
        <a:lstStyle/>
        <a:p>
          <a:endParaRPr lang="en-US"/>
        </a:p>
      </dgm:t>
    </dgm:pt>
    <dgm:pt modelId="{7E15CD5B-E33C-4872-9741-DFC2F18A7431}" type="sibTrans" cxnId="{5E0BD61F-74A9-4552-A05A-978F246911EF}">
      <dgm:prSet/>
      <dgm:spPr/>
      <dgm:t>
        <a:bodyPr/>
        <a:lstStyle/>
        <a:p>
          <a:endParaRPr lang="en-US"/>
        </a:p>
      </dgm:t>
    </dgm:pt>
    <dgm:pt modelId="{3496539B-1C1D-D147-B5B5-8054046BCA2F}" type="pres">
      <dgm:prSet presAssocID="{3A7ACB3D-3A69-4D53-ABD1-8DE37039F831}" presName="hierChild1" presStyleCnt="0">
        <dgm:presLayoutVars>
          <dgm:chPref val="1"/>
          <dgm:dir/>
          <dgm:animOne val="branch"/>
          <dgm:animLvl val="lvl"/>
          <dgm:resizeHandles/>
        </dgm:presLayoutVars>
      </dgm:prSet>
      <dgm:spPr/>
    </dgm:pt>
    <dgm:pt modelId="{67DA8DCA-2ED1-1547-A78E-E3CD052F35F5}" type="pres">
      <dgm:prSet presAssocID="{63A3B405-7B88-4625-833B-9848635D54B3}" presName="hierRoot1" presStyleCnt="0"/>
      <dgm:spPr/>
    </dgm:pt>
    <dgm:pt modelId="{C6CA6475-E7EB-5447-A4D1-322BDAA9D4FD}" type="pres">
      <dgm:prSet presAssocID="{63A3B405-7B88-4625-833B-9848635D54B3}" presName="composite" presStyleCnt="0"/>
      <dgm:spPr/>
    </dgm:pt>
    <dgm:pt modelId="{0F4288DC-0FA8-4349-A4ED-CE6CF809C111}" type="pres">
      <dgm:prSet presAssocID="{63A3B405-7B88-4625-833B-9848635D54B3}" presName="background" presStyleLbl="node0" presStyleIdx="0" presStyleCnt="2"/>
      <dgm:spPr/>
    </dgm:pt>
    <dgm:pt modelId="{BC3716DB-8E0F-DE49-8109-ADEE2B55CC80}" type="pres">
      <dgm:prSet presAssocID="{63A3B405-7B88-4625-833B-9848635D54B3}" presName="text" presStyleLbl="fgAcc0" presStyleIdx="0" presStyleCnt="2">
        <dgm:presLayoutVars>
          <dgm:chPref val="3"/>
        </dgm:presLayoutVars>
      </dgm:prSet>
      <dgm:spPr/>
    </dgm:pt>
    <dgm:pt modelId="{4FEA0063-18AC-8348-8C50-A1BED6C1C2AE}" type="pres">
      <dgm:prSet presAssocID="{63A3B405-7B88-4625-833B-9848635D54B3}" presName="hierChild2" presStyleCnt="0"/>
      <dgm:spPr/>
    </dgm:pt>
    <dgm:pt modelId="{A7ABF85F-7BA6-0B4F-AD30-4AF5970E3EC0}" type="pres">
      <dgm:prSet presAssocID="{1D2DE3E6-7AE7-4F16-82FD-FB0E1A69AE5C}" presName="hierRoot1" presStyleCnt="0"/>
      <dgm:spPr/>
    </dgm:pt>
    <dgm:pt modelId="{0B174AD5-EC92-D741-B34B-C01C2BC3DB51}" type="pres">
      <dgm:prSet presAssocID="{1D2DE3E6-7AE7-4F16-82FD-FB0E1A69AE5C}" presName="composite" presStyleCnt="0"/>
      <dgm:spPr/>
    </dgm:pt>
    <dgm:pt modelId="{B5ADC8ED-E997-5A43-851D-04996404560C}" type="pres">
      <dgm:prSet presAssocID="{1D2DE3E6-7AE7-4F16-82FD-FB0E1A69AE5C}" presName="background" presStyleLbl="node0" presStyleIdx="1" presStyleCnt="2"/>
      <dgm:spPr/>
    </dgm:pt>
    <dgm:pt modelId="{CFC62F82-4582-1949-8BCF-8772ABF560E2}" type="pres">
      <dgm:prSet presAssocID="{1D2DE3E6-7AE7-4F16-82FD-FB0E1A69AE5C}" presName="text" presStyleLbl="fgAcc0" presStyleIdx="1" presStyleCnt="2">
        <dgm:presLayoutVars>
          <dgm:chPref val="3"/>
        </dgm:presLayoutVars>
      </dgm:prSet>
      <dgm:spPr/>
    </dgm:pt>
    <dgm:pt modelId="{2843B50D-DB4C-6B4A-B249-C177F447C9CA}" type="pres">
      <dgm:prSet presAssocID="{1D2DE3E6-7AE7-4F16-82FD-FB0E1A69AE5C}" presName="hierChild2" presStyleCnt="0"/>
      <dgm:spPr/>
    </dgm:pt>
  </dgm:ptLst>
  <dgm:cxnLst>
    <dgm:cxn modelId="{5E0BD61F-74A9-4552-A05A-978F246911EF}" srcId="{3A7ACB3D-3A69-4D53-ABD1-8DE37039F831}" destId="{1D2DE3E6-7AE7-4F16-82FD-FB0E1A69AE5C}" srcOrd="1" destOrd="0" parTransId="{E1084173-4D51-42DB-8C91-04D366881229}" sibTransId="{7E15CD5B-E33C-4872-9741-DFC2F18A7431}"/>
    <dgm:cxn modelId="{4C6DC724-929A-B142-9D13-FA46BC60E640}" type="presOf" srcId="{1D2DE3E6-7AE7-4F16-82FD-FB0E1A69AE5C}" destId="{CFC62F82-4582-1949-8BCF-8772ABF560E2}" srcOrd="0" destOrd="0" presId="urn:microsoft.com/office/officeart/2005/8/layout/hierarchy1"/>
    <dgm:cxn modelId="{E5676E32-B12A-493B-8BE4-4FCFAF65CA53}" srcId="{3A7ACB3D-3A69-4D53-ABD1-8DE37039F831}" destId="{63A3B405-7B88-4625-833B-9848635D54B3}" srcOrd="0" destOrd="0" parTransId="{A0CFAE5F-BFDB-41E7-A934-BF5FB6307D1A}" sibTransId="{7FB416A8-5EA6-431D-A20F-EFED3DDD0F2B}"/>
    <dgm:cxn modelId="{C6677945-59D9-044D-983D-E7889CB29C89}" type="presOf" srcId="{63A3B405-7B88-4625-833B-9848635D54B3}" destId="{BC3716DB-8E0F-DE49-8109-ADEE2B55CC80}" srcOrd="0" destOrd="0" presId="urn:microsoft.com/office/officeart/2005/8/layout/hierarchy1"/>
    <dgm:cxn modelId="{B93F45FB-6C11-9541-991C-F62CCAA296D5}" type="presOf" srcId="{3A7ACB3D-3A69-4D53-ABD1-8DE37039F831}" destId="{3496539B-1C1D-D147-B5B5-8054046BCA2F}" srcOrd="0" destOrd="0" presId="urn:microsoft.com/office/officeart/2005/8/layout/hierarchy1"/>
    <dgm:cxn modelId="{56B5B6D7-C6C7-9E43-8538-077AE9F0E0CB}" type="presParOf" srcId="{3496539B-1C1D-D147-B5B5-8054046BCA2F}" destId="{67DA8DCA-2ED1-1547-A78E-E3CD052F35F5}" srcOrd="0" destOrd="0" presId="urn:microsoft.com/office/officeart/2005/8/layout/hierarchy1"/>
    <dgm:cxn modelId="{DB07C1BD-7E0B-1040-9C54-521E8FE667A5}" type="presParOf" srcId="{67DA8DCA-2ED1-1547-A78E-E3CD052F35F5}" destId="{C6CA6475-E7EB-5447-A4D1-322BDAA9D4FD}" srcOrd="0" destOrd="0" presId="urn:microsoft.com/office/officeart/2005/8/layout/hierarchy1"/>
    <dgm:cxn modelId="{CCC682C2-5226-E04D-85FD-3FCB7FA94DE4}" type="presParOf" srcId="{C6CA6475-E7EB-5447-A4D1-322BDAA9D4FD}" destId="{0F4288DC-0FA8-4349-A4ED-CE6CF809C111}" srcOrd="0" destOrd="0" presId="urn:microsoft.com/office/officeart/2005/8/layout/hierarchy1"/>
    <dgm:cxn modelId="{C730E0B6-681E-1341-AD68-8F51F7DE33A3}" type="presParOf" srcId="{C6CA6475-E7EB-5447-A4D1-322BDAA9D4FD}" destId="{BC3716DB-8E0F-DE49-8109-ADEE2B55CC80}" srcOrd="1" destOrd="0" presId="urn:microsoft.com/office/officeart/2005/8/layout/hierarchy1"/>
    <dgm:cxn modelId="{4551B3DA-9169-8B46-A59C-875088BF9A4A}" type="presParOf" srcId="{67DA8DCA-2ED1-1547-A78E-E3CD052F35F5}" destId="{4FEA0063-18AC-8348-8C50-A1BED6C1C2AE}" srcOrd="1" destOrd="0" presId="urn:microsoft.com/office/officeart/2005/8/layout/hierarchy1"/>
    <dgm:cxn modelId="{6EF0B81D-0351-D44E-9A0A-89FF779C7BAC}" type="presParOf" srcId="{3496539B-1C1D-D147-B5B5-8054046BCA2F}" destId="{A7ABF85F-7BA6-0B4F-AD30-4AF5970E3EC0}" srcOrd="1" destOrd="0" presId="urn:microsoft.com/office/officeart/2005/8/layout/hierarchy1"/>
    <dgm:cxn modelId="{B994B15B-D2F8-6D4C-850C-F966DDF60D8F}" type="presParOf" srcId="{A7ABF85F-7BA6-0B4F-AD30-4AF5970E3EC0}" destId="{0B174AD5-EC92-D741-B34B-C01C2BC3DB51}" srcOrd="0" destOrd="0" presId="urn:microsoft.com/office/officeart/2005/8/layout/hierarchy1"/>
    <dgm:cxn modelId="{82C1F22D-9908-0542-B49B-17F308ABD859}" type="presParOf" srcId="{0B174AD5-EC92-D741-B34B-C01C2BC3DB51}" destId="{B5ADC8ED-E997-5A43-851D-04996404560C}" srcOrd="0" destOrd="0" presId="urn:microsoft.com/office/officeart/2005/8/layout/hierarchy1"/>
    <dgm:cxn modelId="{CC043E38-4BAB-5E42-AD95-24EC303342A6}" type="presParOf" srcId="{0B174AD5-EC92-D741-B34B-C01C2BC3DB51}" destId="{CFC62F82-4582-1949-8BCF-8772ABF560E2}" srcOrd="1" destOrd="0" presId="urn:microsoft.com/office/officeart/2005/8/layout/hierarchy1"/>
    <dgm:cxn modelId="{8474BF67-2A76-5845-98AD-828DBAF5B5FA}" type="presParOf" srcId="{A7ABF85F-7BA6-0B4F-AD30-4AF5970E3EC0}" destId="{2843B50D-DB4C-6B4A-B249-C177F447C9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91DF5E-E941-4E73-8B4B-DEF23151BBB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0EED000-3FBF-4C76-8DF4-2167BB272165}">
      <dgm:prSet/>
      <dgm:spPr/>
      <dgm:t>
        <a:bodyPr/>
        <a:lstStyle/>
        <a:p>
          <a:r>
            <a:rPr lang="en-US" dirty="0"/>
            <a:t>1. The analogy between objects of human design and objects of nature is weak.  Also, it is inconsistent with religious ideas that we should not use anthropomorphism.</a:t>
          </a:r>
        </a:p>
      </dgm:t>
    </dgm:pt>
    <dgm:pt modelId="{E36741FC-8573-450B-9B01-BF5CFF5E2AED}" type="parTrans" cxnId="{C6692BDF-7D97-46EF-A195-516216551B3D}">
      <dgm:prSet/>
      <dgm:spPr/>
      <dgm:t>
        <a:bodyPr/>
        <a:lstStyle/>
        <a:p>
          <a:endParaRPr lang="en-US"/>
        </a:p>
      </dgm:t>
    </dgm:pt>
    <dgm:pt modelId="{FF7E8EDB-06DA-4710-8F77-D264887773EE}" type="sibTrans" cxnId="{C6692BDF-7D97-46EF-A195-516216551B3D}">
      <dgm:prSet/>
      <dgm:spPr/>
      <dgm:t>
        <a:bodyPr/>
        <a:lstStyle/>
        <a:p>
          <a:endParaRPr lang="en-US"/>
        </a:p>
      </dgm:t>
    </dgm:pt>
    <dgm:pt modelId="{B559BA85-B8AE-4D5D-B5DD-8D0CEEC6F66E}">
      <dgm:prSet/>
      <dgm:spPr/>
      <dgm:t>
        <a:bodyPr/>
        <a:lstStyle/>
        <a:p>
          <a:r>
            <a:rPr lang="en-US"/>
            <a:t>2. A designer is not the best explanation. </a:t>
          </a:r>
        </a:p>
      </dgm:t>
    </dgm:pt>
    <dgm:pt modelId="{FF92883E-CB40-4FF6-B052-03AFDE1DF8C3}" type="parTrans" cxnId="{1669C4F3-E32D-4240-B871-1E4C9683EE19}">
      <dgm:prSet/>
      <dgm:spPr/>
      <dgm:t>
        <a:bodyPr/>
        <a:lstStyle/>
        <a:p>
          <a:endParaRPr lang="en-US"/>
        </a:p>
      </dgm:t>
    </dgm:pt>
    <dgm:pt modelId="{5BA57B74-4226-4D91-B281-969CB735488B}" type="sibTrans" cxnId="{1669C4F3-E32D-4240-B871-1E4C9683EE19}">
      <dgm:prSet/>
      <dgm:spPr/>
      <dgm:t>
        <a:bodyPr/>
        <a:lstStyle/>
        <a:p>
          <a:endParaRPr lang="en-US"/>
        </a:p>
      </dgm:t>
    </dgm:pt>
    <dgm:pt modelId="{10770DF3-D253-4DDE-9473-B31B93E2AA68}">
      <dgm:prSet/>
      <dgm:spPr/>
      <dgm:t>
        <a:bodyPr/>
        <a:lstStyle/>
        <a:p>
          <a:r>
            <a:rPr lang="en-US"/>
            <a:t>3. We only have one case of the world to go on. </a:t>
          </a:r>
        </a:p>
      </dgm:t>
    </dgm:pt>
    <dgm:pt modelId="{38A5E9D3-D39F-49BC-B829-733F6AEB4558}" type="parTrans" cxnId="{DCF5FFB0-84C4-4F11-82A8-4E229CBDF7C2}">
      <dgm:prSet/>
      <dgm:spPr/>
      <dgm:t>
        <a:bodyPr/>
        <a:lstStyle/>
        <a:p>
          <a:endParaRPr lang="en-US"/>
        </a:p>
      </dgm:t>
    </dgm:pt>
    <dgm:pt modelId="{7024D0E2-4859-4CB2-9299-C449A4B020C7}" type="sibTrans" cxnId="{DCF5FFB0-84C4-4F11-82A8-4E229CBDF7C2}">
      <dgm:prSet/>
      <dgm:spPr/>
      <dgm:t>
        <a:bodyPr/>
        <a:lstStyle/>
        <a:p>
          <a:endParaRPr lang="en-US"/>
        </a:p>
      </dgm:t>
    </dgm:pt>
    <dgm:pt modelId="{8FD15671-168E-4D71-BA17-4277E4A4BB90}">
      <dgm:prSet/>
      <dgm:spPr/>
      <dgm:t>
        <a:bodyPr/>
        <a:lstStyle/>
        <a:p>
          <a:r>
            <a:rPr lang="en-US"/>
            <a:t>4. We must not attribute more to the cause then we are entitled to.</a:t>
          </a:r>
        </a:p>
      </dgm:t>
    </dgm:pt>
    <dgm:pt modelId="{439FB035-F883-445F-85DF-75D343A33E9C}" type="parTrans" cxnId="{DA80D307-470B-4C41-BCB7-2CDA24C49626}">
      <dgm:prSet/>
      <dgm:spPr/>
      <dgm:t>
        <a:bodyPr/>
        <a:lstStyle/>
        <a:p>
          <a:endParaRPr lang="en-US"/>
        </a:p>
      </dgm:t>
    </dgm:pt>
    <dgm:pt modelId="{7E3A3AAB-88E5-49FC-8852-1B879B7E7F7F}" type="sibTrans" cxnId="{DA80D307-470B-4C41-BCB7-2CDA24C49626}">
      <dgm:prSet/>
      <dgm:spPr/>
      <dgm:t>
        <a:bodyPr/>
        <a:lstStyle/>
        <a:p>
          <a:endParaRPr lang="en-US"/>
        </a:p>
      </dgm:t>
    </dgm:pt>
    <dgm:pt modelId="{92F26B3B-F765-40EB-A9CC-BC43CE994513}">
      <dgm:prSet/>
      <dgm:spPr/>
      <dgm:t>
        <a:bodyPr/>
        <a:lstStyle/>
        <a:p>
          <a:r>
            <a:rPr lang="en-US"/>
            <a:t>5. Even if we accept that there is a designer it need not be the God of classical theism. </a:t>
          </a:r>
        </a:p>
      </dgm:t>
    </dgm:pt>
    <dgm:pt modelId="{70BDE76B-5362-4229-9201-64C34D510D19}" type="parTrans" cxnId="{CD90EC85-F122-4691-B2B2-A8463305B499}">
      <dgm:prSet/>
      <dgm:spPr/>
      <dgm:t>
        <a:bodyPr/>
        <a:lstStyle/>
        <a:p>
          <a:endParaRPr lang="en-US"/>
        </a:p>
      </dgm:t>
    </dgm:pt>
    <dgm:pt modelId="{94FD0508-AF46-408C-B3DB-40C78A0CF50E}" type="sibTrans" cxnId="{CD90EC85-F122-4691-B2B2-A8463305B499}">
      <dgm:prSet/>
      <dgm:spPr/>
      <dgm:t>
        <a:bodyPr/>
        <a:lstStyle/>
        <a:p>
          <a:endParaRPr lang="en-US"/>
        </a:p>
      </dgm:t>
    </dgm:pt>
    <dgm:pt modelId="{0EEDC0F1-7BF9-467F-AED1-0494DE42C7A3}" type="pres">
      <dgm:prSet presAssocID="{C691DF5E-E941-4E73-8B4B-DEF23151BBBF}" presName="root" presStyleCnt="0">
        <dgm:presLayoutVars>
          <dgm:dir/>
          <dgm:resizeHandles val="exact"/>
        </dgm:presLayoutVars>
      </dgm:prSet>
      <dgm:spPr/>
    </dgm:pt>
    <dgm:pt modelId="{E7D986AF-3B83-472E-90FF-1D138ABCAB55}" type="pres">
      <dgm:prSet presAssocID="{60EED000-3FBF-4C76-8DF4-2167BB272165}" presName="compNode" presStyleCnt="0"/>
      <dgm:spPr/>
    </dgm:pt>
    <dgm:pt modelId="{62842140-CFC5-468F-9E55-7A55554FBC05}" type="pres">
      <dgm:prSet presAssocID="{60EED000-3FBF-4C76-8DF4-2167BB272165}" presName="bgRect" presStyleLbl="bgShp" presStyleIdx="0" presStyleCnt="5"/>
      <dgm:spPr/>
    </dgm:pt>
    <dgm:pt modelId="{CD564CB5-78C2-4053-9B2C-119D1A90EE61}" type="pres">
      <dgm:prSet presAssocID="{60EED000-3FBF-4C76-8DF4-2167BB27216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EE33BC8E-975B-4E12-B034-1EDF98E93D7C}" type="pres">
      <dgm:prSet presAssocID="{60EED000-3FBF-4C76-8DF4-2167BB272165}" presName="spaceRect" presStyleCnt="0"/>
      <dgm:spPr/>
    </dgm:pt>
    <dgm:pt modelId="{01508034-32FB-4B75-B00C-2858D5F04F48}" type="pres">
      <dgm:prSet presAssocID="{60EED000-3FBF-4C76-8DF4-2167BB272165}" presName="parTx" presStyleLbl="revTx" presStyleIdx="0" presStyleCnt="5">
        <dgm:presLayoutVars>
          <dgm:chMax val="0"/>
          <dgm:chPref val="0"/>
        </dgm:presLayoutVars>
      </dgm:prSet>
      <dgm:spPr/>
    </dgm:pt>
    <dgm:pt modelId="{8DD19E17-80CE-4F04-9DA3-13AC0D83C1AA}" type="pres">
      <dgm:prSet presAssocID="{FF7E8EDB-06DA-4710-8F77-D264887773EE}" presName="sibTrans" presStyleCnt="0"/>
      <dgm:spPr/>
    </dgm:pt>
    <dgm:pt modelId="{389681C0-1521-48AA-BDBA-F7D67EE3575C}" type="pres">
      <dgm:prSet presAssocID="{B559BA85-B8AE-4D5D-B5DD-8D0CEEC6F66E}" presName="compNode" presStyleCnt="0"/>
      <dgm:spPr/>
    </dgm:pt>
    <dgm:pt modelId="{16D69637-D9CC-4328-8687-672A0D40CAB0}" type="pres">
      <dgm:prSet presAssocID="{B559BA85-B8AE-4D5D-B5DD-8D0CEEC6F66E}" presName="bgRect" presStyleLbl="bgShp" presStyleIdx="1" presStyleCnt="5"/>
      <dgm:spPr/>
    </dgm:pt>
    <dgm:pt modelId="{72E030E4-9692-488F-86E2-D358119475E7}" type="pres">
      <dgm:prSet presAssocID="{B559BA85-B8AE-4D5D-B5DD-8D0CEEC6F66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AF795C16-286E-4F8B-BC61-363DC7DBCF37}" type="pres">
      <dgm:prSet presAssocID="{B559BA85-B8AE-4D5D-B5DD-8D0CEEC6F66E}" presName="spaceRect" presStyleCnt="0"/>
      <dgm:spPr/>
    </dgm:pt>
    <dgm:pt modelId="{E3C280AC-B908-425A-AE38-CA1BA2D14662}" type="pres">
      <dgm:prSet presAssocID="{B559BA85-B8AE-4D5D-B5DD-8D0CEEC6F66E}" presName="parTx" presStyleLbl="revTx" presStyleIdx="1" presStyleCnt="5">
        <dgm:presLayoutVars>
          <dgm:chMax val="0"/>
          <dgm:chPref val="0"/>
        </dgm:presLayoutVars>
      </dgm:prSet>
      <dgm:spPr/>
    </dgm:pt>
    <dgm:pt modelId="{3FE456B8-CA93-455D-B3D9-EA65CD9E3DE3}" type="pres">
      <dgm:prSet presAssocID="{5BA57B74-4226-4D91-B281-969CB735488B}" presName="sibTrans" presStyleCnt="0"/>
      <dgm:spPr/>
    </dgm:pt>
    <dgm:pt modelId="{6CB2E699-A1A4-4144-915A-B330B57C974B}" type="pres">
      <dgm:prSet presAssocID="{10770DF3-D253-4DDE-9473-B31B93E2AA68}" presName="compNode" presStyleCnt="0"/>
      <dgm:spPr/>
    </dgm:pt>
    <dgm:pt modelId="{1497B012-E373-445C-B4F4-E925B5C476E9}" type="pres">
      <dgm:prSet presAssocID="{10770DF3-D253-4DDE-9473-B31B93E2AA68}" presName="bgRect" presStyleLbl="bgShp" presStyleIdx="2" presStyleCnt="5"/>
      <dgm:spPr/>
    </dgm:pt>
    <dgm:pt modelId="{1ABA4BE8-67EF-4B2C-A139-22BEDB2912D9}" type="pres">
      <dgm:prSet presAssocID="{10770DF3-D253-4DDE-9473-B31B93E2AA6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arth Globe Americas"/>
        </a:ext>
      </dgm:extLst>
    </dgm:pt>
    <dgm:pt modelId="{5B3C69F5-FCE9-48BF-8EBE-8CC4A8F4A7A9}" type="pres">
      <dgm:prSet presAssocID="{10770DF3-D253-4DDE-9473-B31B93E2AA68}" presName="spaceRect" presStyleCnt="0"/>
      <dgm:spPr/>
    </dgm:pt>
    <dgm:pt modelId="{166FAD4A-15CD-4BD0-B973-0C43B029837D}" type="pres">
      <dgm:prSet presAssocID="{10770DF3-D253-4DDE-9473-B31B93E2AA68}" presName="parTx" presStyleLbl="revTx" presStyleIdx="2" presStyleCnt="5">
        <dgm:presLayoutVars>
          <dgm:chMax val="0"/>
          <dgm:chPref val="0"/>
        </dgm:presLayoutVars>
      </dgm:prSet>
      <dgm:spPr/>
    </dgm:pt>
    <dgm:pt modelId="{88F0FBD0-CB0F-4CED-840E-D7AD9543192C}" type="pres">
      <dgm:prSet presAssocID="{7024D0E2-4859-4CB2-9299-C449A4B020C7}" presName="sibTrans" presStyleCnt="0"/>
      <dgm:spPr/>
    </dgm:pt>
    <dgm:pt modelId="{48C9BCB8-092C-45B6-95A7-0840CCF49B16}" type="pres">
      <dgm:prSet presAssocID="{8FD15671-168E-4D71-BA17-4277E4A4BB90}" presName="compNode" presStyleCnt="0"/>
      <dgm:spPr/>
    </dgm:pt>
    <dgm:pt modelId="{F2AE9CCD-B9F0-4CCB-B081-90DCA5A2FF24}" type="pres">
      <dgm:prSet presAssocID="{8FD15671-168E-4D71-BA17-4277E4A4BB90}" presName="bgRect" presStyleLbl="bgShp" presStyleIdx="3" presStyleCnt="5"/>
      <dgm:spPr/>
    </dgm:pt>
    <dgm:pt modelId="{41D5CC9E-3C9A-4D9E-9D23-3104C40EAE3A}" type="pres">
      <dgm:prSet presAssocID="{8FD15671-168E-4D71-BA17-4277E4A4BB9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EF54E56B-8529-4683-8D09-3638B3035B14}" type="pres">
      <dgm:prSet presAssocID="{8FD15671-168E-4D71-BA17-4277E4A4BB90}" presName="spaceRect" presStyleCnt="0"/>
      <dgm:spPr/>
    </dgm:pt>
    <dgm:pt modelId="{D5391A83-014A-42B4-BDE5-1FF9BC2B2934}" type="pres">
      <dgm:prSet presAssocID="{8FD15671-168E-4D71-BA17-4277E4A4BB90}" presName="parTx" presStyleLbl="revTx" presStyleIdx="3" presStyleCnt="5">
        <dgm:presLayoutVars>
          <dgm:chMax val="0"/>
          <dgm:chPref val="0"/>
        </dgm:presLayoutVars>
      </dgm:prSet>
      <dgm:spPr/>
    </dgm:pt>
    <dgm:pt modelId="{27A9C901-E766-425F-B13E-6DAC9188DC5A}" type="pres">
      <dgm:prSet presAssocID="{7E3A3AAB-88E5-49FC-8852-1B879B7E7F7F}" presName="sibTrans" presStyleCnt="0"/>
      <dgm:spPr/>
    </dgm:pt>
    <dgm:pt modelId="{026EAFC6-D4F6-40B4-BCC0-D8FCB0913A9C}" type="pres">
      <dgm:prSet presAssocID="{92F26B3B-F765-40EB-A9CC-BC43CE994513}" presName="compNode" presStyleCnt="0"/>
      <dgm:spPr/>
    </dgm:pt>
    <dgm:pt modelId="{B5512D64-2639-4FFE-A8D1-5C5A61B36B81}" type="pres">
      <dgm:prSet presAssocID="{92F26B3B-F765-40EB-A9CC-BC43CE994513}" presName="bgRect" presStyleLbl="bgShp" presStyleIdx="4" presStyleCnt="5"/>
      <dgm:spPr/>
    </dgm:pt>
    <dgm:pt modelId="{2ABFF0B7-2C93-4991-9819-8B18C93993E4}" type="pres">
      <dgm:prSet presAssocID="{92F26B3B-F765-40EB-A9CC-BC43CE99451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astle scene"/>
        </a:ext>
      </dgm:extLst>
    </dgm:pt>
    <dgm:pt modelId="{33C27428-187F-491B-A661-C32A6E4AF5C8}" type="pres">
      <dgm:prSet presAssocID="{92F26B3B-F765-40EB-A9CC-BC43CE994513}" presName="spaceRect" presStyleCnt="0"/>
      <dgm:spPr/>
    </dgm:pt>
    <dgm:pt modelId="{05622051-2284-450B-9DB7-BAB0B3C450FB}" type="pres">
      <dgm:prSet presAssocID="{92F26B3B-F765-40EB-A9CC-BC43CE994513}" presName="parTx" presStyleLbl="revTx" presStyleIdx="4" presStyleCnt="5">
        <dgm:presLayoutVars>
          <dgm:chMax val="0"/>
          <dgm:chPref val="0"/>
        </dgm:presLayoutVars>
      </dgm:prSet>
      <dgm:spPr/>
    </dgm:pt>
  </dgm:ptLst>
  <dgm:cxnLst>
    <dgm:cxn modelId="{DA80D307-470B-4C41-BCB7-2CDA24C49626}" srcId="{C691DF5E-E941-4E73-8B4B-DEF23151BBBF}" destId="{8FD15671-168E-4D71-BA17-4277E4A4BB90}" srcOrd="3" destOrd="0" parTransId="{439FB035-F883-445F-85DF-75D343A33E9C}" sibTransId="{7E3A3AAB-88E5-49FC-8852-1B879B7E7F7F}"/>
    <dgm:cxn modelId="{4EA1B611-8F53-4BF0-879E-4A3931A4F40A}" type="presOf" srcId="{10770DF3-D253-4DDE-9473-B31B93E2AA68}" destId="{166FAD4A-15CD-4BD0-B973-0C43B029837D}" srcOrd="0" destOrd="0" presId="urn:microsoft.com/office/officeart/2018/2/layout/IconVerticalSolidList"/>
    <dgm:cxn modelId="{23D7F314-8BF5-4885-975F-B979C5CBE7D6}" type="presOf" srcId="{C691DF5E-E941-4E73-8B4B-DEF23151BBBF}" destId="{0EEDC0F1-7BF9-467F-AED1-0494DE42C7A3}" srcOrd="0" destOrd="0" presId="urn:microsoft.com/office/officeart/2018/2/layout/IconVerticalSolidList"/>
    <dgm:cxn modelId="{44C2D315-010E-4EA9-9D1B-089B8D799DF4}" type="presOf" srcId="{8FD15671-168E-4D71-BA17-4277E4A4BB90}" destId="{D5391A83-014A-42B4-BDE5-1FF9BC2B2934}" srcOrd="0" destOrd="0" presId="urn:microsoft.com/office/officeart/2018/2/layout/IconVerticalSolidList"/>
    <dgm:cxn modelId="{2EDCDF20-6183-4DA6-9665-BD3B90862EBF}" type="presOf" srcId="{B559BA85-B8AE-4D5D-B5DD-8D0CEEC6F66E}" destId="{E3C280AC-B908-425A-AE38-CA1BA2D14662}" srcOrd="0" destOrd="0" presId="urn:microsoft.com/office/officeart/2018/2/layout/IconVerticalSolidList"/>
    <dgm:cxn modelId="{CD90EC85-F122-4691-B2B2-A8463305B499}" srcId="{C691DF5E-E941-4E73-8B4B-DEF23151BBBF}" destId="{92F26B3B-F765-40EB-A9CC-BC43CE994513}" srcOrd="4" destOrd="0" parTransId="{70BDE76B-5362-4229-9201-64C34D510D19}" sibTransId="{94FD0508-AF46-408C-B3DB-40C78A0CF50E}"/>
    <dgm:cxn modelId="{2A27D391-753A-446F-AD98-B66C61F61E92}" type="presOf" srcId="{92F26B3B-F765-40EB-A9CC-BC43CE994513}" destId="{05622051-2284-450B-9DB7-BAB0B3C450FB}" srcOrd="0" destOrd="0" presId="urn:microsoft.com/office/officeart/2018/2/layout/IconVerticalSolidList"/>
    <dgm:cxn modelId="{DCF5FFB0-84C4-4F11-82A8-4E229CBDF7C2}" srcId="{C691DF5E-E941-4E73-8B4B-DEF23151BBBF}" destId="{10770DF3-D253-4DDE-9473-B31B93E2AA68}" srcOrd="2" destOrd="0" parTransId="{38A5E9D3-D39F-49BC-B829-733F6AEB4558}" sibTransId="{7024D0E2-4859-4CB2-9299-C449A4B020C7}"/>
    <dgm:cxn modelId="{FA604EC3-CB73-4DBD-99FD-EE1BC58811B5}" type="presOf" srcId="{60EED000-3FBF-4C76-8DF4-2167BB272165}" destId="{01508034-32FB-4B75-B00C-2858D5F04F48}" srcOrd="0" destOrd="0" presId="urn:microsoft.com/office/officeart/2018/2/layout/IconVerticalSolidList"/>
    <dgm:cxn modelId="{C6692BDF-7D97-46EF-A195-516216551B3D}" srcId="{C691DF5E-E941-4E73-8B4B-DEF23151BBBF}" destId="{60EED000-3FBF-4C76-8DF4-2167BB272165}" srcOrd="0" destOrd="0" parTransId="{E36741FC-8573-450B-9B01-BF5CFF5E2AED}" sibTransId="{FF7E8EDB-06DA-4710-8F77-D264887773EE}"/>
    <dgm:cxn modelId="{1669C4F3-E32D-4240-B871-1E4C9683EE19}" srcId="{C691DF5E-E941-4E73-8B4B-DEF23151BBBF}" destId="{B559BA85-B8AE-4D5D-B5DD-8D0CEEC6F66E}" srcOrd="1" destOrd="0" parTransId="{FF92883E-CB40-4FF6-B052-03AFDE1DF8C3}" sibTransId="{5BA57B74-4226-4D91-B281-969CB735488B}"/>
    <dgm:cxn modelId="{36CD3AF1-2FA5-43EF-8E42-7635FCAE83A6}" type="presParOf" srcId="{0EEDC0F1-7BF9-467F-AED1-0494DE42C7A3}" destId="{E7D986AF-3B83-472E-90FF-1D138ABCAB55}" srcOrd="0" destOrd="0" presId="urn:microsoft.com/office/officeart/2018/2/layout/IconVerticalSolidList"/>
    <dgm:cxn modelId="{4CCB4FE2-1F4E-45C4-B040-3751F190D479}" type="presParOf" srcId="{E7D986AF-3B83-472E-90FF-1D138ABCAB55}" destId="{62842140-CFC5-468F-9E55-7A55554FBC05}" srcOrd="0" destOrd="0" presId="urn:microsoft.com/office/officeart/2018/2/layout/IconVerticalSolidList"/>
    <dgm:cxn modelId="{506F93D8-19D7-445E-80E6-A19A42EC4BA6}" type="presParOf" srcId="{E7D986AF-3B83-472E-90FF-1D138ABCAB55}" destId="{CD564CB5-78C2-4053-9B2C-119D1A90EE61}" srcOrd="1" destOrd="0" presId="urn:microsoft.com/office/officeart/2018/2/layout/IconVerticalSolidList"/>
    <dgm:cxn modelId="{2A667111-24C6-42F8-91E2-75E034117915}" type="presParOf" srcId="{E7D986AF-3B83-472E-90FF-1D138ABCAB55}" destId="{EE33BC8E-975B-4E12-B034-1EDF98E93D7C}" srcOrd="2" destOrd="0" presId="urn:microsoft.com/office/officeart/2018/2/layout/IconVerticalSolidList"/>
    <dgm:cxn modelId="{7DD9098E-6A91-4E4F-9067-B2A7F15B3665}" type="presParOf" srcId="{E7D986AF-3B83-472E-90FF-1D138ABCAB55}" destId="{01508034-32FB-4B75-B00C-2858D5F04F48}" srcOrd="3" destOrd="0" presId="urn:microsoft.com/office/officeart/2018/2/layout/IconVerticalSolidList"/>
    <dgm:cxn modelId="{FD753550-A3F6-4742-BA74-2119F81A1F83}" type="presParOf" srcId="{0EEDC0F1-7BF9-467F-AED1-0494DE42C7A3}" destId="{8DD19E17-80CE-4F04-9DA3-13AC0D83C1AA}" srcOrd="1" destOrd="0" presId="urn:microsoft.com/office/officeart/2018/2/layout/IconVerticalSolidList"/>
    <dgm:cxn modelId="{6ED38212-B73F-4710-8F49-A6C603B0374D}" type="presParOf" srcId="{0EEDC0F1-7BF9-467F-AED1-0494DE42C7A3}" destId="{389681C0-1521-48AA-BDBA-F7D67EE3575C}" srcOrd="2" destOrd="0" presId="urn:microsoft.com/office/officeart/2018/2/layout/IconVerticalSolidList"/>
    <dgm:cxn modelId="{5488D02B-6A85-4515-A7A0-28D18BE6FD11}" type="presParOf" srcId="{389681C0-1521-48AA-BDBA-F7D67EE3575C}" destId="{16D69637-D9CC-4328-8687-672A0D40CAB0}" srcOrd="0" destOrd="0" presId="urn:microsoft.com/office/officeart/2018/2/layout/IconVerticalSolidList"/>
    <dgm:cxn modelId="{3B5E2488-C022-46ED-8A9F-FDF1897E7350}" type="presParOf" srcId="{389681C0-1521-48AA-BDBA-F7D67EE3575C}" destId="{72E030E4-9692-488F-86E2-D358119475E7}" srcOrd="1" destOrd="0" presId="urn:microsoft.com/office/officeart/2018/2/layout/IconVerticalSolidList"/>
    <dgm:cxn modelId="{74DAC00A-ABEA-4E69-80F0-B15050453126}" type="presParOf" srcId="{389681C0-1521-48AA-BDBA-F7D67EE3575C}" destId="{AF795C16-286E-4F8B-BC61-363DC7DBCF37}" srcOrd="2" destOrd="0" presId="urn:microsoft.com/office/officeart/2018/2/layout/IconVerticalSolidList"/>
    <dgm:cxn modelId="{F67961AF-A940-486B-8E9A-A1E42AF16702}" type="presParOf" srcId="{389681C0-1521-48AA-BDBA-F7D67EE3575C}" destId="{E3C280AC-B908-425A-AE38-CA1BA2D14662}" srcOrd="3" destOrd="0" presId="urn:microsoft.com/office/officeart/2018/2/layout/IconVerticalSolidList"/>
    <dgm:cxn modelId="{6A1E5CB8-A694-400C-A59B-28A728E7B867}" type="presParOf" srcId="{0EEDC0F1-7BF9-467F-AED1-0494DE42C7A3}" destId="{3FE456B8-CA93-455D-B3D9-EA65CD9E3DE3}" srcOrd="3" destOrd="0" presId="urn:microsoft.com/office/officeart/2018/2/layout/IconVerticalSolidList"/>
    <dgm:cxn modelId="{109938E9-3412-4F8E-989C-591DAB7BEA67}" type="presParOf" srcId="{0EEDC0F1-7BF9-467F-AED1-0494DE42C7A3}" destId="{6CB2E699-A1A4-4144-915A-B330B57C974B}" srcOrd="4" destOrd="0" presId="urn:microsoft.com/office/officeart/2018/2/layout/IconVerticalSolidList"/>
    <dgm:cxn modelId="{B2C89DFC-4D07-4A88-9055-39186CBFE926}" type="presParOf" srcId="{6CB2E699-A1A4-4144-915A-B330B57C974B}" destId="{1497B012-E373-445C-B4F4-E925B5C476E9}" srcOrd="0" destOrd="0" presId="urn:microsoft.com/office/officeart/2018/2/layout/IconVerticalSolidList"/>
    <dgm:cxn modelId="{8D8D9362-8D5F-41F4-AE40-C059401E3EE3}" type="presParOf" srcId="{6CB2E699-A1A4-4144-915A-B330B57C974B}" destId="{1ABA4BE8-67EF-4B2C-A139-22BEDB2912D9}" srcOrd="1" destOrd="0" presId="urn:microsoft.com/office/officeart/2018/2/layout/IconVerticalSolidList"/>
    <dgm:cxn modelId="{2FF5B50A-829C-4984-B628-17492D5B90DC}" type="presParOf" srcId="{6CB2E699-A1A4-4144-915A-B330B57C974B}" destId="{5B3C69F5-FCE9-48BF-8EBE-8CC4A8F4A7A9}" srcOrd="2" destOrd="0" presId="urn:microsoft.com/office/officeart/2018/2/layout/IconVerticalSolidList"/>
    <dgm:cxn modelId="{D477E8A9-A39C-48AF-9789-6B24306737B9}" type="presParOf" srcId="{6CB2E699-A1A4-4144-915A-B330B57C974B}" destId="{166FAD4A-15CD-4BD0-B973-0C43B029837D}" srcOrd="3" destOrd="0" presId="urn:microsoft.com/office/officeart/2018/2/layout/IconVerticalSolidList"/>
    <dgm:cxn modelId="{56C0E5BB-39FA-484B-AAFD-13F4916CAF91}" type="presParOf" srcId="{0EEDC0F1-7BF9-467F-AED1-0494DE42C7A3}" destId="{88F0FBD0-CB0F-4CED-840E-D7AD9543192C}" srcOrd="5" destOrd="0" presId="urn:microsoft.com/office/officeart/2018/2/layout/IconVerticalSolidList"/>
    <dgm:cxn modelId="{464E9485-A899-45E4-8F4C-1D67E48429C4}" type="presParOf" srcId="{0EEDC0F1-7BF9-467F-AED1-0494DE42C7A3}" destId="{48C9BCB8-092C-45B6-95A7-0840CCF49B16}" srcOrd="6" destOrd="0" presId="urn:microsoft.com/office/officeart/2018/2/layout/IconVerticalSolidList"/>
    <dgm:cxn modelId="{E7EF3F75-37A2-46FD-8260-FD683EC383DA}" type="presParOf" srcId="{48C9BCB8-092C-45B6-95A7-0840CCF49B16}" destId="{F2AE9CCD-B9F0-4CCB-B081-90DCA5A2FF24}" srcOrd="0" destOrd="0" presId="urn:microsoft.com/office/officeart/2018/2/layout/IconVerticalSolidList"/>
    <dgm:cxn modelId="{BD8597C2-D172-43C1-877A-8BDA2862BE83}" type="presParOf" srcId="{48C9BCB8-092C-45B6-95A7-0840CCF49B16}" destId="{41D5CC9E-3C9A-4D9E-9D23-3104C40EAE3A}" srcOrd="1" destOrd="0" presId="urn:microsoft.com/office/officeart/2018/2/layout/IconVerticalSolidList"/>
    <dgm:cxn modelId="{F6956F0F-048D-43F9-9429-451084C19DB6}" type="presParOf" srcId="{48C9BCB8-092C-45B6-95A7-0840CCF49B16}" destId="{EF54E56B-8529-4683-8D09-3638B3035B14}" srcOrd="2" destOrd="0" presId="urn:microsoft.com/office/officeart/2018/2/layout/IconVerticalSolidList"/>
    <dgm:cxn modelId="{844005A1-D660-4B76-B57E-3446E374AFBA}" type="presParOf" srcId="{48C9BCB8-092C-45B6-95A7-0840CCF49B16}" destId="{D5391A83-014A-42B4-BDE5-1FF9BC2B2934}" srcOrd="3" destOrd="0" presId="urn:microsoft.com/office/officeart/2018/2/layout/IconVerticalSolidList"/>
    <dgm:cxn modelId="{2B9BE18B-99F8-4C09-893C-51602ADEFC90}" type="presParOf" srcId="{0EEDC0F1-7BF9-467F-AED1-0494DE42C7A3}" destId="{27A9C901-E766-425F-B13E-6DAC9188DC5A}" srcOrd="7" destOrd="0" presId="urn:microsoft.com/office/officeart/2018/2/layout/IconVerticalSolidList"/>
    <dgm:cxn modelId="{AE2453CF-92FF-498E-98F3-E2A5FE04A43C}" type="presParOf" srcId="{0EEDC0F1-7BF9-467F-AED1-0494DE42C7A3}" destId="{026EAFC6-D4F6-40B4-BCC0-D8FCB0913A9C}" srcOrd="8" destOrd="0" presId="urn:microsoft.com/office/officeart/2018/2/layout/IconVerticalSolidList"/>
    <dgm:cxn modelId="{1B5A8706-4ECD-4D0A-9C77-8540AE5A366A}" type="presParOf" srcId="{026EAFC6-D4F6-40B4-BCC0-D8FCB0913A9C}" destId="{B5512D64-2639-4FFE-A8D1-5C5A61B36B81}" srcOrd="0" destOrd="0" presId="urn:microsoft.com/office/officeart/2018/2/layout/IconVerticalSolidList"/>
    <dgm:cxn modelId="{CB745421-0381-4254-AAEA-1007991691C1}" type="presParOf" srcId="{026EAFC6-D4F6-40B4-BCC0-D8FCB0913A9C}" destId="{2ABFF0B7-2C93-4991-9819-8B18C93993E4}" srcOrd="1" destOrd="0" presId="urn:microsoft.com/office/officeart/2018/2/layout/IconVerticalSolidList"/>
    <dgm:cxn modelId="{D1F5BEFF-52C6-4031-B2BC-F0697499E623}" type="presParOf" srcId="{026EAFC6-D4F6-40B4-BCC0-D8FCB0913A9C}" destId="{33C27428-187F-491B-A661-C32A6E4AF5C8}" srcOrd="2" destOrd="0" presId="urn:microsoft.com/office/officeart/2018/2/layout/IconVerticalSolidList"/>
    <dgm:cxn modelId="{742171C8-A2F5-49AE-A1EF-F25C34FD073F}" type="presParOf" srcId="{026EAFC6-D4F6-40B4-BCC0-D8FCB0913A9C}" destId="{05622051-2284-450B-9DB7-BAB0B3C450F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CA1823-54C0-4F54-B02E-ABBBF4C90BB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9F835391-5CE3-4756-A6E9-3F3B56260E2D}">
      <dgm:prSet/>
      <dgm:spPr/>
      <dgm:t>
        <a:bodyPr/>
        <a:lstStyle/>
        <a:p>
          <a:pPr algn="just"/>
          <a:r>
            <a:rPr lang="en-US" b="0" i="0" dirty="0">
              <a:latin typeface="Avenir Book" panose="02000503020000020003" pitchFamily="2" charset="0"/>
            </a:rPr>
            <a:t>1. The scale and quality of the design reflect the power and ability of the designer. Since the universe is not infinite, neither is the designer. </a:t>
          </a:r>
        </a:p>
      </dgm:t>
    </dgm:pt>
    <dgm:pt modelId="{E1FA5C1F-6F80-4080-89FA-4A6E9B67E610}" type="parTrans" cxnId="{1DE20C07-6F56-4246-A303-A6A203DB0BF8}">
      <dgm:prSet/>
      <dgm:spPr/>
      <dgm:t>
        <a:bodyPr/>
        <a:lstStyle/>
        <a:p>
          <a:endParaRPr lang="en-US"/>
        </a:p>
      </dgm:t>
    </dgm:pt>
    <dgm:pt modelId="{42C837F8-73CA-4460-AA98-3D2971727210}" type="sibTrans" cxnId="{1DE20C07-6F56-4246-A303-A6A203DB0BF8}">
      <dgm:prSet/>
      <dgm:spPr/>
      <dgm:t>
        <a:bodyPr/>
        <a:lstStyle/>
        <a:p>
          <a:endParaRPr lang="en-US"/>
        </a:p>
      </dgm:t>
    </dgm:pt>
    <dgm:pt modelId="{2DC464DB-3A63-454B-81F9-B621C7E0F0F9}">
      <dgm:prSet/>
      <dgm:spPr/>
      <dgm:t>
        <a:bodyPr/>
        <a:lstStyle/>
        <a:p>
          <a:pPr algn="just"/>
          <a:r>
            <a:rPr lang="en-US" b="0" i="0" dirty="0">
              <a:latin typeface="Avenir Book" panose="02000503020000020003" pitchFamily="2" charset="0"/>
            </a:rPr>
            <a:t>2. The universe and animals in it are imperfect, so we have no need to believe in the perfection of the designer. </a:t>
          </a:r>
        </a:p>
      </dgm:t>
    </dgm:pt>
    <dgm:pt modelId="{61B501D8-F6B4-444F-83D5-F668C77DECBF}" type="parTrans" cxnId="{D00E80F2-18A8-4BE5-AE5C-9A478E87395D}">
      <dgm:prSet/>
      <dgm:spPr/>
      <dgm:t>
        <a:bodyPr/>
        <a:lstStyle/>
        <a:p>
          <a:endParaRPr lang="en-US"/>
        </a:p>
      </dgm:t>
    </dgm:pt>
    <dgm:pt modelId="{7ACDA501-0B72-440B-B980-F471D0BEE605}" type="sibTrans" cxnId="{D00E80F2-18A8-4BE5-AE5C-9A478E87395D}">
      <dgm:prSet/>
      <dgm:spPr/>
      <dgm:t>
        <a:bodyPr/>
        <a:lstStyle/>
        <a:p>
          <a:endParaRPr lang="en-US"/>
        </a:p>
      </dgm:t>
    </dgm:pt>
    <dgm:pt modelId="{475EBFA5-C96F-44BF-9D0E-8C12E2CFBC40}">
      <dgm:prSet/>
      <dgm:spPr/>
      <dgm:t>
        <a:bodyPr/>
        <a:lstStyle/>
        <a:p>
          <a:pPr algn="just"/>
          <a:r>
            <a:rPr lang="en-US" b="0" i="0" dirty="0">
              <a:latin typeface="Avenir Book" panose="02000503020000020003" pitchFamily="2" charset="0"/>
            </a:rPr>
            <a:t>3. Designers are not always creators.</a:t>
          </a:r>
        </a:p>
      </dgm:t>
    </dgm:pt>
    <dgm:pt modelId="{D9F62A2A-9B1B-4FE4-BFC5-4D9252F4B839}" type="parTrans" cxnId="{0945A487-76C1-426E-A87E-101837075FA7}">
      <dgm:prSet/>
      <dgm:spPr/>
      <dgm:t>
        <a:bodyPr/>
        <a:lstStyle/>
        <a:p>
          <a:endParaRPr lang="en-US"/>
        </a:p>
      </dgm:t>
    </dgm:pt>
    <dgm:pt modelId="{74F77F68-8312-4379-8ADF-FA4FE9F7F29B}" type="sibTrans" cxnId="{0945A487-76C1-426E-A87E-101837075FA7}">
      <dgm:prSet/>
      <dgm:spPr/>
      <dgm:t>
        <a:bodyPr/>
        <a:lstStyle/>
        <a:p>
          <a:endParaRPr lang="en-US"/>
        </a:p>
      </dgm:t>
    </dgm:pt>
    <dgm:pt modelId="{5ADFFD8D-EB43-4377-AABA-6469939FD204}">
      <dgm:prSet/>
      <dgm:spPr/>
      <dgm:t>
        <a:bodyPr/>
        <a:lstStyle/>
        <a:p>
          <a:pPr algn="just"/>
          <a:r>
            <a:rPr lang="en-US" b="0" i="0" dirty="0">
              <a:latin typeface="Avenir Book" panose="02000503020000020003" pitchFamily="2" charset="0"/>
            </a:rPr>
            <a:t>4. The designer could be many gods. </a:t>
          </a:r>
        </a:p>
      </dgm:t>
    </dgm:pt>
    <dgm:pt modelId="{A0EB957F-F9C0-480B-83C8-7923DBD8E389}" type="parTrans" cxnId="{1CE78BA3-3BFB-4F75-A4D7-A3729E9274F3}">
      <dgm:prSet/>
      <dgm:spPr/>
      <dgm:t>
        <a:bodyPr/>
        <a:lstStyle/>
        <a:p>
          <a:endParaRPr lang="en-US"/>
        </a:p>
      </dgm:t>
    </dgm:pt>
    <dgm:pt modelId="{39562CA2-0ABD-4830-ADEF-4D07E7B37DEF}" type="sibTrans" cxnId="{1CE78BA3-3BFB-4F75-A4D7-A3729E9274F3}">
      <dgm:prSet/>
      <dgm:spPr/>
      <dgm:t>
        <a:bodyPr/>
        <a:lstStyle/>
        <a:p>
          <a:endParaRPr lang="en-US"/>
        </a:p>
      </dgm:t>
    </dgm:pt>
    <dgm:pt modelId="{8C753ECF-B8D1-4ACD-B53F-5EDDB5FE25D9}">
      <dgm:prSet/>
      <dgm:spPr/>
      <dgm:t>
        <a:bodyPr/>
        <a:lstStyle/>
        <a:p>
          <a:pPr algn="just"/>
          <a:r>
            <a:rPr lang="en-US" b="0" i="0" dirty="0">
              <a:latin typeface="Avenir Book" panose="02000503020000020003" pitchFamily="2" charset="0"/>
            </a:rPr>
            <a:t>5. We find mind always connected to body, but God is not meant to have a body.</a:t>
          </a:r>
        </a:p>
      </dgm:t>
    </dgm:pt>
    <dgm:pt modelId="{FF1E5727-8AA4-4913-BBFD-C24157E7E3D8}" type="parTrans" cxnId="{CD03FE28-1189-47B1-93C0-8AE8920AD175}">
      <dgm:prSet/>
      <dgm:spPr/>
      <dgm:t>
        <a:bodyPr/>
        <a:lstStyle/>
        <a:p>
          <a:endParaRPr lang="en-US"/>
        </a:p>
      </dgm:t>
    </dgm:pt>
    <dgm:pt modelId="{8D0E1C26-E57E-4470-8A07-77989C9A4BEA}" type="sibTrans" cxnId="{CD03FE28-1189-47B1-93C0-8AE8920AD175}">
      <dgm:prSet/>
      <dgm:spPr/>
      <dgm:t>
        <a:bodyPr/>
        <a:lstStyle/>
        <a:p>
          <a:endParaRPr lang="en-US"/>
        </a:p>
      </dgm:t>
    </dgm:pt>
    <dgm:pt modelId="{144EF8EF-8E1A-4B10-A9AE-08D498CEAAF6}">
      <dgm:prSet/>
      <dgm:spPr/>
      <dgm:t>
        <a:bodyPr/>
        <a:lstStyle/>
        <a:p>
          <a:pPr algn="just"/>
          <a:r>
            <a:rPr lang="en-US" b="0" i="0" dirty="0">
              <a:latin typeface="Avenir Book" panose="02000503020000020003" pitchFamily="2" charset="0"/>
            </a:rPr>
            <a:t>6. Designer can cease to exist even as the creations continue. </a:t>
          </a:r>
        </a:p>
      </dgm:t>
    </dgm:pt>
    <dgm:pt modelId="{3906BAE9-C22B-4CBF-BAD9-EB3B2E302865}" type="parTrans" cxnId="{EE591CE1-E4C9-4EA1-A6B4-9E78A138D7F9}">
      <dgm:prSet/>
      <dgm:spPr/>
      <dgm:t>
        <a:bodyPr/>
        <a:lstStyle/>
        <a:p>
          <a:endParaRPr lang="en-US"/>
        </a:p>
      </dgm:t>
    </dgm:pt>
    <dgm:pt modelId="{4829CC05-0A3F-4070-BF2E-791609E58843}" type="sibTrans" cxnId="{EE591CE1-E4C9-4EA1-A6B4-9E78A138D7F9}">
      <dgm:prSet/>
      <dgm:spPr/>
      <dgm:t>
        <a:bodyPr/>
        <a:lstStyle/>
        <a:p>
          <a:endParaRPr lang="en-US"/>
        </a:p>
      </dgm:t>
    </dgm:pt>
    <dgm:pt modelId="{FB9CD52D-E40F-644E-95D4-41BD5EE281BF}" type="pres">
      <dgm:prSet presAssocID="{5BCA1823-54C0-4F54-B02E-ABBBF4C90BBE}" presName="diagram" presStyleCnt="0">
        <dgm:presLayoutVars>
          <dgm:dir/>
          <dgm:resizeHandles val="exact"/>
        </dgm:presLayoutVars>
      </dgm:prSet>
      <dgm:spPr/>
    </dgm:pt>
    <dgm:pt modelId="{D497E651-CC7D-2541-A559-517B54324EA5}" type="pres">
      <dgm:prSet presAssocID="{9F835391-5CE3-4756-A6E9-3F3B56260E2D}" presName="node" presStyleLbl="node1" presStyleIdx="0" presStyleCnt="6">
        <dgm:presLayoutVars>
          <dgm:bulletEnabled val="1"/>
        </dgm:presLayoutVars>
      </dgm:prSet>
      <dgm:spPr/>
    </dgm:pt>
    <dgm:pt modelId="{0084177F-1178-4E4B-A326-F021471640CA}" type="pres">
      <dgm:prSet presAssocID="{42C837F8-73CA-4460-AA98-3D2971727210}" presName="sibTrans" presStyleCnt="0"/>
      <dgm:spPr/>
    </dgm:pt>
    <dgm:pt modelId="{CE135AF5-9F46-0E4E-B4ED-F7BB09A73090}" type="pres">
      <dgm:prSet presAssocID="{2DC464DB-3A63-454B-81F9-B621C7E0F0F9}" presName="node" presStyleLbl="node1" presStyleIdx="1" presStyleCnt="6">
        <dgm:presLayoutVars>
          <dgm:bulletEnabled val="1"/>
        </dgm:presLayoutVars>
      </dgm:prSet>
      <dgm:spPr/>
    </dgm:pt>
    <dgm:pt modelId="{CA2ABF75-E7EC-C34E-B7E2-73DAE2109353}" type="pres">
      <dgm:prSet presAssocID="{7ACDA501-0B72-440B-B980-F471D0BEE605}" presName="sibTrans" presStyleCnt="0"/>
      <dgm:spPr/>
    </dgm:pt>
    <dgm:pt modelId="{50547DF6-4E0B-E446-B4A1-49B8AC62FCF5}" type="pres">
      <dgm:prSet presAssocID="{475EBFA5-C96F-44BF-9D0E-8C12E2CFBC40}" presName="node" presStyleLbl="node1" presStyleIdx="2" presStyleCnt="6">
        <dgm:presLayoutVars>
          <dgm:bulletEnabled val="1"/>
        </dgm:presLayoutVars>
      </dgm:prSet>
      <dgm:spPr/>
    </dgm:pt>
    <dgm:pt modelId="{7CBA0A53-088E-D04D-B56F-E4164F85ABDA}" type="pres">
      <dgm:prSet presAssocID="{74F77F68-8312-4379-8ADF-FA4FE9F7F29B}" presName="sibTrans" presStyleCnt="0"/>
      <dgm:spPr/>
    </dgm:pt>
    <dgm:pt modelId="{70518ED7-7EE0-6B4D-ACE8-6F26376C0BEB}" type="pres">
      <dgm:prSet presAssocID="{5ADFFD8D-EB43-4377-AABA-6469939FD204}" presName="node" presStyleLbl="node1" presStyleIdx="3" presStyleCnt="6">
        <dgm:presLayoutVars>
          <dgm:bulletEnabled val="1"/>
        </dgm:presLayoutVars>
      </dgm:prSet>
      <dgm:spPr/>
    </dgm:pt>
    <dgm:pt modelId="{8C262892-AF32-AA4B-B62B-254EED2AE6DE}" type="pres">
      <dgm:prSet presAssocID="{39562CA2-0ABD-4830-ADEF-4D07E7B37DEF}" presName="sibTrans" presStyleCnt="0"/>
      <dgm:spPr/>
    </dgm:pt>
    <dgm:pt modelId="{55D35B6D-DAAC-4D43-84DF-E1ED0856435D}" type="pres">
      <dgm:prSet presAssocID="{8C753ECF-B8D1-4ACD-B53F-5EDDB5FE25D9}" presName="node" presStyleLbl="node1" presStyleIdx="4" presStyleCnt="6">
        <dgm:presLayoutVars>
          <dgm:bulletEnabled val="1"/>
        </dgm:presLayoutVars>
      </dgm:prSet>
      <dgm:spPr/>
    </dgm:pt>
    <dgm:pt modelId="{308C9DD9-89E4-684C-B6CB-80E3ACF06A1B}" type="pres">
      <dgm:prSet presAssocID="{8D0E1C26-E57E-4470-8A07-77989C9A4BEA}" presName="sibTrans" presStyleCnt="0"/>
      <dgm:spPr/>
    </dgm:pt>
    <dgm:pt modelId="{FBCA86C4-DB40-0449-8F3C-33D85AD15C07}" type="pres">
      <dgm:prSet presAssocID="{144EF8EF-8E1A-4B10-A9AE-08D498CEAAF6}" presName="node" presStyleLbl="node1" presStyleIdx="5" presStyleCnt="6">
        <dgm:presLayoutVars>
          <dgm:bulletEnabled val="1"/>
        </dgm:presLayoutVars>
      </dgm:prSet>
      <dgm:spPr/>
    </dgm:pt>
  </dgm:ptLst>
  <dgm:cxnLst>
    <dgm:cxn modelId="{1DE20C07-6F56-4246-A303-A6A203DB0BF8}" srcId="{5BCA1823-54C0-4F54-B02E-ABBBF4C90BBE}" destId="{9F835391-5CE3-4756-A6E9-3F3B56260E2D}" srcOrd="0" destOrd="0" parTransId="{E1FA5C1F-6F80-4080-89FA-4A6E9B67E610}" sibTransId="{42C837F8-73CA-4460-AA98-3D2971727210}"/>
    <dgm:cxn modelId="{CD03FE28-1189-47B1-93C0-8AE8920AD175}" srcId="{5BCA1823-54C0-4F54-B02E-ABBBF4C90BBE}" destId="{8C753ECF-B8D1-4ACD-B53F-5EDDB5FE25D9}" srcOrd="4" destOrd="0" parTransId="{FF1E5727-8AA4-4913-BBFD-C24157E7E3D8}" sibTransId="{8D0E1C26-E57E-4470-8A07-77989C9A4BEA}"/>
    <dgm:cxn modelId="{E05FC948-6FA5-AE41-A98E-49EEE1CC30D3}" type="presOf" srcId="{144EF8EF-8E1A-4B10-A9AE-08D498CEAAF6}" destId="{FBCA86C4-DB40-0449-8F3C-33D85AD15C07}" srcOrd="0" destOrd="0" presId="urn:microsoft.com/office/officeart/2005/8/layout/default"/>
    <dgm:cxn modelId="{277B9866-1D52-884D-AA56-16938B48CB1A}" type="presOf" srcId="{5BCA1823-54C0-4F54-B02E-ABBBF4C90BBE}" destId="{FB9CD52D-E40F-644E-95D4-41BD5EE281BF}" srcOrd="0" destOrd="0" presId="urn:microsoft.com/office/officeart/2005/8/layout/default"/>
    <dgm:cxn modelId="{AE5B4367-5F52-4E4A-A075-13E69262B72E}" type="presOf" srcId="{2DC464DB-3A63-454B-81F9-B621C7E0F0F9}" destId="{CE135AF5-9F46-0E4E-B4ED-F7BB09A73090}" srcOrd="0" destOrd="0" presId="urn:microsoft.com/office/officeart/2005/8/layout/default"/>
    <dgm:cxn modelId="{5B70DC82-DECF-C440-95EF-386B4F481668}" type="presOf" srcId="{475EBFA5-C96F-44BF-9D0E-8C12E2CFBC40}" destId="{50547DF6-4E0B-E446-B4A1-49B8AC62FCF5}" srcOrd="0" destOrd="0" presId="urn:microsoft.com/office/officeart/2005/8/layout/default"/>
    <dgm:cxn modelId="{0945A487-76C1-426E-A87E-101837075FA7}" srcId="{5BCA1823-54C0-4F54-B02E-ABBBF4C90BBE}" destId="{475EBFA5-C96F-44BF-9D0E-8C12E2CFBC40}" srcOrd="2" destOrd="0" parTransId="{D9F62A2A-9B1B-4FE4-BFC5-4D9252F4B839}" sibTransId="{74F77F68-8312-4379-8ADF-FA4FE9F7F29B}"/>
    <dgm:cxn modelId="{5E050092-F12E-A24F-B573-85029AF8DCF8}" type="presOf" srcId="{5ADFFD8D-EB43-4377-AABA-6469939FD204}" destId="{70518ED7-7EE0-6B4D-ACE8-6F26376C0BEB}" srcOrd="0" destOrd="0" presId="urn:microsoft.com/office/officeart/2005/8/layout/default"/>
    <dgm:cxn modelId="{1CE78BA3-3BFB-4F75-A4D7-A3729E9274F3}" srcId="{5BCA1823-54C0-4F54-B02E-ABBBF4C90BBE}" destId="{5ADFFD8D-EB43-4377-AABA-6469939FD204}" srcOrd="3" destOrd="0" parTransId="{A0EB957F-F9C0-480B-83C8-7923DBD8E389}" sibTransId="{39562CA2-0ABD-4830-ADEF-4D07E7B37DEF}"/>
    <dgm:cxn modelId="{DCC86CAE-54DE-5842-9252-B6AFCB979D07}" type="presOf" srcId="{9F835391-5CE3-4756-A6E9-3F3B56260E2D}" destId="{D497E651-CC7D-2541-A559-517B54324EA5}" srcOrd="0" destOrd="0" presId="urn:microsoft.com/office/officeart/2005/8/layout/default"/>
    <dgm:cxn modelId="{FF721FBF-F6D2-674F-A086-66C55105E7D4}" type="presOf" srcId="{8C753ECF-B8D1-4ACD-B53F-5EDDB5FE25D9}" destId="{55D35B6D-DAAC-4D43-84DF-E1ED0856435D}" srcOrd="0" destOrd="0" presId="urn:microsoft.com/office/officeart/2005/8/layout/default"/>
    <dgm:cxn modelId="{EE591CE1-E4C9-4EA1-A6B4-9E78A138D7F9}" srcId="{5BCA1823-54C0-4F54-B02E-ABBBF4C90BBE}" destId="{144EF8EF-8E1A-4B10-A9AE-08D498CEAAF6}" srcOrd="5" destOrd="0" parTransId="{3906BAE9-C22B-4CBF-BAD9-EB3B2E302865}" sibTransId="{4829CC05-0A3F-4070-BF2E-791609E58843}"/>
    <dgm:cxn modelId="{D00E80F2-18A8-4BE5-AE5C-9A478E87395D}" srcId="{5BCA1823-54C0-4F54-B02E-ABBBF4C90BBE}" destId="{2DC464DB-3A63-454B-81F9-B621C7E0F0F9}" srcOrd="1" destOrd="0" parTransId="{61B501D8-F6B4-444F-83D5-F668C77DECBF}" sibTransId="{7ACDA501-0B72-440B-B980-F471D0BEE605}"/>
    <dgm:cxn modelId="{7CFBC71F-D5DF-8D48-B418-DDB0ADAFAB55}" type="presParOf" srcId="{FB9CD52D-E40F-644E-95D4-41BD5EE281BF}" destId="{D497E651-CC7D-2541-A559-517B54324EA5}" srcOrd="0" destOrd="0" presId="urn:microsoft.com/office/officeart/2005/8/layout/default"/>
    <dgm:cxn modelId="{14F03CFE-304C-3649-9E9A-9E854F811358}" type="presParOf" srcId="{FB9CD52D-E40F-644E-95D4-41BD5EE281BF}" destId="{0084177F-1178-4E4B-A326-F021471640CA}" srcOrd="1" destOrd="0" presId="urn:microsoft.com/office/officeart/2005/8/layout/default"/>
    <dgm:cxn modelId="{CBCF4DD6-CF3B-9344-8DDA-CC77D770566C}" type="presParOf" srcId="{FB9CD52D-E40F-644E-95D4-41BD5EE281BF}" destId="{CE135AF5-9F46-0E4E-B4ED-F7BB09A73090}" srcOrd="2" destOrd="0" presId="urn:microsoft.com/office/officeart/2005/8/layout/default"/>
    <dgm:cxn modelId="{4B50086C-7863-1544-8B16-6436A56B62E8}" type="presParOf" srcId="{FB9CD52D-E40F-644E-95D4-41BD5EE281BF}" destId="{CA2ABF75-E7EC-C34E-B7E2-73DAE2109353}" srcOrd="3" destOrd="0" presId="urn:microsoft.com/office/officeart/2005/8/layout/default"/>
    <dgm:cxn modelId="{6C6ECB5E-D7EB-CE43-ADD5-62C60844AADB}" type="presParOf" srcId="{FB9CD52D-E40F-644E-95D4-41BD5EE281BF}" destId="{50547DF6-4E0B-E446-B4A1-49B8AC62FCF5}" srcOrd="4" destOrd="0" presId="urn:microsoft.com/office/officeart/2005/8/layout/default"/>
    <dgm:cxn modelId="{EF9B9506-0B4B-4C4E-B1A2-E929D7135412}" type="presParOf" srcId="{FB9CD52D-E40F-644E-95D4-41BD5EE281BF}" destId="{7CBA0A53-088E-D04D-B56F-E4164F85ABDA}" srcOrd="5" destOrd="0" presId="urn:microsoft.com/office/officeart/2005/8/layout/default"/>
    <dgm:cxn modelId="{3ED6A6A2-AAC3-394E-B09F-9B99B21E989A}" type="presParOf" srcId="{FB9CD52D-E40F-644E-95D4-41BD5EE281BF}" destId="{70518ED7-7EE0-6B4D-ACE8-6F26376C0BEB}" srcOrd="6" destOrd="0" presId="urn:microsoft.com/office/officeart/2005/8/layout/default"/>
    <dgm:cxn modelId="{B7DD0547-D481-CC44-926B-5F369A826456}" type="presParOf" srcId="{FB9CD52D-E40F-644E-95D4-41BD5EE281BF}" destId="{8C262892-AF32-AA4B-B62B-254EED2AE6DE}" srcOrd="7" destOrd="0" presId="urn:microsoft.com/office/officeart/2005/8/layout/default"/>
    <dgm:cxn modelId="{3D5A9640-9CA1-4343-AF2B-9A34A4FE10F2}" type="presParOf" srcId="{FB9CD52D-E40F-644E-95D4-41BD5EE281BF}" destId="{55D35B6D-DAAC-4D43-84DF-E1ED0856435D}" srcOrd="8" destOrd="0" presId="urn:microsoft.com/office/officeart/2005/8/layout/default"/>
    <dgm:cxn modelId="{9FA7B950-7816-584C-9C84-2D726A85C1C2}" type="presParOf" srcId="{FB9CD52D-E40F-644E-95D4-41BD5EE281BF}" destId="{308C9DD9-89E4-684C-B6CB-80E3ACF06A1B}" srcOrd="9" destOrd="0" presId="urn:microsoft.com/office/officeart/2005/8/layout/default"/>
    <dgm:cxn modelId="{A7E1A130-8C10-E948-A474-5E570AD15D0A}" type="presParOf" srcId="{FB9CD52D-E40F-644E-95D4-41BD5EE281BF}" destId="{FBCA86C4-DB40-0449-8F3C-33D85AD15C07}"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37231-3E5F-4722-BFF9-F1DEC52B622E}">
      <dsp:nvSpPr>
        <dsp:cNvPr id="0" name=""/>
        <dsp:cNvSpPr/>
      </dsp:nvSpPr>
      <dsp:spPr>
        <a:xfrm>
          <a:off x="1926728" y="19549"/>
          <a:ext cx="2161687" cy="21616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FD58E9-CACA-440B-8C1E-72154A070BDF}">
      <dsp:nvSpPr>
        <dsp:cNvPr id="0" name=""/>
        <dsp:cNvSpPr/>
      </dsp:nvSpPr>
      <dsp:spPr>
        <a:xfrm>
          <a:off x="2387415" y="480237"/>
          <a:ext cx="1240312" cy="1240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3C2F0FE-391F-4BA1-9FD3-CF21DCF42C7D}">
      <dsp:nvSpPr>
        <dsp:cNvPr id="0" name=""/>
        <dsp:cNvSpPr/>
      </dsp:nvSpPr>
      <dsp:spPr>
        <a:xfrm>
          <a:off x="1235696" y="2854550"/>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The existence of </a:t>
          </a:r>
          <a:r>
            <a:rPr lang="en-US" sz="1800" i="1" kern="1200"/>
            <a:t>spatial</a:t>
          </a:r>
          <a:r>
            <a:rPr lang="en-US" sz="1800" kern="1200"/>
            <a:t> order. – The existence of an eye.</a:t>
          </a:r>
        </a:p>
      </dsp:txBody>
      <dsp:txXfrm>
        <a:off x="1235696" y="2854550"/>
        <a:ext cx="3543750" cy="720000"/>
      </dsp:txXfrm>
    </dsp:sp>
    <dsp:sp modelId="{F6BA379F-E773-4282-99C7-BB2FD61CECBA}">
      <dsp:nvSpPr>
        <dsp:cNvPr id="0" name=""/>
        <dsp:cNvSpPr/>
      </dsp:nvSpPr>
      <dsp:spPr>
        <a:xfrm>
          <a:off x="6090634" y="19549"/>
          <a:ext cx="2161687" cy="21616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4CC60F-A096-4AF6-98A7-D65B00600B0B}">
      <dsp:nvSpPr>
        <dsp:cNvPr id="0" name=""/>
        <dsp:cNvSpPr/>
      </dsp:nvSpPr>
      <dsp:spPr>
        <a:xfrm>
          <a:off x="6551321" y="480237"/>
          <a:ext cx="1240312" cy="1240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9873079F-281A-4FE2-92EB-2E82951139AB}">
      <dsp:nvSpPr>
        <dsp:cNvPr id="0" name=""/>
        <dsp:cNvSpPr/>
      </dsp:nvSpPr>
      <dsp:spPr>
        <a:xfrm>
          <a:off x="5399603" y="2854550"/>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The existence of </a:t>
          </a:r>
          <a:r>
            <a:rPr lang="en-US" sz="1800" i="1" kern="1200"/>
            <a:t>temporal</a:t>
          </a:r>
          <a:r>
            <a:rPr lang="en-US" sz="1800" kern="1200"/>
            <a:t> order. – The movement of the planets. </a:t>
          </a:r>
        </a:p>
      </dsp:txBody>
      <dsp:txXfrm>
        <a:off x="5399603" y="2854550"/>
        <a:ext cx="354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288DC-0FA8-4349-A4ED-CE6CF809C111}">
      <dsp:nvSpPr>
        <dsp:cNvPr id="0" name=""/>
        <dsp:cNvSpPr/>
      </dsp:nvSpPr>
      <dsp:spPr>
        <a:xfrm>
          <a:off x="1242" y="182126"/>
          <a:ext cx="4361384" cy="2769479"/>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3716DB-8E0F-DE49-8109-ADEE2B55CC80}">
      <dsp:nvSpPr>
        <dsp:cNvPr id="0" name=""/>
        <dsp:cNvSpPr/>
      </dsp:nvSpPr>
      <dsp:spPr>
        <a:xfrm>
          <a:off x="485840" y="642494"/>
          <a:ext cx="4361384" cy="2769479"/>
        </a:xfrm>
        <a:prstGeom prst="roundRect">
          <a:avLst>
            <a:gd name="adj" fmla="val 10000"/>
          </a:avLst>
        </a:prstGeom>
        <a:solidFill>
          <a:schemeClr val="lt1">
            <a:alpha val="90000"/>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t>The </a:t>
          </a:r>
          <a:r>
            <a:rPr lang="en-US" sz="1600" i="1" kern="1200" dirty="0"/>
            <a:t>first</a:t>
          </a:r>
          <a:r>
            <a:rPr lang="en-US" sz="1600" kern="1200" dirty="0"/>
            <a:t> form of the argument we consider is that developed by David Hume (which is a pure analogical version of the design argument). It claims that we can infer by analogy a personal intelligent designer of the world, in the same way we make the claim with human objects of design. </a:t>
          </a:r>
        </a:p>
      </dsp:txBody>
      <dsp:txXfrm>
        <a:off x="566955" y="723609"/>
        <a:ext cx="4199154" cy="2607249"/>
      </dsp:txXfrm>
    </dsp:sp>
    <dsp:sp modelId="{B5ADC8ED-E997-5A43-851D-04996404560C}">
      <dsp:nvSpPr>
        <dsp:cNvPr id="0" name=""/>
        <dsp:cNvSpPr/>
      </dsp:nvSpPr>
      <dsp:spPr>
        <a:xfrm>
          <a:off x="5331824" y="182126"/>
          <a:ext cx="4361384" cy="2769479"/>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C62F82-4582-1949-8BCF-8772ABF560E2}">
      <dsp:nvSpPr>
        <dsp:cNvPr id="0" name=""/>
        <dsp:cNvSpPr/>
      </dsp:nvSpPr>
      <dsp:spPr>
        <a:xfrm>
          <a:off x="5816422" y="642494"/>
          <a:ext cx="4361384" cy="2769479"/>
        </a:xfrm>
        <a:prstGeom prst="roundRect">
          <a:avLst>
            <a:gd name="adj" fmla="val 10000"/>
          </a:avLst>
        </a:prstGeom>
        <a:solidFill>
          <a:schemeClr val="lt1">
            <a:alpha val="90000"/>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t>The </a:t>
          </a:r>
          <a:r>
            <a:rPr lang="en-US" sz="1600" i="1" kern="1200" dirty="0"/>
            <a:t>second </a:t>
          </a:r>
          <a:r>
            <a:rPr lang="en-US" sz="1600" kern="1200" dirty="0"/>
            <a:t>form of the argument, which is similar although different from analogical versions, is that developed by William Paley. His claim is that we can attribute the same property of intelligence to the creator for the world, that we can attribute to human beings.  </a:t>
          </a:r>
        </a:p>
      </dsp:txBody>
      <dsp:txXfrm>
        <a:off x="5897537" y="723609"/>
        <a:ext cx="4199154" cy="2607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42140-CFC5-468F-9E55-7A55554FBC05}">
      <dsp:nvSpPr>
        <dsp:cNvPr id="0" name=""/>
        <dsp:cNvSpPr/>
      </dsp:nvSpPr>
      <dsp:spPr>
        <a:xfrm>
          <a:off x="0" y="4225"/>
          <a:ext cx="6254749" cy="90006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564CB5-78C2-4053-9B2C-119D1A90EE61}">
      <dsp:nvSpPr>
        <dsp:cNvPr id="0" name=""/>
        <dsp:cNvSpPr/>
      </dsp:nvSpPr>
      <dsp:spPr>
        <a:xfrm>
          <a:off x="272270" y="206741"/>
          <a:ext cx="495037" cy="4950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1508034-32FB-4B75-B00C-2858D5F04F48}">
      <dsp:nvSpPr>
        <dsp:cNvPr id="0" name=""/>
        <dsp:cNvSpPr/>
      </dsp:nvSpPr>
      <dsp:spPr>
        <a:xfrm>
          <a:off x="1039579" y="4225"/>
          <a:ext cx="5215170" cy="900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7" tIns="95257" rIns="95257" bIns="95257" numCol="1" spcCol="1270" anchor="ctr" anchorCtr="0">
          <a:noAutofit/>
        </a:bodyPr>
        <a:lstStyle/>
        <a:p>
          <a:pPr marL="0" lvl="0" indent="0" algn="l" defTabSz="711200">
            <a:lnSpc>
              <a:spcPct val="90000"/>
            </a:lnSpc>
            <a:spcBef>
              <a:spcPct val="0"/>
            </a:spcBef>
            <a:spcAft>
              <a:spcPct val="35000"/>
            </a:spcAft>
            <a:buNone/>
          </a:pPr>
          <a:r>
            <a:rPr lang="en-US" sz="1600" kern="1200" dirty="0"/>
            <a:t>1. The analogy between objects of human design and objects of nature is weak.  Also, it is inconsistent with religious ideas that we should not use anthropomorphism.</a:t>
          </a:r>
        </a:p>
      </dsp:txBody>
      <dsp:txXfrm>
        <a:off x="1039579" y="4225"/>
        <a:ext cx="5215170" cy="900068"/>
      </dsp:txXfrm>
    </dsp:sp>
    <dsp:sp modelId="{16D69637-D9CC-4328-8687-672A0D40CAB0}">
      <dsp:nvSpPr>
        <dsp:cNvPr id="0" name=""/>
        <dsp:cNvSpPr/>
      </dsp:nvSpPr>
      <dsp:spPr>
        <a:xfrm>
          <a:off x="0" y="1129311"/>
          <a:ext cx="6254749" cy="90006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E030E4-9692-488F-86E2-D358119475E7}">
      <dsp:nvSpPr>
        <dsp:cNvPr id="0" name=""/>
        <dsp:cNvSpPr/>
      </dsp:nvSpPr>
      <dsp:spPr>
        <a:xfrm>
          <a:off x="272270" y="1331827"/>
          <a:ext cx="495037" cy="4950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3C280AC-B908-425A-AE38-CA1BA2D14662}">
      <dsp:nvSpPr>
        <dsp:cNvPr id="0" name=""/>
        <dsp:cNvSpPr/>
      </dsp:nvSpPr>
      <dsp:spPr>
        <a:xfrm>
          <a:off x="1039579" y="1129311"/>
          <a:ext cx="5215170" cy="900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7" tIns="95257" rIns="95257" bIns="95257" numCol="1" spcCol="1270" anchor="ctr" anchorCtr="0">
          <a:noAutofit/>
        </a:bodyPr>
        <a:lstStyle/>
        <a:p>
          <a:pPr marL="0" lvl="0" indent="0" algn="l" defTabSz="711200">
            <a:lnSpc>
              <a:spcPct val="90000"/>
            </a:lnSpc>
            <a:spcBef>
              <a:spcPct val="0"/>
            </a:spcBef>
            <a:spcAft>
              <a:spcPct val="35000"/>
            </a:spcAft>
            <a:buNone/>
          </a:pPr>
          <a:r>
            <a:rPr lang="en-US" sz="1600" kern="1200"/>
            <a:t>2. A designer is not the best explanation. </a:t>
          </a:r>
        </a:p>
      </dsp:txBody>
      <dsp:txXfrm>
        <a:off x="1039579" y="1129311"/>
        <a:ext cx="5215170" cy="900068"/>
      </dsp:txXfrm>
    </dsp:sp>
    <dsp:sp modelId="{1497B012-E373-445C-B4F4-E925B5C476E9}">
      <dsp:nvSpPr>
        <dsp:cNvPr id="0" name=""/>
        <dsp:cNvSpPr/>
      </dsp:nvSpPr>
      <dsp:spPr>
        <a:xfrm>
          <a:off x="0" y="2254398"/>
          <a:ext cx="6254749" cy="90006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BA4BE8-67EF-4B2C-A139-22BEDB2912D9}">
      <dsp:nvSpPr>
        <dsp:cNvPr id="0" name=""/>
        <dsp:cNvSpPr/>
      </dsp:nvSpPr>
      <dsp:spPr>
        <a:xfrm>
          <a:off x="272270" y="2456913"/>
          <a:ext cx="495037" cy="4950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66FAD4A-15CD-4BD0-B973-0C43B029837D}">
      <dsp:nvSpPr>
        <dsp:cNvPr id="0" name=""/>
        <dsp:cNvSpPr/>
      </dsp:nvSpPr>
      <dsp:spPr>
        <a:xfrm>
          <a:off x="1039579" y="2254398"/>
          <a:ext cx="5215170" cy="900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7" tIns="95257" rIns="95257" bIns="95257" numCol="1" spcCol="1270" anchor="ctr" anchorCtr="0">
          <a:noAutofit/>
        </a:bodyPr>
        <a:lstStyle/>
        <a:p>
          <a:pPr marL="0" lvl="0" indent="0" algn="l" defTabSz="711200">
            <a:lnSpc>
              <a:spcPct val="90000"/>
            </a:lnSpc>
            <a:spcBef>
              <a:spcPct val="0"/>
            </a:spcBef>
            <a:spcAft>
              <a:spcPct val="35000"/>
            </a:spcAft>
            <a:buNone/>
          </a:pPr>
          <a:r>
            <a:rPr lang="en-US" sz="1600" kern="1200"/>
            <a:t>3. We only have one case of the world to go on. </a:t>
          </a:r>
        </a:p>
      </dsp:txBody>
      <dsp:txXfrm>
        <a:off x="1039579" y="2254398"/>
        <a:ext cx="5215170" cy="900068"/>
      </dsp:txXfrm>
    </dsp:sp>
    <dsp:sp modelId="{F2AE9CCD-B9F0-4CCB-B081-90DCA5A2FF24}">
      <dsp:nvSpPr>
        <dsp:cNvPr id="0" name=""/>
        <dsp:cNvSpPr/>
      </dsp:nvSpPr>
      <dsp:spPr>
        <a:xfrm>
          <a:off x="0" y="3379484"/>
          <a:ext cx="6254749" cy="90006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D5CC9E-3C9A-4D9E-9D23-3104C40EAE3A}">
      <dsp:nvSpPr>
        <dsp:cNvPr id="0" name=""/>
        <dsp:cNvSpPr/>
      </dsp:nvSpPr>
      <dsp:spPr>
        <a:xfrm>
          <a:off x="272270" y="3581999"/>
          <a:ext cx="495037" cy="49503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D5391A83-014A-42B4-BDE5-1FF9BC2B2934}">
      <dsp:nvSpPr>
        <dsp:cNvPr id="0" name=""/>
        <dsp:cNvSpPr/>
      </dsp:nvSpPr>
      <dsp:spPr>
        <a:xfrm>
          <a:off x="1039579" y="3379484"/>
          <a:ext cx="5215170" cy="900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7" tIns="95257" rIns="95257" bIns="95257" numCol="1" spcCol="1270" anchor="ctr" anchorCtr="0">
          <a:noAutofit/>
        </a:bodyPr>
        <a:lstStyle/>
        <a:p>
          <a:pPr marL="0" lvl="0" indent="0" algn="l" defTabSz="711200">
            <a:lnSpc>
              <a:spcPct val="90000"/>
            </a:lnSpc>
            <a:spcBef>
              <a:spcPct val="0"/>
            </a:spcBef>
            <a:spcAft>
              <a:spcPct val="35000"/>
            </a:spcAft>
            <a:buNone/>
          </a:pPr>
          <a:r>
            <a:rPr lang="en-US" sz="1600" kern="1200"/>
            <a:t>4. We must not attribute more to the cause then we are entitled to.</a:t>
          </a:r>
        </a:p>
      </dsp:txBody>
      <dsp:txXfrm>
        <a:off x="1039579" y="3379484"/>
        <a:ext cx="5215170" cy="900068"/>
      </dsp:txXfrm>
    </dsp:sp>
    <dsp:sp modelId="{B5512D64-2639-4FFE-A8D1-5C5A61B36B81}">
      <dsp:nvSpPr>
        <dsp:cNvPr id="0" name=""/>
        <dsp:cNvSpPr/>
      </dsp:nvSpPr>
      <dsp:spPr>
        <a:xfrm>
          <a:off x="0" y="4504570"/>
          <a:ext cx="6254749" cy="900068"/>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BFF0B7-2C93-4991-9819-8B18C93993E4}">
      <dsp:nvSpPr>
        <dsp:cNvPr id="0" name=""/>
        <dsp:cNvSpPr/>
      </dsp:nvSpPr>
      <dsp:spPr>
        <a:xfrm>
          <a:off x="272270" y="4707085"/>
          <a:ext cx="495037" cy="49503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5622051-2284-450B-9DB7-BAB0B3C450FB}">
      <dsp:nvSpPr>
        <dsp:cNvPr id="0" name=""/>
        <dsp:cNvSpPr/>
      </dsp:nvSpPr>
      <dsp:spPr>
        <a:xfrm>
          <a:off x="1039579" y="4504570"/>
          <a:ext cx="5215170" cy="900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7" tIns="95257" rIns="95257" bIns="95257" numCol="1" spcCol="1270" anchor="ctr" anchorCtr="0">
          <a:noAutofit/>
        </a:bodyPr>
        <a:lstStyle/>
        <a:p>
          <a:pPr marL="0" lvl="0" indent="0" algn="l" defTabSz="711200">
            <a:lnSpc>
              <a:spcPct val="90000"/>
            </a:lnSpc>
            <a:spcBef>
              <a:spcPct val="0"/>
            </a:spcBef>
            <a:spcAft>
              <a:spcPct val="35000"/>
            </a:spcAft>
            <a:buNone/>
          </a:pPr>
          <a:r>
            <a:rPr lang="en-US" sz="1600" kern="1200"/>
            <a:t>5. Even if we accept that there is a designer it need not be the God of classical theism. </a:t>
          </a:r>
        </a:p>
      </dsp:txBody>
      <dsp:txXfrm>
        <a:off x="1039579" y="4504570"/>
        <a:ext cx="5215170" cy="9000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7E651-CC7D-2541-A559-517B54324EA5}">
      <dsp:nvSpPr>
        <dsp:cNvPr id="0" name=""/>
        <dsp:cNvSpPr/>
      </dsp:nvSpPr>
      <dsp:spPr>
        <a:xfrm>
          <a:off x="668000" y="805"/>
          <a:ext cx="2763453" cy="1658071"/>
        </a:xfrm>
        <a:prstGeom prst="rect">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dirty="0">
              <a:latin typeface="Avenir Book" panose="02000503020000020003" pitchFamily="2" charset="0"/>
            </a:rPr>
            <a:t>1. The scale and quality of the design reflect the power and ability of the designer. Since the universe is not infinite, neither is the designer. </a:t>
          </a:r>
        </a:p>
      </dsp:txBody>
      <dsp:txXfrm>
        <a:off x="668000" y="805"/>
        <a:ext cx="2763453" cy="1658071"/>
      </dsp:txXfrm>
    </dsp:sp>
    <dsp:sp modelId="{CE135AF5-9F46-0E4E-B4ED-F7BB09A73090}">
      <dsp:nvSpPr>
        <dsp:cNvPr id="0" name=""/>
        <dsp:cNvSpPr/>
      </dsp:nvSpPr>
      <dsp:spPr>
        <a:xfrm>
          <a:off x="3707798" y="805"/>
          <a:ext cx="2763453" cy="1658071"/>
        </a:xfrm>
        <a:prstGeom prst="rect">
          <a:avLst/>
        </a:prstGeom>
        <a:solidFill>
          <a:schemeClr val="accent2">
            <a:hueOff val="-1697704"/>
            <a:satOff val="-3181"/>
            <a:lumOff val="5412"/>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dirty="0">
              <a:latin typeface="Avenir Book" panose="02000503020000020003" pitchFamily="2" charset="0"/>
            </a:rPr>
            <a:t>2. The universe and animals in it are imperfect, so we have no need to believe in the perfection of the designer. </a:t>
          </a:r>
        </a:p>
      </dsp:txBody>
      <dsp:txXfrm>
        <a:off x="3707798" y="805"/>
        <a:ext cx="2763453" cy="1658071"/>
      </dsp:txXfrm>
    </dsp:sp>
    <dsp:sp modelId="{50547DF6-4E0B-E446-B4A1-49B8AC62FCF5}">
      <dsp:nvSpPr>
        <dsp:cNvPr id="0" name=""/>
        <dsp:cNvSpPr/>
      </dsp:nvSpPr>
      <dsp:spPr>
        <a:xfrm>
          <a:off x="6747596" y="805"/>
          <a:ext cx="2763453" cy="1658071"/>
        </a:xfrm>
        <a:prstGeom prst="rect">
          <a:avLst/>
        </a:prstGeom>
        <a:solidFill>
          <a:schemeClr val="accent2">
            <a:hueOff val="-3395409"/>
            <a:satOff val="-6361"/>
            <a:lumOff val="10823"/>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dirty="0">
              <a:latin typeface="Avenir Book" panose="02000503020000020003" pitchFamily="2" charset="0"/>
            </a:rPr>
            <a:t>3. Designers are not always creators.</a:t>
          </a:r>
        </a:p>
      </dsp:txBody>
      <dsp:txXfrm>
        <a:off x="6747596" y="805"/>
        <a:ext cx="2763453" cy="1658071"/>
      </dsp:txXfrm>
    </dsp:sp>
    <dsp:sp modelId="{70518ED7-7EE0-6B4D-ACE8-6F26376C0BEB}">
      <dsp:nvSpPr>
        <dsp:cNvPr id="0" name=""/>
        <dsp:cNvSpPr/>
      </dsp:nvSpPr>
      <dsp:spPr>
        <a:xfrm>
          <a:off x="668000" y="1935222"/>
          <a:ext cx="2763453" cy="1658071"/>
        </a:xfrm>
        <a:prstGeom prst="rect">
          <a:avLst/>
        </a:prstGeom>
        <a:solidFill>
          <a:schemeClr val="accent2">
            <a:hueOff val="-5093113"/>
            <a:satOff val="-9542"/>
            <a:lumOff val="16235"/>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dirty="0">
              <a:latin typeface="Avenir Book" panose="02000503020000020003" pitchFamily="2" charset="0"/>
            </a:rPr>
            <a:t>4. The designer could be many gods. </a:t>
          </a:r>
        </a:p>
      </dsp:txBody>
      <dsp:txXfrm>
        <a:off x="668000" y="1935222"/>
        <a:ext cx="2763453" cy="1658071"/>
      </dsp:txXfrm>
    </dsp:sp>
    <dsp:sp modelId="{55D35B6D-DAAC-4D43-84DF-E1ED0856435D}">
      <dsp:nvSpPr>
        <dsp:cNvPr id="0" name=""/>
        <dsp:cNvSpPr/>
      </dsp:nvSpPr>
      <dsp:spPr>
        <a:xfrm>
          <a:off x="3707798" y="1935222"/>
          <a:ext cx="2763453" cy="1658071"/>
        </a:xfrm>
        <a:prstGeom prst="rect">
          <a:avLst/>
        </a:prstGeom>
        <a:solidFill>
          <a:schemeClr val="accent2">
            <a:hueOff val="-6790817"/>
            <a:satOff val="-12722"/>
            <a:lumOff val="21646"/>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dirty="0">
              <a:latin typeface="Avenir Book" panose="02000503020000020003" pitchFamily="2" charset="0"/>
            </a:rPr>
            <a:t>5. We find mind always connected to body, but God is not meant to have a body.</a:t>
          </a:r>
        </a:p>
      </dsp:txBody>
      <dsp:txXfrm>
        <a:off x="3707798" y="1935222"/>
        <a:ext cx="2763453" cy="1658071"/>
      </dsp:txXfrm>
    </dsp:sp>
    <dsp:sp modelId="{FBCA86C4-DB40-0449-8F3C-33D85AD15C07}">
      <dsp:nvSpPr>
        <dsp:cNvPr id="0" name=""/>
        <dsp:cNvSpPr/>
      </dsp:nvSpPr>
      <dsp:spPr>
        <a:xfrm>
          <a:off x="6747596" y="1935222"/>
          <a:ext cx="2763453" cy="1658071"/>
        </a:xfrm>
        <a:prstGeom prst="rect">
          <a:avLst/>
        </a:prstGeom>
        <a:solidFill>
          <a:schemeClr val="accent2">
            <a:hueOff val="-8488521"/>
            <a:satOff val="-15903"/>
            <a:lumOff val="27058"/>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dirty="0">
              <a:latin typeface="Avenir Book" panose="02000503020000020003" pitchFamily="2" charset="0"/>
            </a:rPr>
            <a:t>6. Designer can cease to exist even as the creations continue. </a:t>
          </a:r>
        </a:p>
      </dsp:txBody>
      <dsp:txXfrm>
        <a:off x="6747596" y="1935222"/>
        <a:ext cx="2763453" cy="165807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9/23/25</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95954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99511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9/23/25</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06673180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92853014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9/23/25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51462788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9/23/25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460220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9/23/25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22552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9/23/25</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2689724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9/23/25</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31297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75636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26519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9/23/25</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97273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D3EC6-0ACA-5005-C3EA-9348C8EDA063}"/>
              </a:ext>
            </a:extLst>
          </p:cNvPr>
          <p:cNvSpPr>
            <a:spLocks noGrp="1"/>
          </p:cNvSpPr>
          <p:nvPr>
            <p:ph type="ctrTitle"/>
          </p:nvPr>
        </p:nvSpPr>
        <p:spPr/>
        <p:txBody>
          <a:bodyPr/>
          <a:lstStyle/>
          <a:p>
            <a:r>
              <a:rPr lang="en-US" sz="4800" dirty="0">
                <a:latin typeface="Avenir Book" panose="02000503020000020003" pitchFamily="2" charset="0"/>
              </a:rPr>
              <a:t>The design argument </a:t>
            </a:r>
          </a:p>
        </p:txBody>
      </p:sp>
      <p:sp>
        <p:nvSpPr>
          <p:cNvPr id="3" name="Subtitle 2">
            <a:extLst>
              <a:ext uri="{FF2B5EF4-FFF2-40B4-BE49-F238E27FC236}">
                <a16:creationId xmlns:a16="http://schemas.microsoft.com/office/drawing/2014/main" id="{00A16F02-0B6C-8945-5901-5AA40488677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683873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570D2-168A-784A-7FDC-82527C12FDCF}"/>
              </a:ext>
            </a:extLst>
          </p:cNvPr>
          <p:cNvSpPr>
            <a:spLocks noGrp="1"/>
          </p:cNvSpPr>
          <p:nvPr>
            <p:ph type="title"/>
          </p:nvPr>
        </p:nvSpPr>
        <p:spPr>
          <a:xfrm>
            <a:off x="1251678" y="723013"/>
            <a:ext cx="10178322" cy="1151503"/>
          </a:xfrm>
        </p:spPr>
        <p:txBody>
          <a:bodyPr>
            <a:normAutofit/>
          </a:bodyPr>
          <a:lstStyle/>
          <a:p>
            <a:r>
              <a:rPr lang="en-US" sz="4000" dirty="0">
                <a:latin typeface="Avenir Book" panose="02000503020000020003" pitchFamily="2" charset="0"/>
              </a:rPr>
              <a:t>The design argument </a:t>
            </a:r>
          </a:p>
        </p:txBody>
      </p:sp>
      <p:sp>
        <p:nvSpPr>
          <p:cNvPr id="3" name="Content Placeholder 2">
            <a:extLst>
              <a:ext uri="{FF2B5EF4-FFF2-40B4-BE49-F238E27FC236}">
                <a16:creationId xmlns:a16="http://schemas.microsoft.com/office/drawing/2014/main" id="{58F8A56C-1803-C958-3349-C8C6FD437C4B}"/>
              </a:ext>
            </a:extLst>
          </p:cNvPr>
          <p:cNvSpPr>
            <a:spLocks noGrp="1"/>
          </p:cNvSpPr>
          <p:nvPr>
            <p:ph idx="1"/>
          </p:nvPr>
        </p:nvSpPr>
        <p:spPr>
          <a:xfrm>
            <a:off x="1251678" y="1956391"/>
            <a:ext cx="10178322" cy="3923201"/>
          </a:xfrm>
        </p:spPr>
        <p:txBody>
          <a:bodyPr>
            <a:normAutofit fontScale="85000" lnSpcReduction="20000"/>
          </a:bodyPr>
          <a:lstStyle/>
          <a:p>
            <a:pPr marL="0" indent="0" algn="just">
              <a:lnSpc>
                <a:spcPct val="160000"/>
              </a:lnSpc>
              <a:buNone/>
            </a:pPr>
            <a:r>
              <a:rPr lang="en-US" sz="2400" dirty="0">
                <a:solidFill>
                  <a:schemeClr val="tx1"/>
                </a:solidFill>
                <a:latin typeface="Avenir Book" panose="02000503020000020003" pitchFamily="2" charset="0"/>
              </a:rPr>
              <a:t>Key Idea: The design argument for the existence of God, claims that the order, sophistication, and functional properties that we find in the universe, can best be explained, as the result of a deliberate act of design by an intelligent being. This being is best understood as the God of monotheism. </a:t>
            </a:r>
          </a:p>
          <a:p>
            <a:pPr marL="0" indent="0" algn="just">
              <a:lnSpc>
                <a:spcPct val="160000"/>
              </a:lnSpc>
              <a:buNone/>
            </a:pPr>
            <a:endParaRPr lang="en-US" sz="2400" dirty="0">
              <a:solidFill>
                <a:schemeClr val="tx1"/>
              </a:solidFill>
              <a:latin typeface="Avenir Book" panose="02000503020000020003" pitchFamily="2" charset="0"/>
            </a:endParaRPr>
          </a:p>
          <a:p>
            <a:pPr marL="0" indent="0" algn="just">
              <a:lnSpc>
                <a:spcPct val="160000"/>
              </a:lnSpc>
              <a:buNone/>
            </a:pPr>
            <a:r>
              <a:rPr lang="en-US" sz="2400" dirty="0">
                <a:solidFill>
                  <a:schemeClr val="tx1"/>
                </a:solidFill>
                <a:latin typeface="Avenir Book" panose="02000503020000020003" pitchFamily="2" charset="0"/>
              </a:rPr>
              <a:t>There are two forms of the design argument: </a:t>
            </a:r>
          </a:p>
          <a:p>
            <a:pPr marL="457200" indent="-457200" algn="just">
              <a:lnSpc>
                <a:spcPct val="160000"/>
              </a:lnSpc>
              <a:buAutoNum type="arabicParenBoth"/>
            </a:pPr>
            <a:r>
              <a:rPr lang="en-US" sz="2400" dirty="0">
                <a:solidFill>
                  <a:schemeClr val="tx1"/>
                </a:solidFill>
                <a:latin typeface="Avenir Book" panose="02000503020000020003" pitchFamily="2" charset="0"/>
              </a:rPr>
              <a:t>From the existence of </a:t>
            </a:r>
            <a:r>
              <a:rPr lang="en-US" sz="2400" i="1" dirty="0">
                <a:solidFill>
                  <a:schemeClr val="tx1"/>
                </a:solidFill>
                <a:latin typeface="Avenir Book" panose="02000503020000020003" pitchFamily="2" charset="0"/>
              </a:rPr>
              <a:t>spatial</a:t>
            </a:r>
            <a:r>
              <a:rPr lang="en-US" sz="2400" dirty="0">
                <a:solidFill>
                  <a:schemeClr val="tx1"/>
                </a:solidFill>
                <a:latin typeface="Avenir Book" panose="02000503020000020003" pitchFamily="2" charset="0"/>
              </a:rPr>
              <a:t> order. </a:t>
            </a:r>
          </a:p>
          <a:p>
            <a:pPr marL="457200" indent="-457200" algn="just">
              <a:lnSpc>
                <a:spcPct val="160000"/>
              </a:lnSpc>
              <a:buAutoNum type="arabicParenBoth"/>
            </a:pPr>
            <a:r>
              <a:rPr lang="en-US" sz="2400" dirty="0">
                <a:solidFill>
                  <a:schemeClr val="tx1"/>
                </a:solidFill>
                <a:latin typeface="Avenir Book" panose="02000503020000020003" pitchFamily="2" charset="0"/>
              </a:rPr>
              <a:t>From the existence of </a:t>
            </a:r>
            <a:r>
              <a:rPr lang="en-US" sz="2400" i="1" dirty="0">
                <a:solidFill>
                  <a:schemeClr val="tx1"/>
                </a:solidFill>
                <a:latin typeface="Avenir Book" panose="02000503020000020003" pitchFamily="2" charset="0"/>
              </a:rPr>
              <a:t>temporal</a:t>
            </a:r>
            <a:r>
              <a:rPr lang="en-US" sz="2400" dirty="0">
                <a:solidFill>
                  <a:schemeClr val="tx1"/>
                </a:solidFill>
                <a:latin typeface="Avenir Book" panose="02000503020000020003" pitchFamily="2" charset="0"/>
              </a:rPr>
              <a:t> order. </a:t>
            </a:r>
          </a:p>
        </p:txBody>
      </p:sp>
    </p:spTree>
    <p:extLst>
      <p:ext uri="{BB962C8B-B14F-4D97-AF65-F5344CB8AC3E}">
        <p14:creationId xmlns:p14="http://schemas.microsoft.com/office/powerpoint/2010/main" val="3558585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51789-2AB2-CEDB-62A1-9A18954C890A}"/>
              </a:ext>
            </a:extLst>
          </p:cNvPr>
          <p:cNvSpPr>
            <a:spLocks noGrp="1"/>
          </p:cNvSpPr>
          <p:nvPr>
            <p:ph type="title"/>
          </p:nvPr>
        </p:nvSpPr>
        <p:spPr>
          <a:xfrm>
            <a:off x="1251678" y="382385"/>
            <a:ext cx="10178322" cy="1492132"/>
          </a:xfrm>
        </p:spPr>
        <p:txBody>
          <a:bodyPr anchor="ctr">
            <a:normAutofit/>
          </a:bodyPr>
          <a:lstStyle/>
          <a:p>
            <a:r>
              <a:rPr lang="en-US" dirty="0">
                <a:latin typeface="Avenir Book" panose="02000503020000020003" pitchFamily="2" charset="0"/>
              </a:rPr>
              <a:t>Two forms of design </a:t>
            </a:r>
          </a:p>
        </p:txBody>
      </p:sp>
      <p:graphicFrame>
        <p:nvGraphicFramePr>
          <p:cNvPr id="5" name="Content Placeholder 2">
            <a:extLst>
              <a:ext uri="{FF2B5EF4-FFF2-40B4-BE49-F238E27FC236}">
                <a16:creationId xmlns:a16="http://schemas.microsoft.com/office/drawing/2014/main" id="{D9778EF9-D955-F291-8A74-79A6CEF13B18}"/>
              </a:ext>
            </a:extLst>
          </p:cNvPr>
          <p:cNvGraphicFramePr>
            <a:graphicFrameLocks noGrp="1"/>
          </p:cNvGraphicFramePr>
          <p:nvPr>
            <p:ph idx="1"/>
            <p:extLst>
              <p:ext uri="{D42A27DB-BD31-4B8C-83A1-F6EECF244321}">
                <p14:modId xmlns:p14="http://schemas.microsoft.com/office/powerpoint/2010/main" val="649915962"/>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4101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37FABD-8C69-4801-8D9F-F88EFA0324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F8DD140-A4A7-BC31-848C-4F8B077218AE}"/>
              </a:ext>
            </a:extLst>
          </p:cNvPr>
          <p:cNvSpPr>
            <a:spLocks noGrp="1"/>
          </p:cNvSpPr>
          <p:nvPr>
            <p:ph type="title"/>
          </p:nvPr>
        </p:nvSpPr>
        <p:spPr>
          <a:xfrm>
            <a:off x="1251678" y="382385"/>
            <a:ext cx="10178322" cy="1492132"/>
          </a:xfrm>
        </p:spPr>
        <p:txBody>
          <a:bodyPr anchor="ctr">
            <a:normAutofit fontScale="90000"/>
          </a:bodyPr>
          <a:lstStyle/>
          <a:p>
            <a:r>
              <a:rPr lang="en-US" dirty="0">
                <a:latin typeface="Avenir Book" panose="02000503020000020003" pitchFamily="2" charset="0"/>
              </a:rPr>
              <a:t>The spatial form has two versions</a:t>
            </a:r>
          </a:p>
        </p:txBody>
      </p:sp>
      <p:sp>
        <p:nvSpPr>
          <p:cNvPr id="11" name="Freeform 6">
            <a:extLst>
              <a:ext uri="{FF2B5EF4-FFF2-40B4-BE49-F238E27FC236}">
                <a16:creationId xmlns:a16="http://schemas.microsoft.com/office/drawing/2014/main" id="{9BD2ECB5-E1D5-4F95-8DB5-D6B38DEEE9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1500752C-7683-4E03-95C5-06FCFE0C9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6E7FDA82-0DE2-3A45-7D9D-0ECF02B6777B}"/>
              </a:ext>
            </a:extLst>
          </p:cNvPr>
          <p:cNvGraphicFramePr>
            <a:graphicFrameLocks noGrp="1"/>
          </p:cNvGraphicFramePr>
          <p:nvPr>
            <p:ph idx="1"/>
            <p:extLst>
              <p:ext uri="{D42A27DB-BD31-4B8C-83A1-F6EECF244321}">
                <p14:modId xmlns:p14="http://schemas.microsoft.com/office/powerpoint/2010/main" val="4264025057"/>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9739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8A843-AA53-F1A8-93BE-5B65771F59CD}"/>
              </a:ext>
            </a:extLst>
          </p:cNvPr>
          <p:cNvSpPr>
            <a:spLocks noGrp="1"/>
          </p:cNvSpPr>
          <p:nvPr>
            <p:ph type="title"/>
          </p:nvPr>
        </p:nvSpPr>
        <p:spPr>
          <a:xfrm>
            <a:off x="1251678" y="625641"/>
            <a:ext cx="10178322" cy="1248875"/>
          </a:xfrm>
        </p:spPr>
        <p:txBody>
          <a:bodyPr>
            <a:normAutofit fontScale="90000"/>
          </a:bodyPr>
          <a:lstStyle/>
          <a:p>
            <a:r>
              <a:rPr lang="en-US" sz="4400" dirty="0">
                <a:latin typeface="Avenir" panose="02000503020000020003" pitchFamily="2" charset="0"/>
              </a:rPr>
              <a:t>Hume dialogues of natural religion</a:t>
            </a:r>
          </a:p>
        </p:txBody>
      </p:sp>
      <p:sp>
        <p:nvSpPr>
          <p:cNvPr id="3" name="Content Placeholder 2">
            <a:extLst>
              <a:ext uri="{FF2B5EF4-FFF2-40B4-BE49-F238E27FC236}">
                <a16:creationId xmlns:a16="http://schemas.microsoft.com/office/drawing/2014/main" id="{47210194-695E-2F95-D66B-D3461FE1A92A}"/>
              </a:ext>
            </a:extLst>
          </p:cNvPr>
          <p:cNvSpPr>
            <a:spLocks noGrp="1"/>
          </p:cNvSpPr>
          <p:nvPr>
            <p:ph idx="1"/>
          </p:nvPr>
        </p:nvSpPr>
        <p:spPr/>
        <p:txBody>
          <a:bodyPr>
            <a:normAutofit fontScale="77500" lnSpcReduction="20000"/>
          </a:bodyPr>
          <a:lstStyle/>
          <a:p>
            <a:pPr marL="0" indent="0" algn="just">
              <a:lnSpc>
                <a:spcPct val="150000"/>
              </a:lnSpc>
              <a:buNone/>
            </a:pPr>
            <a:r>
              <a:rPr lang="en-US" dirty="0">
                <a:solidFill>
                  <a:schemeClr val="tx1"/>
                </a:solidFill>
              </a:rPr>
              <a:t>‘</a:t>
            </a:r>
            <a:r>
              <a:rPr lang="en-US" sz="2400" dirty="0">
                <a:solidFill>
                  <a:schemeClr val="tx1"/>
                </a:solidFill>
                <a:latin typeface="Avenir Book" panose="02000503020000020003" pitchFamily="2" charset="0"/>
              </a:rPr>
              <a:t>The curious adapting means to ends, throughout all nature, resembles exactly, though it much exceeds, the production of human contrivance, of human design, thought, wisdom, and intelligence. Since the effects resemble each other, we are led to infer, by all the rules of analogy, that the causes also resemble; and that the author of nature is rather similar to, the mind of man; though possessed of much larger faculties, proportioned to the grandeur of the work, which he has executed. By this argument a posteriori, and by this argument alone, we can prove at once the (the) existence of a Deity, and his similarity to human mind and intelligence.’ </a:t>
            </a:r>
          </a:p>
          <a:p>
            <a:pPr marL="0" indent="0" algn="just">
              <a:lnSpc>
                <a:spcPct val="150000"/>
              </a:lnSpc>
              <a:buNone/>
            </a:pPr>
            <a:r>
              <a:rPr lang="en-US" sz="2400" dirty="0">
                <a:solidFill>
                  <a:schemeClr val="tx1"/>
                </a:solidFill>
                <a:latin typeface="Avenir Book" panose="02000503020000020003" pitchFamily="2" charset="0"/>
              </a:rPr>
              <a:t>Hume dialogues on natural religion.</a:t>
            </a:r>
            <a:endParaRPr lang="en-US" dirty="0">
              <a:solidFill>
                <a:schemeClr val="tx1"/>
              </a:solidFill>
            </a:endParaRPr>
          </a:p>
        </p:txBody>
      </p:sp>
    </p:spTree>
    <p:extLst>
      <p:ext uri="{BB962C8B-B14F-4D97-AF65-F5344CB8AC3E}">
        <p14:creationId xmlns:p14="http://schemas.microsoft.com/office/powerpoint/2010/main" val="1643665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3DB8E-DAF5-62C3-5799-367F6C74FAB7}"/>
              </a:ext>
            </a:extLst>
          </p:cNvPr>
          <p:cNvSpPr>
            <a:spLocks noGrp="1"/>
          </p:cNvSpPr>
          <p:nvPr>
            <p:ph type="title"/>
          </p:nvPr>
        </p:nvSpPr>
        <p:spPr>
          <a:xfrm>
            <a:off x="1251678" y="733647"/>
            <a:ext cx="10178322" cy="1140870"/>
          </a:xfrm>
        </p:spPr>
        <p:txBody>
          <a:bodyPr>
            <a:noAutofit/>
          </a:bodyPr>
          <a:lstStyle/>
          <a:p>
            <a:r>
              <a:rPr lang="en-US" sz="4000" dirty="0">
                <a:latin typeface="Avenir Book" panose="02000503020000020003" pitchFamily="2" charset="0"/>
              </a:rPr>
              <a:t>David Hume: The analogical version </a:t>
            </a:r>
          </a:p>
        </p:txBody>
      </p:sp>
      <p:sp>
        <p:nvSpPr>
          <p:cNvPr id="3" name="Content Placeholder 2">
            <a:extLst>
              <a:ext uri="{FF2B5EF4-FFF2-40B4-BE49-F238E27FC236}">
                <a16:creationId xmlns:a16="http://schemas.microsoft.com/office/drawing/2014/main" id="{B5937915-24BA-B520-9FEF-D704634BE051}"/>
              </a:ext>
            </a:extLst>
          </p:cNvPr>
          <p:cNvSpPr>
            <a:spLocks noGrp="1"/>
          </p:cNvSpPr>
          <p:nvPr>
            <p:ph idx="1"/>
          </p:nvPr>
        </p:nvSpPr>
        <p:spPr/>
        <p:txBody>
          <a:bodyPr>
            <a:normAutofit fontScale="92500" lnSpcReduction="10000"/>
          </a:bodyPr>
          <a:lstStyle/>
          <a:p>
            <a:pPr algn="just">
              <a:lnSpc>
                <a:spcPct val="150000"/>
              </a:lnSpc>
            </a:pPr>
            <a:r>
              <a:rPr lang="en-US" dirty="0">
                <a:solidFill>
                  <a:schemeClr val="tx1"/>
                </a:solidFill>
                <a:latin typeface="Avenir Book" panose="02000503020000020003" pitchFamily="2" charset="0"/>
              </a:rPr>
              <a:t>1. The products of nature, resemble the products of human design, this is because these objects have properties that mean that they can fulfil a specific function. (think of the properties of the human eye). </a:t>
            </a:r>
          </a:p>
          <a:p>
            <a:pPr algn="just">
              <a:lnSpc>
                <a:spcPct val="150000"/>
              </a:lnSpc>
            </a:pPr>
            <a:r>
              <a:rPr lang="en-US" dirty="0">
                <a:solidFill>
                  <a:schemeClr val="tx1"/>
                </a:solidFill>
                <a:latin typeface="Avenir Book" panose="02000503020000020003" pitchFamily="2" charset="0"/>
              </a:rPr>
              <a:t>2. Similar effects have similar causes. </a:t>
            </a:r>
          </a:p>
          <a:p>
            <a:pPr algn="just">
              <a:lnSpc>
                <a:spcPct val="150000"/>
              </a:lnSpc>
            </a:pPr>
            <a:r>
              <a:rPr lang="en-US" dirty="0">
                <a:solidFill>
                  <a:schemeClr val="tx1"/>
                </a:solidFill>
                <a:latin typeface="Avenir Book" panose="02000503020000020003" pitchFamily="2" charset="0"/>
              </a:rPr>
              <a:t>3. The cause of a product of human design is an intelligent mind that had intended the object and worked according to a blueprint in the mind. </a:t>
            </a:r>
          </a:p>
          <a:p>
            <a:pPr algn="just">
              <a:lnSpc>
                <a:spcPct val="150000"/>
              </a:lnSpc>
            </a:pPr>
            <a:r>
              <a:rPr lang="en-US" dirty="0">
                <a:solidFill>
                  <a:schemeClr val="tx1"/>
                </a:solidFill>
                <a:latin typeface="Avenir Book" panose="02000503020000020003" pitchFamily="2" charset="0"/>
              </a:rPr>
              <a:t>4. Ergo, the cause of nature is an intelligent mind, that had the blueprint in its mind and intended the design.</a:t>
            </a:r>
          </a:p>
        </p:txBody>
      </p:sp>
    </p:spTree>
    <p:extLst>
      <p:ext uri="{BB962C8B-B14F-4D97-AF65-F5344CB8AC3E}">
        <p14:creationId xmlns:p14="http://schemas.microsoft.com/office/powerpoint/2010/main" val="2224118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8216DD38-21E7-006C-AD8E-4BEED83BA8E3}"/>
              </a:ext>
            </a:extLst>
          </p:cNvPr>
          <p:cNvSpPr>
            <a:spLocks noGrp="1"/>
          </p:cNvSpPr>
          <p:nvPr>
            <p:ph type="title"/>
          </p:nvPr>
        </p:nvSpPr>
        <p:spPr>
          <a:xfrm>
            <a:off x="754144" y="484631"/>
            <a:ext cx="6340519" cy="1638469"/>
          </a:xfrm>
        </p:spPr>
        <p:txBody>
          <a:bodyPr>
            <a:normAutofit fontScale="90000"/>
          </a:bodyPr>
          <a:lstStyle/>
          <a:p>
            <a:r>
              <a:rPr lang="en-US">
                <a:latin typeface="Avenir Book" panose="02000503020000020003" pitchFamily="2" charset="0"/>
              </a:rPr>
              <a:t>William Paley’s design argument</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5917828-FDD3-1537-E52D-E468DA7BB6FD}"/>
              </a:ext>
            </a:extLst>
          </p:cNvPr>
          <p:cNvSpPr>
            <a:spLocks noGrp="1"/>
          </p:cNvSpPr>
          <p:nvPr>
            <p:ph idx="1"/>
          </p:nvPr>
        </p:nvSpPr>
        <p:spPr>
          <a:xfrm>
            <a:off x="765051" y="2123100"/>
            <a:ext cx="6306309" cy="4250267"/>
          </a:xfrm>
        </p:spPr>
        <p:txBody>
          <a:bodyPr>
            <a:normAutofit fontScale="92500" lnSpcReduction="10000"/>
          </a:bodyPr>
          <a:lstStyle/>
          <a:p>
            <a:pPr marL="0" indent="0" algn="just">
              <a:lnSpc>
                <a:spcPct val="150000"/>
              </a:lnSpc>
              <a:buNone/>
            </a:pPr>
            <a:r>
              <a:rPr lang="en-GB" altLang="en-US" i="1" dirty="0">
                <a:solidFill>
                  <a:srgbClr val="000000"/>
                </a:solidFill>
                <a:latin typeface="Avenir Book" panose="02000503020000020003" pitchFamily="2" charset="0"/>
                <a:ea typeface="ＭＳ Ｐゴシック" panose="020B0600070205080204" pitchFamily="34" charset="-128"/>
              </a:rPr>
              <a:t>‘In crossing a heath, suppose I pitched my foot against a stone, and were asked how the stone came to be there; I might possibly answer, that, for anything I knew to the contrary, it had lain there forever: nor would it perhaps be very easy to show the absurdity of this answer. But suppose I had found a watch upon the ground, and it should be inquired how the watch happened to be in that place; I should hardly think of the answer I had before given, that for anything I knew, the watch might have always been there. (...)’</a:t>
            </a:r>
          </a:p>
          <a:p>
            <a:endParaRPr lang="en-US" dirty="0">
              <a:solidFill>
                <a:srgbClr val="000000"/>
              </a:solidFill>
            </a:endParaRPr>
          </a:p>
        </p:txBody>
      </p:sp>
      <p:pic>
        <p:nvPicPr>
          <p:cNvPr id="4" name="Picture 3" descr="A person looking at a clock in a field&#10;&#10;Description automatically generated">
            <a:extLst>
              <a:ext uri="{FF2B5EF4-FFF2-40B4-BE49-F238E27FC236}">
                <a16:creationId xmlns:a16="http://schemas.microsoft.com/office/drawing/2014/main" id="{DE1212B0-E487-2339-2B48-F49B288D583C}"/>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553956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E1083D8-85F6-B0B9-74DB-868B04CB2D8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C2F4768B-EC77-A457-DC24-B285FCE3E213}"/>
              </a:ext>
            </a:extLst>
          </p:cNvPr>
          <p:cNvSpPr>
            <a:spLocks noGrp="1"/>
          </p:cNvSpPr>
          <p:nvPr>
            <p:ph type="title"/>
          </p:nvPr>
        </p:nvSpPr>
        <p:spPr>
          <a:xfrm>
            <a:off x="754144" y="484631"/>
            <a:ext cx="6340519" cy="1638469"/>
          </a:xfrm>
        </p:spPr>
        <p:txBody>
          <a:bodyPr>
            <a:normAutofit fontScale="90000"/>
          </a:bodyPr>
          <a:lstStyle/>
          <a:p>
            <a:r>
              <a:rPr lang="en-US">
                <a:latin typeface="Avenir Book" panose="02000503020000020003" pitchFamily="2" charset="0"/>
              </a:rPr>
              <a:t>William Paley’s design argument</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C7E63B1-1BD1-9062-C762-444773073764}"/>
              </a:ext>
            </a:extLst>
          </p:cNvPr>
          <p:cNvSpPr>
            <a:spLocks noGrp="1"/>
          </p:cNvSpPr>
          <p:nvPr>
            <p:ph idx="1"/>
          </p:nvPr>
        </p:nvSpPr>
        <p:spPr>
          <a:xfrm>
            <a:off x="765051" y="2123100"/>
            <a:ext cx="6306309" cy="4250267"/>
          </a:xfrm>
        </p:spPr>
        <p:txBody>
          <a:bodyPr>
            <a:normAutofit fontScale="92500" lnSpcReduction="10000"/>
          </a:bodyPr>
          <a:lstStyle/>
          <a:p>
            <a:pPr marL="0" indent="0" algn="just" eaLnBrk="1" hangingPunct="1">
              <a:lnSpc>
                <a:spcPct val="150000"/>
              </a:lnSpc>
              <a:buNone/>
            </a:pPr>
            <a:r>
              <a:rPr lang="en-GB" altLang="en-US" i="1" dirty="0">
                <a:solidFill>
                  <a:srgbClr val="000000"/>
                </a:solidFill>
                <a:latin typeface="Avenir Book" panose="02000503020000020003" pitchFamily="2" charset="0"/>
                <a:ea typeface="ＭＳ Ｐゴシック" panose="020B0600070205080204" pitchFamily="34" charset="-128"/>
              </a:rPr>
              <a:t>‘There must have existed, at some time, and at some place or other, an artificer or artificers, who formed [the watch] for the purpose which we find it actually to answer; who comprehended its construction, and designed its use. (...) Every indication of contrivance, every manifestation of design, which existed in the watch, exists in the works of nature; with the difference, on the side of nature, of being greater or more, and that in a degree which exceeds all computation.’</a:t>
            </a:r>
          </a:p>
          <a:p>
            <a:pPr marL="0" indent="0" eaLnBrk="1" hangingPunct="1">
              <a:buNone/>
            </a:pPr>
            <a:r>
              <a:rPr lang="en-GB" altLang="en-US" i="1" dirty="0">
                <a:solidFill>
                  <a:srgbClr val="000000"/>
                </a:solidFill>
                <a:latin typeface="Avenir Book" panose="02000503020000020003" pitchFamily="2" charset="0"/>
                <a:ea typeface="ＭＳ Ｐゴシック" panose="020B0600070205080204" pitchFamily="34" charset="-128"/>
              </a:rPr>
              <a:t>— William Paley, Natural Theology (1802)</a:t>
            </a:r>
          </a:p>
          <a:p>
            <a:endParaRPr lang="en-US" dirty="0">
              <a:solidFill>
                <a:srgbClr val="000000"/>
              </a:solidFill>
            </a:endParaRPr>
          </a:p>
        </p:txBody>
      </p:sp>
      <p:pic>
        <p:nvPicPr>
          <p:cNvPr id="4" name="Picture 3" descr="A person looking at a clock in a field&#10;&#10;Description automatically generated">
            <a:extLst>
              <a:ext uri="{FF2B5EF4-FFF2-40B4-BE49-F238E27FC236}">
                <a16:creationId xmlns:a16="http://schemas.microsoft.com/office/drawing/2014/main" id="{DF9DBACA-023A-91EA-7528-A93718C79EF1}"/>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2519932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1722-9442-30B1-CD5A-5EE6CE348F05}"/>
              </a:ext>
            </a:extLst>
          </p:cNvPr>
          <p:cNvSpPr>
            <a:spLocks noGrp="1"/>
          </p:cNvSpPr>
          <p:nvPr>
            <p:ph type="title"/>
          </p:nvPr>
        </p:nvSpPr>
        <p:spPr>
          <a:xfrm>
            <a:off x="1251678" y="782053"/>
            <a:ext cx="10178322" cy="1092464"/>
          </a:xfrm>
        </p:spPr>
        <p:txBody>
          <a:bodyPr/>
          <a:lstStyle/>
          <a:p>
            <a:r>
              <a:rPr lang="en-US" dirty="0">
                <a:latin typeface="Avenir Book" panose="02000503020000020003" pitchFamily="2" charset="0"/>
              </a:rPr>
              <a:t>Formal version</a:t>
            </a:r>
          </a:p>
        </p:txBody>
      </p:sp>
      <p:sp>
        <p:nvSpPr>
          <p:cNvPr id="3" name="Content Placeholder 2">
            <a:extLst>
              <a:ext uri="{FF2B5EF4-FFF2-40B4-BE49-F238E27FC236}">
                <a16:creationId xmlns:a16="http://schemas.microsoft.com/office/drawing/2014/main" id="{0FB2DC07-2F99-9D79-CBF7-2EABF125B2E4}"/>
              </a:ext>
            </a:extLst>
          </p:cNvPr>
          <p:cNvSpPr>
            <a:spLocks noGrp="1"/>
          </p:cNvSpPr>
          <p:nvPr>
            <p:ph idx="1"/>
          </p:nvPr>
        </p:nvSpPr>
        <p:spPr>
          <a:xfrm>
            <a:off x="1251677" y="2009275"/>
            <a:ext cx="10563333" cy="3870318"/>
          </a:xfrm>
        </p:spPr>
        <p:txBody>
          <a:bodyPr>
            <a:noAutofit/>
          </a:bodyPr>
          <a:lstStyle/>
          <a:p>
            <a:pPr marL="0" indent="0">
              <a:lnSpc>
                <a:spcPct val="150000"/>
              </a:lnSpc>
              <a:buNone/>
            </a:pPr>
            <a:r>
              <a:rPr lang="en-US" dirty="0">
                <a:solidFill>
                  <a:schemeClr val="tx1"/>
                </a:solidFill>
                <a:latin typeface="Avenir Book" panose="02000503020000020003" pitchFamily="2" charset="0"/>
              </a:rPr>
              <a:t>1. Anything that has parts to serve a purpose if designed.</a:t>
            </a:r>
          </a:p>
          <a:p>
            <a:pPr marL="0" indent="0">
              <a:lnSpc>
                <a:spcPct val="150000"/>
              </a:lnSpc>
              <a:buNone/>
            </a:pPr>
            <a:r>
              <a:rPr lang="en-US" dirty="0">
                <a:solidFill>
                  <a:schemeClr val="tx1"/>
                </a:solidFill>
                <a:latin typeface="Avenir Book" panose="02000503020000020003" pitchFamily="2" charset="0"/>
              </a:rPr>
              <a:t>2. Nature contains things which have parts that are organized to serve a purpose. </a:t>
            </a:r>
          </a:p>
          <a:p>
            <a:pPr marL="0" indent="0">
              <a:lnSpc>
                <a:spcPct val="150000"/>
              </a:lnSpc>
              <a:buNone/>
            </a:pPr>
            <a:r>
              <a:rPr lang="en-US" dirty="0">
                <a:solidFill>
                  <a:schemeClr val="tx1"/>
                </a:solidFill>
                <a:latin typeface="Avenir Book" panose="02000503020000020003" pitchFamily="2" charset="0"/>
              </a:rPr>
              <a:t>3. Therefore, nature contains things that are designed.</a:t>
            </a:r>
          </a:p>
          <a:p>
            <a:pPr marL="0" indent="0">
              <a:lnSpc>
                <a:spcPct val="150000"/>
              </a:lnSpc>
              <a:buNone/>
            </a:pPr>
            <a:r>
              <a:rPr lang="en-US" dirty="0">
                <a:solidFill>
                  <a:schemeClr val="tx1"/>
                </a:solidFill>
                <a:latin typeface="Avenir Book" panose="02000503020000020003" pitchFamily="2" charset="0"/>
              </a:rPr>
              <a:t>4. Design can only be explained in terms of a designer. </a:t>
            </a:r>
          </a:p>
          <a:p>
            <a:pPr marL="0" indent="0">
              <a:lnSpc>
                <a:spcPct val="150000"/>
              </a:lnSpc>
              <a:buNone/>
            </a:pPr>
            <a:r>
              <a:rPr lang="en-US" dirty="0">
                <a:solidFill>
                  <a:schemeClr val="tx1"/>
                </a:solidFill>
                <a:latin typeface="Avenir Book" panose="02000503020000020003" pitchFamily="2" charset="0"/>
              </a:rPr>
              <a:t>5. A designer must have a mind and be distinct from what is designed. </a:t>
            </a:r>
          </a:p>
          <a:p>
            <a:pPr marL="0" indent="0">
              <a:lnSpc>
                <a:spcPct val="150000"/>
              </a:lnSpc>
              <a:buNone/>
            </a:pPr>
            <a:r>
              <a:rPr lang="en-US" dirty="0">
                <a:solidFill>
                  <a:schemeClr val="tx1"/>
                </a:solidFill>
                <a:latin typeface="Avenir Book" panose="02000503020000020003" pitchFamily="2" charset="0"/>
              </a:rPr>
              <a:t>6. Therefore, nature was designed by a mind that is distinct from nature. </a:t>
            </a:r>
          </a:p>
          <a:p>
            <a:pPr marL="0" indent="0">
              <a:lnSpc>
                <a:spcPct val="150000"/>
              </a:lnSpc>
              <a:buNone/>
            </a:pPr>
            <a:r>
              <a:rPr lang="en-US" dirty="0">
                <a:solidFill>
                  <a:schemeClr val="tx1"/>
                </a:solidFill>
                <a:latin typeface="Avenir Book" panose="02000503020000020003" pitchFamily="2" charset="0"/>
              </a:rPr>
              <a:t>7. Ergo, Such a mind exists. (God is this mind). </a:t>
            </a:r>
          </a:p>
        </p:txBody>
      </p:sp>
    </p:spTree>
    <p:extLst>
      <p:ext uri="{BB962C8B-B14F-4D97-AF65-F5344CB8AC3E}">
        <p14:creationId xmlns:p14="http://schemas.microsoft.com/office/powerpoint/2010/main" val="1308700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342D-796C-31D7-E96C-65B41EBFE256}"/>
              </a:ext>
            </a:extLst>
          </p:cNvPr>
          <p:cNvSpPr>
            <a:spLocks noGrp="1"/>
          </p:cNvSpPr>
          <p:nvPr>
            <p:ph type="title"/>
          </p:nvPr>
        </p:nvSpPr>
        <p:spPr>
          <a:xfrm>
            <a:off x="1251679" y="645107"/>
            <a:ext cx="3384329" cy="5408284"/>
          </a:xfrm>
        </p:spPr>
        <p:txBody>
          <a:bodyPr anchor="ctr">
            <a:normAutofit/>
          </a:bodyPr>
          <a:lstStyle/>
          <a:p>
            <a:r>
              <a:rPr lang="en-US" sz="3600" dirty="0">
                <a:latin typeface="Avenir Book" panose="02000503020000020003" pitchFamily="2" charset="0"/>
              </a:rPr>
              <a:t>Hume’s 5 objections</a:t>
            </a:r>
          </a:p>
        </p:txBody>
      </p:sp>
      <p:graphicFrame>
        <p:nvGraphicFramePr>
          <p:cNvPr id="15" name="Content Placeholder 2">
            <a:extLst>
              <a:ext uri="{FF2B5EF4-FFF2-40B4-BE49-F238E27FC236}">
                <a16:creationId xmlns:a16="http://schemas.microsoft.com/office/drawing/2014/main" id="{F051C2D5-95D9-E4EC-677E-01B20299DFBB}"/>
              </a:ext>
            </a:extLst>
          </p:cNvPr>
          <p:cNvGraphicFramePr>
            <a:graphicFrameLocks noGrp="1"/>
          </p:cNvGraphicFramePr>
          <p:nvPr>
            <p:ph idx="1"/>
            <p:extLst>
              <p:ext uri="{D42A27DB-BD31-4B8C-83A1-F6EECF244321}">
                <p14:modId xmlns:p14="http://schemas.microsoft.com/office/powerpoint/2010/main" val="3743744289"/>
              </p:ext>
            </p:extLst>
          </p:nvPr>
        </p:nvGraphicFramePr>
        <p:xfrm>
          <a:off x="5175250" y="644525"/>
          <a:ext cx="6254750" cy="5408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9503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E85601A8-87D8-5E68-C324-E84FEFA86E7E}"/>
              </a:ext>
            </a:extLst>
          </p:cNvPr>
          <p:cNvSpPr>
            <a:spLocks noGrp="1"/>
          </p:cNvSpPr>
          <p:nvPr>
            <p:ph type="title"/>
          </p:nvPr>
        </p:nvSpPr>
        <p:spPr>
          <a:xfrm>
            <a:off x="754144" y="902368"/>
            <a:ext cx="6340519" cy="1220732"/>
          </a:xfrm>
        </p:spPr>
        <p:txBody>
          <a:bodyPr>
            <a:normAutofit/>
          </a:bodyPr>
          <a:lstStyle/>
          <a:p>
            <a:r>
              <a:rPr lang="en-US" sz="4000" dirty="0">
                <a:latin typeface="Avenir Book" panose="02000503020000020003" pitchFamily="2" charset="0"/>
              </a:rPr>
              <a:t>1. Weak analogy</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82F06A9-C992-EC90-CB6B-A13B0F57427E}"/>
              </a:ext>
            </a:extLst>
          </p:cNvPr>
          <p:cNvSpPr>
            <a:spLocks noGrp="1"/>
          </p:cNvSpPr>
          <p:nvPr>
            <p:ph idx="1"/>
          </p:nvPr>
        </p:nvSpPr>
        <p:spPr>
          <a:xfrm>
            <a:off x="765051" y="1973180"/>
            <a:ext cx="6306309" cy="4400188"/>
          </a:xfrm>
        </p:spPr>
        <p:txBody>
          <a:bodyPr>
            <a:normAutofit/>
          </a:bodyPr>
          <a:lstStyle/>
          <a:p>
            <a:pPr algn="just">
              <a:lnSpc>
                <a:spcPct val="150000"/>
              </a:lnSpc>
            </a:pPr>
            <a:r>
              <a:rPr lang="en-US" dirty="0">
                <a:solidFill>
                  <a:srgbClr val="000000"/>
                </a:solidFill>
                <a:latin typeface="Avenir Book" panose="02000503020000020003" pitchFamily="2" charset="0"/>
              </a:rPr>
              <a:t>Hume claims that an argument from analogy is only as good as the analogy itself, and it is far from clear that the analogy used here is very good. </a:t>
            </a:r>
          </a:p>
          <a:p>
            <a:pPr algn="just">
              <a:lnSpc>
                <a:spcPct val="150000"/>
              </a:lnSpc>
            </a:pPr>
            <a:r>
              <a:rPr lang="en-US" dirty="0">
                <a:solidFill>
                  <a:srgbClr val="000000"/>
                </a:solidFill>
                <a:latin typeface="Avenir Book" panose="02000503020000020003" pitchFamily="2" charset="0"/>
              </a:rPr>
              <a:t>Hume then claims that the property of objects being designed by mankind, and the property of the universe being itself designed, are so different that we cannot use analogy in this case.  </a:t>
            </a:r>
          </a:p>
        </p:txBody>
      </p:sp>
      <p:pic>
        <p:nvPicPr>
          <p:cNvPr id="4" name="Picture 3" descr="A close up of a camera&#10;&#10;Description automatically generated">
            <a:extLst>
              <a:ext uri="{FF2B5EF4-FFF2-40B4-BE49-F238E27FC236}">
                <a16:creationId xmlns:a16="http://schemas.microsoft.com/office/drawing/2014/main" id="{AB6FDBE9-4190-34F1-9CE6-4BB5495E0EDC}"/>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2906078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2AF5C-6D15-1E0E-71F0-B262F71438CC}"/>
              </a:ext>
            </a:extLst>
          </p:cNvPr>
          <p:cNvSpPr>
            <a:spLocks noGrp="1"/>
          </p:cNvSpPr>
          <p:nvPr>
            <p:ph type="title"/>
          </p:nvPr>
        </p:nvSpPr>
        <p:spPr>
          <a:xfrm>
            <a:off x="1251678" y="745957"/>
            <a:ext cx="10178322" cy="1128559"/>
          </a:xfrm>
        </p:spPr>
        <p:txBody>
          <a:bodyPr>
            <a:normAutofit/>
          </a:bodyPr>
          <a:lstStyle/>
          <a:p>
            <a:r>
              <a:rPr lang="en-US" sz="4000" dirty="0">
                <a:latin typeface="Avenir Book" panose="02000503020000020003" pitchFamily="2" charset="0"/>
              </a:rPr>
              <a:t>Hume writes… </a:t>
            </a:r>
          </a:p>
        </p:txBody>
      </p:sp>
      <p:sp>
        <p:nvSpPr>
          <p:cNvPr id="3" name="Content Placeholder 2">
            <a:extLst>
              <a:ext uri="{FF2B5EF4-FFF2-40B4-BE49-F238E27FC236}">
                <a16:creationId xmlns:a16="http://schemas.microsoft.com/office/drawing/2014/main" id="{11826002-59C0-1492-E251-C5B9980F045A}"/>
              </a:ext>
            </a:extLst>
          </p:cNvPr>
          <p:cNvSpPr>
            <a:spLocks noGrp="1"/>
          </p:cNvSpPr>
          <p:nvPr>
            <p:ph idx="1"/>
          </p:nvPr>
        </p:nvSpPr>
        <p:spPr>
          <a:xfrm>
            <a:off x="1251678" y="1874517"/>
            <a:ext cx="10178322" cy="4005076"/>
          </a:xfrm>
        </p:spPr>
        <p:txBody>
          <a:bodyPr>
            <a:normAutofit fontScale="85000" lnSpcReduction="20000"/>
          </a:bodyPr>
          <a:lstStyle/>
          <a:p>
            <a:pPr marL="0" indent="0" algn="just">
              <a:lnSpc>
                <a:spcPct val="150000"/>
              </a:lnSpc>
              <a:buNone/>
            </a:pPr>
            <a:r>
              <a:rPr lang="en-US" i="1" dirty="0">
                <a:solidFill>
                  <a:schemeClr val="tx1"/>
                </a:solidFill>
              </a:rPr>
              <a:t>‘</a:t>
            </a:r>
            <a:r>
              <a:rPr lang="en-US" sz="2400" i="1" dirty="0">
                <a:solidFill>
                  <a:schemeClr val="tx1"/>
                </a:solidFill>
                <a:latin typeface="Avenir Book" panose="02000503020000020003" pitchFamily="2" charset="0"/>
              </a:rPr>
              <a:t>If we see a house Cleanthes, we conclude with the greatest certainty, that it had an architect or builder; because this is precisely that species of effect, which we have experienced to proceed from that species of cause. But surely you will not affirm that the universe bears such resemblance to a house, that we can with the same certainty infer a similar cause, or that the analogy here is entire and perfect. The dissimilarity is so striking, that the upmost you can pretend to is a guess, a conjecture, a presumption concerning a similar cause; and how that pretension will be received in the world, I leave you to consider.’ </a:t>
            </a:r>
          </a:p>
          <a:p>
            <a:pPr marL="0" indent="0" algn="just">
              <a:lnSpc>
                <a:spcPct val="150000"/>
              </a:lnSpc>
              <a:buNone/>
            </a:pPr>
            <a:r>
              <a:rPr lang="en-US" sz="2400" i="1" dirty="0">
                <a:solidFill>
                  <a:schemeClr val="tx1"/>
                </a:solidFill>
                <a:latin typeface="Avenir Book" panose="02000503020000020003" pitchFamily="2" charset="0"/>
              </a:rPr>
              <a:t>David Hume: The dialogues on natural religion. </a:t>
            </a:r>
          </a:p>
          <a:p>
            <a:pPr marL="0" indent="0" algn="just">
              <a:buNone/>
            </a:pPr>
            <a:endParaRPr lang="en-US" i="1" dirty="0">
              <a:solidFill>
                <a:schemeClr val="tx1"/>
              </a:solidFill>
            </a:endParaRPr>
          </a:p>
        </p:txBody>
      </p:sp>
    </p:spTree>
    <p:extLst>
      <p:ext uri="{BB962C8B-B14F-4D97-AF65-F5344CB8AC3E}">
        <p14:creationId xmlns:p14="http://schemas.microsoft.com/office/powerpoint/2010/main" val="196680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15154181-1A19-4DB1-EF2C-5A99085CF525}"/>
              </a:ext>
            </a:extLst>
          </p:cNvPr>
          <p:cNvSpPr>
            <a:spLocks noGrp="1"/>
          </p:cNvSpPr>
          <p:nvPr>
            <p:ph type="title"/>
          </p:nvPr>
        </p:nvSpPr>
        <p:spPr>
          <a:xfrm>
            <a:off x="754144" y="661737"/>
            <a:ext cx="6340519" cy="1461363"/>
          </a:xfrm>
        </p:spPr>
        <p:txBody>
          <a:bodyPr>
            <a:normAutofit/>
          </a:bodyPr>
          <a:lstStyle/>
          <a:p>
            <a:r>
              <a:rPr lang="en-US" sz="4000" dirty="0">
                <a:latin typeface="Avenir Book" panose="02000503020000020003" pitchFamily="2" charset="0"/>
              </a:rPr>
              <a:t>Hume and anthropomorphism</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797111D-65E6-7752-125E-21B84FC9B85D}"/>
              </a:ext>
            </a:extLst>
          </p:cNvPr>
          <p:cNvSpPr>
            <a:spLocks noGrp="1"/>
          </p:cNvSpPr>
          <p:nvPr>
            <p:ph idx="1"/>
          </p:nvPr>
        </p:nvSpPr>
        <p:spPr>
          <a:xfrm>
            <a:off x="765051" y="2827421"/>
            <a:ext cx="6306309" cy="3545946"/>
          </a:xfrm>
        </p:spPr>
        <p:txBody>
          <a:bodyPr>
            <a:normAutofit/>
          </a:bodyPr>
          <a:lstStyle/>
          <a:p>
            <a:pPr marL="0" indent="0" algn="just">
              <a:lnSpc>
                <a:spcPct val="150000"/>
              </a:lnSpc>
              <a:buNone/>
            </a:pPr>
            <a:r>
              <a:rPr lang="en-US" i="1" dirty="0">
                <a:solidFill>
                  <a:srgbClr val="000000"/>
                </a:solidFill>
                <a:latin typeface="Avenir Book" panose="02000503020000020003" pitchFamily="2" charset="0"/>
              </a:rPr>
              <a:t>‘Your theory itself cannot pretend to any such advantage; even though you have run into anthropomorphism, the better to preserve a conformity to common experience.’ </a:t>
            </a:r>
          </a:p>
        </p:txBody>
      </p:sp>
      <p:pic>
        <p:nvPicPr>
          <p:cNvPr id="4" name="Picture 3" descr="A person looking at a person in the sky&#10;&#10;Description automatically generated">
            <a:extLst>
              <a:ext uri="{FF2B5EF4-FFF2-40B4-BE49-F238E27FC236}">
                <a16:creationId xmlns:a16="http://schemas.microsoft.com/office/drawing/2014/main" id="{24950B25-5D07-4B23-DCD4-034FB06AACAA}"/>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3654252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36CE5-11BF-AA69-F12C-E95B5EC9077A}"/>
              </a:ext>
            </a:extLst>
          </p:cNvPr>
          <p:cNvSpPr>
            <a:spLocks noGrp="1"/>
          </p:cNvSpPr>
          <p:nvPr>
            <p:ph type="title"/>
          </p:nvPr>
        </p:nvSpPr>
        <p:spPr>
          <a:xfrm>
            <a:off x="1251678" y="978408"/>
            <a:ext cx="10406922" cy="896108"/>
          </a:xfrm>
        </p:spPr>
        <p:txBody>
          <a:bodyPr>
            <a:normAutofit/>
          </a:bodyPr>
          <a:lstStyle/>
          <a:p>
            <a:r>
              <a:rPr lang="en-US" sz="3200" dirty="0">
                <a:latin typeface="Avenir Book" panose="02000503020000020003" pitchFamily="2" charset="0"/>
              </a:rPr>
              <a:t>2. A Designer is not the best explanation</a:t>
            </a:r>
          </a:p>
        </p:txBody>
      </p:sp>
      <p:sp>
        <p:nvSpPr>
          <p:cNvPr id="3" name="Content Placeholder 2">
            <a:extLst>
              <a:ext uri="{FF2B5EF4-FFF2-40B4-BE49-F238E27FC236}">
                <a16:creationId xmlns:a16="http://schemas.microsoft.com/office/drawing/2014/main" id="{57C677D7-ABF8-63CA-3A84-71AC689FA367}"/>
              </a:ext>
            </a:extLst>
          </p:cNvPr>
          <p:cNvSpPr>
            <a:spLocks noGrp="1"/>
          </p:cNvSpPr>
          <p:nvPr>
            <p:ph idx="1"/>
          </p:nvPr>
        </p:nvSpPr>
        <p:spPr/>
        <p:txBody>
          <a:bodyPr>
            <a:normAutofit/>
          </a:bodyPr>
          <a:lstStyle/>
          <a:p>
            <a:pPr marL="0" indent="0" algn="just">
              <a:lnSpc>
                <a:spcPct val="150000"/>
              </a:lnSpc>
              <a:buNone/>
            </a:pPr>
            <a:r>
              <a:rPr lang="en-US" sz="2400" dirty="0">
                <a:solidFill>
                  <a:schemeClr val="tx1"/>
                </a:solidFill>
                <a:latin typeface="Avenir Book" panose="02000503020000020003" pitchFamily="2" charset="0"/>
              </a:rPr>
              <a:t>There is no reason </a:t>
            </a:r>
            <a:r>
              <a:rPr lang="en-US" sz="2400" i="1" dirty="0">
                <a:solidFill>
                  <a:schemeClr val="tx1"/>
                </a:solidFill>
                <a:latin typeface="Avenir Book" panose="02000503020000020003" pitchFamily="2" charset="0"/>
              </a:rPr>
              <a:t>a priori </a:t>
            </a:r>
            <a:r>
              <a:rPr lang="en-US" sz="2400" dirty="0">
                <a:solidFill>
                  <a:schemeClr val="tx1"/>
                </a:solidFill>
                <a:latin typeface="Avenir Book" panose="02000503020000020003" pitchFamily="2" charset="0"/>
              </a:rPr>
              <a:t>to rule out other causes of apparent design in nature, and we should need to rule them out for our belief in a designer to amount to a proof. There could be any number of possible explanations for the order of the universe. </a:t>
            </a:r>
          </a:p>
        </p:txBody>
      </p:sp>
    </p:spTree>
    <p:extLst>
      <p:ext uri="{BB962C8B-B14F-4D97-AF65-F5344CB8AC3E}">
        <p14:creationId xmlns:p14="http://schemas.microsoft.com/office/powerpoint/2010/main" val="1808209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106F2-83B2-B0B5-C542-5F23312DBFD6}"/>
              </a:ext>
            </a:extLst>
          </p:cNvPr>
          <p:cNvSpPr>
            <a:spLocks noGrp="1"/>
          </p:cNvSpPr>
          <p:nvPr>
            <p:ph type="title"/>
          </p:nvPr>
        </p:nvSpPr>
        <p:spPr>
          <a:xfrm>
            <a:off x="1251678" y="709863"/>
            <a:ext cx="10178322" cy="709863"/>
          </a:xfrm>
        </p:spPr>
        <p:txBody>
          <a:bodyPr>
            <a:normAutofit/>
          </a:bodyPr>
          <a:lstStyle/>
          <a:p>
            <a:r>
              <a:rPr lang="en-US" sz="3600" dirty="0">
                <a:latin typeface="Avenir Book" panose="02000503020000020003" pitchFamily="2" charset="0"/>
              </a:rPr>
              <a:t>Hume: the epicurean hypothesis</a:t>
            </a:r>
            <a:r>
              <a:rPr lang="en-US" sz="3600" dirty="0"/>
              <a:t> </a:t>
            </a:r>
          </a:p>
        </p:txBody>
      </p:sp>
      <p:sp>
        <p:nvSpPr>
          <p:cNvPr id="3" name="Content Placeholder 2">
            <a:extLst>
              <a:ext uri="{FF2B5EF4-FFF2-40B4-BE49-F238E27FC236}">
                <a16:creationId xmlns:a16="http://schemas.microsoft.com/office/drawing/2014/main" id="{6CB22BF3-8AAE-47C3-C8E8-490663911DBC}"/>
              </a:ext>
            </a:extLst>
          </p:cNvPr>
          <p:cNvSpPr>
            <a:spLocks noGrp="1"/>
          </p:cNvSpPr>
          <p:nvPr>
            <p:ph idx="1"/>
          </p:nvPr>
        </p:nvSpPr>
        <p:spPr>
          <a:xfrm>
            <a:off x="1251678" y="1744579"/>
            <a:ext cx="10178322" cy="4632158"/>
          </a:xfrm>
        </p:spPr>
        <p:txBody>
          <a:bodyPr>
            <a:normAutofit/>
          </a:bodyPr>
          <a:lstStyle/>
          <a:p>
            <a:pPr algn="just">
              <a:lnSpc>
                <a:spcPct val="150000"/>
              </a:lnSpc>
            </a:pPr>
            <a:r>
              <a:rPr lang="en-US" i="1" dirty="0">
                <a:solidFill>
                  <a:schemeClr val="tx1"/>
                </a:solidFill>
                <a:latin typeface="Avenir Book" panose="02000503020000020003" pitchFamily="2" charset="0"/>
              </a:rPr>
              <a:t>For aught we can know a priori, nature may contain the source or spring of order originally, within itself…’</a:t>
            </a:r>
          </a:p>
          <a:p>
            <a:pPr algn="just">
              <a:lnSpc>
                <a:spcPct val="150000"/>
              </a:lnSpc>
            </a:pPr>
            <a:r>
              <a:rPr lang="en-US" i="1" dirty="0">
                <a:solidFill>
                  <a:schemeClr val="tx1"/>
                </a:solidFill>
                <a:latin typeface="Avenir Book" panose="02000503020000020003" pitchFamily="2" charset="0"/>
              </a:rPr>
              <a:t>‘Instead of supposing matter infinite, as Epicurus did; let us suppose it finite. A finite number of particles is only susceptible of finite transportations: And it must happen, in an eternal duration, that every possible order or position must be tied to an infinite number of times. This world, therefore, with all its event even the most minute, has before been produced and destroyed, and will again be produced and destroyed, without any bounds and limitations. No one, who has the conception of the powers of infinite, in comparison with finite, will ever scruple this determination.'</a:t>
            </a:r>
          </a:p>
          <a:p>
            <a:pPr algn="just"/>
            <a:endParaRPr lang="en-US" dirty="0">
              <a:solidFill>
                <a:schemeClr val="tx1"/>
              </a:solidFill>
            </a:endParaRPr>
          </a:p>
        </p:txBody>
      </p:sp>
    </p:spTree>
    <p:extLst>
      <p:ext uri="{BB962C8B-B14F-4D97-AF65-F5344CB8AC3E}">
        <p14:creationId xmlns:p14="http://schemas.microsoft.com/office/powerpoint/2010/main" val="2602040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63F2-EFB9-F46B-BDDD-E19504D38A99}"/>
              </a:ext>
            </a:extLst>
          </p:cNvPr>
          <p:cNvSpPr>
            <a:spLocks noGrp="1"/>
          </p:cNvSpPr>
          <p:nvPr>
            <p:ph type="title"/>
          </p:nvPr>
        </p:nvSpPr>
        <p:spPr>
          <a:xfrm>
            <a:off x="1251678" y="661737"/>
            <a:ext cx="10178322" cy="1212780"/>
          </a:xfrm>
        </p:spPr>
        <p:txBody>
          <a:bodyPr>
            <a:normAutofit fontScale="90000"/>
          </a:bodyPr>
          <a:lstStyle/>
          <a:p>
            <a:r>
              <a:rPr lang="en-US" sz="4400" dirty="0">
                <a:latin typeface="Avenir Book" panose="02000503020000020003" pitchFamily="2" charset="0"/>
              </a:rPr>
              <a:t>3. We only have one case to go on.</a:t>
            </a:r>
          </a:p>
        </p:txBody>
      </p:sp>
      <p:sp>
        <p:nvSpPr>
          <p:cNvPr id="3" name="Content Placeholder 2">
            <a:extLst>
              <a:ext uri="{FF2B5EF4-FFF2-40B4-BE49-F238E27FC236}">
                <a16:creationId xmlns:a16="http://schemas.microsoft.com/office/drawing/2014/main" id="{2902D91E-A5F6-4574-9E70-3A80A8F79488}"/>
              </a:ext>
            </a:extLst>
          </p:cNvPr>
          <p:cNvSpPr>
            <a:spLocks noGrp="1"/>
          </p:cNvSpPr>
          <p:nvPr>
            <p:ph idx="1"/>
          </p:nvPr>
        </p:nvSpPr>
        <p:spPr/>
        <p:txBody>
          <a:bodyPr>
            <a:normAutofit/>
          </a:bodyPr>
          <a:lstStyle/>
          <a:p>
            <a:pPr marL="0" indent="0" algn="just">
              <a:lnSpc>
                <a:spcPct val="150000"/>
              </a:lnSpc>
              <a:buNone/>
            </a:pPr>
            <a:r>
              <a:rPr lang="en-US" sz="2400" dirty="0">
                <a:solidFill>
                  <a:schemeClr val="tx1"/>
                </a:solidFill>
                <a:latin typeface="Avenir Book" panose="02000503020000020003" pitchFamily="2" charset="0"/>
              </a:rPr>
              <a:t>Our justification in the case of inferring causes from effects, is usually a function of experience. If we have seen water boil a 100C countless times, then we will justly assume the same effect to have the same cause. But we only have one instance of the universe to go with, and we cannot with any justice jump from our experience of the universe, to a conclusion about its cause. </a:t>
            </a:r>
          </a:p>
        </p:txBody>
      </p:sp>
    </p:spTree>
    <p:extLst>
      <p:ext uri="{BB962C8B-B14F-4D97-AF65-F5344CB8AC3E}">
        <p14:creationId xmlns:p14="http://schemas.microsoft.com/office/powerpoint/2010/main" val="216244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D33F59D7-0E20-DD3A-C82B-DE065C5063CC}"/>
              </a:ext>
            </a:extLst>
          </p:cNvPr>
          <p:cNvSpPr>
            <a:spLocks noGrp="1"/>
          </p:cNvSpPr>
          <p:nvPr>
            <p:ph type="title"/>
          </p:nvPr>
        </p:nvSpPr>
        <p:spPr>
          <a:xfrm>
            <a:off x="754144" y="484631"/>
            <a:ext cx="6340519" cy="1638469"/>
          </a:xfrm>
        </p:spPr>
        <p:txBody>
          <a:bodyPr>
            <a:normAutofit/>
          </a:bodyPr>
          <a:lstStyle/>
          <a:p>
            <a:r>
              <a:rPr lang="en-US" sz="4400" dirty="0" err="1">
                <a:latin typeface="Avenir Book" panose="02000503020000020003" pitchFamily="2" charset="0"/>
              </a:rPr>
              <a:t>hume</a:t>
            </a:r>
            <a:endParaRPr lang="en-US" sz="4400" dirty="0">
              <a:latin typeface="Avenir Book" panose="02000503020000020003" pitchFamily="2" charset="0"/>
            </a:endParaRP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D49B59A-882B-7BC9-C8BC-D2586E0D3078}"/>
              </a:ext>
            </a:extLst>
          </p:cNvPr>
          <p:cNvSpPr>
            <a:spLocks noGrp="1"/>
          </p:cNvSpPr>
          <p:nvPr>
            <p:ph idx="1"/>
          </p:nvPr>
        </p:nvSpPr>
        <p:spPr>
          <a:xfrm>
            <a:off x="765051" y="1491916"/>
            <a:ext cx="6306309" cy="4881451"/>
          </a:xfrm>
        </p:spPr>
        <p:txBody>
          <a:bodyPr>
            <a:normAutofit fontScale="92500"/>
          </a:bodyPr>
          <a:lstStyle/>
          <a:p>
            <a:pPr marL="0" indent="0" algn="just">
              <a:lnSpc>
                <a:spcPct val="150000"/>
              </a:lnSpc>
              <a:buNone/>
            </a:pPr>
            <a:r>
              <a:rPr lang="en-US" i="1" dirty="0">
                <a:solidFill>
                  <a:srgbClr val="000000"/>
                </a:solidFill>
              </a:rPr>
              <a:t>‘</a:t>
            </a:r>
            <a:r>
              <a:rPr lang="en-US" i="1" dirty="0">
                <a:solidFill>
                  <a:srgbClr val="000000"/>
                </a:solidFill>
                <a:latin typeface="Avenir Book" panose="02000503020000020003" pitchFamily="2" charset="0"/>
              </a:rPr>
              <a:t>When two species of objects have been always observed to be conjoined to together, I can infer by custom the existence of one, wherever I see the existence of the other: and this I call an argument from experience. But how this argument can have place, where the object, as in the present case, are single and individual, without parallel, or specific resemblance, may be difficult to explain…To ascertain this reasoning, it were requisite, that we had experience of the origin of the worlds; and it is not sufficient surely, that we have ships and cities arise from human art and contrivance’. </a:t>
            </a:r>
            <a:endParaRPr lang="en-US" i="1" dirty="0">
              <a:solidFill>
                <a:srgbClr val="000000"/>
              </a:solidFill>
            </a:endParaRPr>
          </a:p>
        </p:txBody>
      </p:sp>
      <p:pic>
        <p:nvPicPr>
          <p:cNvPr id="4" name="Picture 3">
            <a:extLst>
              <a:ext uri="{FF2B5EF4-FFF2-40B4-BE49-F238E27FC236}">
                <a16:creationId xmlns:a16="http://schemas.microsoft.com/office/drawing/2014/main" id="{EBAD721A-188A-31CF-13C9-AF9125C66017}"/>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377175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C0BCA-3C3D-8E87-B4CE-E3392F17A229}"/>
              </a:ext>
            </a:extLst>
          </p:cNvPr>
          <p:cNvSpPr>
            <a:spLocks noGrp="1"/>
          </p:cNvSpPr>
          <p:nvPr>
            <p:ph type="title"/>
          </p:nvPr>
        </p:nvSpPr>
        <p:spPr>
          <a:xfrm>
            <a:off x="1251678" y="661737"/>
            <a:ext cx="10178322" cy="1212780"/>
          </a:xfrm>
        </p:spPr>
        <p:txBody>
          <a:bodyPr>
            <a:normAutofit/>
          </a:bodyPr>
          <a:lstStyle/>
          <a:p>
            <a:pPr algn="just"/>
            <a:r>
              <a:rPr lang="en-US" sz="3600" dirty="0">
                <a:latin typeface="Avenir Book" panose="02000503020000020003" pitchFamily="2" charset="0"/>
              </a:rPr>
              <a:t>4. We cannot attribute more to the cause than we are entitled to.</a:t>
            </a:r>
          </a:p>
        </p:txBody>
      </p:sp>
      <p:sp>
        <p:nvSpPr>
          <p:cNvPr id="3" name="Content Placeholder 2">
            <a:extLst>
              <a:ext uri="{FF2B5EF4-FFF2-40B4-BE49-F238E27FC236}">
                <a16:creationId xmlns:a16="http://schemas.microsoft.com/office/drawing/2014/main" id="{E3179CB8-E9BA-5A90-C0A3-108680AD7BB5}"/>
              </a:ext>
            </a:extLst>
          </p:cNvPr>
          <p:cNvSpPr>
            <a:spLocks noGrp="1"/>
          </p:cNvSpPr>
          <p:nvPr>
            <p:ph idx="1"/>
          </p:nvPr>
        </p:nvSpPr>
        <p:spPr>
          <a:xfrm>
            <a:off x="1251678" y="2286001"/>
            <a:ext cx="10178322" cy="3910262"/>
          </a:xfrm>
        </p:spPr>
        <p:txBody>
          <a:bodyPr>
            <a:normAutofit fontScale="92500"/>
          </a:bodyPr>
          <a:lstStyle/>
          <a:p>
            <a:pPr marL="0" indent="0" algn="just">
              <a:lnSpc>
                <a:spcPct val="150000"/>
              </a:lnSpc>
              <a:buNone/>
            </a:pPr>
            <a:r>
              <a:rPr lang="en-US" sz="2400" dirty="0">
                <a:solidFill>
                  <a:schemeClr val="tx1"/>
                </a:solidFill>
                <a:latin typeface="Avenir Book" panose="02000503020000020003" pitchFamily="2" charset="0"/>
              </a:rPr>
              <a:t>Hume makes an important methodological point about just reasoning. Here he claims that when we contemplate causes, we should only, attribute properties to the cause </a:t>
            </a:r>
            <a:r>
              <a:rPr lang="en-US" sz="2400" i="1" dirty="0">
                <a:solidFill>
                  <a:schemeClr val="tx1"/>
                </a:solidFill>
                <a:latin typeface="Avenir Book" panose="02000503020000020003" pitchFamily="2" charset="0"/>
              </a:rPr>
              <a:t>that we need, in order, to explain the effect. </a:t>
            </a:r>
          </a:p>
          <a:p>
            <a:pPr marL="0" indent="0" algn="just">
              <a:lnSpc>
                <a:spcPct val="150000"/>
              </a:lnSpc>
              <a:buNone/>
            </a:pPr>
            <a:r>
              <a:rPr lang="en-US" sz="2400" dirty="0">
                <a:solidFill>
                  <a:schemeClr val="tx1"/>
                </a:solidFill>
                <a:latin typeface="Avenir Book" panose="02000503020000020003" pitchFamily="2" charset="0"/>
              </a:rPr>
              <a:t>In other words, we should not attribute properties to a hypothetical cause, which are not needed, in order to, explain the effect. There are some inferences we can make about the cause of the world, but not others. </a:t>
            </a:r>
          </a:p>
        </p:txBody>
      </p:sp>
    </p:spTree>
    <p:extLst>
      <p:ext uri="{BB962C8B-B14F-4D97-AF65-F5344CB8AC3E}">
        <p14:creationId xmlns:p14="http://schemas.microsoft.com/office/powerpoint/2010/main" val="1269608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2A27F8CA-B88C-A274-5DB6-A7B286544305}"/>
              </a:ext>
            </a:extLst>
          </p:cNvPr>
          <p:cNvSpPr>
            <a:spLocks noGrp="1"/>
          </p:cNvSpPr>
          <p:nvPr>
            <p:ph type="title"/>
          </p:nvPr>
        </p:nvSpPr>
        <p:spPr>
          <a:xfrm>
            <a:off x="754144" y="484631"/>
            <a:ext cx="6340519" cy="1638469"/>
          </a:xfrm>
        </p:spPr>
        <p:txBody>
          <a:bodyPr>
            <a:normAutofit/>
          </a:bodyPr>
          <a:lstStyle/>
          <a:p>
            <a:r>
              <a:rPr lang="en-US" sz="3600" dirty="0">
                <a:latin typeface="Avenir Book" panose="02000503020000020003" pitchFamily="2" charset="0"/>
              </a:rPr>
              <a:t>5. Even if there is a designer, it need not be God</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F6D1A84-6E27-9741-9B31-BB3028D37934}"/>
              </a:ext>
            </a:extLst>
          </p:cNvPr>
          <p:cNvSpPr>
            <a:spLocks noGrp="1"/>
          </p:cNvSpPr>
          <p:nvPr>
            <p:ph idx="1"/>
          </p:nvPr>
        </p:nvSpPr>
        <p:spPr>
          <a:xfrm>
            <a:off x="765051" y="2695074"/>
            <a:ext cx="6306309" cy="3678293"/>
          </a:xfrm>
        </p:spPr>
        <p:txBody>
          <a:bodyPr>
            <a:normAutofit/>
          </a:bodyPr>
          <a:lstStyle/>
          <a:p>
            <a:pPr marL="0" indent="0" algn="just">
              <a:lnSpc>
                <a:spcPct val="150000"/>
              </a:lnSpc>
              <a:buNone/>
            </a:pPr>
            <a:r>
              <a:rPr lang="en-US" sz="2400" dirty="0">
                <a:solidFill>
                  <a:srgbClr val="000000"/>
                </a:solidFill>
                <a:latin typeface="Avenir Book" panose="02000503020000020003" pitchFamily="2" charset="0"/>
              </a:rPr>
              <a:t>This objection claims that even if we could prove the existence of a designer, there is no reason to think that this designer is the God of classical theism, that is omnipotent, omniscient, and omnibenevolent. </a:t>
            </a:r>
          </a:p>
        </p:txBody>
      </p:sp>
      <p:pic>
        <p:nvPicPr>
          <p:cNvPr id="4" name="Picture 3" descr="A black creature with red light shining on it&#10;&#10;Description automatically generated">
            <a:extLst>
              <a:ext uri="{FF2B5EF4-FFF2-40B4-BE49-F238E27FC236}">
                <a16:creationId xmlns:a16="http://schemas.microsoft.com/office/drawing/2014/main" id="{EE757DA9-9EA8-D642-D2D0-9CC2BAAE2446}"/>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606904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CCFF1-6583-3E20-EFF8-6A6E98D5DCA6}"/>
              </a:ext>
            </a:extLst>
          </p:cNvPr>
          <p:cNvSpPr>
            <a:spLocks noGrp="1"/>
          </p:cNvSpPr>
          <p:nvPr>
            <p:ph type="title"/>
          </p:nvPr>
        </p:nvSpPr>
        <p:spPr>
          <a:xfrm>
            <a:off x="1251678" y="782053"/>
            <a:ext cx="10178322" cy="1092464"/>
          </a:xfrm>
        </p:spPr>
        <p:txBody>
          <a:bodyPr>
            <a:normAutofit/>
          </a:bodyPr>
          <a:lstStyle/>
          <a:p>
            <a:r>
              <a:rPr lang="en-US" sz="3600" dirty="0">
                <a:latin typeface="Avenir Book" panose="02000503020000020003" pitchFamily="2" charset="0"/>
              </a:rPr>
              <a:t>William Paley’s argument evaluated</a:t>
            </a:r>
          </a:p>
        </p:txBody>
      </p:sp>
      <p:sp>
        <p:nvSpPr>
          <p:cNvPr id="3" name="Content Placeholder 2">
            <a:extLst>
              <a:ext uri="{FF2B5EF4-FFF2-40B4-BE49-F238E27FC236}">
                <a16:creationId xmlns:a16="http://schemas.microsoft.com/office/drawing/2014/main" id="{EDF834E8-7145-07A8-E010-15E2A2C738C6}"/>
              </a:ext>
            </a:extLst>
          </p:cNvPr>
          <p:cNvSpPr>
            <a:spLocks noGrp="1"/>
          </p:cNvSpPr>
          <p:nvPr>
            <p:ph idx="1"/>
          </p:nvPr>
        </p:nvSpPr>
        <p:spPr>
          <a:xfrm>
            <a:off x="1251678" y="1874517"/>
            <a:ext cx="10178322" cy="4005075"/>
          </a:xfrm>
        </p:spPr>
        <p:txBody>
          <a:bodyPr>
            <a:normAutofit fontScale="92500"/>
          </a:bodyPr>
          <a:lstStyle/>
          <a:p>
            <a:pPr marL="0" indent="0" algn="just">
              <a:lnSpc>
                <a:spcPct val="160000"/>
              </a:lnSpc>
              <a:buNone/>
            </a:pPr>
            <a:r>
              <a:rPr lang="en-US" sz="2400" dirty="0">
                <a:solidFill>
                  <a:schemeClr val="tx1"/>
                </a:solidFill>
                <a:latin typeface="Avenir Book" panose="02000503020000020003" pitchFamily="2" charset="0"/>
              </a:rPr>
              <a:t>Hume’s objection of analogy does not touch Paley’s argument. This is because Paley does not offer an analogy, what he does it point to the fact that objects of human design have a specific property, say having a function. He then makes the claim that any object which also has that property, must have the same kind of cause, so for example an eye, will have the same type of cause as a camera. </a:t>
            </a:r>
          </a:p>
          <a:p>
            <a:pPr marL="0" indent="0" algn="just">
              <a:lnSpc>
                <a:spcPct val="160000"/>
              </a:lnSpc>
              <a:buNone/>
            </a:pPr>
            <a:r>
              <a:rPr lang="en-US" sz="2400" i="1" dirty="0">
                <a:solidFill>
                  <a:schemeClr val="tx1"/>
                </a:solidFill>
                <a:latin typeface="Avenir Book" panose="02000503020000020003" pitchFamily="2" charset="0"/>
              </a:rPr>
              <a:t>‘Every observation which was made…concerning the watch…, may be repeated with strict propriety…concerning all the organized parts of the works of nature’. </a:t>
            </a:r>
          </a:p>
        </p:txBody>
      </p:sp>
    </p:spTree>
    <p:extLst>
      <p:ext uri="{BB962C8B-B14F-4D97-AF65-F5344CB8AC3E}">
        <p14:creationId xmlns:p14="http://schemas.microsoft.com/office/powerpoint/2010/main" val="1507312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B1268-8483-229F-79CC-671B7B0AE016}"/>
              </a:ext>
            </a:extLst>
          </p:cNvPr>
          <p:cNvSpPr>
            <a:spLocks noGrp="1"/>
          </p:cNvSpPr>
          <p:nvPr>
            <p:ph type="title"/>
          </p:nvPr>
        </p:nvSpPr>
        <p:spPr>
          <a:xfrm>
            <a:off x="1419726" y="589547"/>
            <a:ext cx="10010274" cy="996212"/>
          </a:xfrm>
        </p:spPr>
        <p:txBody>
          <a:bodyPr>
            <a:normAutofit/>
          </a:bodyPr>
          <a:lstStyle/>
          <a:p>
            <a:r>
              <a:rPr lang="en-US" sz="4400" dirty="0">
                <a:latin typeface="Avenir Book" panose="02000503020000020003" pitchFamily="2" charset="0"/>
              </a:rPr>
              <a:t>Paley continued</a:t>
            </a:r>
          </a:p>
        </p:txBody>
      </p:sp>
      <p:sp>
        <p:nvSpPr>
          <p:cNvPr id="3" name="Content Placeholder 2">
            <a:extLst>
              <a:ext uri="{FF2B5EF4-FFF2-40B4-BE49-F238E27FC236}">
                <a16:creationId xmlns:a16="http://schemas.microsoft.com/office/drawing/2014/main" id="{D95AF9ED-9711-ED98-7F66-615B42C72DDE}"/>
              </a:ext>
            </a:extLst>
          </p:cNvPr>
          <p:cNvSpPr>
            <a:spLocks noGrp="1"/>
          </p:cNvSpPr>
          <p:nvPr>
            <p:ph idx="1"/>
          </p:nvPr>
        </p:nvSpPr>
        <p:spPr>
          <a:xfrm>
            <a:off x="1251678" y="1874517"/>
            <a:ext cx="10178322" cy="4393936"/>
          </a:xfrm>
        </p:spPr>
        <p:txBody>
          <a:bodyPr>
            <a:normAutofit lnSpcReduction="10000"/>
          </a:bodyPr>
          <a:lstStyle/>
          <a:p>
            <a:pPr algn="just">
              <a:lnSpc>
                <a:spcPct val="150000"/>
              </a:lnSpc>
            </a:pPr>
            <a:r>
              <a:rPr lang="en-US" sz="2400" dirty="0">
                <a:solidFill>
                  <a:schemeClr val="tx1"/>
                </a:solidFill>
                <a:latin typeface="Avenir Book" panose="02000503020000020003" pitchFamily="2" charset="0"/>
              </a:rPr>
              <a:t>Even though we have never seen the creation of a world, we are entitled, by strict propriety, to conclude that since the world has the same property as a watch it does is caused by the same type of thing as a watch, i.e.  a designer. </a:t>
            </a:r>
          </a:p>
          <a:p>
            <a:pPr algn="just">
              <a:lnSpc>
                <a:spcPct val="150000"/>
              </a:lnSpc>
            </a:pPr>
            <a:r>
              <a:rPr lang="en-US" sz="2400" dirty="0">
                <a:solidFill>
                  <a:schemeClr val="tx1"/>
                </a:solidFill>
                <a:latin typeface="Avenir Book" panose="02000503020000020003" pitchFamily="2" charset="0"/>
              </a:rPr>
              <a:t>Paley agrees with Hume that in theory it is possible that something other than God is responsible for the creation of the world, however, he believes that those explanations are logically less plausible than the belief in a God. </a:t>
            </a:r>
          </a:p>
        </p:txBody>
      </p:sp>
    </p:spTree>
    <p:extLst>
      <p:ext uri="{BB962C8B-B14F-4D97-AF65-F5344CB8AC3E}">
        <p14:creationId xmlns:p14="http://schemas.microsoft.com/office/powerpoint/2010/main" val="2530205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EBEDF-C340-6888-69C9-02363FB3F493}"/>
              </a:ext>
            </a:extLst>
          </p:cNvPr>
          <p:cNvSpPr>
            <a:spLocks noGrp="1"/>
          </p:cNvSpPr>
          <p:nvPr>
            <p:ph type="title"/>
          </p:nvPr>
        </p:nvSpPr>
        <p:spPr>
          <a:xfrm>
            <a:off x="1251678" y="745957"/>
            <a:ext cx="10178322" cy="1128559"/>
          </a:xfrm>
        </p:spPr>
        <p:txBody>
          <a:bodyPr>
            <a:normAutofit/>
          </a:bodyPr>
          <a:lstStyle/>
          <a:p>
            <a:r>
              <a:rPr lang="en-US" sz="4000" dirty="0">
                <a:latin typeface="Avenir Book" panose="02000503020000020003" pitchFamily="2" charset="0"/>
              </a:rPr>
              <a:t>Evolution via natural selection</a:t>
            </a:r>
          </a:p>
        </p:txBody>
      </p:sp>
      <p:sp>
        <p:nvSpPr>
          <p:cNvPr id="3" name="Content Placeholder 2">
            <a:extLst>
              <a:ext uri="{FF2B5EF4-FFF2-40B4-BE49-F238E27FC236}">
                <a16:creationId xmlns:a16="http://schemas.microsoft.com/office/drawing/2014/main" id="{FE783340-7165-1BEF-F6EF-D570224CB4A8}"/>
              </a:ext>
            </a:extLst>
          </p:cNvPr>
          <p:cNvSpPr>
            <a:spLocks noGrp="1"/>
          </p:cNvSpPr>
          <p:nvPr>
            <p:ph idx="1"/>
          </p:nvPr>
        </p:nvSpPr>
        <p:spPr>
          <a:xfrm>
            <a:off x="1251678" y="1874516"/>
            <a:ext cx="10178322" cy="4005077"/>
          </a:xfrm>
        </p:spPr>
        <p:txBody>
          <a:bodyPr>
            <a:normAutofit fontScale="92500" lnSpcReduction="10000"/>
          </a:bodyPr>
          <a:lstStyle/>
          <a:p>
            <a:pPr algn="just">
              <a:lnSpc>
                <a:spcPct val="150000"/>
              </a:lnSpc>
            </a:pPr>
            <a:r>
              <a:rPr lang="en-US" dirty="0">
                <a:solidFill>
                  <a:schemeClr val="tx1"/>
                </a:solidFill>
                <a:latin typeface="Avenir Book" panose="02000503020000020003" pitchFamily="2" charset="0"/>
              </a:rPr>
              <a:t>The development of the theory of evolution via natural selection, went a long way to explaining in an empirical way, the phenomenon of apparent design, and also, the fact that animals also have apparent imperfections. The elegance, coherence and empirical justification for the theory lends it a much higher level of credence than the argument from design. Given that the theory does not at first need to postulate the existence of God to make sense of the phenomena, it seems reasonable to abandon the design argument. </a:t>
            </a:r>
          </a:p>
          <a:p>
            <a:pPr algn="just">
              <a:lnSpc>
                <a:spcPct val="150000"/>
              </a:lnSpc>
            </a:pPr>
            <a:r>
              <a:rPr lang="en-US" dirty="0">
                <a:solidFill>
                  <a:schemeClr val="tx1"/>
                </a:solidFill>
                <a:latin typeface="Avenir Book" panose="02000503020000020003" pitchFamily="2" charset="0"/>
              </a:rPr>
              <a:t>The problem that cannot, however, be evaded, is why the laws of nature are such as to enable the existence of animals at all. This means, we need to explain, where, why or how the laws of nature have come into existence. </a:t>
            </a:r>
          </a:p>
        </p:txBody>
      </p:sp>
    </p:spTree>
    <p:extLst>
      <p:ext uri="{BB962C8B-B14F-4D97-AF65-F5344CB8AC3E}">
        <p14:creationId xmlns:p14="http://schemas.microsoft.com/office/powerpoint/2010/main" val="1908562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65634-C363-E6B8-6049-2125B36EB13C}"/>
              </a:ext>
            </a:extLst>
          </p:cNvPr>
          <p:cNvSpPr>
            <a:spLocks noGrp="1"/>
          </p:cNvSpPr>
          <p:nvPr>
            <p:ph type="title"/>
          </p:nvPr>
        </p:nvSpPr>
        <p:spPr>
          <a:xfrm>
            <a:off x="1251678" y="505325"/>
            <a:ext cx="10178322" cy="1369191"/>
          </a:xfrm>
        </p:spPr>
        <p:txBody>
          <a:bodyPr>
            <a:normAutofit/>
          </a:bodyPr>
          <a:lstStyle/>
          <a:p>
            <a:r>
              <a:rPr lang="en-US" sz="4000" dirty="0">
                <a:latin typeface="Avenir Book" panose="02000503020000020003" pitchFamily="2" charset="0"/>
              </a:rPr>
              <a:t>Swinburne and the argument from temporal design. </a:t>
            </a:r>
          </a:p>
        </p:txBody>
      </p:sp>
      <p:sp>
        <p:nvSpPr>
          <p:cNvPr id="3" name="Content Placeholder 2">
            <a:extLst>
              <a:ext uri="{FF2B5EF4-FFF2-40B4-BE49-F238E27FC236}">
                <a16:creationId xmlns:a16="http://schemas.microsoft.com/office/drawing/2014/main" id="{E2D2665B-AFDC-E095-CC90-DFA9F2655136}"/>
              </a:ext>
            </a:extLst>
          </p:cNvPr>
          <p:cNvSpPr>
            <a:spLocks noGrp="1"/>
          </p:cNvSpPr>
          <p:nvPr>
            <p:ph idx="1"/>
          </p:nvPr>
        </p:nvSpPr>
        <p:spPr/>
        <p:txBody>
          <a:bodyPr>
            <a:normAutofit/>
          </a:bodyPr>
          <a:lstStyle/>
          <a:p>
            <a:pPr algn="just">
              <a:lnSpc>
                <a:spcPct val="150000"/>
              </a:lnSpc>
            </a:pPr>
            <a:r>
              <a:rPr lang="en-US" sz="2400" dirty="0">
                <a:solidFill>
                  <a:schemeClr val="tx1"/>
                </a:solidFill>
                <a:latin typeface="Avenir Book" panose="02000503020000020003" pitchFamily="2" charset="0"/>
              </a:rPr>
              <a:t>There are only </a:t>
            </a:r>
            <a:r>
              <a:rPr lang="en-US" sz="2400" i="1" dirty="0">
                <a:solidFill>
                  <a:schemeClr val="tx1"/>
                </a:solidFill>
                <a:latin typeface="Avenir Book" panose="02000503020000020003" pitchFamily="2" charset="0"/>
              </a:rPr>
              <a:t>two </a:t>
            </a:r>
            <a:r>
              <a:rPr lang="en-US" sz="2400" dirty="0">
                <a:solidFill>
                  <a:schemeClr val="tx1"/>
                </a:solidFill>
                <a:latin typeface="Avenir Book" panose="02000503020000020003" pitchFamily="2" charset="0"/>
              </a:rPr>
              <a:t>ways to explain regularities in the world. Either, by recourse to impersonal laws of physics, for example the motion of the planets. Or that certain regularities are best explained via decisions and actions of a will. There are no other reasons we can explain regularity.</a:t>
            </a:r>
          </a:p>
        </p:txBody>
      </p:sp>
    </p:spTree>
    <p:extLst>
      <p:ext uri="{BB962C8B-B14F-4D97-AF65-F5344CB8AC3E}">
        <p14:creationId xmlns:p14="http://schemas.microsoft.com/office/powerpoint/2010/main" val="2640445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2F8DC-9CAA-2E2B-20C0-2A8294843163}"/>
              </a:ext>
            </a:extLst>
          </p:cNvPr>
          <p:cNvSpPr>
            <a:spLocks noGrp="1"/>
          </p:cNvSpPr>
          <p:nvPr>
            <p:ph type="title"/>
          </p:nvPr>
        </p:nvSpPr>
        <p:spPr/>
        <p:txBody>
          <a:bodyPr/>
          <a:lstStyle/>
          <a:p>
            <a:r>
              <a:rPr lang="en-US" dirty="0"/>
              <a:t>Compare natural regularity and human regularity</a:t>
            </a:r>
          </a:p>
        </p:txBody>
      </p:sp>
      <p:pic>
        <p:nvPicPr>
          <p:cNvPr id="4" name="Content Placeholder 3">
            <a:extLst>
              <a:ext uri="{FF2B5EF4-FFF2-40B4-BE49-F238E27FC236}">
                <a16:creationId xmlns:a16="http://schemas.microsoft.com/office/drawing/2014/main" id="{D54BD117-59CB-0FEE-A3ED-AD9AC748B743}"/>
              </a:ext>
            </a:extLst>
          </p:cNvPr>
          <p:cNvPicPr>
            <a:picLocks noGrp="1" noChangeAspect="1"/>
          </p:cNvPicPr>
          <p:nvPr>
            <p:ph idx="1"/>
          </p:nvPr>
        </p:nvPicPr>
        <p:blipFill>
          <a:blip r:embed="rId2"/>
          <a:stretch>
            <a:fillRect/>
          </a:stretch>
        </p:blipFill>
        <p:spPr>
          <a:xfrm>
            <a:off x="1137555" y="2186780"/>
            <a:ext cx="4958445" cy="3299620"/>
          </a:xfrm>
        </p:spPr>
      </p:pic>
      <p:pic>
        <p:nvPicPr>
          <p:cNvPr id="5" name="Picture 4">
            <a:extLst>
              <a:ext uri="{FF2B5EF4-FFF2-40B4-BE49-F238E27FC236}">
                <a16:creationId xmlns:a16="http://schemas.microsoft.com/office/drawing/2014/main" id="{E942541A-63BF-0D04-337A-808B985F3F6F}"/>
              </a:ext>
            </a:extLst>
          </p:cNvPr>
          <p:cNvPicPr>
            <a:picLocks noChangeAspect="1"/>
          </p:cNvPicPr>
          <p:nvPr/>
        </p:nvPicPr>
        <p:blipFill>
          <a:blip r:embed="rId3"/>
          <a:stretch>
            <a:fillRect/>
          </a:stretch>
        </p:blipFill>
        <p:spPr>
          <a:xfrm>
            <a:off x="6457949" y="2186780"/>
            <a:ext cx="5192713" cy="3299620"/>
          </a:xfrm>
          <a:prstGeom prst="rect">
            <a:avLst/>
          </a:prstGeom>
        </p:spPr>
      </p:pic>
    </p:spTree>
    <p:extLst>
      <p:ext uri="{BB962C8B-B14F-4D97-AF65-F5344CB8AC3E}">
        <p14:creationId xmlns:p14="http://schemas.microsoft.com/office/powerpoint/2010/main" val="3727351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27443-1F87-0D8C-05D8-7C8DD2A788B1}"/>
              </a:ext>
            </a:extLst>
          </p:cNvPr>
          <p:cNvSpPr>
            <a:spLocks noGrp="1"/>
          </p:cNvSpPr>
          <p:nvPr>
            <p:ph type="title"/>
          </p:nvPr>
        </p:nvSpPr>
        <p:spPr>
          <a:xfrm>
            <a:off x="5195727" y="601579"/>
            <a:ext cx="6335338" cy="1272938"/>
          </a:xfrm>
        </p:spPr>
        <p:txBody>
          <a:bodyPr>
            <a:normAutofit/>
          </a:bodyPr>
          <a:lstStyle/>
          <a:p>
            <a:r>
              <a:rPr lang="en-US" sz="3600" dirty="0">
                <a:latin typeface="Avenir Book" panose="02000503020000020003" pitchFamily="2" charset="0"/>
              </a:rPr>
              <a:t>Two origins of regularity</a:t>
            </a:r>
          </a:p>
        </p:txBody>
      </p:sp>
      <p:pic>
        <p:nvPicPr>
          <p:cNvPr id="5" name="Picture 4" descr="Outer space photo of the earth with the night terminator">
            <a:extLst>
              <a:ext uri="{FF2B5EF4-FFF2-40B4-BE49-F238E27FC236}">
                <a16:creationId xmlns:a16="http://schemas.microsoft.com/office/drawing/2014/main" id="{B64A3532-3142-11FF-1F15-5CC148A0FFA0}"/>
              </a:ext>
            </a:extLst>
          </p:cNvPr>
          <p:cNvPicPr>
            <a:picLocks noChangeAspect="1"/>
          </p:cNvPicPr>
          <p:nvPr/>
        </p:nvPicPr>
        <p:blipFill>
          <a:blip r:embed="rId2"/>
          <a:srcRect l="45549" r="14761" b="-1"/>
          <a:stretch/>
        </p:blipFill>
        <p:spPr>
          <a:xfrm>
            <a:off x="688434" y="-9525"/>
            <a:ext cx="4129822" cy="6867525"/>
          </a:xfrm>
          <a:prstGeom prst="rect">
            <a:avLst/>
          </a:prstGeom>
        </p:spPr>
      </p:pic>
      <p:sp>
        <p:nvSpPr>
          <p:cNvPr id="9" name="Freeform 6">
            <a:extLst>
              <a:ext uri="{FF2B5EF4-FFF2-40B4-BE49-F238E27FC236}">
                <a16:creationId xmlns:a16="http://schemas.microsoft.com/office/drawing/2014/main" id="{18E8C5BB-A90A-496B-A745-79A49F350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BD8D69A9-F903-06AF-49FF-337513CB9DE1}"/>
              </a:ext>
            </a:extLst>
          </p:cNvPr>
          <p:cNvSpPr>
            <a:spLocks noGrp="1"/>
          </p:cNvSpPr>
          <p:nvPr>
            <p:ph idx="1"/>
          </p:nvPr>
        </p:nvSpPr>
        <p:spPr>
          <a:xfrm>
            <a:off x="5195727" y="2021305"/>
            <a:ext cx="6335338" cy="4235116"/>
          </a:xfrm>
        </p:spPr>
        <p:txBody>
          <a:bodyPr>
            <a:normAutofit fontScale="85000" lnSpcReduction="10000"/>
          </a:bodyPr>
          <a:lstStyle/>
          <a:p>
            <a:pPr algn="just">
              <a:lnSpc>
                <a:spcPct val="160000"/>
              </a:lnSpc>
            </a:pPr>
            <a:r>
              <a:rPr lang="en-US" dirty="0">
                <a:solidFill>
                  <a:schemeClr val="tx1"/>
                </a:solidFill>
                <a:latin typeface="Avenir Book" panose="02000503020000020003" pitchFamily="2" charset="0"/>
              </a:rPr>
              <a:t>1. Something acts according to the laws of nature. In other words, </a:t>
            </a:r>
            <a:r>
              <a:rPr lang="en-US" i="1" dirty="0">
                <a:solidFill>
                  <a:schemeClr val="tx1"/>
                </a:solidFill>
                <a:latin typeface="Avenir Book" panose="02000503020000020003" pitchFamily="2" charset="0"/>
              </a:rPr>
              <a:t>they keep </a:t>
            </a:r>
            <a:r>
              <a:rPr lang="en-US" dirty="0">
                <a:solidFill>
                  <a:schemeClr val="tx1"/>
                </a:solidFill>
                <a:latin typeface="Avenir Book" panose="02000503020000020003" pitchFamily="2" charset="0"/>
              </a:rPr>
              <a:t>to these laws, because of their intrinsic nature and relationship to other things. – For example, planets, move around the solar system, according to laws. </a:t>
            </a:r>
          </a:p>
          <a:p>
            <a:pPr algn="just">
              <a:lnSpc>
                <a:spcPct val="160000"/>
              </a:lnSpc>
            </a:pPr>
            <a:endParaRPr lang="en-US" dirty="0">
              <a:solidFill>
                <a:schemeClr val="tx1"/>
              </a:solidFill>
              <a:latin typeface="Avenir Book" panose="02000503020000020003" pitchFamily="2" charset="0"/>
            </a:endParaRPr>
          </a:p>
          <a:p>
            <a:pPr algn="just">
              <a:lnSpc>
                <a:spcPct val="160000"/>
              </a:lnSpc>
            </a:pPr>
            <a:r>
              <a:rPr lang="en-US" dirty="0">
                <a:solidFill>
                  <a:schemeClr val="tx1"/>
                </a:solidFill>
                <a:latin typeface="Avenir Book" panose="02000503020000020003" pitchFamily="2" charset="0"/>
              </a:rPr>
              <a:t>2. A person or a will acts under a law, that they could decide to break. In other words, they </a:t>
            </a:r>
            <a:r>
              <a:rPr lang="en-US" i="1" dirty="0">
                <a:solidFill>
                  <a:schemeClr val="tx1"/>
                </a:solidFill>
                <a:latin typeface="Avenir Book" panose="02000503020000020003" pitchFamily="2" charset="0"/>
              </a:rPr>
              <a:t>follow </a:t>
            </a:r>
            <a:r>
              <a:rPr lang="en-US" dirty="0">
                <a:solidFill>
                  <a:schemeClr val="tx1"/>
                </a:solidFill>
                <a:latin typeface="Avenir Book" panose="02000503020000020003" pitchFamily="2" charset="0"/>
              </a:rPr>
              <a:t>a law. For example, a person may go to work at the same time each day, though they could decide not to follow that law. </a:t>
            </a:r>
          </a:p>
        </p:txBody>
      </p:sp>
      <p:sp>
        <p:nvSpPr>
          <p:cNvPr id="11" name="Rectangle 10">
            <a:extLst>
              <a:ext uri="{FF2B5EF4-FFF2-40B4-BE49-F238E27FC236}">
                <a16:creationId xmlns:a16="http://schemas.microsoft.com/office/drawing/2014/main" id="{BCD63B47-914A-418A-BA06-1B760F27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25603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F3B60-0B4E-E640-A9EB-FA4B4DA29B33}"/>
              </a:ext>
            </a:extLst>
          </p:cNvPr>
          <p:cNvSpPr>
            <a:spLocks noGrp="1"/>
          </p:cNvSpPr>
          <p:nvPr>
            <p:ph type="title"/>
          </p:nvPr>
        </p:nvSpPr>
        <p:spPr>
          <a:xfrm>
            <a:off x="1251678" y="818147"/>
            <a:ext cx="10178322" cy="1056370"/>
          </a:xfrm>
        </p:spPr>
        <p:txBody>
          <a:bodyPr>
            <a:normAutofit/>
          </a:bodyPr>
          <a:lstStyle/>
          <a:p>
            <a:r>
              <a:rPr lang="en-US" sz="4000" dirty="0">
                <a:latin typeface="Avenir Book" panose="02000503020000020003" pitchFamily="2" charset="0"/>
              </a:rPr>
              <a:t>Swinburne’s argument</a:t>
            </a:r>
          </a:p>
        </p:txBody>
      </p:sp>
      <p:sp>
        <p:nvSpPr>
          <p:cNvPr id="3" name="Content Placeholder 2">
            <a:extLst>
              <a:ext uri="{FF2B5EF4-FFF2-40B4-BE49-F238E27FC236}">
                <a16:creationId xmlns:a16="http://schemas.microsoft.com/office/drawing/2014/main" id="{9276ED58-8081-C930-8A44-DA12EDE55996}"/>
              </a:ext>
            </a:extLst>
          </p:cNvPr>
          <p:cNvSpPr>
            <a:spLocks noGrp="1"/>
          </p:cNvSpPr>
          <p:nvPr>
            <p:ph idx="1"/>
          </p:nvPr>
        </p:nvSpPr>
        <p:spPr>
          <a:xfrm>
            <a:off x="1251678" y="2129589"/>
            <a:ext cx="10178322" cy="3750003"/>
          </a:xfrm>
        </p:spPr>
        <p:txBody>
          <a:bodyPr>
            <a:normAutofit/>
          </a:bodyPr>
          <a:lstStyle/>
          <a:p>
            <a:pPr algn="just">
              <a:lnSpc>
                <a:spcPct val="150000"/>
              </a:lnSpc>
            </a:pPr>
            <a:r>
              <a:rPr lang="en-US" sz="2400" dirty="0">
                <a:solidFill>
                  <a:schemeClr val="tx1"/>
                </a:solidFill>
                <a:latin typeface="Avenir Book" panose="02000503020000020003" pitchFamily="2" charset="0"/>
              </a:rPr>
              <a:t>Swinburne claims that we cannot explain the existence of the laws of nature by recourse to other laws of nature. Because that would assume the very thing that we seek to explain. The only alternative we have left is to assume that there is some will that has designed the laws of nature to be the way that they are. </a:t>
            </a:r>
          </a:p>
        </p:txBody>
      </p:sp>
    </p:spTree>
    <p:extLst>
      <p:ext uri="{BB962C8B-B14F-4D97-AF65-F5344CB8AC3E}">
        <p14:creationId xmlns:p14="http://schemas.microsoft.com/office/powerpoint/2010/main" val="1716575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9A94-AFA4-2226-6041-B2B66D0B3865}"/>
              </a:ext>
            </a:extLst>
          </p:cNvPr>
          <p:cNvSpPr>
            <a:spLocks noGrp="1"/>
          </p:cNvSpPr>
          <p:nvPr>
            <p:ph type="title"/>
          </p:nvPr>
        </p:nvSpPr>
        <p:spPr>
          <a:xfrm>
            <a:off x="1251678" y="721895"/>
            <a:ext cx="10178322" cy="1152622"/>
          </a:xfrm>
        </p:spPr>
        <p:txBody>
          <a:bodyPr>
            <a:normAutofit/>
          </a:bodyPr>
          <a:lstStyle/>
          <a:p>
            <a:r>
              <a:rPr lang="en-US" sz="4400" dirty="0">
                <a:latin typeface="Avenir Book" panose="02000503020000020003" pitchFamily="2" charset="0"/>
              </a:rPr>
              <a:t>Swinburne’s argument </a:t>
            </a:r>
          </a:p>
        </p:txBody>
      </p:sp>
      <p:sp>
        <p:nvSpPr>
          <p:cNvPr id="3" name="Content Placeholder 2">
            <a:extLst>
              <a:ext uri="{FF2B5EF4-FFF2-40B4-BE49-F238E27FC236}">
                <a16:creationId xmlns:a16="http://schemas.microsoft.com/office/drawing/2014/main" id="{56ECDD85-ED1F-ACE1-43DC-2EC5A4EF1C34}"/>
              </a:ext>
            </a:extLst>
          </p:cNvPr>
          <p:cNvSpPr>
            <a:spLocks noGrp="1"/>
          </p:cNvSpPr>
          <p:nvPr>
            <p:ph idx="1"/>
          </p:nvPr>
        </p:nvSpPr>
        <p:spPr>
          <a:xfrm>
            <a:off x="1251678" y="1874517"/>
            <a:ext cx="10178322" cy="4005075"/>
          </a:xfrm>
        </p:spPr>
        <p:txBody>
          <a:bodyPr>
            <a:normAutofit fontScale="92500" lnSpcReduction="10000"/>
          </a:bodyPr>
          <a:lstStyle/>
          <a:p>
            <a:pPr marL="0" indent="0">
              <a:lnSpc>
                <a:spcPct val="150000"/>
              </a:lnSpc>
              <a:buNone/>
            </a:pPr>
            <a:r>
              <a:rPr lang="en-US" dirty="0">
                <a:solidFill>
                  <a:schemeClr val="tx1"/>
                </a:solidFill>
                <a:latin typeface="Avenir Book" panose="02000503020000020003" pitchFamily="2" charset="0"/>
              </a:rPr>
              <a:t>1. There are temporal regularities related to human action. </a:t>
            </a:r>
          </a:p>
          <a:p>
            <a:pPr marL="0" indent="0">
              <a:lnSpc>
                <a:spcPct val="150000"/>
              </a:lnSpc>
              <a:buNone/>
            </a:pPr>
            <a:r>
              <a:rPr lang="en-US" dirty="0">
                <a:solidFill>
                  <a:schemeClr val="tx1"/>
                </a:solidFill>
                <a:latin typeface="Avenir Book" panose="02000503020000020003" pitchFamily="2" charset="0"/>
              </a:rPr>
              <a:t>2. There are other temporalities related to the laws of nature. </a:t>
            </a:r>
          </a:p>
          <a:p>
            <a:pPr marL="0" indent="0">
              <a:lnSpc>
                <a:spcPct val="150000"/>
              </a:lnSpc>
              <a:buNone/>
            </a:pPr>
            <a:r>
              <a:rPr lang="en-US" dirty="0">
                <a:solidFill>
                  <a:schemeClr val="tx1"/>
                </a:solidFill>
                <a:latin typeface="Avenir Book" panose="02000503020000020003" pitchFamily="2" charset="0"/>
              </a:rPr>
              <a:t>3. So, we can explain the regularities of nature by analogy with personal regularities. </a:t>
            </a:r>
          </a:p>
          <a:p>
            <a:pPr marL="0" indent="0">
              <a:lnSpc>
                <a:spcPct val="150000"/>
              </a:lnSpc>
              <a:buNone/>
            </a:pPr>
            <a:r>
              <a:rPr lang="en-US" dirty="0">
                <a:solidFill>
                  <a:schemeClr val="tx1"/>
                </a:solidFill>
                <a:latin typeface="Avenir Book" panose="02000503020000020003" pitchFamily="2" charset="0"/>
              </a:rPr>
              <a:t>4. There is no scientific explanation for the regularities of nature. </a:t>
            </a:r>
          </a:p>
          <a:p>
            <a:pPr marL="0" indent="0">
              <a:lnSpc>
                <a:spcPct val="150000"/>
              </a:lnSpc>
              <a:buNone/>
            </a:pPr>
            <a:r>
              <a:rPr lang="en-US" dirty="0">
                <a:solidFill>
                  <a:schemeClr val="tx1"/>
                </a:solidFill>
                <a:latin typeface="Avenir Book" panose="02000503020000020003" pitchFamily="2" charset="0"/>
              </a:rPr>
              <a:t>5. There are only two types of explanation. (1 and 2). </a:t>
            </a:r>
          </a:p>
          <a:p>
            <a:pPr marL="0" indent="0">
              <a:lnSpc>
                <a:spcPct val="150000"/>
              </a:lnSpc>
              <a:buNone/>
            </a:pPr>
            <a:r>
              <a:rPr lang="en-US" dirty="0">
                <a:solidFill>
                  <a:schemeClr val="tx1"/>
                </a:solidFill>
                <a:latin typeface="Avenir Book" panose="02000503020000020003" pitchFamily="2" charset="0"/>
              </a:rPr>
              <a:t>6. Therefore, we should explain 2 by recourse to 1. </a:t>
            </a:r>
          </a:p>
          <a:p>
            <a:pPr marL="0" indent="0">
              <a:lnSpc>
                <a:spcPct val="150000"/>
              </a:lnSpc>
              <a:buNone/>
            </a:pPr>
            <a:r>
              <a:rPr lang="en-US" dirty="0">
                <a:solidFill>
                  <a:schemeClr val="tx1"/>
                </a:solidFill>
                <a:latin typeface="Avenir Book" panose="02000503020000020003" pitchFamily="2" charset="0"/>
              </a:rPr>
              <a:t>7. Therefore, the regularities of 2 are explain by a person who wills them. </a:t>
            </a:r>
          </a:p>
          <a:p>
            <a:pPr marL="0" indent="0">
              <a:lnSpc>
                <a:spcPct val="150000"/>
              </a:lnSpc>
              <a:buNone/>
            </a:pPr>
            <a:r>
              <a:rPr lang="en-US" dirty="0">
                <a:solidFill>
                  <a:schemeClr val="tx1"/>
                </a:solidFill>
                <a:latin typeface="Avenir Book" panose="02000503020000020003" pitchFamily="2" charset="0"/>
              </a:rPr>
              <a:t>8. Therefor, such a will exists. </a:t>
            </a:r>
          </a:p>
        </p:txBody>
      </p:sp>
    </p:spTree>
    <p:extLst>
      <p:ext uri="{BB962C8B-B14F-4D97-AF65-F5344CB8AC3E}">
        <p14:creationId xmlns:p14="http://schemas.microsoft.com/office/powerpoint/2010/main" val="524843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61150-34E5-877E-58EC-2084B48DC55F}"/>
              </a:ext>
            </a:extLst>
          </p:cNvPr>
          <p:cNvSpPr>
            <a:spLocks noGrp="1"/>
          </p:cNvSpPr>
          <p:nvPr>
            <p:ph type="title"/>
          </p:nvPr>
        </p:nvSpPr>
        <p:spPr>
          <a:xfrm>
            <a:off x="1251678" y="842211"/>
            <a:ext cx="10178322" cy="1032306"/>
          </a:xfrm>
        </p:spPr>
        <p:txBody>
          <a:bodyPr>
            <a:normAutofit/>
          </a:bodyPr>
          <a:lstStyle/>
          <a:p>
            <a:r>
              <a:rPr lang="en-US" sz="4000" dirty="0">
                <a:latin typeface="Avenir Book" panose="02000503020000020003" pitchFamily="2" charset="0"/>
              </a:rPr>
              <a:t>Swinburne against Hume</a:t>
            </a:r>
          </a:p>
        </p:txBody>
      </p:sp>
      <p:sp>
        <p:nvSpPr>
          <p:cNvPr id="3" name="Content Placeholder 2">
            <a:extLst>
              <a:ext uri="{FF2B5EF4-FFF2-40B4-BE49-F238E27FC236}">
                <a16:creationId xmlns:a16="http://schemas.microsoft.com/office/drawing/2014/main" id="{8BCEDC3E-3FBC-BE1A-E09C-C7DE4595EF63}"/>
              </a:ext>
            </a:extLst>
          </p:cNvPr>
          <p:cNvSpPr>
            <a:spLocks noGrp="1"/>
          </p:cNvSpPr>
          <p:nvPr>
            <p:ph idx="1"/>
          </p:nvPr>
        </p:nvSpPr>
        <p:spPr>
          <a:xfrm>
            <a:off x="1251678" y="1874517"/>
            <a:ext cx="10178322" cy="4345809"/>
          </a:xfrm>
        </p:spPr>
        <p:txBody>
          <a:bodyPr>
            <a:normAutofit fontScale="77500" lnSpcReduction="20000"/>
          </a:bodyPr>
          <a:lstStyle/>
          <a:p>
            <a:pPr algn="just">
              <a:lnSpc>
                <a:spcPct val="160000"/>
              </a:lnSpc>
            </a:pPr>
            <a:r>
              <a:rPr lang="en-US" sz="2400" dirty="0">
                <a:solidFill>
                  <a:schemeClr val="tx1"/>
                </a:solidFill>
                <a:latin typeface="Avenir Book" panose="02000503020000020003" pitchFamily="2" charset="0"/>
              </a:rPr>
              <a:t>The reason that Swinburne chooses the human model as opposed to the scientific one is a matter of principle. Swinburne claims that if we only accept a scientific explanation of the laws of nature, then we ask science to explain science, this leaves us with unanswered questions. </a:t>
            </a:r>
          </a:p>
          <a:p>
            <a:pPr algn="just">
              <a:lnSpc>
                <a:spcPct val="160000"/>
              </a:lnSpc>
            </a:pPr>
            <a:r>
              <a:rPr lang="en-US" sz="2400" dirty="0">
                <a:solidFill>
                  <a:schemeClr val="tx1"/>
                </a:solidFill>
                <a:latin typeface="Avenir Book" panose="02000503020000020003" pitchFamily="2" charset="0"/>
              </a:rPr>
              <a:t>Therefore, if we want a complete explanation of the existence of design, we must turn to a non-scientific explanation that has recourse to a will outside nature, that is its designer. </a:t>
            </a:r>
          </a:p>
          <a:p>
            <a:pPr algn="just">
              <a:lnSpc>
                <a:spcPct val="160000"/>
              </a:lnSpc>
            </a:pPr>
            <a:r>
              <a:rPr lang="en-US" sz="2400" dirty="0">
                <a:solidFill>
                  <a:schemeClr val="tx1"/>
                </a:solidFill>
                <a:latin typeface="Avenir Book" panose="02000503020000020003" pitchFamily="2" charset="0"/>
              </a:rPr>
              <a:t>Furthermore, Swinburne claims that scientists are just as guilty of drawing conclusions that cannot be proved as are the religious (for example we postulate dark matter, which we cannot see). So, we can postulate the existence of God. </a:t>
            </a:r>
          </a:p>
        </p:txBody>
      </p:sp>
    </p:spTree>
    <p:extLst>
      <p:ext uri="{BB962C8B-B14F-4D97-AF65-F5344CB8AC3E}">
        <p14:creationId xmlns:p14="http://schemas.microsoft.com/office/powerpoint/2010/main" val="1642632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81DC-BA82-E7C4-B715-E1D4BF663DC9}"/>
              </a:ext>
            </a:extLst>
          </p:cNvPr>
          <p:cNvSpPr>
            <a:spLocks noGrp="1"/>
          </p:cNvSpPr>
          <p:nvPr>
            <p:ph type="title"/>
          </p:nvPr>
        </p:nvSpPr>
        <p:spPr>
          <a:xfrm>
            <a:off x="1251678" y="806115"/>
            <a:ext cx="10178322" cy="1068401"/>
          </a:xfrm>
        </p:spPr>
        <p:txBody>
          <a:bodyPr>
            <a:normAutofit/>
          </a:bodyPr>
          <a:lstStyle/>
          <a:p>
            <a:r>
              <a:rPr lang="en-US" sz="4000" dirty="0">
                <a:latin typeface="Avenir Book" panose="02000503020000020003" pitchFamily="2" charset="0"/>
              </a:rPr>
              <a:t>Swinburne and Ockham’s razor</a:t>
            </a:r>
          </a:p>
        </p:txBody>
      </p:sp>
      <p:sp>
        <p:nvSpPr>
          <p:cNvPr id="3" name="Content Placeholder 2">
            <a:extLst>
              <a:ext uri="{FF2B5EF4-FFF2-40B4-BE49-F238E27FC236}">
                <a16:creationId xmlns:a16="http://schemas.microsoft.com/office/drawing/2014/main" id="{73349099-FDD3-3439-616F-0953BC4F43E4}"/>
              </a:ext>
            </a:extLst>
          </p:cNvPr>
          <p:cNvSpPr>
            <a:spLocks noGrp="1"/>
          </p:cNvSpPr>
          <p:nvPr>
            <p:ph idx="1"/>
          </p:nvPr>
        </p:nvSpPr>
        <p:spPr>
          <a:xfrm>
            <a:off x="1251678" y="2189747"/>
            <a:ext cx="10178322" cy="3689845"/>
          </a:xfrm>
        </p:spPr>
        <p:txBody>
          <a:bodyPr>
            <a:normAutofit fontScale="92500"/>
          </a:bodyPr>
          <a:lstStyle/>
          <a:p>
            <a:pPr algn="just">
              <a:lnSpc>
                <a:spcPct val="150000"/>
              </a:lnSpc>
            </a:pPr>
            <a:r>
              <a:rPr lang="en-US" sz="2400" dirty="0">
                <a:solidFill>
                  <a:schemeClr val="tx1"/>
                </a:solidFill>
                <a:latin typeface="Avenir Book" panose="02000503020000020003" pitchFamily="2" charset="0"/>
              </a:rPr>
              <a:t>It can be argued that the postulating the existence of a God breaks the principle that we should not ‘multiply entities beyond necessity’. In other words, of two theories that can equally explain phenomena, one is to be preferred the postulated the existence of a smaller number of entities. We do not need God so the argument for him collapses. </a:t>
            </a:r>
          </a:p>
          <a:p>
            <a:pPr algn="just">
              <a:lnSpc>
                <a:spcPct val="150000"/>
              </a:lnSpc>
            </a:pPr>
            <a:r>
              <a:rPr lang="en-US" sz="2400" dirty="0">
                <a:solidFill>
                  <a:schemeClr val="tx1"/>
                </a:solidFill>
                <a:latin typeface="Avenir Book" panose="02000503020000020003" pitchFamily="2" charset="0"/>
              </a:rPr>
              <a:t>For example, if we can explain an illusion by reference to light, we should use that rather than a hypothesis that assumed light and another factor. </a:t>
            </a:r>
          </a:p>
        </p:txBody>
      </p:sp>
    </p:spTree>
    <p:extLst>
      <p:ext uri="{BB962C8B-B14F-4D97-AF65-F5344CB8AC3E}">
        <p14:creationId xmlns:p14="http://schemas.microsoft.com/office/powerpoint/2010/main" val="426758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433D-BDFE-C063-3F98-D143880DEFFB}"/>
              </a:ext>
            </a:extLst>
          </p:cNvPr>
          <p:cNvSpPr>
            <a:spLocks noGrp="1"/>
          </p:cNvSpPr>
          <p:nvPr>
            <p:ph type="title"/>
          </p:nvPr>
        </p:nvSpPr>
        <p:spPr>
          <a:xfrm>
            <a:off x="1251677" y="645105"/>
            <a:ext cx="4357499" cy="1320855"/>
          </a:xfrm>
        </p:spPr>
        <p:txBody>
          <a:bodyPr>
            <a:normAutofit fontScale="90000"/>
          </a:bodyPr>
          <a:lstStyle/>
          <a:p>
            <a:r>
              <a:rPr lang="en-US" sz="4100">
                <a:latin typeface="Avenir Book" panose="02000503020000020003" pitchFamily="2" charset="0"/>
              </a:rPr>
              <a:t>Is the designer God? </a:t>
            </a:r>
          </a:p>
        </p:txBody>
      </p:sp>
      <p:sp>
        <p:nvSpPr>
          <p:cNvPr id="3" name="Content Placeholder 2">
            <a:extLst>
              <a:ext uri="{FF2B5EF4-FFF2-40B4-BE49-F238E27FC236}">
                <a16:creationId xmlns:a16="http://schemas.microsoft.com/office/drawing/2014/main" id="{234ECD50-2DED-5777-24C1-3817D1A16535}"/>
              </a:ext>
            </a:extLst>
          </p:cNvPr>
          <p:cNvSpPr>
            <a:spLocks noGrp="1"/>
          </p:cNvSpPr>
          <p:nvPr>
            <p:ph idx="1"/>
          </p:nvPr>
        </p:nvSpPr>
        <p:spPr>
          <a:xfrm>
            <a:off x="1251678" y="2286001"/>
            <a:ext cx="4363595" cy="3593591"/>
          </a:xfrm>
        </p:spPr>
        <p:txBody>
          <a:bodyPr>
            <a:normAutofit/>
          </a:bodyPr>
          <a:lstStyle/>
          <a:p>
            <a:pPr marL="0" indent="0" algn="just">
              <a:lnSpc>
                <a:spcPct val="150000"/>
              </a:lnSpc>
              <a:buNone/>
            </a:pPr>
            <a:r>
              <a:rPr lang="en-US" dirty="0">
                <a:solidFill>
                  <a:schemeClr val="tx1"/>
                </a:solidFill>
                <a:latin typeface="Avenir Book" panose="02000503020000020003" pitchFamily="2" charset="0"/>
              </a:rPr>
              <a:t>It is important to recognize that we must make an ‘inductive leap’ from the existence of a designer to that claim that the designer is God. </a:t>
            </a:r>
          </a:p>
          <a:p>
            <a:pPr marL="0" indent="0" algn="just">
              <a:lnSpc>
                <a:spcPct val="150000"/>
              </a:lnSpc>
              <a:buNone/>
            </a:pPr>
            <a:r>
              <a:rPr lang="en-US" dirty="0">
                <a:solidFill>
                  <a:schemeClr val="tx1"/>
                </a:solidFill>
                <a:latin typeface="Avenir Book" panose="02000503020000020003" pitchFamily="2" charset="0"/>
              </a:rPr>
              <a:t>Hume gives 6 objections based on this claim…</a:t>
            </a:r>
          </a:p>
        </p:txBody>
      </p:sp>
      <p:pic>
        <p:nvPicPr>
          <p:cNvPr id="4" name="Picture 3" descr="A black creature with red light shining on it&#10;&#10;Description automatically generated">
            <a:extLst>
              <a:ext uri="{FF2B5EF4-FFF2-40B4-BE49-F238E27FC236}">
                <a16:creationId xmlns:a16="http://schemas.microsoft.com/office/drawing/2014/main" id="{E4944A7D-8756-5ABC-6130-42BA6B817F09}"/>
              </a:ext>
            </a:extLst>
          </p:cNvPr>
          <p:cNvPicPr>
            <a:picLocks noChangeAspect="1"/>
          </p:cNvPicPr>
          <p:nvPr/>
        </p:nvPicPr>
        <p:blipFill>
          <a:blip r:embed="rId2"/>
          <a:srcRect l="3695" r="3764" b="-1"/>
          <a:stretch/>
        </p:blipFill>
        <p:spPr>
          <a:xfrm>
            <a:off x="7028436" y="981990"/>
            <a:ext cx="4302000" cy="4648789"/>
          </a:xfrm>
          <a:prstGeom prst="rect">
            <a:avLst/>
          </a:prstGeom>
        </p:spPr>
      </p:pic>
    </p:spTree>
    <p:extLst>
      <p:ext uri="{BB962C8B-B14F-4D97-AF65-F5344CB8AC3E}">
        <p14:creationId xmlns:p14="http://schemas.microsoft.com/office/powerpoint/2010/main" val="225260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037A-0089-8865-9D74-6BDA10BC7D6D}"/>
              </a:ext>
            </a:extLst>
          </p:cNvPr>
          <p:cNvSpPr>
            <a:spLocks noGrp="1"/>
          </p:cNvSpPr>
          <p:nvPr>
            <p:ph type="title"/>
          </p:nvPr>
        </p:nvSpPr>
        <p:spPr>
          <a:xfrm>
            <a:off x="1251678" y="382385"/>
            <a:ext cx="10178322" cy="1492132"/>
          </a:xfrm>
        </p:spPr>
        <p:txBody>
          <a:bodyPr anchor="ctr">
            <a:normAutofit/>
          </a:bodyPr>
          <a:lstStyle/>
          <a:p>
            <a:r>
              <a:rPr lang="en-US">
                <a:latin typeface="Avenir Book" panose="02000503020000020003" pitchFamily="2" charset="0"/>
              </a:rPr>
              <a:t>Hume’s objections</a:t>
            </a:r>
          </a:p>
        </p:txBody>
      </p:sp>
      <p:graphicFrame>
        <p:nvGraphicFramePr>
          <p:cNvPr id="5" name="Content Placeholder 2">
            <a:extLst>
              <a:ext uri="{FF2B5EF4-FFF2-40B4-BE49-F238E27FC236}">
                <a16:creationId xmlns:a16="http://schemas.microsoft.com/office/drawing/2014/main" id="{36E44A9D-17E5-2B78-4FDA-7D85925C1805}"/>
              </a:ext>
            </a:extLst>
          </p:cNvPr>
          <p:cNvGraphicFramePr>
            <a:graphicFrameLocks noGrp="1"/>
          </p:cNvGraphicFramePr>
          <p:nvPr>
            <p:ph idx="1"/>
            <p:extLst>
              <p:ext uri="{D42A27DB-BD31-4B8C-83A1-F6EECF244321}">
                <p14:modId xmlns:p14="http://schemas.microsoft.com/office/powerpoint/2010/main" val="1635796637"/>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1550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75DCE-DCFB-0F0D-32CF-2CC8231659DF}"/>
              </a:ext>
            </a:extLst>
          </p:cNvPr>
          <p:cNvSpPr>
            <a:spLocks noGrp="1"/>
          </p:cNvSpPr>
          <p:nvPr>
            <p:ph type="title"/>
          </p:nvPr>
        </p:nvSpPr>
        <p:spPr>
          <a:xfrm>
            <a:off x="1251678" y="830179"/>
            <a:ext cx="10178322" cy="1044338"/>
          </a:xfrm>
        </p:spPr>
        <p:txBody>
          <a:bodyPr/>
          <a:lstStyle/>
          <a:p>
            <a:r>
              <a:rPr lang="en-US" dirty="0">
                <a:latin typeface="Avenir Book" panose="02000503020000020003" pitchFamily="2" charset="0"/>
              </a:rPr>
              <a:t>Swinburne </a:t>
            </a:r>
          </a:p>
        </p:txBody>
      </p:sp>
      <p:sp>
        <p:nvSpPr>
          <p:cNvPr id="3" name="Content Placeholder 2">
            <a:extLst>
              <a:ext uri="{FF2B5EF4-FFF2-40B4-BE49-F238E27FC236}">
                <a16:creationId xmlns:a16="http://schemas.microsoft.com/office/drawing/2014/main" id="{A2D3853F-2E7F-6756-7035-5880646DBA0E}"/>
              </a:ext>
            </a:extLst>
          </p:cNvPr>
          <p:cNvSpPr>
            <a:spLocks noGrp="1"/>
          </p:cNvSpPr>
          <p:nvPr>
            <p:ph idx="1"/>
          </p:nvPr>
        </p:nvSpPr>
        <p:spPr/>
        <p:txBody>
          <a:bodyPr>
            <a:normAutofit/>
          </a:bodyPr>
          <a:lstStyle/>
          <a:p>
            <a:pPr algn="just"/>
            <a:r>
              <a:rPr lang="en-US" sz="2400" dirty="0">
                <a:solidFill>
                  <a:schemeClr val="tx1"/>
                </a:solidFill>
                <a:latin typeface="Avenir Book" panose="02000503020000020003" pitchFamily="2" charset="0"/>
              </a:rPr>
              <a:t>Against 3 and 4 Swinburne uses Ockham’s razor. Even though we can imagine more than one God, it makes more sense to hypothesis one God. </a:t>
            </a:r>
          </a:p>
          <a:p>
            <a:pPr algn="just"/>
            <a:endParaRPr lang="en-US" sz="24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3072101724"/>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1652</TotalTime>
  <Words>2840</Words>
  <Application>Microsoft Macintosh PowerPoint</Application>
  <PresentationFormat>Widescreen</PresentationFormat>
  <Paragraphs>108</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Avenir</vt:lpstr>
      <vt:lpstr>Avenir Book</vt:lpstr>
      <vt:lpstr>Gill Sans MT</vt:lpstr>
      <vt:lpstr>Impact</vt:lpstr>
      <vt:lpstr>Badge</vt:lpstr>
      <vt:lpstr>The design argument </vt:lpstr>
      <vt:lpstr>The design argument </vt:lpstr>
      <vt:lpstr>Two forms of design </vt:lpstr>
      <vt:lpstr>The spatial form has two versions</vt:lpstr>
      <vt:lpstr>Hume dialogues of natural religion</vt:lpstr>
      <vt:lpstr>David Hume: The analogical version </vt:lpstr>
      <vt:lpstr>William Paley’s design argument</vt:lpstr>
      <vt:lpstr>William Paley’s design argument</vt:lpstr>
      <vt:lpstr>Formal version</vt:lpstr>
      <vt:lpstr>Hume’s 5 objections</vt:lpstr>
      <vt:lpstr>1. Weak analogy</vt:lpstr>
      <vt:lpstr>Hume writes… </vt:lpstr>
      <vt:lpstr>Hume and anthropomorphism</vt:lpstr>
      <vt:lpstr>2. A Designer is not the best explanation</vt:lpstr>
      <vt:lpstr>Hume: the epicurean hypothesis </vt:lpstr>
      <vt:lpstr>3. We only have one case to go on.</vt:lpstr>
      <vt:lpstr>hume</vt:lpstr>
      <vt:lpstr>4. We cannot attribute more to the cause than we are entitled to.</vt:lpstr>
      <vt:lpstr>5. Even if there is a designer, it need not be God</vt:lpstr>
      <vt:lpstr>William Paley’s argument evaluated</vt:lpstr>
      <vt:lpstr>Paley continued</vt:lpstr>
      <vt:lpstr>Evolution via natural selection</vt:lpstr>
      <vt:lpstr>Swinburne and the argument from temporal design. </vt:lpstr>
      <vt:lpstr>Compare natural regularity and human regularity</vt:lpstr>
      <vt:lpstr>Two origins of regularity</vt:lpstr>
      <vt:lpstr>Swinburne’s argument</vt:lpstr>
      <vt:lpstr>Swinburne’s argument </vt:lpstr>
      <vt:lpstr>Swinburne against Hume</vt:lpstr>
      <vt:lpstr>Swinburne and Ockham’s razor</vt:lpstr>
      <vt:lpstr>Is the designer God? </vt:lpstr>
      <vt:lpstr>Hume’s objections</vt:lpstr>
      <vt:lpstr>Swinburne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26</cp:revision>
  <dcterms:created xsi:type="dcterms:W3CDTF">2024-10-07T08:54:11Z</dcterms:created>
  <dcterms:modified xsi:type="dcterms:W3CDTF">2025-09-23T09:48:10Z</dcterms:modified>
</cp:coreProperties>
</file>