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sldIdLst>
    <p:sldId id="256" r:id="rId2"/>
    <p:sldId id="262" r:id="rId3"/>
    <p:sldId id="257" r:id="rId4"/>
    <p:sldId id="258" r:id="rId5"/>
    <p:sldId id="263" r:id="rId6"/>
    <p:sldId id="265" r:id="rId7"/>
    <p:sldId id="274" r:id="rId8"/>
    <p:sldId id="269" r:id="rId9"/>
    <p:sldId id="272" r:id="rId10"/>
    <p:sldId id="273" r:id="rId11"/>
    <p:sldId id="271" r:id="rId12"/>
    <p:sldId id="275" r:id="rId13"/>
    <p:sldId id="276"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787"/>
  </p:normalViewPr>
  <p:slideViewPr>
    <p:cSldViewPr snapToGrid="0">
      <p:cViewPr varScale="1">
        <p:scale>
          <a:sx n="120" d="100"/>
          <a:sy n="120" d="100"/>
        </p:scale>
        <p:origin x="25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CB27903-2D9D-4CE7-A57E-7A3A0C45FF58}"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98F2D18D-D776-4245-B33A-E09CFD417718}">
      <dgm:prSet/>
      <dgm:spPr/>
      <dgm:t>
        <a:bodyPr/>
        <a:lstStyle/>
        <a:p>
          <a:pPr algn="just"/>
          <a:r>
            <a:rPr lang="en-US" dirty="0">
              <a:latin typeface="Avenir Book" panose="02000503020000020003" pitchFamily="2" charset="0"/>
            </a:rPr>
            <a:t>1. This means that both forms of behaviourism, mind-brain identity theory, and most functionalist theories are vulnerable to the knowledge argument.</a:t>
          </a:r>
        </a:p>
      </dgm:t>
    </dgm:pt>
    <dgm:pt modelId="{4783F5B2-2D61-42E3-ABE9-1D9EA19DB609}" type="parTrans" cxnId="{D47F4A19-A826-4ACA-B497-F09317A3783C}">
      <dgm:prSet/>
      <dgm:spPr/>
      <dgm:t>
        <a:bodyPr/>
        <a:lstStyle/>
        <a:p>
          <a:endParaRPr lang="en-US"/>
        </a:p>
      </dgm:t>
    </dgm:pt>
    <dgm:pt modelId="{1A3A3065-10F1-4140-96B6-AC4007435478}" type="sibTrans" cxnId="{D47F4A19-A826-4ACA-B497-F09317A3783C}">
      <dgm:prSet/>
      <dgm:spPr/>
      <dgm:t>
        <a:bodyPr/>
        <a:lstStyle/>
        <a:p>
          <a:endParaRPr lang="en-US"/>
        </a:p>
      </dgm:t>
    </dgm:pt>
    <dgm:pt modelId="{35AFA1C6-74B9-4759-907B-7EF25EA09ADF}">
      <dgm:prSet/>
      <dgm:spPr/>
      <dgm:t>
        <a:bodyPr/>
        <a:lstStyle/>
        <a:p>
          <a:r>
            <a:rPr lang="en-US" dirty="0">
              <a:latin typeface="Avenir Book" panose="02000503020000020003" pitchFamily="2" charset="0"/>
            </a:rPr>
            <a:t>2. Remember: if knowledge about the mind is not fully contained in physical facts about the mind, there is a domain of knowledge that physicalism does not cover.  </a:t>
          </a:r>
        </a:p>
      </dgm:t>
    </dgm:pt>
    <dgm:pt modelId="{09326623-2782-499F-8A9E-569BB2E521AA}" type="parTrans" cxnId="{04E21121-E4F0-4E9D-8F1A-14A6F003A3ED}">
      <dgm:prSet/>
      <dgm:spPr/>
      <dgm:t>
        <a:bodyPr/>
        <a:lstStyle/>
        <a:p>
          <a:endParaRPr lang="en-US"/>
        </a:p>
      </dgm:t>
    </dgm:pt>
    <dgm:pt modelId="{8B628C99-5062-4834-B968-AB880DE9A1B9}" type="sibTrans" cxnId="{04E21121-E4F0-4E9D-8F1A-14A6F003A3ED}">
      <dgm:prSet/>
      <dgm:spPr/>
      <dgm:t>
        <a:bodyPr/>
        <a:lstStyle/>
        <a:p>
          <a:endParaRPr lang="en-US"/>
        </a:p>
      </dgm:t>
    </dgm:pt>
    <dgm:pt modelId="{91E94C67-CAF9-4CF6-9C29-F7D08BA9A293}">
      <dgm:prSet/>
      <dgm:spPr/>
      <dgm:t>
        <a:bodyPr/>
        <a:lstStyle/>
        <a:p>
          <a:pPr algn="just"/>
          <a:r>
            <a:rPr lang="en-US" dirty="0">
              <a:latin typeface="Avenir Book" panose="02000503020000020003" pitchFamily="2" charset="0"/>
            </a:rPr>
            <a:t>3. Given that Mary has all physical knowledge, she should know everything there is to know about others, and yet she does not. </a:t>
          </a:r>
        </a:p>
      </dgm:t>
    </dgm:pt>
    <dgm:pt modelId="{4D2F3B57-B855-414E-AEFB-237E83E748BE}" type="parTrans" cxnId="{FFF16AE1-F830-4EBC-BEE4-1DD38ABDD79A}">
      <dgm:prSet/>
      <dgm:spPr/>
      <dgm:t>
        <a:bodyPr/>
        <a:lstStyle/>
        <a:p>
          <a:endParaRPr lang="en-US"/>
        </a:p>
      </dgm:t>
    </dgm:pt>
    <dgm:pt modelId="{19291376-E2D5-4D66-8C71-89FF91759720}" type="sibTrans" cxnId="{FFF16AE1-F830-4EBC-BEE4-1DD38ABDD79A}">
      <dgm:prSet/>
      <dgm:spPr/>
      <dgm:t>
        <a:bodyPr/>
        <a:lstStyle/>
        <a:p>
          <a:endParaRPr lang="en-US"/>
        </a:p>
      </dgm:t>
    </dgm:pt>
    <dgm:pt modelId="{9C81575B-85AD-C942-AC13-22EC5384A86F}" type="pres">
      <dgm:prSet presAssocID="{ACB27903-2D9D-4CE7-A57E-7A3A0C45FF58}" presName="hierChild1" presStyleCnt="0">
        <dgm:presLayoutVars>
          <dgm:chPref val="1"/>
          <dgm:dir/>
          <dgm:animOne val="branch"/>
          <dgm:animLvl val="lvl"/>
          <dgm:resizeHandles/>
        </dgm:presLayoutVars>
      </dgm:prSet>
      <dgm:spPr/>
    </dgm:pt>
    <dgm:pt modelId="{08290322-9C40-8049-844F-AFCD764720EA}" type="pres">
      <dgm:prSet presAssocID="{98F2D18D-D776-4245-B33A-E09CFD417718}" presName="hierRoot1" presStyleCnt="0"/>
      <dgm:spPr/>
    </dgm:pt>
    <dgm:pt modelId="{031849A5-B8A5-5F48-9840-D4A8D93B77BE}" type="pres">
      <dgm:prSet presAssocID="{98F2D18D-D776-4245-B33A-E09CFD417718}" presName="composite" presStyleCnt="0"/>
      <dgm:spPr/>
    </dgm:pt>
    <dgm:pt modelId="{862A7959-C5EA-7C4A-8C46-E2A19177029B}" type="pres">
      <dgm:prSet presAssocID="{98F2D18D-D776-4245-B33A-E09CFD417718}" presName="background" presStyleLbl="node0" presStyleIdx="0" presStyleCnt="3"/>
      <dgm:spPr/>
    </dgm:pt>
    <dgm:pt modelId="{656AC426-3CDE-6C49-9A76-577429A4C222}" type="pres">
      <dgm:prSet presAssocID="{98F2D18D-D776-4245-B33A-E09CFD417718}" presName="text" presStyleLbl="fgAcc0" presStyleIdx="0" presStyleCnt="3">
        <dgm:presLayoutVars>
          <dgm:chPref val="3"/>
        </dgm:presLayoutVars>
      </dgm:prSet>
      <dgm:spPr/>
    </dgm:pt>
    <dgm:pt modelId="{23D88818-9371-C94F-B607-BA54C8869D03}" type="pres">
      <dgm:prSet presAssocID="{98F2D18D-D776-4245-B33A-E09CFD417718}" presName="hierChild2" presStyleCnt="0"/>
      <dgm:spPr/>
    </dgm:pt>
    <dgm:pt modelId="{5F16A0B3-BEC4-014D-AD6C-D26946FDD291}" type="pres">
      <dgm:prSet presAssocID="{35AFA1C6-74B9-4759-907B-7EF25EA09ADF}" presName="hierRoot1" presStyleCnt="0"/>
      <dgm:spPr/>
    </dgm:pt>
    <dgm:pt modelId="{A77723CE-7977-1749-90A9-84523371B562}" type="pres">
      <dgm:prSet presAssocID="{35AFA1C6-74B9-4759-907B-7EF25EA09ADF}" presName="composite" presStyleCnt="0"/>
      <dgm:spPr/>
    </dgm:pt>
    <dgm:pt modelId="{E849C696-82F5-6545-9409-A2C70CDC8C13}" type="pres">
      <dgm:prSet presAssocID="{35AFA1C6-74B9-4759-907B-7EF25EA09ADF}" presName="background" presStyleLbl="node0" presStyleIdx="1" presStyleCnt="3"/>
      <dgm:spPr/>
    </dgm:pt>
    <dgm:pt modelId="{B58D83D8-DC94-A940-ABC8-B12B374C04EB}" type="pres">
      <dgm:prSet presAssocID="{35AFA1C6-74B9-4759-907B-7EF25EA09ADF}" presName="text" presStyleLbl="fgAcc0" presStyleIdx="1" presStyleCnt="3">
        <dgm:presLayoutVars>
          <dgm:chPref val="3"/>
        </dgm:presLayoutVars>
      </dgm:prSet>
      <dgm:spPr/>
    </dgm:pt>
    <dgm:pt modelId="{C767BC8D-E13E-7140-9159-627F64F5AF6D}" type="pres">
      <dgm:prSet presAssocID="{35AFA1C6-74B9-4759-907B-7EF25EA09ADF}" presName="hierChild2" presStyleCnt="0"/>
      <dgm:spPr/>
    </dgm:pt>
    <dgm:pt modelId="{0E14D18F-8940-1746-B0A9-DA652A98C50B}" type="pres">
      <dgm:prSet presAssocID="{91E94C67-CAF9-4CF6-9C29-F7D08BA9A293}" presName="hierRoot1" presStyleCnt="0"/>
      <dgm:spPr/>
    </dgm:pt>
    <dgm:pt modelId="{2F86E0D2-1B4B-9745-9B7F-34F64FE17E40}" type="pres">
      <dgm:prSet presAssocID="{91E94C67-CAF9-4CF6-9C29-F7D08BA9A293}" presName="composite" presStyleCnt="0"/>
      <dgm:spPr/>
    </dgm:pt>
    <dgm:pt modelId="{08A1D711-C06F-FB46-BFBE-4B1460424E29}" type="pres">
      <dgm:prSet presAssocID="{91E94C67-CAF9-4CF6-9C29-F7D08BA9A293}" presName="background" presStyleLbl="node0" presStyleIdx="2" presStyleCnt="3"/>
      <dgm:spPr/>
    </dgm:pt>
    <dgm:pt modelId="{F24001CF-C40C-1644-B16A-A77222B84D37}" type="pres">
      <dgm:prSet presAssocID="{91E94C67-CAF9-4CF6-9C29-F7D08BA9A293}" presName="text" presStyleLbl="fgAcc0" presStyleIdx="2" presStyleCnt="3">
        <dgm:presLayoutVars>
          <dgm:chPref val="3"/>
        </dgm:presLayoutVars>
      </dgm:prSet>
      <dgm:spPr/>
    </dgm:pt>
    <dgm:pt modelId="{6C8146BA-5BA2-0741-B0D7-C025F71FCF6A}" type="pres">
      <dgm:prSet presAssocID="{91E94C67-CAF9-4CF6-9C29-F7D08BA9A293}" presName="hierChild2" presStyleCnt="0"/>
      <dgm:spPr/>
    </dgm:pt>
  </dgm:ptLst>
  <dgm:cxnLst>
    <dgm:cxn modelId="{D47F4A19-A826-4ACA-B497-F09317A3783C}" srcId="{ACB27903-2D9D-4CE7-A57E-7A3A0C45FF58}" destId="{98F2D18D-D776-4245-B33A-E09CFD417718}" srcOrd="0" destOrd="0" parTransId="{4783F5B2-2D61-42E3-ABE9-1D9EA19DB609}" sibTransId="{1A3A3065-10F1-4140-96B6-AC4007435478}"/>
    <dgm:cxn modelId="{04E21121-E4F0-4E9D-8F1A-14A6F003A3ED}" srcId="{ACB27903-2D9D-4CE7-A57E-7A3A0C45FF58}" destId="{35AFA1C6-74B9-4759-907B-7EF25EA09ADF}" srcOrd="1" destOrd="0" parTransId="{09326623-2782-499F-8A9E-569BB2E521AA}" sibTransId="{8B628C99-5062-4834-B968-AB880DE9A1B9}"/>
    <dgm:cxn modelId="{0AEC9245-0E74-5246-A4D3-358C60381D5E}" type="presOf" srcId="{35AFA1C6-74B9-4759-907B-7EF25EA09ADF}" destId="{B58D83D8-DC94-A940-ABC8-B12B374C04EB}" srcOrd="0" destOrd="0" presId="urn:microsoft.com/office/officeart/2005/8/layout/hierarchy1"/>
    <dgm:cxn modelId="{90297579-4C3B-4D4F-BA40-CADCE75070A8}" type="presOf" srcId="{98F2D18D-D776-4245-B33A-E09CFD417718}" destId="{656AC426-3CDE-6C49-9A76-577429A4C222}" srcOrd="0" destOrd="0" presId="urn:microsoft.com/office/officeart/2005/8/layout/hierarchy1"/>
    <dgm:cxn modelId="{6EB72ECF-1D65-4A4F-93FF-C31B2DD7B86C}" type="presOf" srcId="{91E94C67-CAF9-4CF6-9C29-F7D08BA9A293}" destId="{F24001CF-C40C-1644-B16A-A77222B84D37}" srcOrd="0" destOrd="0" presId="urn:microsoft.com/office/officeart/2005/8/layout/hierarchy1"/>
    <dgm:cxn modelId="{FFF16AE1-F830-4EBC-BEE4-1DD38ABDD79A}" srcId="{ACB27903-2D9D-4CE7-A57E-7A3A0C45FF58}" destId="{91E94C67-CAF9-4CF6-9C29-F7D08BA9A293}" srcOrd="2" destOrd="0" parTransId="{4D2F3B57-B855-414E-AEFB-237E83E748BE}" sibTransId="{19291376-E2D5-4D66-8C71-89FF91759720}"/>
    <dgm:cxn modelId="{C37CB0FC-72AD-9E45-AA8C-A621C322A7A4}" type="presOf" srcId="{ACB27903-2D9D-4CE7-A57E-7A3A0C45FF58}" destId="{9C81575B-85AD-C942-AC13-22EC5384A86F}" srcOrd="0" destOrd="0" presId="urn:microsoft.com/office/officeart/2005/8/layout/hierarchy1"/>
    <dgm:cxn modelId="{F87E3391-2094-3B47-B0CE-ECD7F2535F6A}" type="presParOf" srcId="{9C81575B-85AD-C942-AC13-22EC5384A86F}" destId="{08290322-9C40-8049-844F-AFCD764720EA}" srcOrd="0" destOrd="0" presId="urn:microsoft.com/office/officeart/2005/8/layout/hierarchy1"/>
    <dgm:cxn modelId="{7958F4F5-2C2C-0E4F-A72B-2AB352D4C673}" type="presParOf" srcId="{08290322-9C40-8049-844F-AFCD764720EA}" destId="{031849A5-B8A5-5F48-9840-D4A8D93B77BE}" srcOrd="0" destOrd="0" presId="urn:microsoft.com/office/officeart/2005/8/layout/hierarchy1"/>
    <dgm:cxn modelId="{9F99AE10-A74A-1E47-80A9-A1B885FA467A}" type="presParOf" srcId="{031849A5-B8A5-5F48-9840-D4A8D93B77BE}" destId="{862A7959-C5EA-7C4A-8C46-E2A19177029B}" srcOrd="0" destOrd="0" presId="urn:microsoft.com/office/officeart/2005/8/layout/hierarchy1"/>
    <dgm:cxn modelId="{55F65F41-F898-444C-A99C-701A653BC663}" type="presParOf" srcId="{031849A5-B8A5-5F48-9840-D4A8D93B77BE}" destId="{656AC426-3CDE-6C49-9A76-577429A4C222}" srcOrd="1" destOrd="0" presId="urn:microsoft.com/office/officeart/2005/8/layout/hierarchy1"/>
    <dgm:cxn modelId="{75B591AC-F862-0447-9D83-4F25051583BC}" type="presParOf" srcId="{08290322-9C40-8049-844F-AFCD764720EA}" destId="{23D88818-9371-C94F-B607-BA54C8869D03}" srcOrd="1" destOrd="0" presId="urn:microsoft.com/office/officeart/2005/8/layout/hierarchy1"/>
    <dgm:cxn modelId="{A4A7EDCA-E515-A240-819D-D0E4D3475E95}" type="presParOf" srcId="{9C81575B-85AD-C942-AC13-22EC5384A86F}" destId="{5F16A0B3-BEC4-014D-AD6C-D26946FDD291}" srcOrd="1" destOrd="0" presId="urn:microsoft.com/office/officeart/2005/8/layout/hierarchy1"/>
    <dgm:cxn modelId="{F4F794BE-9D71-DD4E-90A3-7ABA845221F6}" type="presParOf" srcId="{5F16A0B3-BEC4-014D-AD6C-D26946FDD291}" destId="{A77723CE-7977-1749-90A9-84523371B562}" srcOrd="0" destOrd="0" presId="urn:microsoft.com/office/officeart/2005/8/layout/hierarchy1"/>
    <dgm:cxn modelId="{C96BC0E6-32B9-2B47-82A4-201B68C7BFCB}" type="presParOf" srcId="{A77723CE-7977-1749-90A9-84523371B562}" destId="{E849C696-82F5-6545-9409-A2C70CDC8C13}" srcOrd="0" destOrd="0" presId="urn:microsoft.com/office/officeart/2005/8/layout/hierarchy1"/>
    <dgm:cxn modelId="{D741B290-26A8-A742-8026-A2A2980FD8A9}" type="presParOf" srcId="{A77723CE-7977-1749-90A9-84523371B562}" destId="{B58D83D8-DC94-A940-ABC8-B12B374C04EB}" srcOrd="1" destOrd="0" presId="urn:microsoft.com/office/officeart/2005/8/layout/hierarchy1"/>
    <dgm:cxn modelId="{876E0526-F9E6-1249-9B6E-27BFAA73351F}" type="presParOf" srcId="{5F16A0B3-BEC4-014D-AD6C-D26946FDD291}" destId="{C767BC8D-E13E-7140-9159-627F64F5AF6D}" srcOrd="1" destOrd="0" presId="urn:microsoft.com/office/officeart/2005/8/layout/hierarchy1"/>
    <dgm:cxn modelId="{2136BAF4-7E9B-6E4B-B99B-216E52C16E48}" type="presParOf" srcId="{9C81575B-85AD-C942-AC13-22EC5384A86F}" destId="{0E14D18F-8940-1746-B0A9-DA652A98C50B}" srcOrd="2" destOrd="0" presId="urn:microsoft.com/office/officeart/2005/8/layout/hierarchy1"/>
    <dgm:cxn modelId="{59D50669-BD44-754B-BAE7-32613CD99C39}" type="presParOf" srcId="{0E14D18F-8940-1746-B0A9-DA652A98C50B}" destId="{2F86E0D2-1B4B-9745-9B7F-34F64FE17E40}" srcOrd="0" destOrd="0" presId="urn:microsoft.com/office/officeart/2005/8/layout/hierarchy1"/>
    <dgm:cxn modelId="{443164F0-1C0F-0A43-9D05-9252C8F9C55F}" type="presParOf" srcId="{2F86E0D2-1B4B-9745-9B7F-34F64FE17E40}" destId="{08A1D711-C06F-FB46-BFBE-4B1460424E29}" srcOrd="0" destOrd="0" presId="urn:microsoft.com/office/officeart/2005/8/layout/hierarchy1"/>
    <dgm:cxn modelId="{C2A2586C-447D-F74C-AE23-9DCFB0EBAE67}" type="presParOf" srcId="{2F86E0D2-1B4B-9745-9B7F-34F64FE17E40}" destId="{F24001CF-C40C-1644-B16A-A77222B84D37}" srcOrd="1" destOrd="0" presId="urn:microsoft.com/office/officeart/2005/8/layout/hierarchy1"/>
    <dgm:cxn modelId="{1AE4EA13-5335-3A41-99AA-92B10FF0B4E4}" type="presParOf" srcId="{0E14D18F-8940-1746-B0A9-DA652A98C50B}" destId="{6C8146BA-5BA2-0741-B0D7-C025F71FCF6A}"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49AEDD1-5BEC-4CA3-9986-CF2B5A4C0AF2}" type="doc">
      <dgm:prSet loTypeId="urn:microsoft.com/office/officeart/2005/8/layout/vList2" loCatId="list" qsTypeId="urn:microsoft.com/office/officeart/2005/8/quickstyle/simple2" qsCatId="simple" csTypeId="urn:microsoft.com/office/officeart/2005/8/colors/accent5_2" csCatId="accent5" phldr="1"/>
      <dgm:spPr/>
      <dgm:t>
        <a:bodyPr/>
        <a:lstStyle/>
        <a:p>
          <a:endParaRPr lang="en-US"/>
        </a:p>
      </dgm:t>
    </dgm:pt>
    <dgm:pt modelId="{848C9D78-E1BA-4C8C-B958-876E94CEE917}">
      <dgm:prSet/>
      <dgm:spPr/>
      <dgm:t>
        <a:bodyPr/>
        <a:lstStyle/>
        <a:p>
          <a:r>
            <a:rPr lang="en-US"/>
            <a:t>(4) Qualia do not exist.</a:t>
          </a:r>
        </a:p>
      </dgm:t>
    </dgm:pt>
    <dgm:pt modelId="{3E0A76B1-371B-4D47-89BC-EA6FA8F3E442}" type="parTrans" cxnId="{0A2EFABB-443F-4883-8207-31B39E78FD95}">
      <dgm:prSet/>
      <dgm:spPr/>
      <dgm:t>
        <a:bodyPr/>
        <a:lstStyle/>
        <a:p>
          <a:endParaRPr lang="en-US"/>
        </a:p>
      </dgm:t>
    </dgm:pt>
    <dgm:pt modelId="{C5CEF979-B480-4118-9865-C59FD7A79E5B}" type="sibTrans" cxnId="{0A2EFABB-443F-4883-8207-31B39E78FD95}">
      <dgm:prSet/>
      <dgm:spPr/>
      <dgm:t>
        <a:bodyPr/>
        <a:lstStyle/>
        <a:p>
          <a:endParaRPr lang="en-US"/>
        </a:p>
      </dgm:t>
    </dgm:pt>
    <dgm:pt modelId="{0A117744-F26F-4F74-8B7B-9D41A1018B4B}">
      <dgm:prSet/>
      <dgm:spPr/>
      <dgm:t>
        <a:bodyPr/>
        <a:lstStyle/>
        <a:p>
          <a:r>
            <a:rPr lang="en-US"/>
            <a:t>(3) We can know one thing in two ways.</a:t>
          </a:r>
        </a:p>
      </dgm:t>
    </dgm:pt>
    <dgm:pt modelId="{058777F0-72C6-4C4D-95FF-AB4076026E64}" type="parTrans" cxnId="{6D773116-F32C-40FF-8398-33947C4025B9}">
      <dgm:prSet/>
      <dgm:spPr/>
      <dgm:t>
        <a:bodyPr/>
        <a:lstStyle/>
        <a:p>
          <a:endParaRPr lang="en-US"/>
        </a:p>
      </dgm:t>
    </dgm:pt>
    <dgm:pt modelId="{49E42713-7CFF-4568-91B0-DE3CCDC342A7}" type="sibTrans" cxnId="{6D773116-F32C-40FF-8398-33947C4025B9}">
      <dgm:prSet/>
      <dgm:spPr/>
      <dgm:t>
        <a:bodyPr/>
        <a:lstStyle/>
        <a:p>
          <a:endParaRPr lang="en-US"/>
        </a:p>
      </dgm:t>
    </dgm:pt>
    <dgm:pt modelId="{1B0CE356-8DCA-4FFB-8F66-60D5AB31CA7C}">
      <dgm:prSet/>
      <dgm:spPr/>
      <dgm:t>
        <a:bodyPr/>
        <a:lstStyle/>
        <a:p>
          <a:r>
            <a:rPr lang="en-US" dirty="0"/>
            <a:t>(2) Propositional knowledge is not acquaintance knowledge.</a:t>
          </a:r>
        </a:p>
      </dgm:t>
    </dgm:pt>
    <dgm:pt modelId="{D7EB70F4-0010-43EE-BA02-39E40E948519}" type="parTrans" cxnId="{A5968190-C883-4A8F-A30A-12803D44BD62}">
      <dgm:prSet/>
      <dgm:spPr/>
      <dgm:t>
        <a:bodyPr/>
        <a:lstStyle/>
        <a:p>
          <a:endParaRPr lang="en-US"/>
        </a:p>
      </dgm:t>
    </dgm:pt>
    <dgm:pt modelId="{5C496C0B-DCF3-4CD1-9B4A-82694AE9162F}" type="sibTrans" cxnId="{A5968190-C883-4A8F-A30A-12803D44BD62}">
      <dgm:prSet/>
      <dgm:spPr/>
      <dgm:t>
        <a:bodyPr/>
        <a:lstStyle/>
        <a:p>
          <a:endParaRPr lang="en-US"/>
        </a:p>
      </dgm:t>
    </dgm:pt>
    <dgm:pt modelId="{61CFE5B7-DC00-4F76-9965-6E05B44EB7D1}">
      <dgm:prSet/>
      <dgm:spPr/>
      <dgm:t>
        <a:bodyPr/>
        <a:lstStyle/>
        <a:p>
          <a:r>
            <a:rPr lang="en-US" dirty="0"/>
            <a:t>(1) Ability knowledge is not propositional knowledge.  </a:t>
          </a:r>
        </a:p>
      </dgm:t>
    </dgm:pt>
    <dgm:pt modelId="{B900AECB-50C6-4DBF-AAE2-389575939BFF}" type="parTrans" cxnId="{82263FA6-B4E0-4A3B-884D-9398CAB8A644}">
      <dgm:prSet/>
      <dgm:spPr/>
      <dgm:t>
        <a:bodyPr/>
        <a:lstStyle/>
        <a:p>
          <a:endParaRPr lang="en-US"/>
        </a:p>
      </dgm:t>
    </dgm:pt>
    <dgm:pt modelId="{F61D1B6A-09CD-4004-8066-0A5BACA22291}" type="sibTrans" cxnId="{82263FA6-B4E0-4A3B-884D-9398CAB8A644}">
      <dgm:prSet/>
      <dgm:spPr/>
      <dgm:t>
        <a:bodyPr/>
        <a:lstStyle/>
        <a:p>
          <a:endParaRPr lang="en-US"/>
        </a:p>
      </dgm:t>
    </dgm:pt>
    <dgm:pt modelId="{1487EC73-5F49-B649-A47F-1CB7FE981464}" type="pres">
      <dgm:prSet presAssocID="{249AEDD1-5BEC-4CA3-9986-CF2B5A4C0AF2}" presName="linear" presStyleCnt="0">
        <dgm:presLayoutVars>
          <dgm:animLvl val="lvl"/>
          <dgm:resizeHandles val="exact"/>
        </dgm:presLayoutVars>
      </dgm:prSet>
      <dgm:spPr/>
    </dgm:pt>
    <dgm:pt modelId="{17930068-425D-D046-947F-2B703AB768F1}" type="pres">
      <dgm:prSet presAssocID="{848C9D78-E1BA-4C8C-B958-876E94CEE917}" presName="parentText" presStyleLbl="node1" presStyleIdx="0" presStyleCnt="4">
        <dgm:presLayoutVars>
          <dgm:chMax val="0"/>
          <dgm:bulletEnabled val="1"/>
        </dgm:presLayoutVars>
      </dgm:prSet>
      <dgm:spPr/>
    </dgm:pt>
    <dgm:pt modelId="{576E653E-D1CB-B645-A932-50DFFE4AD443}" type="pres">
      <dgm:prSet presAssocID="{C5CEF979-B480-4118-9865-C59FD7A79E5B}" presName="spacer" presStyleCnt="0"/>
      <dgm:spPr/>
    </dgm:pt>
    <dgm:pt modelId="{F7E0D702-0239-DE46-A395-BBC84C627E90}" type="pres">
      <dgm:prSet presAssocID="{0A117744-F26F-4F74-8B7B-9D41A1018B4B}" presName="parentText" presStyleLbl="node1" presStyleIdx="1" presStyleCnt="4">
        <dgm:presLayoutVars>
          <dgm:chMax val="0"/>
          <dgm:bulletEnabled val="1"/>
        </dgm:presLayoutVars>
      </dgm:prSet>
      <dgm:spPr/>
    </dgm:pt>
    <dgm:pt modelId="{48D5F64C-442C-894B-855E-5F916CC57D92}" type="pres">
      <dgm:prSet presAssocID="{49E42713-7CFF-4568-91B0-DE3CCDC342A7}" presName="spacer" presStyleCnt="0"/>
      <dgm:spPr/>
    </dgm:pt>
    <dgm:pt modelId="{4AAD6227-64B7-5E46-9F3C-0DD07BC726BE}" type="pres">
      <dgm:prSet presAssocID="{1B0CE356-8DCA-4FFB-8F66-60D5AB31CA7C}" presName="parentText" presStyleLbl="node1" presStyleIdx="2" presStyleCnt="4">
        <dgm:presLayoutVars>
          <dgm:chMax val="0"/>
          <dgm:bulletEnabled val="1"/>
        </dgm:presLayoutVars>
      </dgm:prSet>
      <dgm:spPr/>
    </dgm:pt>
    <dgm:pt modelId="{2D9B72EB-2D81-7442-BAE8-9E2137BC2B53}" type="pres">
      <dgm:prSet presAssocID="{5C496C0B-DCF3-4CD1-9B4A-82694AE9162F}" presName="spacer" presStyleCnt="0"/>
      <dgm:spPr/>
    </dgm:pt>
    <dgm:pt modelId="{ADEF4B42-D229-EF4C-87DB-FA96ED1ABF5D}" type="pres">
      <dgm:prSet presAssocID="{61CFE5B7-DC00-4F76-9965-6E05B44EB7D1}" presName="parentText" presStyleLbl="node1" presStyleIdx="3" presStyleCnt="4">
        <dgm:presLayoutVars>
          <dgm:chMax val="0"/>
          <dgm:bulletEnabled val="1"/>
        </dgm:presLayoutVars>
      </dgm:prSet>
      <dgm:spPr/>
    </dgm:pt>
  </dgm:ptLst>
  <dgm:cxnLst>
    <dgm:cxn modelId="{6D773116-F32C-40FF-8398-33947C4025B9}" srcId="{249AEDD1-5BEC-4CA3-9986-CF2B5A4C0AF2}" destId="{0A117744-F26F-4F74-8B7B-9D41A1018B4B}" srcOrd="1" destOrd="0" parTransId="{058777F0-72C6-4C4D-95FF-AB4076026E64}" sibTransId="{49E42713-7CFF-4568-91B0-DE3CCDC342A7}"/>
    <dgm:cxn modelId="{C1208B16-8903-1F46-B6DB-A6D3CA3BCEE2}" type="presOf" srcId="{0A117744-F26F-4F74-8B7B-9D41A1018B4B}" destId="{F7E0D702-0239-DE46-A395-BBC84C627E90}" srcOrd="0" destOrd="0" presId="urn:microsoft.com/office/officeart/2005/8/layout/vList2"/>
    <dgm:cxn modelId="{A372BE6A-C456-9543-84C4-32146860C5E9}" type="presOf" srcId="{61CFE5B7-DC00-4F76-9965-6E05B44EB7D1}" destId="{ADEF4B42-D229-EF4C-87DB-FA96ED1ABF5D}" srcOrd="0" destOrd="0" presId="urn:microsoft.com/office/officeart/2005/8/layout/vList2"/>
    <dgm:cxn modelId="{0BFFCC8D-9E79-FC4D-8E74-A790AFF8E45F}" type="presOf" srcId="{249AEDD1-5BEC-4CA3-9986-CF2B5A4C0AF2}" destId="{1487EC73-5F49-B649-A47F-1CB7FE981464}" srcOrd="0" destOrd="0" presId="urn:microsoft.com/office/officeart/2005/8/layout/vList2"/>
    <dgm:cxn modelId="{A5968190-C883-4A8F-A30A-12803D44BD62}" srcId="{249AEDD1-5BEC-4CA3-9986-CF2B5A4C0AF2}" destId="{1B0CE356-8DCA-4FFB-8F66-60D5AB31CA7C}" srcOrd="2" destOrd="0" parTransId="{D7EB70F4-0010-43EE-BA02-39E40E948519}" sibTransId="{5C496C0B-DCF3-4CD1-9B4A-82694AE9162F}"/>
    <dgm:cxn modelId="{82263FA6-B4E0-4A3B-884D-9398CAB8A644}" srcId="{249AEDD1-5BEC-4CA3-9986-CF2B5A4C0AF2}" destId="{61CFE5B7-DC00-4F76-9965-6E05B44EB7D1}" srcOrd="3" destOrd="0" parTransId="{B900AECB-50C6-4DBF-AAE2-389575939BFF}" sibTransId="{F61D1B6A-09CD-4004-8066-0A5BACA22291}"/>
    <dgm:cxn modelId="{0A2EFABB-443F-4883-8207-31B39E78FD95}" srcId="{249AEDD1-5BEC-4CA3-9986-CF2B5A4C0AF2}" destId="{848C9D78-E1BA-4C8C-B958-876E94CEE917}" srcOrd="0" destOrd="0" parTransId="{3E0A76B1-371B-4D47-89BC-EA6FA8F3E442}" sibTransId="{C5CEF979-B480-4118-9865-C59FD7A79E5B}"/>
    <dgm:cxn modelId="{8AE4B9BC-B36E-8E41-BB11-33D5D8527FFC}" type="presOf" srcId="{848C9D78-E1BA-4C8C-B958-876E94CEE917}" destId="{17930068-425D-D046-947F-2B703AB768F1}" srcOrd="0" destOrd="0" presId="urn:microsoft.com/office/officeart/2005/8/layout/vList2"/>
    <dgm:cxn modelId="{DA444BF9-FB41-6A4E-A2C6-E054526D0CF2}" type="presOf" srcId="{1B0CE356-8DCA-4FFB-8F66-60D5AB31CA7C}" destId="{4AAD6227-64B7-5E46-9F3C-0DD07BC726BE}" srcOrd="0" destOrd="0" presId="urn:microsoft.com/office/officeart/2005/8/layout/vList2"/>
    <dgm:cxn modelId="{5F850BDC-EA5C-1C43-8AC3-3BD8F8E06D04}" type="presParOf" srcId="{1487EC73-5F49-B649-A47F-1CB7FE981464}" destId="{17930068-425D-D046-947F-2B703AB768F1}" srcOrd="0" destOrd="0" presId="urn:microsoft.com/office/officeart/2005/8/layout/vList2"/>
    <dgm:cxn modelId="{6049D09F-0DDD-544F-8966-A4F5162BFF01}" type="presParOf" srcId="{1487EC73-5F49-B649-A47F-1CB7FE981464}" destId="{576E653E-D1CB-B645-A932-50DFFE4AD443}" srcOrd="1" destOrd="0" presId="urn:microsoft.com/office/officeart/2005/8/layout/vList2"/>
    <dgm:cxn modelId="{2926FA02-D891-8F4A-9E43-E4A7528750C9}" type="presParOf" srcId="{1487EC73-5F49-B649-A47F-1CB7FE981464}" destId="{F7E0D702-0239-DE46-A395-BBC84C627E90}" srcOrd="2" destOrd="0" presId="urn:microsoft.com/office/officeart/2005/8/layout/vList2"/>
    <dgm:cxn modelId="{24004EC8-2514-1B4D-9C52-0AF8EC5B4093}" type="presParOf" srcId="{1487EC73-5F49-B649-A47F-1CB7FE981464}" destId="{48D5F64C-442C-894B-855E-5F916CC57D92}" srcOrd="3" destOrd="0" presId="urn:microsoft.com/office/officeart/2005/8/layout/vList2"/>
    <dgm:cxn modelId="{AADBF4D0-75DC-A34B-8A45-AEF2CD107912}" type="presParOf" srcId="{1487EC73-5F49-B649-A47F-1CB7FE981464}" destId="{4AAD6227-64B7-5E46-9F3C-0DD07BC726BE}" srcOrd="4" destOrd="0" presId="urn:microsoft.com/office/officeart/2005/8/layout/vList2"/>
    <dgm:cxn modelId="{9E42B1CD-4977-0F46-B97C-702AE4057E46}" type="presParOf" srcId="{1487EC73-5F49-B649-A47F-1CB7FE981464}" destId="{2D9B72EB-2D81-7442-BAE8-9E2137BC2B53}" srcOrd="5" destOrd="0" presId="urn:microsoft.com/office/officeart/2005/8/layout/vList2"/>
    <dgm:cxn modelId="{19257686-EDD6-284A-855A-C0314406F77F}" type="presParOf" srcId="{1487EC73-5F49-B649-A47F-1CB7FE981464}" destId="{ADEF4B42-D229-EF4C-87DB-FA96ED1ABF5D}"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2A7959-C5EA-7C4A-8C46-E2A19177029B}">
      <dsp:nvSpPr>
        <dsp:cNvPr id="0" name=""/>
        <dsp:cNvSpPr/>
      </dsp:nvSpPr>
      <dsp:spPr>
        <a:xfrm>
          <a:off x="0" y="736818"/>
          <a:ext cx="2862653" cy="1817784"/>
        </a:xfrm>
        <a:prstGeom prst="roundRect">
          <a:avLst>
            <a:gd name="adj" fmla="val 10000"/>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56AC426-3CDE-6C49-9A76-577429A4C222}">
      <dsp:nvSpPr>
        <dsp:cNvPr id="0" name=""/>
        <dsp:cNvSpPr/>
      </dsp:nvSpPr>
      <dsp:spPr>
        <a:xfrm>
          <a:off x="318072" y="1038987"/>
          <a:ext cx="2862653" cy="1817784"/>
        </a:xfrm>
        <a:prstGeom prst="roundRect">
          <a:avLst>
            <a:gd name="adj" fmla="val 10000"/>
          </a:avLst>
        </a:prstGeom>
        <a:solidFill>
          <a:schemeClr val="lt1">
            <a:alpha val="90000"/>
            <a:hueOff val="0"/>
            <a:satOff val="0"/>
            <a:lumOff val="0"/>
            <a:alphaOff val="0"/>
          </a:schemeClr>
        </a:solidFill>
        <a:ln w="12700" cap="flat" cmpd="sng" algn="in">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just" defTabSz="711200">
            <a:lnSpc>
              <a:spcPct val="90000"/>
            </a:lnSpc>
            <a:spcBef>
              <a:spcPct val="0"/>
            </a:spcBef>
            <a:spcAft>
              <a:spcPct val="35000"/>
            </a:spcAft>
            <a:buNone/>
          </a:pPr>
          <a:r>
            <a:rPr lang="en-US" sz="1600" kern="1200" dirty="0">
              <a:latin typeface="Avenir Book" panose="02000503020000020003" pitchFamily="2" charset="0"/>
            </a:rPr>
            <a:t>1. This means that both forms of behaviourism, mind-brain identity theory, and most functionalist theories are vulnerable to the knowledge argument.</a:t>
          </a:r>
        </a:p>
      </dsp:txBody>
      <dsp:txXfrm>
        <a:off x="371313" y="1092228"/>
        <a:ext cx="2756171" cy="1711302"/>
      </dsp:txXfrm>
    </dsp:sp>
    <dsp:sp modelId="{E849C696-82F5-6545-9409-A2C70CDC8C13}">
      <dsp:nvSpPr>
        <dsp:cNvPr id="0" name=""/>
        <dsp:cNvSpPr/>
      </dsp:nvSpPr>
      <dsp:spPr>
        <a:xfrm>
          <a:off x="3498798" y="736818"/>
          <a:ext cx="2862653" cy="1817784"/>
        </a:xfrm>
        <a:prstGeom prst="roundRect">
          <a:avLst>
            <a:gd name="adj" fmla="val 10000"/>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58D83D8-DC94-A940-ABC8-B12B374C04EB}">
      <dsp:nvSpPr>
        <dsp:cNvPr id="0" name=""/>
        <dsp:cNvSpPr/>
      </dsp:nvSpPr>
      <dsp:spPr>
        <a:xfrm>
          <a:off x="3816870" y="1038987"/>
          <a:ext cx="2862653" cy="1817784"/>
        </a:xfrm>
        <a:prstGeom prst="roundRect">
          <a:avLst>
            <a:gd name="adj" fmla="val 10000"/>
          </a:avLst>
        </a:prstGeom>
        <a:solidFill>
          <a:schemeClr val="lt1">
            <a:alpha val="90000"/>
            <a:hueOff val="0"/>
            <a:satOff val="0"/>
            <a:lumOff val="0"/>
            <a:alphaOff val="0"/>
          </a:schemeClr>
        </a:solidFill>
        <a:ln w="12700" cap="flat" cmpd="sng" algn="in">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Avenir Book" panose="02000503020000020003" pitchFamily="2" charset="0"/>
            </a:rPr>
            <a:t>2. Remember: if knowledge about the mind is not fully contained in physical facts about the mind, there is a domain of knowledge that physicalism does not cover.  </a:t>
          </a:r>
        </a:p>
      </dsp:txBody>
      <dsp:txXfrm>
        <a:off x="3870111" y="1092228"/>
        <a:ext cx="2756171" cy="1711302"/>
      </dsp:txXfrm>
    </dsp:sp>
    <dsp:sp modelId="{08A1D711-C06F-FB46-BFBE-4B1460424E29}">
      <dsp:nvSpPr>
        <dsp:cNvPr id="0" name=""/>
        <dsp:cNvSpPr/>
      </dsp:nvSpPr>
      <dsp:spPr>
        <a:xfrm>
          <a:off x="6997596" y="736818"/>
          <a:ext cx="2862653" cy="1817784"/>
        </a:xfrm>
        <a:prstGeom prst="roundRect">
          <a:avLst>
            <a:gd name="adj" fmla="val 10000"/>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24001CF-C40C-1644-B16A-A77222B84D37}">
      <dsp:nvSpPr>
        <dsp:cNvPr id="0" name=""/>
        <dsp:cNvSpPr/>
      </dsp:nvSpPr>
      <dsp:spPr>
        <a:xfrm>
          <a:off x="7315668" y="1038987"/>
          <a:ext cx="2862653" cy="1817784"/>
        </a:xfrm>
        <a:prstGeom prst="roundRect">
          <a:avLst>
            <a:gd name="adj" fmla="val 10000"/>
          </a:avLst>
        </a:prstGeom>
        <a:solidFill>
          <a:schemeClr val="lt1">
            <a:alpha val="90000"/>
            <a:hueOff val="0"/>
            <a:satOff val="0"/>
            <a:lumOff val="0"/>
            <a:alphaOff val="0"/>
          </a:schemeClr>
        </a:solidFill>
        <a:ln w="12700" cap="flat" cmpd="sng" algn="in">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just" defTabSz="711200">
            <a:lnSpc>
              <a:spcPct val="90000"/>
            </a:lnSpc>
            <a:spcBef>
              <a:spcPct val="0"/>
            </a:spcBef>
            <a:spcAft>
              <a:spcPct val="35000"/>
            </a:spcAft>
            <a:buNone/>
          </a:pPr>
          <a:r>
            <a:rPr lang="en-US" sz="1600" kern="1200" dirty="0">
              <a:latin typeface="Avenir Book" panose="02000503020000020003" pitchFamily="2" charset="0"/>
            </a:rPr>
            <a:t>3. Given that Mary has all physical knowledge, she should know everything there is to know about others, and yet she does not. </a:t>
          </a:r>
        </a:p>
      </dsp:txBody>
      <dsp:txXfrm>
        <a:off x="7368909" y="1092228"/>
        <a:ext cx="2756171" cy="17113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930068-425D-D046-947F-2B703AB768F1}">
      <dsp:nvSpPr>
        <dsp:cNvPr id="0" name=""/>
        <dsp:cNvSpPr/>
      </dsp:nvSpPr>
      <dsp:spPr>
        <a:xfrm>
          <a:off x="0" y="28655"/>
          <a:ext cx="6015897" cy="836550"/>
        </a:xfrm>
        <a:prstGeom prst="roundRect">
          <a:avLst/>
        </a:prstGeom>
        <a:solidFill>
          <a:schemeClr val="accent5">
            <a:hueOff val="0"/>
            <a:satOff val="0"/>
            <a:lumOff val="0"/>
            <a:alphaOff val="0"/>
          </a:schemeClr>
        </a:solidFill>
        <a:ln w="50800" cap="flat" cmpd="sng" algn="in">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(4) Qualia do not exist.</a:t>
          </a:r>
        </a:p>
      </dsp:txBody>
      <dsp:txXfrm>
        <a:off x="40837" y="69492"/>
        <a:ext cx="5934223" cy="754876"/>
      </dsp:txXfrm>
    </dsp:sp>
    <dsp:sp modelId="{F7E0D702-0239-DE46-A395-BBC84C627E90}">
      <dsp:nvSpPr>
        <dsp:cNvPr id="0" name=""/>
        <dsp:cNvSpPr/>
      </dsp:nvSpPr>
      <dsp:spPr>
        <a:xfrm>
          <a:off x="0" y="928565"/>
          <a:ext cx="6015897" cy="836550"/>
        </a:xfrm>
        <a:prstGeom prst="roundRect">
          <a:avLst/>
        </a:prstGeom>
        <a:solidFill>
          <a:schemeClr val="accent5">
            <a:hueOff val="0"/>
            <a:satOff val="0"/>
            <a:lumOff val="0"/>
            <a:alphaOff val="0"/>
          </a:schemeClr>
        </a:solidFill>
        <a:ln w="50800" cap="flat" cmpd="sng" algn="in">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(3) We can know one thing in two ways.</a:t>
          </a:r>
        </a:p>
      </dsp:txBody>
      <dsp:txXfrm>
        <a:off x="40837" y="969402"/>
        <a:ext cx="5934223" cy="754876"/>
      </dsp:txXfrm>
    </dsp:sp>
    <dsp:sp modelId="{4AAD6227-64B7-5E46-9F3C-0DD07BC726BE}">
      <dsp:nvSpPr>
        <dsp:cNvPr id="0" name=""/>
        <dsp:cNvSpPr/>
      </dsp:nvSpPr>
      <dsp:spPr>
        <a:xfrm>
          <a:off x="0" y="1828475"/>
          <a:ext cx="6015897" cy="836550"/>
        </a:xfrm>
        <a:prstGeom prst="roundRect">
          <a:avLst/>
        </a:prstGeom>
        <a:solidFill>
          <a:schemeClr val="accent5">
            <a:hueOff val="0"/>
            <a:satOff val="0"/>
            <a:lumOff val="0"/>
            <a:alphaOff val="0"/>
          </a:schemeClr>
        </a:solidFill>
        <a:ln w="50800" cap="flat" cmpd="sng" algn="in">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(2) Propositional knowledge is not acquaintance knowledge.</a:t>
          </a:r>
        </a:p>
      </dsp:txBody>
      <dsp:txXfrm>
        <a:off x="40837" y="1869312"/>
        <a:ext cx="5934223" cy="754876"/>
      </dsp:txXfrm>
    </dsp:sp>
    <dsp:sp modelId="{ADEF4B42-D229-EF4C-87DB-FA96ED1ABF5D}">
      <dsp:nvSpPr>
        <dsp:cNvPr id="0" name=""/>
        <dsp:cNvSpPr/>
      </dsp:nvSpPr>
      <dsp:spPr>
        <a:xfrm>
          <a:off x="0" y="2728385"/>
          <a:ext cx="6015897" cy="836550"/>
        </a:xfrm>
        <a:prstGeom prst="roundRect">
          <a:avLst/>
        </a:prstGeom>
        <a:solidFill>
          <a:schemeClr val="accent5">
            <a:hueOff val="0"/>
            <a:satOff val="0"/>
            <a:lumOff val="0"/>
            <a:alphaOff val="0"/>
          </a:schemeClr>
        </a:solidFill>
        <a:ln w="50800" cap="flat" cmpd="sng" algn="in">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(1) Ability knowledge is not propositional knowledge.  </a:t>
          </a:r>
        </a:p>
      </dsp:txBody>
      <dsp:txXfrm>
        <a:off x="40837" y="2769222"/>
        <a:ext cx="5934223" cy="754876"/>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GB"/>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9334D819-9F07-4261-B09B-9E467E5D9002}" type="datetimeFigureOut">
              <a:rPr lang="en-US" smtClean="0"/>
              <a:pPr/>
              <a:t>8/10/24</a:t>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71766878-3199-4EAB-94E7-2D6D11070E14}" type="slidenum">
              <a:rPr lang="en-US" smtClean="0"/>
              <a:pPr/>
              <a:t>‹#›</a:t>
            </a:fld>
            <a:endParaRPr lang="en-US" dirty="0"/>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6565336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8/10/24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2919576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GB"/>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9334D819-9F07-4261-B09B-9E467E5D9002}" type="datetimeFigureOut">
              <a:rPr lang="en-US" smtClean="0"/>
              <a:pPr/>
              <a:t>8/10/24</a:t>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71766878-3199-4EAB-94E7-2D6D11070E14}" type="slidenum">
              <a:rPr lang="en-US" smtClean="0"/>
              <a:pPr/>
              <a:t>‹#›</a:t>
            </a:fld>
            <a:endParaRPr lang="en-US" dirty="0"/>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3837242260"/>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9334D819-9F07-4261-B09B-9E467E5D9002}" type="datetimeFigureOut">
              <a:rPr lang="en-US" smtClean="0"/>
              <a:t>8/10/24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1345837224"/>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GB"/>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9334D819-9F07-4261-B09B-9E467E5D9002}" type="datetimeFigureOut">
              <a:rPr lang="en-US" smtClean="0"/>
              <a:t>8/10/24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4189234376"/>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9334D819-9F07-4261-B09B-9E467E5D9002}" type="datetimeFigureOut">
              <a:rPr lang="en-US" smtClean="0"/>
              <a:t>8/10/24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40338900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34D819-9F07-4261-B09B-9E467E5D9002}" type="datetimeFigureOut">
              <a:rPr lang="en-US" smtClean="0"/>
              <a:t>8/10/24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38856365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GB"/>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9334D819-9F07-4261-B09B-9E467E5D9002}" type="datetimeFigureOut">
              <a:rPr lang="en-US" smtClean="0"/>
              <a:t>8/10/24</a:t>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71766878-3199-4EAB-94E7-2D6D11070E14}" type="slidenum">
              <a:rPr lang="en-US" smtClean="0"/>
              <a:t>‹#›</a:t>
            </a:fld>
            <a:endParaRPr lang="en-US" dirty="0"/>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823605808"/>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GB"/>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9334D819-9F07-4261-B09B-9E467E5D9002}" type="datetimeFigureOut">
              <a:rPr lang="en-US" smtClean="0"/>
              <a:t>8/10/24</a:t>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3781118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8/10/24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38873173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8/10/24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329450369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9334D819-9F07-4261-B09B-9E467E5D9002}" type="datetimeFigureOut">
              <a:rPr lang="en-US" smtClean="0"/>
              <a:pPr/>
              <a:t>8/10/24</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1766878-3199-4EAB-94E7-2D6D11070E14}" type="slidenum">
              <a:rPr lang="en-US" smtClean="0"/>
              <a:pPr/>
              <a:t>‹#›</a:t>
            </a:fld>
            <a:endParaRPr 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6345319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diagramData" Target="../diagrams/data2.xml"/><Relationship Id="rId4" Type="http://schemas.openxmlformats.org/officeDocument/2006/relationships/diagramLayout" Target="../diagrams/layout2.xml"/><Relationship Id="rId5" Type="http://schemas.openxmlformats.org/officeDocument/2006/relationships/diagramQuickStyle" Target="../diagrams/quickStyle2.xml"/><Relationship Id="rId6" Type="http://schemas.openxmlformats.org/officeDocument/2006/relationships/diagramColors" Target="../diagrams/colors2.xml"/><Relationship Id="rId7" Type="http://schemas.microsoft.com/office/2007/relationships/diagramDrawing" Target="../diagrams/drawing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3561D-F301-1D15-EDFA-A26ECE4904C0}"/>
              </a:ext>
            </a:extLst>
          </p:cNvPr>
          <p:cNvSpPr>
            <a:spLocks noGrp="1"/>
          </p:cNvSpPr>
          <p:nvPr>
            <p:ph type="ctrTitle"/>
          </p:nvPr>
        </p:nvSpPr>
        <p:spPr>
          <a:xfrm>
            <a:off x="1078523" y="1807534"/>
            <a:ext cx="10318418" cy="3685841"/>
          </a:xfrm>
        </p:spPr>
        <p:txBody>
          <a:bodyPr/>
          <a:lstStyle/>
          <a:p>
            <a:r>
              <a:rPr lang="en-US" sz="6600" dirty="0">
                <a:latin typeface="Optima" panose="02000503060000020004" pitchFamily="2" charset="0"/>
              </a:rPr>
              <a:t>The Knowledge Argument</a:t>
            </a:r>
            <a:br>
              <a:rPr lang="en-US" sz="6600" dirty="0">
                <a:latin typeface="Optima" panose="02000503060000020004" pitchFamily="2" charset="0"/>
              </a:rPr>
            </a:br>
            <a:endParaRPr lang="en-US" sz="6600" dirty="0">
              <a:latin typeface="Optima" panose="02000503060000020004" pitchFamily="2" charset="0"/>
            </a:endParaRPr>
          </a:p>
        </p:txBody>
      </p:sp>
      <p:sp>
        <p:nvSpPr>
          <p:cNvPr id="3" name="Subtitle 2">
            <a:extLst>
              <a:ext uri="{FF2B5EF4-FFF2-40B4-BE49-F238E27FC236}">
                <a16:creationId xmlns:a16="http://schemas.microsoft.com/office/drawing/2014/main" id="{F1012178-AAA0-ECD2-D3CC-1CB04699400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2940419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AA11C-65F7-5B9B-E635-8982021AA295}"/>
              </a:ext>
            </a:extLst>
          </p:cNvPr>
          <p:cNvSpPr>
            <a:spLocks noGrp="1"/>
          </p:cNvSpPr>
          <p:nvPr>
            <p:ph type="title"/>
          </p:nvPr>
        </p:nvSpPr>
        <p:spPr>
          <a:xfrm>
            <a:off x="1251678" y="606055"/>
            <a:ext cx="10178322" cy="1268461"/>
          </a:xfrm>
        </p:spPr>
        <p:txBody>
          <a:bodyPr/>
          <a:lstStyle/>
          <a:p>
            <a:r>
              <a:rPr lang="en-US" dirty="0">
                <a:latin typeface="Avenir Book" panose="02000503020000020003" pitchFamily="2" charset="0"/>
              </a:rPr>
              <a:t>Technical terms </a:t>
            </a:r>
          </a:p>
        </p:txBody>
      </p:sp>
      <p:sp>
        <p:nvSpPr>
          <p:cNvPr id="3" name="Content Placeholder 2">
            <a:extLst>
              <a:ext uri="{FF2B5EF4-FFF2-40B4-BE49-F238E27FC236}">
                <a16:creationId xmlns:a16="http://schemas.microsoft.com/office/drawing/2014/main" id="{73682F55-957A-E128-A394-8473BE4D5307}"/>
              </a:ext>
            </a:extLst>
          </p:cNvPr>
          <p:cNvSpPr>
            <a:spLocks noGrp="1"/>
          </p:cNvSpPr>
          <p:nvPr>
            <p:ph idx="1"/>
          </p:nvPr>
        </p:nvSpPr>
        <p:spPr>
          <a:xfrm>
            <a:off x="1251678" y="1754373"/>
            <a:ext cx="10178322" cy="4593264"/>
          </a:xfrm>
        </p:spPr>
        <p:txBody>
          <a:bodyPr>
            <a:normAutofit lnSpcReduction="10000"/>
          </a:bodyPr>
          <a:lstStyle/>
          <a:p>
            <a:pPr>
              <a:lnSpc>
                <a:spcPct val="150000"/>
              </a:lnSpc>
            </a:pPr>
            <a:r>
              <a:rPr lang="en-US" sz="2400" dirty="0">
                <a:solidFill>
                  <a:srgbClr val="002060"/>
                </a:solidFill>
                <a:latin typeface="Avenir Book" panose="02000503020000020003" pitchFamily="2" charset="0"/>
              </a:rPr>
              <a:t>Epiphenomenalism – In the philosophy of mind, this is the claim that mental experience is a by-product of the brain, with no causal influence on the physical world. </a:t>
            </a:r>
          </a:p>
          <a:p>
            <a:pPr>
              <a:lnSpc>
                <a:spcPct val="150000"/>
              </a:lnSpc>
            </a:pPr>
            <a:endParaRPr lang="en-US" sz="2400" dirty="0">
              <a:latin typeface="Avenir Book" panose="02000503020000020003" pitchFamily="2" charset="0"/>
            </a:endParaRPr>
          </a:p>
          <a:p>
            <a:pPr>
              <a:lnSpc>
                <a:spcPct val="150000"/>
              </a:lnSpc>
            </a:pPr>
            <a:r>
              <a:rPr lang="en-US" sz="2400" dirty="0">
                <a:solidFill>
                  <a:srgbClr val="002060"/>
                </a:solidFill>
                <a:latin typeface="Avenir Book" panose="02000503020000020003" pitchFamily="2" charset="0"/>
              </a:rPr>
              <a:t>Qualia – The intrinsic phenomenological experience of seeing a </a:t>
            </a:r>
            <a:r>
              <a:rPr lang="en-US" sz="2400" dirty="0" err="1">
                <a:solidFill>
                  <a:srgbClr val="002060"/>
                </a:solidFill>
                <a:latin typeface="Avenir Book" panose="02000503020000020003" pitchFamily="2" charset="0"/>
              </a:rPr>
              <a:t>colour</a:t>
            </a:r>
            <a:r>
              <a:rPr lang="en-US" sz="2400" dirty="0">
                <a:solidFill>
                  <a:srgbClr val="002060"/>
                </a:solidFill>
                <a:latin typeface="Avenir Book" panose="02000503020000020003" pitchFamily="2" charset="0"/>
              </a:rPr>
              <a:t> or hearing a sound. The subjective awareness when one senses something. For example, there is a quale of seeing red or smelling coffee. </a:t>
            </a:r>
          </a:p>
          <a:p>
            <a:endParaRPr lang="en-US" sz="2400" dirty="0">
              <a:latin typeface="Optima" panose="02000503060000020004" pitchFamily="2" charset="0"/>
            </a:endParaRPr>
          </a:p>
        </p:txBody>
      </p:sp>
    </p:spTree>
    <p:extLst>
      <p:ext uri="{BB962C8B-B14F-4D97-AF65-F5344CB8AC3E}">
        <p14:creationId xmlns:p14="http://schemas.microsoft.com/office/powerpoint/2010/main" val="18089368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4B04C-90D9-FED5-620A-4FFA8EB042EB}"/>
              </a:ext>
            </a:extLst>
          </p:cNvPr>
          <p:cNvSpPr>
            <a:spLocks noGrp="1"/>
          </p:cNvSpPr>
          <p:nvPr>
            <p:ph type="title"/>
          </p:nvPr>
        </p:nvSpPr>
        <p:spPr>
          <a:xfrm>
            <a:off x="1251678" y="818319"/>
            <a:ext cx="10178322" cy="925420"/>
          </a:xfrm>
        </p:spPr>
        <p:txBody>
          <a:bodyPr/>
          <a:lstStyle/>
          <a:p>
            <a:r>
              <a:rPr lang="en-US" dirty="0">
                <a:latin typeface="Optima" panose="02000503060000020004" pitchFamily="2" charset="0"/>
              </a:rPr>
              <a:t>Thesis</a:t>
            </a:r>
          </a:p>
        </p:txBody>
      </p:sp>
      <p:sp>
        <p:nvSpPr>
          <p:cNvPr id="3" name="Content Placeholder 2">
            <a:extLst>
              <a:ext uri="{FF2B5EF4-FFF2-40B4-BE49-F238E27FC236}">
                <a16:creationId xmlns:a16="http://schemas.microsoft.com/office/drawing/2014/main" id="{E4295F42-9104-328D-5B93-B80E91EEFBC2}"/>
              </a:ext>
            </a:extLst>
          </p:cNvPr>
          <p:cNvSpPr>
            <a:spLocks noGrp="1"/>
          </p:cNvSpPr>
          <p:nvPr>
            <p:ph idx="1"/>
          </p:nvPr>
        </p:nvSpPr>
        <p:spPr>
          <a:xfrm>
            <a:off x="1251678" y="1860698"/>
            <a:ext cx="10178322" cy="4348715"/>
          </a:xfrm>
        </p:spPr>
        <p:txBody>
          <a:bodyPr>
            <a:normAutofit fontScale="92500" lnSpcReduction="10000"/>
          </a:bodyPr>
          <a:lstStyle/>
          <a:p>
            <a:pPr marL="0" indent="0" algn="just">
              <a:lnSpc>
                <a:spcPct val="150000"/>
              </a:lnSpc>
              <a:buNone/>
            </a:pPr>
            <a:r>
              <a:rPr lang="en-US" sz="2800" dirty="0">
                <a:solidFill>
                  <a:srgbClr val="002060"/>
                </a:solidFill>
                <a:latin typeface="Avenir Book" panose="02000503020000020003" pitchFamily="2" charset="0"/>
              </a:rPr>
              <a:t>The knowledge argument developed by Frank Jackson in his paper ‘Epiphenomenal Qualia’ was an argument against physicalism. </a:t>
            </a:r>
          </a:p>
          <a:p>
            <a:pPr marL="0" indent="0" algn="just">
              <a:lnSpc>
                <a:spcPct val="150000"/>
              </a:lnSpc>
              <a:buNone/>
            </a:pPr>
            <a:endParaRPr lang="en-US" sz="2800" dirty="0">
              <a:solidFill>
                <a:srgbClr val="002060"/>
              </a:solidFill>
              <a:latin typeface="Avenir Book" panose="02000503020000020003" pitchFamily="2" charset="0"/>
            </a:endParaRPr>
          </a:p>
          <a:p>
            <a:pPr marL="0" indent="0" algn="just">
              <a:lnSpc>
                <a:spcPct val="150000"/>
              </a:lnSpc>
              <a:buNone/>
            </a:pPr>
            <a:r>
              <a:rPr lang="en-US" sz="2800" dirty="0">
                <a:solidFill>
                  <a:srgbClr val="002060"/>
                </a:solidFill>
                <a:latin typeface="Avenir Book" panose="02000503020000020003" pitchFamily="2" charset="0"/>
              </a:rPr>
              <a:t>At its core, the argument claims that knowing all the physical facts about someone is not knowing everything there is to know about them. This means that </a:t>
            </a:r>
            <a:r>
              <a:rPr lang="en-US" sz="2800" i="1" dirty="0">
                <a:solidFill>
                  <a:srgbClr val="002060"/>
                </a:solidFill>
                <a:latin typeface="Avenir Book" panose="02000503020000020003" pitchFamily="2" charset="0"/>
              </a:rPr>
              <a:t>what there is to be known </a:t>
            </a:r>
            <a:r>
              <a:rPr lang="en-US" sz="2800" dirty="0">
                <a:solidFill>
                  <a:srgbClr val="002060"/>
                </a:solidFill>
                <a:latin typeface="Avenir Book" panose="02000503020000020003" pitchFamily="2" charset="0"/>
              </a:rPr>
              <a:t>cannot be reduced to the realm of the physical. </a:t>
            </a:r>
          </a:p>
        </p:txBody>
      </p:sp>
    </p:spTree>
    <p:extLst>
      <p:ext uri="{BB962C8B-B14F-4D97-AF65-F5344CB8AC3E}">
        <p14:creationId xmlns:p14="http://schemas.microsoft.com/office/powerpoint/2010/main" val="28556367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Freeform 10">
            <a:extLst>
              <a:ext uri="{FF2B5EF4-FFF2-40B4-BE49-F238E27FC236}">
                <a16:creationId xmlns:a16="http://schemas.microsoft.com/office/drawing/2014/main" id="{AF8F021D-E17C-4692-BC36-88810FC4C8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lumMod val="90000"/>
            </a:schemeClr>
          </a:solidFill>
          <a:ln w="0">
            <a:noFill/>
            <a:prstDash val="solid"/>
            <a:round/>
            <a:headEnd/>
            <a:tailEnd/>
          </a:ln>
        </p:spPr>
        <p:txBody>
          <a:bodyPr/>
          <a:lstStyle/>
          <a:p>
            <a:endParaRPr lang="en-US"/>
          </a:p>
        </p:txBody>
      </p:sp>
      <p:sp>
        <p:nvSpPr>
          <p:cNvPr id="2" name="Title 1">
            <a:extLst>
              <a:ext uri="{FF2B5EF4-FFF2-40B4-BE49-F238E27FC236}">
                <a16:creationId xmlns:a16="http://schemas.microsoft.com/office/drawing/2014/main" id="{55A8EF0A-1B99-1B22-1F49-AB8D9646EE97}"/>
              </a:ext>
            </a:extLst>
          </p:cNvPr>
          <p:cNvSpPr>
            <a:spLocks noGrp="1"/>
          </p:cNvSpPr>
          <p:nvPr>
            <p:ph type="title"/>
          </p:nvPr>
        </p:nvSpPr>
        <p:spPr>
          <a:xfrm>
            <a:off x="754144" y="484632"/>
            <a:ext cx="8155940" cy="1280374"/>
          </a:xfrm>
        </p:spPr>
        <p:txBody>
          <a:bodyPr>
            <a:normAutofit fontScale="90000"/>
          </a:bodyPr>
          <a:lstStyle/>
          <a:p>
            <a:r>
              <a:rPr lang="en-US" dirty="0">
                <a:latin typeface="Avenir Book" panose="02000503020000020003" pitchFamily="2" charset="0"/>
              </a:rPr>
              <a:t>Mary the brilliant scientist</a:t>
            </a:r>
          </a:p>
        </p:txBody>
      </p:sp>
      <p:sp>
        <p:nvSpPr>
          <p:cNvPr id="12" name="Rectangle 11">
            <a:extLst>
              <a:ext uri="{FF2B5EF4-FFF2-40B4-BE49-F238E27FC236}">
                <a16:creationId xmlns:a16="http://schemas.microsoft.com/office/drawing/2014/main" id="{F3734912-26F1-4F15-9124-B74686760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AE47F659-8383-EFFE-6C7C-F42207F9E646}"/>
              </a:ext>
            </a:extLst>
          </p:cNvPr>
          <p:cNvSpPr>
            <a:spLocks noGrp="1"/>
          </p:cNvSpPr>
          <p:nvPr>
            <p:ph idx="1"/>
          </p:nvPr>
        </p:nvSpPr>
        <p:spPr>
          <a:xfrm>
            <a:off x="754144" y="1889183"/>
            <a:ext cx="6518526" cy="4163401"/>
          </a:xfrm>
        </p:spPr>
        <p:txBody>
          <a:bodyPr>
            <a:noAutofit/>
          </a:bodyPr>
          <a:lstStyle/>
          <a:p>
            <a:pPr marL="0" indent="0">
              <a:lnSpc>
                <a:spcPct val="100000"/>
              </a:lnSpc>
              <a:buNone/>
            </a:pPr>
            <a:r>
              <a:rPr lang="en-US" sz="1600" dirty="0">
                <a:solidFill>
                  <a:schemeClr val="tx1"/>
                </a:solidFill>
                <a:latin typeface="Avenir Book" panose="02000503020000020003" pitchFamily="2" charset="0"/>
              </a:rPr>
              <a:t>‘Mary is a brilliant scientist who is, for whatever reason, forced to investigate the world from a black and white room via a black and white television monitor. She specializes in the neuro-physiology of vision and acquires, let us suppose all the physical information there is to obtain about what goes on when we see ripe tomatoes or the sky, and use terms like ‘red’, ‘blue’ and so on. She discovers, for example, just which wavelength combinations from the sky stimulate the retina, and exactly how this produces via the central nervous system the contraction of the vocal chords, and expulsion of air from the lungs that results in uttering of the sentence ‘The sky is blue’…’</a:t>
            </a:r>
          </a:p>
          <a:p>
            <a:pPr marL="0" indent="0">
              <a:lnSpc>
                <a:spcPct val="100000"/>
              </a:lnSpc>
              <a:buNone/>
            </a:pPr>
            <a:r>
              <a:rPr lang="en-US" sz="1600" dirty="0">
                <a:solidFill>
                  <a:schemeClr val="tx1"/>
                </a:solidFill>
                <a:latin typeface="Avenir Book" panose="02000503020000020003" pitchFamily="2" charset="0"/>
              </a:rPr>
              <a:t>‘What will happen when Mary leaves the black and white room or is given a </a:t>
            </a:r>
            <a:r>
              <a:rPr lang="en-US" sz="1600" dirty="0" err="1">
                <a:solidFill>
                  <a:schemeClr val="tx1"/>
                </a:solidFill>
                <a:latin typeface="Avenir Book" panose="02000503020000020003" pitchFamily="2" charset="0"/>
              </a:rPr>
              <a:t>colour</a:t>
            </a:r>
            <a:r>
              <a:rPr lang="en-US" sz="1600" dirty="0">
                <a:solidFill>
                  <a:schemeClr val="tx1"/>
                </a:solidFill>
                <a:latin typeface="Avenir Book" panose="02000503020000020003" pitchFamily="2" charset="0"/>
              </a:rPr>
              <a:t> television monitor. Will she learn anything or not? It seems obvious that she will </a:t>
            </a:r>
            <a:r>
              <a:rPr lang="en-US" sz="1600" i="1" dirty="0">
                <a:solidFill>
                  <a:schemeClr val="tx1"/>
                </a:solidFill>
                <a:latin typeface="Avenir Book" panose="02000503020000020003" pitchFamily="2" charset="0"/>
              </a:rPr>
              <a:t>learn </a:t>
            </a:r>
            <a:r>
              <a:rPr lang="en-US" sz="1600" dirty="0">
                <a:solidFill>
                  <a:schemeClr val="tx1"/>
                </a:solidFill>
                <a:latin typeface="Avenir Book" panose="02000503020000020003" pitchFamily="2" charset="0"/>
              </a:rPr>
              <a:t>something about the world, and visual experience of it. But it is inescapable that her previous knowledge was incomplete. But she had all the physical information. Ergo there is more to have than that, and physicalism is false.’ </a:t>
            </a:r>
          </a:p>
          <a:p>
            <a:pPr marL="0" indent="0">
              <a:lnSpc>
                <a:spcPct val="100000"/>
              </a:lnSpc>
              <a:buNone/>
            </a:pPr>
            <a:r>
              <a:rPr lang="en-US" sz="1600" dirty="0">
                <a:solidFill>
                  <a:schemeClr val="tx1"/>
                </a:solidFill>
                <a:latin typeface="Avenir Book" panose="02000503020000020003" pitchFamily="2" charset="0"/>
              </a:rPr>
              <a:t>Frank Jackson</a:t>
            </a:r>
          </a:p>
        </p:txBody>
      </p:sp>
      <p:pic>
        <p:nvPicPr>
          <p:cNvPr id="5" name="Picture 4" descr="A person standing in a room&#10;&#10;Description automatically generated">
            <a:extLst>
              <a:ext uri="{FF2B5EF4-FFF2-40B4-BE49-F238E27FC236}">
                <a16:creationId xmlns:a16="http://schemas.microsoft.com/office/drawing/2014/main" id="{AD63009F-CCD4-CD9A-0514-9446A6907B39}"/>
              </a:ext>
            </a:extLst>
          </p:cNvPr>
          <p:cNvPicPr>
            <a:picLocks noChangeAspect="1"/>
          </p:cNvPicPr>
          <p:nvPr/>
        </p:nvPicPr>
        <p:blipFill>
          <a:blip r:embed="rId2"/>
          <a:stretch>
            <a:fillRect/>
          </a:stretch>
        </p:blipFill>
        <p:spPr>
          <a:xfrm>
            <a:off x="8050787" y="1600709"/>
            <a:ext cx="3656581" cy="3656581"/>
          </a:xfrm>
          <a:prstGeom prst="rect">
            <a:avLst/>
          </a:prstGeom>
        </p:spPr>
      </p:pic>
    </p:spTree>
    <p:extLst>
      <p:ext uri="{BB962C8B-B14F-4D97-AF65-F5344CB8AC3E}">
        <p14:creationId xmlns:p14="http://schemas.microsoft.com/office/powerpoint/2010/main" val="1464366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Freeform 10">
            <a:extLst>
              <a:ext uri="{FF2B5EF4-FFF2-40B4-BE49-F238E27FC236}">
                <a16:creationId xmlns:a16="http://schemas.microsoft.com/office/drawing/2014/main" id="{AF8F021D-E17C-4692-BC36-88810FC4C8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lumMod val="90000"/>
            </a:schemeClr>
          </a:solidFill>
          <a:ln w="0">
            <a:noFill/>
            <a:prstDash val="solid"/>
            <a:round/>
            <a:headEnd/>
            <a:tailEnd/>
          </a:ln>
        </p:spPr>
        <p:txBody>
          <a:bodyPr/>
          <a:lstStyle/>
          <a:p>
            <a:endParaRPr lang="en-US"/>
          </a:p>
        </p:txBody>
      </p:sp>
      <p:sp>
        <p:nvSpPr>
          <p:cNvPr id="2" name="Title 1">
            <a:extLst>
              <a:ext uri="{FF2B5EF4-FFF2-40B4-BE49-F238E27FC236}">
                <a16:creationId xmlns:a16="http://schemas.microsoft.com/office/drawing/2014/main" id="{F7D73EEF-CB62-4098-4E68-D13756922D1B}"/>
              </a:ext>
            </a:extLst>
          </p:cNvPr>
          <p:cNvSpPr>
            <a:spLocks noGrp="1"/>
          </p:cNvSpPr>
          <p:nvPr>
            <p:ph type="title"/>
          </p:nvPr>
        </p:nvSpPr>
        <p:spPr>
          <a:xfrm>
            <a:off x="754144" y="484631"/>
            <a:ext cx="6340519" cy="1638469"/>
          </a:xfrm>
        </p:spPr>
        <p:txBody>
          <a:bodyPr>
            <a:normAutofit/>
          </a:bodyPr>
          <a:lstStyle/>
          <a:p>
            <a:r>
              <a:rPr lang="en-US" dirty="0">
                <a:latin typeface="Optima" panose="02000503060000020004" pitchFamily="2" charset="0"/>
              </a:rPr>
              <a:t>The argument</a:t>
            </a:r>
          </a:p>
        </p:txBody>
      </p:sp>
      <p:sp>
        <p:nvSpPr>
          <p:cNvPr id="11" name="Rectangle 10">
            <a:extLst>
              <a:ext uri="{FF2B5EF4-FFF2-40B4-BE49-F238E27FC236}">
                <a16:creationId xmlns:a16="http://schemas.microsoft.com/office/drawing/2014/main" id="{F3734912-26F1-4F15-9124-B74686760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8E7AC6FF-73A3-63ED-F6AE-28CFE7A7D049}"/>
              </a:ext>
            </a:extLst>
          </p:cNvPr>
          <p:cNvSpPr>
            <a:spLocks noGrp="1"/>
          </p:cNvSpPr>
          <p:nvPr>
            <p:ph idx="1"/>
          </p:nvPr>
        </p:nvSpPr>
        <p:spPr>
          <a:xfrm>
            <a:off x="765051" y="1600710"/>
            <a:ext cx="6518251" cy="4772658"/>
          </a:xfrm>
        </p:spPr>
        <p:txBody>
          <a:bodyPr>
            <a:noAutofit/>
          </a:bodyPr>
          <a:lstStyle/>
          <a:p>
            <a:pPr marL="0" indent="0">
              <a:buNone/>
            </a:pPr>
            <a:r>
              <a:rPr lang="en-US" sz="2400" dirty="0">
                <a:solidFill>
                  <a:schemeClr val="tx1"/>
                </a:solidFill>
                <a:latin typeface="Avenir Book" panose="02000503020000020003" pitchFamily="2" charset="0"/>
              </a:rPr>
              <a:t>1. Mary (before her release) knows everything physical there is to know about people. </a:t>
            </a:r>
          </a:p>
          <a:p>
            <a:pPr marL="0" indent="0">
              <a:buNone/>
            </a:pPr>
            <a:r>
              <a:rPr lang="en-US" sz="2400" dirty="0">
                <a:solidFill>
                  <a:schemeClr val="tx1"/>
                </a:solidFill>
                <a:latin typeface="Avenir Book" panose="02000503020000020003" pitchFamily="2" charset="0"/>
              </a:rPr>
              <a:t>2. Mary (before her release) does not know everything there is to know about other people (because she </a:t>
            </a:r>
            <a:r>
              <a:rPr lang="en-US" sz="2400" i="1" dirty="0">
                <a:solidFill>
                  <a:schemeClr val="tx1"/>
                </a:solidFill>
                <a:latin typeface="Avenir Book" panose="02000503020000020003" pitchFamily="2" charset="0"/>
              </a:rPr>
              <a:t>learns</a:t>
            </a:r>
            <a:r>
              <a:rPr lang="en-US" sz="2400" dirty="0">
                <a:solidFill>
                  <a:schemeClr val="tx1"/>
                </a:solidFill>
                <a:latin typeface="Avenir Book" panose="02000503020000020003" pitchFamily="2" charset="0"/>
              </a:rPr>
              <a:t> something about them on her release). </a:t>
            </a:r>
          </a:p>
          <a:p>
            <a:pPr marL="0" indent="0">
              <a:buNone/>
            </a:pPr>
            <a:r>
              <a:rPr lang="en-US" sz="2400" dirty="0">
                <a:solidFill>
                  <a:schemeClr val="tx1"/>
                </a:solidFill>
                <a:latin typeface="Avenir Book" panose="02000503020000020003" pitchFamily="2" charset="0"/>
              </a:rPr>
              <a:t>Therefore, </a:t>
            </a:r>
          </a:p>
          <a:p>
            <a:pPr marL="0" indent="0">
              <a:buNone/>
            </a:pPr>
            <a:r>
              <a:rPr lang="en-US" sz="2400" dirty="0">
                <a:solidFill>
                  <a:schemeClr val="tx1"/>
                </a:solidFill>
                <a:latin typeface="Avenir Book" panose="02000503020000020003" pitchFamily="2" charset="0"/>
              </a:rPr>
              <a:t>3. There are truths about other people (and herself) which escape the physicalist story. </a:t>
            </a:r>
          </a:p>
        </p:txBody>
      </p:sp>
      <p:pic>
        <p:nvPicPr>
          <p:cNvPr id="4" name="Picture 3" descr="A person standing in a room&#10;&#10;Description automatically generated">
            <a:extLst>
              <a:ext uri="{FF2B5EF4-FFF2-40B4-BE49-F238E27FC236}">
                <a16:creationId xmlns:a16="http://schemas.microsoft.com/office/drawing/2014/main" id="{B45730F1-7721-645C-8114-E9511D8B7FE6}"/>
              </a:ext>
            </a:extLst>
          </p:cNvPr>
          <p:cNvPicPr>
            <a:picLocks noChangeAspect="1"/>
          </p:cNvPicPr>
          <p:nvPr/>
        </p:nvPicPr>
        <p:blipFill>
          <a:blip r:embed="rId2"/>
          <a:stretch>
            <a:fillRect/>
          </a:stretch>
        </p:blipFill>
        <p:spPr>
          <a:xfrm>
            <a:off x="8050787" y="1600709"/>
            <a:ext cx="3656581" cy="3656581"/>
          </a:xfrm>
          <a:prstGeom prst="rect">
            <a:avLst/>
          </a:prstGeom>
        </p:spPr>
      </p:pic>
    </p:spTree>
    <p:extLst>
      <p:ext uri="{BB962C8B-B14F-4D97-AF65-F5344CB8AC3E}">
        <p14:creationId xmlns:p14="http://schemas.microsoft.com/office/powerpoint/2010/main" val="37928641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287D9197-4A85-4276-8FC4-67873E2075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9" name="Freeform 10">
            <a:extLst>
              <a:ext uri="{FF2B5EF4-FFF2-40B4-BE49-F238E27FC236}">
                <a16:creationId xmlns:a16="http://schemas.microsoft.com/office/drawing/2014/main" id="{01B5B487-A1DE-47E1-B06D-F13BBCCA78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lumMod val="90000"/>
            </a:schemeClr>
          </a:solidFill>
          <a:ln w="0">
            <a:noFill/>
            <a:prstDash val="solid"/>
            <a:round/>
            <a:headEnd/>
            <a:tailEnd/>
          </a:ln>
        </p:spPr>
        <p:txBody>
          <a:bodyPr/>
          <a:lstStyle/>
          <a:p>
            <a:endParaRPr lang="en-US"/>
          </a:p>
        </p:txBody>
      </p:sp>
      <p:sp>
        <p:nvSpPr>
          <p:cNvPr id="2" name="Title 1">
            <a:extLst>
              <a:ext uri="{FF2B5EF4-FFF2-40B4-BE49-F238E27FC236}">
                <a16:creationId xmlns:a16="http://schemas.microsoft.com/office/drawing/2014/main" id="{CD278BD4-EB7D-BCDC-3DF2-42B629BA2A6F}"/>
              </a:ext>
            </a:extLst>
          </p:cNvPr>
          <p:cNvSpPr>
            <a:spLocks noGrp="1"/>
          </p:cNvSpPr>
          <p:nvPr>
            <p:ph type="title"/>
          </p:nvPr>
        </p:nvSpPr>
        <p:spPr>
          <a:xfrm>
            <a:off x="531628" y="484631"/>
            <a:ext cx="6563035" cy="1638469"/>
          </a:xfrm>
        </p:spPr>
        <p:txBody>
          <a:bodyPr>
            <a:normAutofit fontScale="90000"/>
          </a:bodyPr>
          <a:lstStyle/>
          <a:p>
            <a:r>
              <a:rPr lang="en-US" sz="4000" dirty="0">
                <a:latin typeface="Avenir Book" panose="02000503020000020003" pitchFamily="2" charset="0"/>
              </a:rPr>
              <a:t>The knowledge argument continued…</a:t>
            </a:r>
          </a:p>
        </p:txBody>
      </p:sp>
      <p:sp>
        <p:nvSpPr>
          <p:cNvPr id="20" name="Rectangle 19">
            <a:extLst>
              <a:ext uri="{FF2B5EF4-FFF2-40B4-BE49-F238E27FC236}">
                <a16:creationId xmlns:a16="http://schemas.microsoft.com/office/drawing/2014/main" id="{2E45AF6B-4F42-45F1-A22C-AF0FCA898F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BCDAE095-B0AE-1B11-29CD-C22610CE1C9B}"/>
              </a:ext>
            </a:extLst>
          </p:cNvPr>
          <p:cNvSpPr>
            <a:spLocks noGrp="1"/>
          </p:cNvSpPr>
          <p:nvPr>
            <p:ph idx="1"/>
          </p:nvPr>
        </p:nvSpPr>
        <p:spPr>
          <a:xfrm>
            <a:off x="531628" y="2443140"/>
            <a:ext cx="7037571" cy="3930227"/>
          </a:xfrm>
        </p:spPr>
        <p:txBody>
          <a:bodyPr>
            <a:normAutofit/>
          </a:bodyPr>
          <a:lstStyle/>
          <a:p>
            <a:pPr marL="0" indent="0">
              <a:buNone/>
            </a:pPr>
            <a:r>
              <a:rPr lang="en-US" sz="3200" dirty="0">
                <a:solidFill>
                  <a:schemeClr val="tx1"/>
                </a:solidFill>
                <a:latin typeface="Avenir Book" panose="02000503020000020003" pitchFamily="2" charset="0"/>
              </a:rPr>
              <a:t>The knowledge argument works against any purely physicalist theory of mind, because the argument is taken to prove the existence of qualia, which implies either property dualism or substance dualism is true. </a:t>
            </a:r>
          </a:p>
        </p:txBody>
      </p:sp>
      <p:pic>
        <p:nvPicPr>
          <p:cNvPr id="5" name="Picture 4" descr="A close-up of a brain&#10;&#10;Description automatically generated">
            <a:extLst>
              <a:ext uri="{FF2B5EF4-FFF2-40B4-BE49-F238E27FC236}">
                <a16:creationId xmlns:a16="http://schemas.microsoft.com/office/drawing/2014/main" id="{4CCE73EC-ACD5-6F5F-0495-BA248D5A864F}"/>
              </a:ext>
            </a:extLst>
          </p:cNvPr>
          <p:cNvPicPr>
            <a:picLocks noChangeAspect="1"/>
          </p:cNvPicPr>
          <p:nvPr/>
        </p:nvPicPr>
        <p:blipFill rotWithShape="1">
          <a:blip r:embed="rId2"/>
          <a:srcRect t="121" r="2" b="2"/>
          <a:stretch/>
        </p:blipFill>
        <p:spPr>
          <a:xfrm>
            <a:off x="8478960" y="482321"/>
            <a:ext cx="2789327" cy="2785952"/>
          </a:xfrm>
          <a:prstGeom prst="rect">
            <a:avLst/>
          </a:prstGeom>
        </p:spPr>
      </p:pic>
      <p:pic>
        <p:nvPicPr>
          <p:cNvPr id="7" name="Picture 6">
            <a:extLst>
              <a:ext uri="{FF2B5EF4-FFF2-40B4-BE49-F238E27FC236}">
                <a16:creationId xmlns:a16="http://schemas.microsoft.com/office/drawing/2014/main" id="{D1C40350-F05D-4E28-3654-6648C40BF288}"/>
              </a:ext>
            </a:extLst>
          </p:cNvPr>
          <p:cNvPicPr>
            <a:picLocks noChangeAspect="1"/>
          </p:cNvPicPr>
          <p:nvPr/>
        </p:nvPicPr>
        <p:blipFill>
          <a:blip r:embed="rId3"/>
          <a:stretch>
            <a:fillRect/>
          </a:stretch>
        </p:blipFill>
        <p:spPr>
          <a:xfrm>
            <a:off x="8401440" y="3429000"/>
            <a:ext cx="2944367" cy="2944367"/>
          </a:xfrm>
          <a:prstGeom prst="rect">
            <a:avLst/>
          </a:prstGeom>
        </p:spPr>
      </p:pic>
    </p:spTree>
    <p:extLst>
      <p:ext uri="{BB962C8B-B14F-4D97-AF65-F5344CB8AC3E}">
        <p14:creationId xmlns:p14="http://schemas.microsoft.com/office/powerpoint/2010/main" val="1695221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6C6E8-3EDA-922A-7A58-B2AB2C2214A2}"/>
              </a:ext>
            </a:extLst>
          </p:cNvPr>
          <p:cNvSpPr>
            <a:spLocks noGrp="1"/>
          </p:cNvSpPr>
          <p:nvPr>
            <p:ph type="title"/>
          </p:nvPr>
        </p:nvSpPr>
        <p:spPr>
          <a:xfrm>
            <a:off x="1251678" y="758535"/>
            <a:ext cx="10542004" cy="1115981"/>
          </a:xfrm>
        </p:spPr>
        <p:txBody>
          <a:bodyPr>
            <a:normAutofit/>
          </a:bodyPr>
          <a:lstStyle/>
          <a:p>
            <a:r>
              <a:rPr lang="en-US" sz="3600" dirty="0">
                <a:latin typeface="Optima" panose="02000503060000020004" pitchFamily="2" charset="0"/>
              </a:rPr>
              <a:t>Three consequences of the knowledge argument</a:t>
            </a:r>
          </a:p>
        </p:txBody>
      </p:sp>
      <p:graphicFrame>
        <p:nvGraphicFramePr>
          <p:cNvPr id="7" name="Content Placeholder 2">
            <a:extLst>
              <a:ext uri="{FF2B5EF4-FFF2-40B4-BE49-F238E27FC236}">
                <a16:creationId xmlns:a16="http://schemas.microsoft.com/office/drawing/2014/main" id="{001F7E75-CAC9-F7BA-0726-B336BE6E6DE9}"/>
              </a:ext>
            </a:extLst>
          </p:cNvPr>
          <p:cNvGraphicFramePr>
            <a:graphicFrameLocks noGrp="1"/>
          </p:cNvGraphicFramePr>
          <p:nvPr>
            <p:ph idx="1"/>
            <p:extLst>
              <p:ext uri="{D42A27DB-BD31-4B8C-83A1-F6EECF244321}">
                <p14:modId xmlns:p14="http://schemas.microsoft.com/office/powerpoint/2010/main" val="3654441673"/>
              </p:ext>
            </p:extLst>
          </p:nvPr>
        </p:nvGraphicFramePr>
        <p:xfrm>
          <a:off x="1251678" y="2286001"/>
          <a:ext cx="10178322" cy="35935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272868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BC79D61-E3EA-76C0-23A8-53E54B865EED}"/>
              </a:ext>
            </a:extLst>
          </p:cNvPr>
          <p:cNvPicPr>
            <a:picLocks noChangeAspect="1"/>
          </p:cNvPicPr>
          <p:nvPr/>
        </p:nvPicPr>
        <p:blipFill rotWithShape="1">
          <a:blip r:embed="rId2"/>
          <a:srcRect l="14676" r="14555"/>
          <a:stretch/>
        </p:blipFill>
        <p:spPr>
          <a:xfrm>
            <a:off x="7338646" y="10"/>
            <a:ext cx="4853354" cy="6857990"/>
          </a:xfrm>
          <a:prstGeom prst="rect">
            <a:avLst/>
          </a:prstGeom>
        </p:spPr>
      </p:pic>
      <p:sp>
        <p:nvSpPr>
          <p:cNvPr id="10" name="Freeform 10">
            <a:extLst>
              <a:ext uri="{FF2B5EF4-FFF2-40B4-BE49-F238E27FC236}">
                <a16:creationId xmlns:a16="http://schemas.microsoft.com/office/drawing/2014/main" id="{5D0CF218-804B-46B7-8D12-741D899E5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solidFill>
          <a:ln w="0">
            <a:noFill/>
            <a:prstDash val="solid"/>
            <a:round/>
            <a:headEnd/>
            <a:tailEnd/>
          </a:ln>
        </p:spPr>
        <p:txBody>
          <a:bodyPr/>
          <a:lstStyle/>
          <a:p>
            <a:endParaRPr lang="en-US"/>
          </a:p>
        </p:txBody>
      </p:sp>
      <p:sp>
        <p:nvSpPr>
          <p:cNvPr id="2" name="Title 1">
            <a:extLst>
              <a:ext uri="{FF2B5EF4-FFF2-40B4-BE49-F238E27FC236}">
                <a16:creationId xmlns:a16="http://schemas.microsoft.com/office/drawing/2014/main" id="{85BC659A-9B51-13A1-3998-C7ED83B3D172}"/>
              </a:ext>
            </a:extLst>
          </p:cNvPr>
          <p:cNvSpPr>
            <a:spLocks noGrp="1"/>
          </p:cNvSpPr>
          <p:nvPr>
            <p:ph type="title"/>
          </p:nvPr>
        </p:nvSpPr>
        <p:spPr>
          <a:xfrm>
            <a:off x="765051" y="382385"/>
            <a:ext cx="6015897" cy="1492132"/>
          </a:xfrm>
        </p:spPr>
        <p:txBody>
          <a:bodyPr>
            <a:normAutofit fontScale="90000"/>
          </a:bodyPr>
          <a:lstStyle/>
          <a:p>
            <a:r>
              <a:rPr lang="en-US" sz="3600">
                <a:latin typeface="Optima" panose="02000503060000020004" pitchFamily="2" charset="0"/>
              </a:rPr>
              <a:t>Four responses to the knowledge argument </a:t>
            </a:r>
          </a:p>
        </p:txBody>
      </p:sp>
      <p:sp>
        <p:nvSpPr>
          <p:cNvPr id="12" name="Rectangle 11">
            <a:extLst>
              <a:ext uri="{FF2B5EF4-FFF2-40B4-BE49-F238E27FC236}">
                <a16:creationId xmlns:a16="http://schemas.microsoft.com/office/drawing/2014/main" id="{38FCA438-C13E-4ED2-A4C4-BC1C38A056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3B1ED069-2D21-125D-1617-AF65307F110C}"/>
              </a:ext>
            </a:extLst>
          </p:cNvPr>
          <p:cNvGraphicFramePr>
            <a:graphicFrameLocks noGrp="1"/>
          </p:cNvGraphicFramePr>
          <p:nvPr>
            <p:ph idx="1"/>
            <p:extLst>
              <p:ext uri="{D42A27DB-BD31-4B8C-83A1-F6EECF244321}">
                <p14:modId xmlns:p14="http://schemas.microsoft.com/office/powerpoint/2010/main" val="266432493"/>
              </p:ext>
            </p:extLst>
          </p:nvPr>
        </p:nvGraphicFramePr>
        <p:xfrm>
          <a:off x="765051" y="2286001"/>
          <a:ext cx="6015897" cy="35935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788881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BF97B-EFC1-8B58-B01E-BDB7AFCF5285}"/>
              </a:ext>
            </a:extLst>
          </p:cNvPr>
          <p:cNvSpPr>
            <a:spLocks noGrp="1"/>
          </p:cNvSpPr>
          <p:nvPr>
            <p:ph type="title"/>
          </p:nvPr>
        </p:nvSpPr>
        <p:spPr>
          <a:xfrm>
            <a:off x="1251678" y="540327"/>
            <a:ext cx="10178322" cy="1334190"/>
          </a:xfrm>
        </p:spPr>
        <p:txBody>
          <a:bodyPr>
            <a:normAutofit/>
          </a:bodyPr>
          <a:lstStyle/>
          <a:p>
            <a:r>
              <a:rPr lang="en-US" sz="3200" dirty="0">
                <a:latin typeface="Avenir Book" panose="02000503020000020003" pitchFamily="2" charset="0"/>
              </a:rPr>
              <a:t>(1) There is a difference between propositional and ability knowledge. </a:t>
            </a:r>
          </a:p>
        </p:txBody>
      </p:sp>
      <p:sp>
        <p:nvSpPr>
          <p:cNvPr id="3" name="Content Placeholder 2">
            <a:extLst>
              <a:ext uri="{FF2B5EF4-FFF2-40B4-BE49-F238E27FC236}">
                <a16:creationId xmlns:a16="http://schemas.microsoft.com/office/drawing/2014/main" id="{54B7FDAE-53C6-8A10-9BB3-CB607FE2D206}"/>
              </a:ext>
            </a:extLst>
          </p:cNvPr>
          <p:cNvSpPr>
            <a:spLocks noGrp="1"/>
          </p:cNvSpPr>
          <p:nvPr>
            <p:ph idx="1"/>
          </p:nvPr>
        </p:nvSpPr>
        <p:spPr/>
        <p:txBody>
          <a:bodyPr/>
          <a:lstStyle/>
          <a:p>
            <a:pPr marL="0" indent="0" algn="just">
              <a:lnSpc>
                <a:spcPct val="150000"/>
              </a:lnSpc>
              <a:buNone/>
            </a:pPr>
            <a:r>
              <a:rPr lang="en-GB" sz="24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David Lewis claimed that rather than gaining any propositional knowledge, Mary gains ability knowledge, by learning ‘what it is like’ to see the colour red. Learning what it is like ‘is the possession of the abilities to remember, imagine, and recognise…it is not knowing </a:t>
            </a:r>
            <a:r>
              <a:rPr lang="en-GB" sz="2400" i="1"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that</a:t>
            </a:r>
            <a:r>
              <a:rPr lang="en-GB" sz="24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 it is knowing-how’. </a:t>
            </a:r>
          </a:p>
          <a:p>
            <a:pPr marL="0" indent="0" algn="just">
              <a:buNone/>
            </a:pP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0597817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A84AA-1294-B88A-4D88-5D36B195E7C9}"/>
              </a:ext>
            </a:extLst>
          </p:cNvPr>
          <p:cNvSpPr>
            <a:spLocks noGrp="1"/>
          </p:cNvSpPr>
          <p:nvPr>
            <p:ph type="title"/>
          </p:nvPr>
        </p:nvSpPr>
        <p:spPr>
          <a:xfrm>
            <a:off x="1251678" y="581891"/>
            <a:ext cx="10427704" cy="1080654"/>
          </a:xfrm>
        </p:spPr>
        <p:txBody>
          <a:bodyPr>
            <a:noAutofit/>
          </a:bodyPr>
          <a:lstStyle/>
          <a:p>
            <a:r>
              <a:rPr lang="en-US" sz="3200" dirty="0">
                <a:latin typeface="Avenir Book" panose="02000503020000020003" pitchFamily="2" charset="0"/>
              </a:rPr>
              <a:t>(2) There is a difference between propositional and acquaintance knowledge. </a:t>
            </a:r>
          </a:p>
        </p:txBody>
      </p:sp>
      <p:sp>
        <p:nvSpPr>
          <p:cNvPr id="3" name="Content Placeholder 2">
            <a:extLst>
              <a:ext uri="{FF2B5EF4-FFF2-40B4-BE49-F238E27FC236}">
                <a16:creationId xmlns:a16="http://schemas.microsoft.com/office/drawing/2014/main" id="{A328343D-06CB-5FCF-074A-3359CFB1E3DE}"/>
              </a:ext>
            </a:extLst>
          </p:cNvPr>
          <p:cNvSpPr>
            <a:spLocks noGrp="1"/>
          </p:cNvSpPr>
          <p:nvPr>
            <p:ph idx="1"/>
          </p:nvPr>
        </p:nvSpPr>
        <p:spPr>
          <a:xfrm>
            <a:off x="1251678" y="2328531"/>
            <a:ext cx="9875501" cy="3551062"/>
          </a:xfrm>
        </p:spPr>
        <p:txBody>
          <a:bodyPr>
            <a:normAutofit/>
          </a:bodyPr>
          <a:lstStyle/>
          <a:p>
            <a:pPr marL="0" indent="0" algn="just">
              <a:lnSpc>
                <a:spcPct val="150000"/>
              </a:lnSpc>
              <a:buNone/>
            </a:pPr>
            <a:r>
              <a:rPr lang="en-GB" sz="2400" dirty="0">
                <a:solidFill>
                  <a:srgbClr val="002060"/>
                </a:solidFill>
                <a:effectLst/>
                <a:latin typeface="Avenir Book" panose="02000503020000020003" pitchFamily="2" charset="0"/>
                <a:ea typeface="Calibri" panose="020F0502020204030204" pitchFamily="34" charset="0"/>
                <a:cs typeface="Times New Roman" panose="02020603050405020304" pitchFamily="18" charset="0"/>
              </a:rPr>
              <a:t>Jackson is confusing ‘knowledge by description’ (propositional knowledge: describing the physical truths) with knowledge by acquaintance (being acquainted with a colour etc.). In other words, there is a difference between knowing the fact that red is a certain wavelength and having seen red. The first is ‘knowing about’ something, the second is knowing it per se (in itself). </a:t>
            </a:r>
            <a:endParaRPr lang="en-US" sz="2400" dirty="0">
              <a:solidFill>
                <a:srgbClr val="002060"/>
              </a:solidFill>
              <a:latin typeface="Avenir Book" panose="02000503020000020003" pitchFamily="2" charset="0"/>
            </a:endParaRPr>
          </a:p>
        </p:txBody>
      </p:sp>
    </p:spTree>
    <p:extLst>
      <p:ext uri="{BB962C8B-B14F-4D97-AF65-F5344CB8AC3E}">
        <p14:creationId xmlns:p14="http://schemas.microsoft.com/office/powerpoint/2010/main" val="3846736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descr="A sun and moon over a valley&#10;&#10;Description automatically generated">
            <a:extLst>
              <a:ext uri="{FF2B5EF4-FFF2-40B4-BE49-F238E27FC236}">
                <a16:creationId xmlns:a16="http://schemas.microsoft.com/office/drawing/2014/main" id="{E581EDF4-BE67-1D93-FDC2-A3F25C09F7D9}"/>
              </a:ext>
            </a:extLst>
          </p:cNvPr>
          <p:cNvPicPr>
            <a:picLocks noChangeAspect="1"/>
          </p:cNvPicPr>
          <p:nvPr/>
        </p:nvPicPr>
        <p:blipFill rotWithShape="1">
          <a:blip r:embed="rId2"/>
          <a:srcRect l="23432" r="36053" b="1"/>
          <a:stretch/>
        </p:blipFill>
        <p:spPr>
          <a:xfrm>
            <a:off x="7338646" y="10"/>
            <a:ext cx="4853354" cy="6857990"/>
          </a:xfrm>
          <a:prstGeom prst="rect">
            <a:avLst/>
          </a:prstGeom>
        </p:spPr>
      </p:pic>
      <p:sp>
        <p:nvSpPr>
          <p:cNvPr id="14" name="Freeform 10">
            <a:extLst>
              <a:ext uri="{FF2B5EF4-FFF2-40B4-BE49-F238E27FC236}">
                <a16:creationId xmlns:a16="http://schemas.microsoft.com/office/drawing/2014/main" id="{5D0CF218-804B-46B7-8D12-741D899E5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solidFill>
          <a:ln w="0">
            <a:noFill/>
            <a:prstDash val="solid"/>
            <a:round/>
            <a:headEnd/>
            <a:tailEnd/>
          </a:ln>
        </p:spPr>
        <p:txBody>
          <a:bodyPr/>
          <a:lstStyle/>
          <a:p>
            <a:endParaRPr lang="en-US"/>
          </a:p>
        </p:txBody>
      </p:sp>
      <p:sp>
        <p:nvSpPr>
          <p:cNvPr id="2" name="Title 1">
            <a:extLst>
              <a:ext uri="{FF2B5EF4-FFF2-40B4-BE49-F238E27FC236}">
                <a16:creationId xmlns:a16="http://schemas.microsoft.com/office/drawing/2014/main" id="{AD22D331-65FF-2A46-688F-FFB783B7BCA3}"/>
              </a:ext>
            </a:extLst>
          </p:cNvPr>
          <p:cNvSpPr>
            <a:spLocks noGrp="1"/>
          </p:cNvSpPr>
          <p:nvPr>
            <p:ph type="title"/>
          </p:nvPr>
        </p:nvSpPr>
        <p:spPr>
          <a:xfrm>
            <a:off x="765051" y="382385"/>
            <a:ext cx="6015897" cy="1492132"/>
          </a:xfrm>
        </p:spPr>
        <p:txBody>
          <a:bodyPr>
            <a:normAutofit fontScale="90000"/>
          </a:bodyPr>
          <a:lstStyle/>
          <a:p>
            <a:r>
              <a:rPr lang="en-US" sz="4300" dirty="0">
                <a:latin typeface="Avenir Book" panose="02000503020000020003" pitchFamily="2" charset="0"/>
              </a:rPr>
              <a:t>(3) We can know one thing in two ways. </a:t>
            </a:r>
          </a:p>
        </p:txBody>
      </p:sp>
      <p:sp>
        <p:nvSpPr>
          <p:cNvPr id="15" name="Rectangle 14">
            <a:extLst>
              <a:ext uri="{FF2B5EF4-FFF2-40B4-BE49-F238E27FC236}">
                <a16:creationId xmlns:a16="http://schemas.microsoft.com/office/drawing/2014/main" id="{38FCA438-C13E-4ED2-A4C4-BC1C38A056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C8366907-03A1-E63F-F489-C95CCB8ED94F}"/>
              </a:ext>
            </a:extLst>
          </p:cNvPr>
          <p:cNvSpPr>
            <a:spLocks noGrp="1"/>
          </p:cNvSpPr>
          <p:nvPr>
            <p:ph idx="1"/>
          </p:nvPr>
        </p:nvSpPr>
        <p:spPr>
          <a:xfrm>
            <a:off x="765051" y="2286001"/>
            <a:ext cx="6188642" cy="4189614"/>
          </a:xfrm>
        </p:spPr>
        <p:txBody>
          <a:bodyPr>
            <a:normAutofit lnSpcReduction="10000"/>
          </a:bodyPr>
          <a:lstStyle/>
          <a:p>
            <a:pPr marL="0" indent="0">
              <a:lnSpc>
                <a:spcPct val="150000"/>
              </a:lnSpc>
              <a:buNone/>
            </a:pPr>
            <a:r>
              <a:rPr lang="en-GB" kern="100" dirty="0">
                <a:solidFill>
                  <a:srgbClr val="002060"/>
                </a:solidFill>
                <a:effectLst/>
                <a:latin typeface="Avenir Book" panose="02000503020000020003" pitchFamily="2" charset="0"/>
                <a:ea typeface="Calibri" panose="020F0502020204030204" pitchFamily="34" charset="0"/>
                <a:cs typeface="Times New Roman" panose="02020603050405020304" pitchFamily="18" charset="0"/>
              </a:rPr>
              <a:t>Michael Tye: we can know the same thing in two ways. This is the claim that one can know what it is like to see red, with physical truths, and one can know the same physical truths, as phenomenal concepts. This is a little like knowing water is H₂O and knowing water. Both concepts are about water, but they are different ideas. This is sometimes known as the New Knowledge/Old Fact view. What makes up the phenomenal concept of red is the physical facts. </a:t>
            </a:r>
          </a:p>
          <a:p>
            <a:endParaRPr lang="en-US" dirty="0"/>
          </a:p>
        </p:txBody>
      </p:sp>
    </p:spTree>
    <p:extLst>
      <p:ext uri="{BB962C8B-B14F-4D97-AF65-F5344CB8AC3E}">
        <p14:creationId xmlns:p14="http://schemas.microsoft.com/office/powerpoint/2010/main" val="33242615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9AA3A-2866-EEB8-583B-18C5B00B677F}"/>
              </a:ext>
            </a:extLst>
          </p:cNvPr>
          <p:cNvSpPr>
            <a:spLocks noGrp="1"/>
          </p:cNvSpPr>
          <p:nvPr>
            <p:ph type="title"/>
          </p:nvPr>
        </p:nvSpPr>
        <p:spPr>
          <a:xfrm>
            <a:off x="1251678" y="646175"/>
            <a:ext cx="10178322" cy="1228341"/>
          </a:xfrm>
        </p:spPr>
        <p:txBody>
          <a:bodyPr/>
          <a:lstStyle/>
          <a:p>
            <a:r>
              <a:rPr lang="en-US" dirty="0">
                <a:latin typeface="Avenir Book" panose="02000503020000020003" pitchFamily="2" charset="0"/>
              </a:rPr>
              <a:t>Conclusion</a:t>
            </a:r>
          </a:p>
        </p:txBody>
      </p:sp>
      <p:sp>
        <p:nvSpPr>
          <p:cNvPr id="3" name="Content Placeholder 2">
            <a:extLst>
              <a:ext uri="{FF2B5EF4-FFF2-40B4-BE49-F238E27FC236}">
                <a16:creationId xmlns:a16="http://schemas.microsoft.com/office/drawing/2014/main" id="{0CA56588-F7E5-E035-7863-F341F0C1877E}"/>
              </a:ext>
            </a:extLst>
          </p:cNvPr>
          <p:cNvSpPr>
            <a:spLocks noGrp="1"/>
          </p:cNvSpPr>
          <p:nvPr>
            <p:ph idx="1"/>
          </p:nvPr>
        </p:nvSpPr>
        <p:spPr>
          <a:xfrm>
            <a:off x="1251677" y="1874516"/>
            <a:ext cx="10178321" cy="4632609"/>
          </a:xfrm>
        </p:spPr>
        <p:txBody>
          <a:bodyPr>
            <a:normAutofit/>
          </a:bodyPr>
          <a:lstStyle/>
          <a:p>
            <a:pPr marL="0" indent="0" algn="just">
              <a:lnSpc>
                <a:spcPct val="150000"/>
              </a:lnSpc>
              <a:buNone/>
            </a:pPr>
            <a:r>
              <a:rPr lang="en-US" sz="2400" dirty="0">
                <a:solidFill>
                  <a:srgbClr val="002060"/>
                </a:solidFill>
                <a:latin typeface="Avenir Book" panose="02000503020000020003" pitchFamily="2" charset="0"/>
              </a:rPr>
              <a:t>If 3 is correct, then the ontological belief in qualia is discredited, because after all, physicalism and dualism are doctrines about what exists, not about concepts. In other words, they are ontological claims, not conceptual claims. </a:t>
            </a:r>
          </a:p>
        </p:txBody>
      </p:sp>
    </p:spTree>
    <p:extLst>
      <p:ext uri="{BB962C8B-B14F-4D97-AF65-F5344CB8AC3E}">
        <p14:creationId xmlns:p14="http://schemas.microsoft.com/office/powerpoint/2010/main" val="42481204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B627A-A982-C06C-FA35-ABA416A3B7C2}"/>
              </a:ext>
            </a:extLst>
          </p:cNvPr>
          <p:cNvSpPr>
            <a:spLocks noGrp="1"/>
          </p:cNvSpPr>
          <p:nvPr>
            <p:ph type="title"/>
          </p:nvPr>
        </p:nvSpPr>
        <p:spPr>
          <a:xfrm>
            <a:off x="1251678" y="574158"/>
            <a:ext cx="10178322" cy="701749"/>
          </a:xfrm>
        </p:spPr>
        <p:txBody>
          <a:bodyPr>
            <a:normAutofit/>
          </a:bodyPr>
          <a:lstStyle/>
          <a:p>
            <a:r>
              <a:rPr lang="en-US" sz="4000" dirty="0">
                <a:latin typeface="Avenir Book" panose="02000503020000020003" pitchFamily="2" charset="0"/>
              </a:rPr>
              <a:t>Further reading</a:t>
            </a:r>
          </a:p>
        </p:txBody>
      </p:sp>
      <p:sp>
        <p:nvSpPr>
          <p:cNvPr id="3" name="Content Placeholder 2">
            <a:extLst>
              <a:ext uri="{FF2B5EF4-FFF2-40B4-BE49-F238E27FC236}">
                <a16:creationId xmlns:a16="http://schemas.microsoft.com/office/drawing/2014/main" id="{319B9744-8064-7C19-2A7E-59EBFE3C825C}"/>
              </a:ext>
            </a:extLst>
          </p:cNvPr>
          <p:cNvSpPr>
            <a:spLocks noGrp="1"/>
          </p:cNvSpPr>
          <p:nvPr>
            <p:ph idx="1"/>
          </p:nvPr>
        </p:nvSpPr>
        <p:spPr>
          <a:xfrm>
            <a:off x="1251678" y="1679944"/>
            <a:ext cx="10178322" cy="4603897"/>
          </a:xfrm>
        </p:spPr>
        <p:txBody>
          <a:bodyPr>
            <a:normAutofit/>
          </a:bodyPr>
          <a:lstStyle/>
          <a:p>
            <a:pPr marL="0" indent="0">
              <a:buNone/>
            </a:pPr>
            <a:r>
              <a:rPr lang="en-US" sz="3200" dirty="0">
                <a:solidFill>
                  <a:schemeClr val="tx1"/>
                </a:solidFill>
                <a:latin typeface="Avenir Book" panose="02000503020000020003" pitchFamily="2" charset="0"/>
              </a:rPr>
              <a:t>1. The knowledge argument. Frank Jackson</a:t>
            </a:r>
          </a:p>
          <a:p>
            <a:pPr marL="0" indent="0">
              <a:buNone/>
            </a:pPr>
            <a:r>
              <a:rPr lang="en-US" sz="3200" dirty="0">
                <a:solidFill>
                  <a:schemeClr val="tx1"/>
                </a:solidFill>
                <a:latin typeface="Avenir Book" panose="02000503020000020003" pitchFamily="2" charset="0"/>
              </a:rPr>
              <a:t>2. What experience teaches: David Lewis </a:t>
            </a:r>
          </a:p>
        </p:txBody>
      </p:sp>
    </p:spTree>
    <p:extLst>
      <p:ext uri="{BB962C8B-B14F-4D97-AF65-F5344CB8AC3E}">
        <p14:creationId xmlns:p14="http://schemas.microsoft.com/office/powerpoint/2010/main" val="889835664"/>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171312"/>
      </a:dk2>
      <a:lt2>
        <a:srgbClr val="F7F0DF"/>
      </a:lt2>
      <a:accent1>
        <a:srgbClr val="53AE6E"/>
      </a:accent1>
      <a:accent2>
        <a:srgbClr val="326267"/>
      </a:accent2>
      <a:accent3>
        <a:srgbClr val="C5C34A"/>
      </a:accent3>
      <a:accent4>
        <a:srgbClr val="BF6546"/>
      </a:accent4>
      <a:accent5>
        <a:srgbClr val="81B5A8"/>
      </a:accent5>
      <a:accent6>
        <a:srgbClr val="636455"/>
      </a:accent6>
      <a:hlink>
        <a:srgbClr val="81B5A8"/>
      </a:hlink>
      <a:folHlink>
        <a:srgbClr val="936888"/>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A1A3E1F0-B5EF-49C5-810A-B1B32AEDDC80}"/>
    </a:ext>
  </a:extLst>
</a:theme>
</file>

<file path=docProps/app.xml><?xml version="1.0" encoding="utf-8"?>
<Properties xmlns="http://schemas.openxmlformats.org/officeDocument/2006/extended-properties" xmlns:vt="http://schemas.openxmlformats.org/officeDocument/2006/docPropsVTypes">
  <Template>Badge</Template>
  <TotalTime>1803</TotalTime>
  <Words>936</Words>
  <Application>Microsoft Macintosh PowerPoint</Application>
  <PresentationFormat>Widescreen</PresentationFormat>
  <Paragraphs>40</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Avenir Book</vt:lpstr>
      <vt:lpstr>Calibri</vt:lpstr>
      <vt:lpstr>Gill Sans MT</vt:lpstr>
      <vt:lpstr>Impact</vt:lpstr>
      <vt:lpstr>Optima</vt:lpstr>
      <vt:lpstr>Badge</vt:lpstr>
      <vt:lpstr>The knowledge Argument </vt:lpstr>
      <vt:lpstr>Technical terms </vt:lpstr>
      <vt:lpstr>Thesis</vt:lpstr>
      <vt:lpstr>Mary the brilliant scientist</vt:lpstr>
      <vt:lpstr>The argument</vt:lpstr>
      <vt:lpstr>The knowledge argument continued…</vt:lpstr>
      <vt:lpstr>Three consequences of the knowledge argument</vt:lpstr>
      <vt:lpstr>The  4 responses to the knowledge argument </vt:lpstr>
      <vt:lpstr>(1) There is a difference between propositional and Ability knowledge. </vt:lpstr>
      <vt:lpstr>(2) There is a difference between propositional and Acquaintance  knowledge. </vt:lpstr>
      <vt:lpstr>(3) We can know one thing in two ways. </vt:lpstr>
      <vt:lpstr>Conclusion</vt:lpstr>
      <vt:lpstr>Further reading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Nir Shaki</dc:creator>
  <cp:lastModifiedBy>Nir Shaki</cp:lastModifiedBy>
  <cp:revision>12</cp:revision>
  <dcterms:created xsi:type="dcterms:W3CDTF">2024-07-05T10:56:17Z</dcterms:created>
  <dcterms:modified xsi:type="dcterms:W3CDTF">2024-08-10T14:43:48Z</dcterms:modified>
</cp:coreProperties>
</file>